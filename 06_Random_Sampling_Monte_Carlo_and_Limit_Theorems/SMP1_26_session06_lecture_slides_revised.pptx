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8.xml" ContentType="application/vnd.openxmlformats-officedocument.drawingml.chart+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5" r:id="rId40"/>
    <p:sldId id="29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542" autoAdjust="0"/>
  </p:normalViewPr>
  <p:slideViewPr>
    <p:cSldViewPr snapToGrid="0">
      <p:cViewPr varScale="1">
        <p:scale>
          <a:sx n="75" d="100"/>
          <a:sy n="75" d="100"/>
        </p:scale>
        <p:origin x="87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Density</c:v>
          </c:tx>
          <c:spPr>
            <a:solidFill>
              <a:srgbClr val="2D75A3"/>
            </a:solidFill>
            <a:ln w="0">
              <a:noFill/>
            </a:ln>
          </c:spPr>
          <c:invertIfNegative val="0"/>
          <c:cat>
            <c:numRef>
              <c:f>'Chart Data'!$A$2:$A$11</c:f>
              <c:numCache>
                <c:formatCode>General</c:formatCode>
                <c:ptCount val="10"/>
                <c:pt idx="0">
                  <c:v>0.05</c:v>
                </c:pt>
                <c:pt idx="1">
                  <c:v>0.15</c:v>
                </c:pt>
                <c:pt idx="2">
                  <c:v>0.25</c:v>
                </c:pt>
                <c:pt idx="3">
                  <c:v>0.35</c:v>
                </c:pt>
                <c:pt idx="4">
                  <c:v>0.45</c:v>
                </c:pt>
                <c:pt idx="5">
                  <c:v>0.55000000000000004</c:v>
                </c:pt>
                <c:pt idx="6">
                  <c:v>0.65</c:v>
                </c:pt>
                <c:pt idx="7">
                  <c:v>0.75</c:v>
                </c:pt>
                <c:pt idx="8">
                  <c:v>0.85</c:v>
                </c:pt>
                <c:pt idx="9">
                  <c:v>0.95</c:v>
                </c:pt>
              </c:numCache>
            </c:numRef>
          </c:cat>
          <c:val>
            <c:numRef>
              <c:f>'Chart Data'!$B$2:$B$11</c:f>
              <c:numCache>
                <c:formatCode>General</c:formatCode>
                <c:ptCount val="10"/>
                <c:pt idx="0">
                  <c:v>0.98166666666699998</c:v>
                </c:pt>
                <c:pt idx="1">
                  <c:v>1.00166666667</c:v>
                </c:pt>
                <c:pt idx="2">
                  <c:v>0.98499999999999999</c:v>
                </c:pt>
                <c:pt idx="3">
                  <c:v>1.0166666666699999</c:v>
                </c:pt>
                <c:pt idx="4">
                  <c:v>0.90166666666700002</c:v>
                </c:pt>
                <c:pt idx="5">
                  <c:v>1.01833333333</c:v>
                </c:pt>
                <c:pt idx="6">
                  <c:v>1.0233333333300001</c:v>
                </c:pt>
                <c:pt idx="7">
                  <c:v>1.03666666667</c:v>
                </c:pt>
                <c:pt idx="8">
                  <c:v>1.0149999999999999</c:v>
                </c:pt>
                <c:pt idx="9">
                  <c:v>1.02</c:v>
                </c:pt>
              </c:numCache>
            </c:numRef>
          </c:val>
          <c:extLst>
            <c:ext xmlns:c16="http://schemas.microsoft.com/office/drawing/2014/chart" uri="{C3380CC4-5D6E-409C-BE32-E72D297353CC}">
              <c16:uniqueId val="{00000000-DB77-4B2C-92AD-922712F67454}"/>
            </c:ext>
          </c:extLst>
        </c:ser>
        <c:dLbls>
          <c:showLegendKey val="0"/>
          <c:showVal val="0"/>
          <c:showCatName val="0"/>
          <c:showSerName val="0"/>
          <c:showPercent val="0"/>
          <c:showBubbleSize val="0"/>
        </c:dLbls>
        <c:gapWidth val="0"/>
        <c:axId val="48650112"/>
        <c:axId val="48672768"/>
      </c:barChart>
      <c:catAx>
        <c:axId val="48650112"/>
        <c:scaling>
          <c:orientation val="minMax"/>
        </c:scaling>
        <c:delete val="0"/>
        <c:axPos val="b"/>
        <c:title>
          <c:tx>
            <c:rich>
              <a:bodyPr/>
              <a:lstStyle/>
              <a:p>
                <a:r>
                  <a:rPr lang="en-GB">
                    <a:latin typeface="Aptos"/>
                    <a:ea typeface="Aptos"/>
                    <a:cs typeface="Aptos"/>
                  </a:rPr>
                  <a:t>Value</a:t>
                </a:r>
              </a:p>
            </c:rich>
          </c:tx>
          <c:overlay val="0"/>
        </c:title>
        <c:numFmt formatCode="General" sourceLinked="1"/>
        <c:majorTickMark val="none"/>
        <c:minorTickMark val="none"/>
        <c:tickLblPos val="nextTo"/>
        <c:spPr>
          <a:ln w="9525">
            <a:solidFill>
              <a:srgbClr val="526171"/>
            </a:solidFill>
          </a:ln>
        </c:spPr>
        <c:txPr>
          <a:bodyPr rot="0" anchorCtr="1"/>
          <a:lstStyle/>
          <a:p>
            <a:pPr>
              <a:defRPr sz="1200">
                <a:solidFill>
                  <a:srgbClr val="666666"/>
                </a:solidFill>
                <a:latin typeface="Aptos"/>
                <a:ea typeface="Aptos"/>
                <a:cs typeface="Aptos"/>
              </a:defRPr>
            </a:pPr>
            <a:endParaRPr lang="en-US"/>
          </a:p>
        </c:txPr>
        <c:crossAx val="48672768"/>
        <c:crosses val="autoZero"/>
        <c:auto val="1"/>
        <c:lblAlgn val="ctr"/>
        <c:lblOffset val="100"/>
        <c:tickLblSkip val="2"/>
        <c:tickMarkSkip val="2"/>
        <c:noMultiLvlLbl val="1"/>
      </c:catAx>
      <c:valAx>
        <c:axId val="48672768"/>
        <c:scaling>
          <c:orientation val="minMax"/>
          <c:max val="8"/>
          <c:min val="0"/>
        </c:scaling>
        <c:delete val="0"/>
        <c:axPos val="l"/>
        <c:majorGridlines>
          <c:spPr>
            <a:ln w="6668">
              <a:solidFill>
                <a:srgbClr val="DDE5EC"/>
              </a:solidFill>
            </a:ln>
          </c:spPr>
        </c:majorGridlines>
        <c:title>
          <c:tx>
            <c:rich>
              <a:bodyPr/>
              <a:lstStyle/>
              <a:p>
                <a:r>
                  <a:rPr lang="en-GB">
                    <a:latin typeface="Aptos"/>
                    <a:ea typeface="Aptos"/>
                    <a:cs typeface="Aptos"/>
                  </a:rPr>
                  <a:t>Density</a:t>
                </a:r>
              </a:p>
            </c:rich>
          </c:tx>
          <c:overlay val="0"/>
        </c:title>
        <c:numFmt formatCode="General" sourceLinked="1"/>
        <c:majorTickMark val="none"/>
        <c:minorTickMark val="none"/>
        <c:tickLblPos val="nextTo"/>
        <c:spPr>
          <a:ln w="9525">
            <a:solidFill>
              <a:srgbClr val="526171"/>
            </a:solidFill>
          </a:ln>
        </c:spPr>
        <c:txPr>
          <a:bodyPr anchorCtr="1"/>
          <a:lstStyle/>
          <a:p>
            <a:pPr>
              <a:defRPr sz="1350">
                <a:solidFill>
                  <a:srgbClr val="666666"/>
                </a:solidFill>
                <a:latin typeface="Aptos"/>
                <a:ea typeface="Aptos"/>
                <a:cs typeface="Aptos"/>
              </a:defRPr>
            </a:pPr>
            <a:endParaRPr lang="en-US"/>
          </a:p>
        </c:txPr>
        <c:crossAx val="48650112"/>
        <c:crosses val="autoZero"/>
        <c:crossBetween val="between"/>
        <c:majorUnit val="2"/>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Density</c:v>
          </c:tx>
          <c:spPr>
            <a:solidFill>
              <a:srgbClr val="2D75A3"/>
            </a:solidFill>
            <a:ln w="0">
              <a:noFill/>
            </a:ln>
          </c:spPr>
          <c:invertIfNegative val="0"/>
          <c:cat>
            <c:numRef>
              <c:f>'Chart Data'!$A$2:$A$11</c:f>
              <c:numCache>
                <c:formatCode>General</c:formatCode>
                <c:ptCount val="10"/>
                <c:pt idx="0">
                  <c:v>0.05</c:v>
                </c:pt>
                <c:pt idx="1">
                  <c:v>0.15</c:v>
                </c:pt>
                <c:pt idx="2">
                  <c:v>0.25</c:v>
                </c:pt>
                <c:pt idx="3">
                  <c:v>0.35</c:v>
                </c:pt>
                <c:pt idx="4">
                  <c:v>0.45</c:v>
                </c:pt>
                <c:pt idx="5">
                  <c:v>0.55000000000000004</c:v>
                </c:pt>
                <c:pt idx="6">
                  <c:v>0.65</c:v>
                </c:pt>
                <c:pt idx="7">
                  <c:v>0.75</c:v>
                </c:pt>
                <c:pt idx="8">
                  <c:v>0.85</c:v>
                </c:pt>
                <c:pt idx="9">
                  <c:v>0.95</c:v>
                </c:pt>
              </c:numCache>
            </c:numRef>
          </c:cat>
          <c:val>
            <c:numRef>
              <c:f>'Chart Data'!$B$2:$B$11</c:f>
              <c:numCache>
                <c:formatCode>General</c:formatCode>
                <c:ptCount val="10"/>
                <c:pt idx="0">
                  <c:v>0</c:v>
                </c:pt>
                <c:pt idx="1">
                  <c:v>3.3333333333299998E-3</c:v>
                </c:pt>
                <c:pt idx="2">
                  <c:v>0.136666666667</c:v>
                </c:pt>
                <c:pt idx="3">
                  <c:v>1.2533333333300001</c:v>
                </c:pt>
                <c:pt idx="4">
                  <c:v>3.5516666666700001</c:v>
                </c:pt>
                <c:pt idx="5">
                  <c:v>3.63666666667</c:v>
                </c:pt>
                <c:pt idx="6">
                  <c:v>1.2733333333300001</c:v>
                </c:pt>
                <c:pt idx="7">
                  <c:v>0.143333333333</c:v>
                </c:pt>
                <c:pt idx="8">
                  <c:v>1.66666666667E-3</c:v>
                </c:pt>
                <c:pt idx="9">
                  <c:v>0</c:v>
                </c:pt>
              </c:numCache>
            </c:numRef>
          </c:val>
          <c:extLst>
            <c:ext xmlns:c16="http://schemas.microsoft.com/office/drawing/2014/chart" uri="{C3380CC4-5D6E-409C-BE32-E72D297353CC}">
              <c16:uniqueId val="{00000000-EE1A-4BBB-A4C9-5219E981BF0C}"/>
            </c:ext>
          </c:extLst>
        </c:ser>
        <c:dLbls>
          <c:showLegendKey val="0"/>
          <c:showVal val="0"/>
          <c:showCatName val="0"/>
          <c:showSerName val="0"/>
          <c:showPercent val="0"/>
          <c:showBubbleSize val="0"/>
        </c:dLbls>
        <c:gapWidth val="0"/>
        <c:axId val="48650112"/>
        <c:axId val="48672768"/>
      </c:barChart>
      <c:catAx>
        <c:axId val="48650112"/>
        <c:scaling>
          <c:orientation val="minMax"/>
        </c:scaling>
        <c:delete val="0"/>
        <c:axPos val="b"/>
        <c:title>
          <c:tx>
            <c:rich>
              <a:bodyPr/>
              <a:lstStyle/>
              <a:p>
                <a:r>
                  <a:rPr lang="en-GB">
                    <a:latin typeface="Aptos"/>
                    <a:ea typeface="Aptos"/>
                    <a:cs typeface="Aptos"/>
                  </a:rPr>
                  <a:t>Value</a:t>
                </a:r>
              </a:p>
            </c:rich>
          </c:tx>
          <c:overlay val="0"/>
        </c:title>
        <c:numFmt formatCode="General" sourceLinked="1"/>
        <c:majorTickMark val="none"/>
        <c:minorTickMark val="none"/>
        <c:tickLblPos val="nextTo"/>
        <c:spPr>
          <a:ln w="9525">
            <a:solidFill>
              <a:srgbClr val="526171"/>
            </a:solidFill>
          </a:ln>
        </c:spPr>
        <c:txPr>
          <a:bodyPr rot="0" anchorCtr="1"/>
          <a:lstStyle/>
          <a:p>
            <a:pPr>
              <a:defRPr sz="1200">
                <a:solidFill>
                  <a:srgbClr val="666666"/>
                </a:solidFill>
                <a:latin typeface="Aptos"/>
                <a:ea typeface="Aptos"/>
                <a:cs typeface="Aptos"/>
              </a:defRPr>
            </a:pPr>
            <a:endParaRPr lang="en-US"/>
          </a:p>
        </c:txPr>
        <c:crossAx val="48672768"/>
        <c:crosses val="autoZero"/>
        <c:auto val="1"/>
        <c:lblAlgn val="ctr"/>
        <c:lblOffset val="100"/>
        <c:tickLblSkip val="2"/>
        <c:tickMarkSkip val="2"/>
        <c:noMultiLvlLbl val="1"/>
      </c:catAx>
      <c:valAx>
        <c:axId val="48672768"/>
        <c:scaling>
          <c:orientation val="minMax"/>
          <c:max val="8"/>
          <c:min val="0"/>
        </c:scaling>
        <c:delete val="0"/>
        <c:axPos val="l"/>
        <c:majorGridlines>
          <c:spPr>
            <a:ln w="6668">
              <a:solidFill>
                <a:srgbClr val="DDE5EC"/>
              </a:solidFill>
            </a:ln>
          </c:spPr>
        </c:majorGridlines>
        <c:numFmt formatCode="General" sourceLinked="1"/>
        <c:majorTickMark val="none"/>
        <c:minorTickMark val="none"/>
        <c:tickLblPos val="nextTo"/>
        <c:spPr>
          <a:ln w="9525">
            <a:solidFill>
              <a:srgbClr val="526171"/>
            </a:solidFill>
          </a:ln>
        </c:spPr>
        <c:txPr>
          <a:bodyPr anchorCtr="1"/>
          <a:lstStyle/>
          <a:p>
            <a:pPr>
              <a:defRPr sz="1350">
                <a:solidFill>
                  <a:srgbClr val="666666"/>
                </a:solidFill>
                <a:latin typeface="Aptos"/>
                <a:ea typeface="Aptos"/>
                <a:cs typeface="Aptos"/>
              </a:defRPr>
            </a:pPr>
            <a:endParaRPr lang="en-US"/>
          </a:p>
        </c:txPr>
        <c:crossAx val="48650112"/>
        <c:crosses val="autoZero"/>
        <c:crossBetween val="between"/>
        <c:majorUnit val="2"/>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Density</c:v>
          </c:tx>
          <c:spPr>
            <a:solidFill>
              <a:srgbClr val="2D75A3"/>
            </a:solidFill>
            <a:ln w="0">
              <a:noFill/>
            </a:ln>
          </c:spPr>
          <c:invertIfNegative val="0"/>
          <c:cat>
            <c:numRef>
              <c:f>'Chart Data'!$A$2:$A$11</c:f>
              <c:numCache>
                <c:formatCode>General</c:formatCode>
                <c:ptCount val="10"/>
                <c:pt idx="0">
                  <c:v>0.05</c:v>
                </c:pt>
                <c:pt idx="1">
                  <c:v>0.15</c:v>
                </c:pt>
                <c:pt idx="2">
                  <c:v>0.25</c:v>
                </c:pt>
                <c:pt idx="3">
                  <c:v>0.35</c:v>
                </c:pt>
                <c:pt idx="4">
                  <c:v>0.45</c:v>
                </c:pt>
                <c:pt idx="5">
                  <c:v>0.55000000000000004</c:v>
                </c:pt>
                <c:pt idx="6">
                  <c:v>0.65</c:v>
                </c:pt>
                <c:pt idx="7">
                  <c:v>0.75</c:v>
                </c:pt>
                <c:pt idx="8">
                  <c:v>0.85</c:v>
                </c:pt>
                <c:pt idx="9">
                  <c:v>0.95</c:v>
                </c:pt>
              </c:numCache>
            </c:numRef>
          </c:cat>
          <c:val>
            <c:numRef>
              <c:f>'Chart Data'!$B$2:$B$11</c:f>
              <c:numCache>
                <c:formatCode>General</c:formatCode>
                <c:ptCount val="10"/>
                <c:pt idx="0">
                  <c:v>0</c:v>
                </c:pt>
                <c:pt idx="1">
                  <c:v>0</c:v>
                </c:pt>
                <c:pt idx="2">
                  <c:v>0</c:v>
                </c:pt>
                <c:pt idx="3">
                  <c:v>0.245</c:v>
                </c:pt>
                <c:pt idx="4">
                  <c:v>4.7350000000000003</c:v>
                </c:pt>
                <c:pt idx="5">
                  <c:v>4.77833333333</c:v>
                </c:pt>
                <c:pt idx="6">
                  <c:v>0.24166666666700001</c:v>
                </c:pt>
                <c:pt idx="7">
                  <c:v>0</c:v>
                </c:pt>
                <c:pt idx="8">
                  <c:v>0</c:v>
                </c:pt>
                <c:pt idx="9">
                  <c:v>0</c:v>
                </c:pt>
              </c:numCache>
            </c:numRef>
          </c:val>
          <c:extLst>
            <c:ext xmlns:c16="http://schemas.microsoft.com/office/drawing/2014/chart" uri="{C3380CC4-5D6E-409C-BE32-E72D297353CC}">
              <c16:uniqueId val="{00000000-1235-4676-86DD-B2740BACA476}"/>
            </c:ext>
          </c:extLst>
        </c:ser>
        <c:dLbls>
          <c:showLegendKey val="0"/>
          <c:showVal val="0"/>
          <c:showCatName val="0"/>
          <c:showSerName val="0"/>
          <c:showPercent val="0"/>
          <c:showBubbleSize val="0"/>
        </c:dLbls>
        <c:gapWidth val="0"/>
        <c:axId val="48650112"/>
        <c:axId val="48672768"/>
      </c:barChart>
      <c:catAx>
        <c:axId val="48650112"/>
        <c:scaling>
          <c:orientation val="minMax"/>
        </c:scaling>
        <c:delete val="0"/>
        <c:axPos val="b"/>
        <c:title>
          <c:tx>
            <c:rich>
              <a:bodyPr/>
              <a:lstStyle/>
              <a:p>
                <a:r>
                  <a:rPr lang="en-GB">
                    <a:latin typeface="Aptos"/>
                    <a:ea typeface="Aptos"/>
                    <a:cs typeface="Aptos"/>
                  </a:rPr>
                  <a:t>Value</a:t>
                </a:r>
              </a:p>
            </c:rich>
          </c:tx>
          <c:overlay val="0"/>
        </c:title>
        <c:numFmt formatCode="General" sourceLinked="1"/>
        <c:majorTickMark val="none"/>
        <c:minorTickMark val="none"/>
        <c:tickLblPos val="nextTo"/>
        <c:spPr>
          <a:ln w="9525">
            <a:solidFill>
              <a:srgbClr val="526171"/>
            </a:solidFill>
          </a:ln>
        </c:spPr>
        <c:txPr>
          <a:bodyPr rot="0" anchorCtr="1"/>
          <a:lstStyle/>
          <a:p>
            <a:pPr>
              <a:defRPr sz="1200">
                <a:solidFill>
                  <a:srgbClr val="666666"/>
                </a:solidFill>
                <a:latin typeface="Aptos"/>
                <a:ea typeface="Aptos"/>
                <a:cs typeface="Aptos"/>
              </a:defRPr>
            </a:pPr>
            <a:endParaRPr lang="en-US"/>
          </a:p>
        </c:txPr>
        <c:crossAx val="48672768"/>
        <c:crosses val="autoZero"/>
        <c:auto val="1"/>
        <c:lblAlgn val="ctr"/>
        <c:lblOffset val="100"/>
        <c:tickLblSkip val="2"/>
        <c:tickMarkSkip val="2"/>
        <c:noMultiLvlLbl val="1"/>
      </c:catAx>
      <c:valAx>
        <c:axId val="48672768"/>
        <c:scaling>
          <c:orientation val="minMax"/>
          <c:max val="8"/>
          <c:min val="0"/>
        </c:scaling>
        <c:delete val="0"/>
        <c:axPos val="l"/>
        <c:majorGridlines>
          <c:spPr>
            <a:ln w="6668">
              <a:solidFill>
                <a:srgbClr val="DDE5EC"/>
              </a:solidFill>
            </a:ln>
          </c:spPr>
        </c:majorGridlines>
        <c:numFmt formatCode="General" sourceLinked="1"/>
        <c:majorTickMark val="none"/>
        <c:minorTickMark val="none"/>
        <c:tickLblPos val="nextTo"/>
        <c:spPr>
          <a:ln w="9525">
            <a:solidFill>
              <a:srgbClr val="526171"/>
            </a:solidFill>
          </a:ln>
        </c:spPr>
        <c:txPr>
          <a:bodyPr anchorCtr="1"/>
          <a:lstStyle/>
          <a:p>
            <a:pPr>
              <a:defRPr sz="1350">
                <a:solidFill>
                  <a:srgbClr val="666666"/>
                </a:solidFill>
                <a:latin typeface="Aptos"/>
                <a:ea typeface="Aptos"/>
                <a:cs typeface="Aptos"/>
              </a:defRPr>
            </a:pPr>
            <a:endParaRPr lang="en-US"/>
          </a:p>
        </c:txPr>
        <c:crossAx val="48650112"/>
        <c:crosses val="autoZero"/>
        <c:crossBetween val="between"/>
        <c:majorUnit val="2"/>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Running average</c:v>
          </c:tx>
          <c:spPr>
            <a:ln w="21908">
              <a:solidFill>
                <a:srgbClr val="2D75A3"/>
              </a:solidFill>
            </a:ln>
          </c:spPr>
          <c:marker>
            <c:symbol val="none"/>
          </c:marker>
          <c:xVal>
            <c:numRef>
              <c:f>'Chart Data'!$A$2:$A$121</c:f>
              <c:numCache>
                <c:formatCode>General</c:formatCode>
                <c:ptCount val="120"/>
                <c:pt idx="0">
                  <c:v>1</c:v>
                </c:pt>
                <c:pt idx="1">
                  <c:v>1.0413926851599999</c:v>
                </c:pt>
                <c:pt idx="2">
                  <c:v>1.0791812460500001</c:v>
                </c:pt>
                <c:pt idx="3">
                  <c:v>1.11394335231</c:v>
                </c:pt>
                <c:pt idx="4">
                  <c:v>1.1461280356800001</c:v>
                </c:pt>
                <c:pt idx="5">
                  <c:v>1.1760912590599999</c:v>
                </c:pt>
                <c:pt idx="6">
                  <c:v>1.20411998266</c:v>
                </c:pt>
                <c:pt idx="7">
                  <c:v>1.2304489213800001</c:v>
                </c:pt>
                <c:pt idx="8">
                  <c:v>1.27875360095</c:v>
                </c:pt>
                <c:pt idx="9">
                  <c:v>1.30102999566</c:v>
                </c:pt>
                <c:pt idx="10">
                  <c:v>1.3424226808199999</c:v>
                </c:pt>
                <c:pt idx="11">
                  <c:v>1.3802112417100001</c:v>
                </c:pt>
                <c:pt idx="12">
                  <c:v>1.41497334797</c:v>
                </c:pt>
                <c:pt idx="13">
                  <c:v>1.4471580313400001</c:v>
                </c:pt>
                <c:pt idx="14">
                  <c:v>1.4771212547200001</c:v>
                </c:pt>
                <c:pt idx="15">
                  <c:v>1.50514997832</c:v>
                </c:pt>
                <c:pt idx="16">
                  <c:v>1.5440680443499999</c:v>
                </c:pt>
                <c:pt idx="17">
                  <c:v>1.57978359662</c:v>
                </c:pt>
                <c:pt idx="18">
                  <c:v>1.6127838567199999</c:v>
                </c:pt>
                <c:pt idx="19">
                  <c:v>1.6434526764899999</c:v>
                </c:pt>
                <c:pt idx="20">
                  <c:v>1.6812412373800001</c:v>
                </c:pt>
                <c:pt idx="21">
                  <c:v>1.7075701760999999</c:v>
                </c:pt>
                <c:pt idx="22">
                  <c:v>1.7481880270100001</c:v>
                </c:pt>
                <c:pt idx="23">
                  <c:v>1.7781512503800001</c:v>
                </c:pt>
                <c:pt idx="24">
                  <c:v>1.81291335664</c:v>
                </c:pt>
                <c:pt idx="25">
                  <c:v>1.8450980400100001</c:v>
                </c:pt>
                <c:pt idx="26">
                  <c:v>1.88081359228</c:v>
                </c:pt>
                <c:pt idx="27">
                  <c:v>1.9138138523799999</c:v>
                </c:pt>
                <c:pt idx="28">
                  <c:v>1.9444826721499999</c:v>
                </c:pt>
                <c:pt idx="29">
                  <c:v>1.97772360529</c:v>
                </c:pt>
                <c:pt idx="30">
                  <c:v>2.0128372247100002</c:v>
                </c:pt>
                <c:pt idx="31">
                  <c:v>2.0453229787899998</c:v>
                </c:pt>
                <c:pt idx="32">
                  <c:v>2.0791812460500001</c:v>
                </c:pt>
                <c:pt idx="33">
                  <c:v>2.1139433523100002</c:v>
                </c:pt>
                <c:pt idx="34">
                  <c:v>2.1461280356799999</c:v>
                </c:pt>
                <c:pt idx="35">
                  <c:v>2.18184358794</c:v>
                </c:pt>
                <c:pt idx="36">
                  <c:v>2.2148438480500001</c:v>
                </c:pt>
                <c:pt idx="37">
                  <c:v>2.2479732663599998</c:v>
                </c:pt>
                <c:pt idx="38">
                  <c:v>2.2810333672500001</c:v>
                </c:pt>
                <c:pt idx="39">
                  <c:v>2.3159703454599998</c:v>
                </c:pt>
                <c:pt idx="40">
                  <c:v>2.3483048630500001</c:v>
                </c:pt>
                <c:pt idx="41">
                  <c:v>2.3820170425699998</c:v>
                </c:pt>
                <c:pt idx="42">
                  <c:v>2.4166405073399999</c:v>
                </c:pt>
                <c:pt idx="43">
                  <c:v>2.45024910832</c:v>
                </c:pt>
                <c:pt idx="44">
                  <c:v>2.48287358361</c:v>
                </c:pt>
                <c:pt idx="45">
                  <c:v>2.5171958979500002</c:v>
                </c:pt>
                <c:pt idx="46">
                  <c:v>2.5502283530600001</c:v>
                </c:pt>
                <c:pt idx="47">
                  <c:v>2.5843312243700001</c:v>
                </c:pt>
                <c:pt idx="48">
                  <c:v>2.6170003411199998</c:v>
                </c:pt>
                <c:pt idx="49">
                  <c:v>2.6512780139999998</c:v>
                </c:pt>
                <c:pt idx="50">
                  <c:v>2.6848453616399999</c:v>
                </c:pt>
                <c:pt idx="51">
                  <c:v>2.71850168887</c:v>
                </c:pt>
                <c:pt idx="52">
                  <c:v>2.75204844782</c:v>
                </c:pt>
                <c:pt idx="53">
                  <c:v>2.7853298350100002</c:v>
                </c:pt>
                <c:pt idx="54">
                  <c:v>2.81888541459</c:v>
                </c:pt>
                <c:pt idx="55">
                  <c:v>2.8524799936399998</c:v>
                </c:pt>
                <c:pt idx="56">
                  <c:v>2.8859263398000001</c:v>
                </c:pt>
                <c:pt idx="57">
                  <c:v>2.9196010237799999</c:v>
                </c:pt>
                <c:pt idx="58">
                  <c:v>2.9527924430399999</c:v>
                </c:pt>
                <c:pt idx="59">
                  <c:v>2.98677173427</c:v>
                </c:pt>
                <c:pt idx="60">
                  <c:v>3.01994668168</c:v>
                </c:pt>
                <c:pt idx="61">
                  <c:v>3.0538464268499999</c:v>
                </c:pt>
                <c:pt idx="62">
                  <c:v>3.0870712059100001</c:v>
                </c:pt>
                <c:pt idx="63">
                  <c:v>3.1209028176100002</c:v>
                </c:pt>
                <c:pt idx="64">
                  <c:v>3.1544239731100001</c:v>
                </c:pt>
                <c:pt idx="65">
                  <c:v>3.18780263872</c:v>
                </c:pt>
                <c:pt idx="66">
                  <c:v>3.2214142378399999</c:v>
                </c:pt>
                <c:pt idx="67">
                  <c:v>3.25503116335</c:v>
                </c:pt>
                <c:pt idx="68">
                  <c:v>3.2886962605900001</c:v>
                </c:pt>
                <c:pt idx="69">
                  <c:v>3.32221929473</c:v>
                </c:pt>
                <c:pt idx="70">
                  <c:v>3.3556430502199999</c:v>
                </c:pt>
                <c:pt idx="71">
                  <c:v>3.3893433112500002</c:v>
                </c:pt>
                <c:pt idx="72">
                  <c:v>3.4227539412999999</c:v>
                </c:pt>
                <c:pt idx="73">
                  <c:v>3.4563660331300001</c:v>
                </c:pt>
                <c:pt idx="74">
                  <c:v>3.4899584794199998</c:v>
                </c:pt>
                <c:pt idx="75">
                  <c:v>3.5234863323400001</c:v>
                </c:pt>
                <c:pt idx="76">
                  <c:v>3.5570257223900001</c:v>
                </c:pt>
                <c:pt idx="77">
                  <c:v>3.5906189482099999</c:v>
                </c:pt>
                <c:pt idx="78">
                  <c:v>3.6241789257499999</c:v>
                </c:pt>
                <c:pt idx="79">
                  <c:v>3.6577249542099999</c:v>
                </c:pt>
                <c:pt idx="80">
                  <c:v>3.6912583581299998</c:v>
                </c:pt>
                <c:pt idx="81">
                  <c:v>3.72484908763</c:v>
                </c:pt>
                <c:pt idx="82">
                  <c:v>3.7583819417700002</c:v>
                </c:pt>
                <c:pt idx="83">
                  <c:v>3.79197120102</c:v>
                </c:pt>
                <c:pt idx="84">
                  <c:v>3.8254910298799998</c:v>
                </c:pt>
                <c:pt idx="85">
                  <c:v>3.8590782247500002</c:v>
                </c:pt>
                <c:pt idx="86">
                  <c:v>3.8925954228299999</c:v>
                </c:pt>
                <c:pt idx="87">
                  <c:v>3.9261880491099999</c:v>
                </c:pt>
                <c:pt idx="88">
                  <c:v>3.9597090242499999</c:v>
                </c:pt>
                <c:pt idx="89">
                  <c:v>3.9933039379199999</c:v>
                </c:pt>
                <c:pt idx="90">
                  <c:v>4.0268599859799998</c:v>
                </c:pt>
                <c:pt idx="91">
                  <c:v>4.0603956173200002</c:v>
                </c:pt>
                <c:pt idx="92">
                  <c:v>4.0939467238900002</c:v>
                </c:pt>
                <c:pt idx="93">
                  <c:v>4.1275259245899996</c:v>
                </c:pt>
                <c:pt idx="94">
                  <c:v>4.1610683854700001</c:v>
                </c:pt>
                <c:pt idx="95">
                  <c:v>4.19462532948</c:v>
                </c:pt>
                <c:pt idx="96">
                  <c:v>4.2281949699599997</c:v>
                </c:pt>
                <c:pt idx="97">
                  <c:v>4.2617385473500002</c:v>
                </c:pt>
                <c:pt idx="98">
                  <c:v>4.2953031446400001</c:v>
                </c:pt>
                <c:pt idx="99">
                  <c:v>4.3288686738499997</c:v>
                </c:pt>
                <c:pt idx="100">
                  <c:v>4.3624070698599997</c:v>
                </c:pt>
                <c:pt idx="101">
                  <c:v>4.3959725477899996</c:v>
                </c:pt>
                <c:pt idx="102">
                  <c:v>4.4295261943000002</c:v>
                </c:pt>
                <c:pt idx="103">
                  <c:v>4.4630863330199997</c:v>
                </c:pt>
                <c:pt idx="104">
                  <c:v>4.4966390991800003</c:v>
                </c:pt>
                <c:pt idx="105">
                  <c:v>4.5301996981999997</c:v>
                </c:pt>
                <c:pt idx="106">
                  <c:v>4.5637539169699997</c:v>
                </c:pt>
                <c:pt idx="107">
                  <c:v>4.5973111700600002</c:v>
                </c:pt>
                <c:pt idx="108">
                  <c:v>4.6308751611699996</c:v>
                </c:pt>
                <c:pt idx="109">
                  <c:v>4.6644257145100001</c:v>
                </c:pt>
                <c:pt idx="110">
                  <c:v>4.6979873880299996</c:v>
                </c:pt>
                <c:pt idx="111">
                  <c:v>4.7315404180299998</c:v>
                </c:pt>
                <c:pt idx="112">
                  <c:v>4.7651020382400002</c:v>
                </c:pt>
                <c:pt idx="113">
                  <c:v>4.7986575499099997</c:v>
                </c:pt>
                <c:pt idx="114">
                  <c:v>4.8322150258500001</c:v>
                </c:pt>
                <c:pt idx="115">
                  <c:v>4.8657729717500002</c:v>
                </c:pt>
                <c:pt idx="116">
                  <c:v>4.89932794988</c:v>
                </c:pt>
                <c:pt idx="117">
                  <c:v>4.9328845265899997</c:v>
                </c:pt>
                <c:pt idx="118">
                  <c:v>4.9664421136700003</c:v>
                </c:pt>
                <c:pt idx="119">
                  <c:v>5</c:v>
                </c:pt>
              </c:numCache>
            </c:numRef>
          </c:xVal>
          <c:yVal>
            <c:numRef>
              <c:f>'Chart Data'!$B$2:$B$121</c:f>
              <c:numCache>
                <c:formatCode>General</c:formatCode>
                <c:ptCount val="120"/>
                <c:pt idx="0">
                  <c:v>91.9</c:v>
                </c:pt>
                <c:pt idx="1">
                  <c:v>90.727272727300004</c:v>
                </c:pt>
                <c:pt idx="2">
                  <c:v>90.833333333300004</c:v>
                </c:pt>
                <c:pt idx="3">
                  <c:v>91.153846153800004</c:v>
                </c:pt>
                <c:pt idx="4">
                  <c:v>91</c:v>
                </c:pt>
                <c:pt idx="5">
                  <c:v>90.066666666700002</c:v>
                </c:pt>
                <c:pt idx="6">
                  <c:v>89.5625</c:v>
                </c:pt>
                <c:pt idx="7">
                  <c:v>89.058823529400001</c:v>
                </c:pt>
                <c:pt idx="8">
                  <c:v>88.736842105299999</c:v>
                </c:pt>
                <c:pt idx="9">
                  <c:v>89.6</c:v>
                </c:pt>
                <c:pt idx="10">
                  <c:v>90.090909090899999</c:v>
                </c:pt>
                <c:pt idx="11">
                  <c:v>89.791666666699996</c:v>
                </c:pt>
                <c:pt idx="12">
                  <c:v>89.769230769200007</c:v>
                </c:pt>
                <c:pt idx="13">
                  <c:v>90.035714285699996</c:v>
                </c:pt>
                <c:pt idx="14">
                  <c:v>90.066666666700002</c:v>
                </c:pt>
                <c:pt idx="15">
                  <c:v>90.25</c:v>
                </c:pt>
                <c:pt idx="16">
                  <c:v>90.228571428600006</c:v>
                </c:pt>
                <c:pt idx="17">
                  <c:v>90.631578947400001</c:v>
                </c:pt>
                <c:pt idx="18">
                  <c:v>90.170731707300007</c:v>
                </c:pt>
                <c:pt idx="19">
                  <c:v>89.613636363599994</c:v>
                </c:pt>
                <c:pt idx="20">
                  <c:v>89.291666666699996</c:v>
                </c:pt>
                <c:pt idx="21">
                  <c:v>89.392156862700006</c:v>
                </c:pt>
                <c:pt idx="22">
                  <c:v>89.107142857100001</c:v>
                </c:pt>
                <c:pt idx="23">
                  <c:v>88.95</c:v>
                </c:pt>
                <c:pt idx="24">
                  <c:v>88.676923076899996</c:v>
                </c:pt>
                <c:pt idx="25">
                  <c:v>88.228571428600006</c:v>
                </c:pt>
                <c:pt idx="26">
                  <c:v>88.078947368399994</c:v>
                </c:pt>
                <c:pt idx="27">
                  <c:v>88.548780487800002</c:v>
                </c:pt>
                <c:pt idx="28">
                  <c:v>88.681818181799997</c:v>
                </c:pt>
                <c:pt idx="29">
                  <c:v>88.968421052599993</c:v>
                </c:pt>
                <c:pt idx="30">
                  <c:v>89.174757281599994</c:v>
                </c:pt>
                <c:pt idx="31">
                  <c:v>88.990990991000004</c:v>
                </c:pt>
                <c:pt idx="32">
                  <c:v>89</c:v>
                </c:pt>
                <c:pt idx="33">
                  <c:v>88.661538461500001</c:v>
                </c:pt>
                <c:pt idx="34">
                  <c:v>88.842857142900002</c:v>
                </c:pt>
                <c:pt idx="35">
                  <c:v>88.934210526300006</c:v>
                </c:pt>
                <c:pt idx="36">
                  <c:v>89.262195121999994</c:v>
                </c:pt>
                <c:pt idx="37">
                  <c:v>89.299435028199994</c:v>
                </c:pt>
                <c:pt idx="38">
                  <c:v>88.952879581199994</c:v>
                </c:pt>
                <c:pt idx="39">
                  <c:v>88.927536231900007</c:v>
                </c:pt>
                <c:pt idx="40">
                  <c:v>88.596412556100006</c:v>
                </c:pt>
                <c:pt idx="41">
                  <c:v>88.788381742699997</c:v>
                </c:pt>
                <c:pt idx="42">
                  <c:v>88.532567049799994</c:v>
                </c:pt>
                <c:pt idx="43">
                  <c:v>88.677304964499996</c:v>
                </c:pt>
                <c:pt idx="44">
                  <c:v>88.608552631600006</c:v>
                </c:pt>
                <c:pt idx="45">
                  <c:v>88.8358662614</c:v>
                </c:pt>
                <c:pt idx="46">
                  <c:v>89.154929577499999</c:v>
                </c:pt>
                <c:pt idx="47">
                  <c:v>89.190104166699996</c:v>
                </c:pt>
                <c:pt idx="48">
                  <c:v>89.159420289899998</c:v>
                </c:pt>
                <c:pt idx="49">
                  <c:v>89.303571428599994</c:v>
                </c:pt>
                <c:pt idx="50">
                  <c:v>89.514462809899996</c:v>
                </c:pt>
                <c:pt idx="51">
                  <c:v>89.629063097499994</c:v>
                </c:pt>
                <c:pt idx="52">
                  <c:v>89.481415929199997</c:v>
                </c:pt>
                <c:pt idx="53">
                  <c:v>89.593442623000001</c:v>
                </c:pt>
                <c:pt idx="54">
                  <c:v>89.403641881599995</c:v>
                </c:pt>
                <c:pt idx="55">
                  <c:v>89.240168539300001</c:v>
                </c:pt>
                <c:pt idx="56">
                  <c:v>89.2873862159</c:v>
                </c:pt>
                <c:pt idx="57">
                  <c:v>89.460890493400001</c:v>
                </c:pt>
                <c:pt idx="58">
                  <c:v>89.548494983300003</c:v>
                </c:pt>
                <c:pt idx="59">
                  <c:v>89.588659793800005</c:v>
                </c:pt>
                <c:pt idx="60">
                  <c:v>89.587392550100006</c:v>
                </c:pt>
                <c:pt idx="61">
                  <c:v>89.695229682000004</c:v>
                </c:pt>
                <c:pt idx="62">
                  <c:v>89.778232405899999</c:v>
                </c:pt>
                <c:pt idx="63">
                  <c:v>89.806964420900002</c:v>
                </c:pt>
                <c:pt idx="64">
                  <c:v>89.841625788399995</c:v>
                </c:pt>
                <c:pt idx="65">
                  <c:v>89.814406229699998</c:v>
                </c:pt>
                <c:pt idx="66">
                  <c:v>89.899099099099999</c:v>
                </c:pt>
                <c:pt idx="67">
                  <c:v>89.903835464099998</c:v>
                </c:pt>
                <c:pt idx="68">
                  <c:v>89.965020576100002</c:v>
                </c:pt>
                <c:pt idx="69">
                  <c:v>89.981904761899997</c:v>
                </c:pt>
                <c:pt idx="70">
                  <c:v>89.892857142899999</c:v>
                </c:pt>
                <c:pt idx="71">
                  <c:v>89.925744593999994</c:v>
                </c:pt>
                <c:pt idx="72">
                  <c:v>89.899508878000006</c:v>
                </c:pt>
                <c:pt idx="73">
                  <c:v>89.881118881099994</c:v>
                </c:pt>
                <c:pt idx="74">
                  <c:v>89.924919093900002</c:v>
                </c:pt>
                <c:pt idx="75">
                  <c:v>90.010185739999997</c:v>
                </c:pt>
                <c:pt idx="76">
                  <c:v>90.084581253500005</c:v>
                </c:pt>
                <c:pt idx="77">
                  <c:v>90.095482546200003</c:v>
                </c:pt>
                <c:pt idx="78">
                  <c:v>90.136849608000006</c:v>
                </c:pt>
                <c:pt idx="79">
                  <c:v>90.152408181200002</c:v>
                </c:pt>
                <c:pt idx="80">
                  <c:v>90.199714983700005</c:v>
                </c:pt>
                <c:pt idx="81">
                  <c:v>90.206708121299997</c:v>
                </c:pt>
                <c:pt idx="82">
                  <c:v>90.170765742200004</c:v>
                </c:pt>
                <c:pt idx="83">
                  <c:v>90.187439457500005</c:v>
                </c:pt>
                <c:pt idx="84">
                  <c:v>90.1566283067</c:v>
                </c:pt>
                <c:pt idx="85">
                  <c:v>90.161571448299995</c:v>
                </c:pt>
                <c:pt idx="86">
                  <c:v>90.117812780099996</c:v>
                </c:pt>
                <c:pt idx="87">
                  <c:v>90.059855398799996</c:v>
                </c:pt>
                <c:pt idx="88">
                  <c:v>90.107526881699997</c:v>
                </c:pt>
                <c:pt idx="89">
                  <c:v>90.100944450100002</c:v>
                </c:pt>
                <c:pt idx="90">
                  <c:v>90.069279939799998</c:v>
                </c:pt>
                <c:pt idx="91">
                  <c:v>90.078054298599994</c:v>
                </c:pt>
                <c:pt idx="92">
                  <c:v>90.066371325000006</c:v>
                </c:pt>
                <c:pt idx="93">
                  <c:v>90.0706031462</c:v>
                </c:pt>
                <c:pt idx="94">
                  <c:v>90.083436852999995</c:v>
                </c:pt>
                <c:pt idx="95">
                  <c:v>90.097610834299999</c:v>
                </c:pt>
                <c:pt idx="96">
                  <c:v>90.059011352900001</c:v>
                </c:pt>
                <c:pt idx="97">
                  <c:v>90.037000547299996</c:v>
                </c:pt>
                <c:pt idx="98">
                  <c:v>89.994578984699999</c:v>
                </c:pt>
                <c:pt idx="99">
                  <c:v>90.003470268200005</c:v>
                </c:pt>
                <c:pt idx="100">
                  <c:v>90.028737628100004</c:v>
                </c:pt>
                <c:pt idx="101">
                  <c:v>90.036002732300005</c:v>
                </c:pt>
                <c:pt idx="102">
                  <c:v>90.014505690700005</c:v>
                </c:pt>
                <c:pt idx="103">
                  <c:v>89.989671555499996</c:v>
                </c:pt>
                <c:pt idx="104">
                  <c:v>89.999458236400002</c:v>
                </c:pt>
                <c:pt idx="105">
                  <c:v>90.015221238899997</c:v>
                </c:pt>
                <c:pt idx="106">
                  <c:v>90.007044753299994</c:v>
                </c:pt>
                <c:pt idx="107">
                  <c:v>90.025679261999997</c:v>
                </c:pt>
                <c:pt idx="108">
                  <c:v>90.029150290100006</c:v>
                </c:pt>
                <c:pt idx="109">
                  <c:v>90.026961474299995</c:v>
                </c:pt>
                <c:pt idx="110">
                  <c:v>90.002044620800007</c:v>
                </c:pt>
                <c:pt idx="111">
                  <c:v>89.968252495599998</c:v>
                </c:pt>
                <c:pt idx="112">
                  <c:v>89.9828249519</c:v>
                </c:pt>
                <c:pt idx="113">
                  <c:v>89.982114751799998</c:v>
                </c:pt>
                <c:pt idx="114">
                  <c:v>89.989007269599995</c:v>
                </c:pt>
                <c:pt idx="115">
                  <c:v>90.013321891199993</c:v>
                </c:pt>
                <c:pt idx="116">
                  <c:v>90.018522254399997</c:v>
                </c:pt>
                <c:pt idx="117">
                  <c:v>90.012791634099997</c:v>
                </c:pt>
                <c:pt idx="118">
                  <c:v>90.002031027200005</c:v>
                </c:pt>
                <c:pt idx="119">
                  <c:v>89.978700000000003</c:v>
                </c:pt>
              </c:numCache>
            </c:numRef>
          </c:yVal>
          <c:smooth val="1"/>
          <c:extLst>
            <c:ext xmlns:c16="http://schemas.microsoft.com/office/drawing/2014/chart" uri="{C3380CC4-5D6E-409C-BE32-E72D297353CC}">
              <c16:uniqueId val="{00000000-AF81-4E8D-BC8E-96883DBEF3BB}"/>
            </c:ext>
          </c:extLst>
        </c:ser>
        <c:ser>
          <c:idx val="1"/>
          <c:order val="1"/>
          <c:tx>
            <c:v>Target 90</c:v>
          </c:tx>
          <c:spPr>
            <a:ln w="21908">
              <a:solidFill>
                <a:srgbClr val="C96B16"/>
              </a:solidFill>
            </a:ln>
          </c:spPr>
          <c:marker>
            <c:symbol val="none"/>
          </c:marker>
          <c:xVal>
            <c:numRef>
              <c:f>'Chart Data'!$C$2:$C$121</c:f>
              <c:numCache>
                <c:formatCode>General</c:formatCode>
                <c:ptCount val="120"/>
                <c:pt idx="0">
                  <c:v>1</c:v>
                </c:pt>
                <c:pt idx="1">
                  <c:v>1.0413926851599999</c:v>
                </c:pt>
                <c:pt idx="2">
                  <c:v>1.0791812460500001</c:v>
                </c:pt>
                <c:pt idx="3">
                  <c:v>1.11394335231</c:v>
                </c:pt>
                <c:pt idx="4">
                  <c:v>1.1461280356800001</c:v>
                </c:pt>
                <c:pt idx="5">
                  <c:v>1.1760912590599999</c:v>
                </c:pt>
                <c:pt idx="6">
                  <c:v>1.20411998266</c:v>
                </c:pt>
                <c:pt idx="7">
                  <c:v>1.2304489213800001</c:v>
                </c:pt>
                <c:pt idx="8">
                  <c:v>1.27875360095</c:v>
                </c:pt>
                <c:pt idx="9">
                  <c:v>1.30102999566</c:v>
                </c:pt>
                <c:pt idx="10">
                  <c:v>1.3424226808199999</c:v>
                </c:pt>
                <c:pt idx="11">
                  <c:v>1.3802112417100001</c:v>
                </c:pt>
                <c:pt idx="12">
                  <c:v>1.41497334797</c:v>
                </c:pt>
                <c:pt idx="13">
                  <c:v>1.4471580313400001</c:v>
                </c:pt>
                <c:pt idx="14">
                  <c:v>1.4771212547200001</c:v>
                </c:pt>
                <c:pt idx="15">
                  <c:v>1.50514997832</c:v>
                </c:pt>
                <c:pt idx="16">
                  <c:v>1.5440680443499999</c:v>
                </c:pt>
                <c:pt idx="17">
                  <c:v>1.57978359662</c:v>
                </c:pt>
                <c:pt idx="18">
                  <c:v>1.6127838567199999</c:v>
                </c:pt>
                <c:pt idx="19">
                  <c:v>1.6434526764899999</c:v>
                </c:pt>
                <c:pt idx="20">
                  <c:v>1.6812412373800001</c:v>
                </c:pt>
                <c:pt idx="21">
                  <c:v>1.7075701760999999</c:v>
                </c:pt>
                <c:pt idx="22">
                  <c:v>1.7481880270100001</c:v>
                </c:pt>
                <c:pt idx="23">
                  <c:v>1.7781512503800001</c:v>
                </c:pt>
                <c:pt idx="24">
                  <c:v>1.81291335664</c:v>
                </c:pt>
                <c:pt idx="25">
                  <c:v>1.8450980400100001</c:v>
                </c:pt>
                <c:pt idx="26">
                  <c:v>1.88081359228</c:v>
                </c:pt>
                <c:pt idx="27">
                  <c:v>1.9138138523799999</c:v>
                </c:pt>
                <c:pt idx="28">
                  <c:v>1.9444826721499999</c:v>
                </c:pt>
                <c:pt idx="29">
                  <c:v>1.97772360529</c:v>
                </c:pt>
                <c:pt idx="30">
                  <c:v>2.0128372247100002</c:v>
                </c:pt>
                <c:pt idx="31">
                  <c:v>2.0453229787899998</c:v>
                </c:pt>
                <c:pt idx="32">
                  <c:v>2.0791812460500001</c:v>
                </c:pt>
                <c:pt idx="33">
                  <c:v>2.1139433523100002</c:v>
                </c:pt>
                <c:pt idx="34">
                  <c:v>2.1461280356799999</c:v>
                </c:pt>
                <c:pt idx="35">
                  <c:v>2.18184358794</c:v>
                </c:pt>
                <c:pt idx="36">
                  <c:v>2.2148438480500001</c:v>
                </c:pt>
                <c:pt idx="37">
                  <c:v>2.2479732663599998</c:v>
                </c:pt>
                <c:pt idx="38">
                  <c:v>2.2810333672500001</c:v>
                </c:pt>
                <c:pt idx="39">
                  <c:v>2.3159703454599998</c:v>
                </c:pt>
                <c:pt idx="40">
                  <c:v>2.3483048630500001</c:v>
                </c:pt>
                <c:pt idx="41">
                  <c:v>2.3820170425699998</c:v>
                </c:pt>
                <c:pt idx="42">
                  <c:v>2.4166405073399999</c:v>
                </c:pt>
                <c:pt idx="43">
                  <c:v>2.45024910832</c:v>
                </c:pt>
                <c:pt idx="44">
                  <c:v>2.48287358361</c:v>
                </c:pt>
                <c:pt idx="45">
                  <c:v>2.5171958979500002</c:v>
                </c:pt>
                <c:pt idx="46">
                  <c:v>2.5502283530600001</c:v>
                </c:pt>
                <c:pt idx="47">
                  <c:v>2.5843312243700001</c:v>
                </c:pt>
                <c:pt idx="48">
                  <c:v>2.6170003411199998</c:v>
                </c:pt>
                <c:pt idx="49">
                  <c:v>2.6512780139999998</c:v>
                </c:pt>
                <c:pt idx="50">
                  <c:v>2.6848453616399999</c:v>
                </c:pt>
                <c:pt idx="51">
                  <c:v>2.71850168887</c:v>
                </c:pt>
                <c:pt idx="52">
                  <c:v>2.75204844782</c:v>
                </c:pt>
                <c:pt idx="53">
                  <c:v>2.7853298350100002</c:v>
                </c:pt>
                <c:pt idx="54">
                  <c:v>2.81888541459</c:v>
                </c:pt>
                <c:pt idx="55">
                  <c:v>2.8524799936399998</c:v>
                </c:pt>
                <c:pt idx="56">
                  <c:v>2.8859263398000001</c:v>
                </c:pt>
                <c:pt idx="57">
                  <c:v>2.9196010237799999</c:v>
                </c:pt>
                <c:pt idx="58">
                  <c:v>2.9527924430399999</c:v>
                </c:pt>
                <c:pt idx="59">
                  <c:v>2.98677173427</c:v>
                </c:pt>
                <c:pt idx="60">
                  <c:v>3.01994668168</c:v>
                </c:pt>
                <c:pt idx="61">
                  <c:v>3.0538464268499999</c:v>
                </c:pt>
                <c:pt idx="62">
                  <c:v>3.0870712059100001</c:v>
                </c:pt>
                <c:pt idx="63">
                  <c:v>3.1209028176100002</c:v>
                </c:pt>
                <c:pt idx="64">
                  <c:v>3.1544239731100001</c:v>
                </c:pt>
                <c:pt idx="65">
                  <c:v>3.18780263872</c:v>
                </c:pt>
                <c:pt idx="66">
                  <c:v>3.2214142378399999</c:v>
                </c:pt>
                <c:pt idx="67">
                  <c:v>3.25503116335</c:v>
                </c:pt>
                <c:pt idx="68">
                  <c:v>3.2886962605900001</c:v>
                </c:pt>
                <c:pt idx="69">
                  <c:v>3.32221929473</c:v>
                </c:pt>
                <c:pt idx="70">
                  <c:v>3.3556430502199999</c:v>
                </c:pt>
                <c:pt idx="71">
                  <c:v>3.3893433112500002</c:v>
                </c:pt>
                <c:pt idx="72">
                  <c:v>3.4227539412999999</c:v>
                </c:pt>
                <c:pt idx="73">
                  <c:v>3.4563660331300001</c:v>
                </c:pt>
                <c:pt idx="74">
                  <c:v>3.4899584794199998</c:v>
                </c:pt>
                <c:pt idx="75">
                  <c:v>3.5234863323400001</c:v>
                </c:pt>
                <c:pt idx="76">
                  <c:v>3.5570257223900001</c:v>
                </c:pt>
                <c:pt idx="77">
                  <c:v>3.5906189482099999</c:v>
                </c:pt>
                <c:pt idx="78">
                  <c:v>3.6241789257499999</c:v>
                </c:pt>
                <c:pt idx="79">
                  <c:v>3.6577249542099999</c:v>
                </c:pt>
                <c:pt idx="80">
                  <c:v>3.6912583581299998</c:v>
                </c:pt>
                <c:pt idx="81">
                  <c:v>3.72484908763</c:v>
                </c:pt>
                <c:pt idx="82">
                  <c:v>3.7583819417700002</c:v>
                </c:pt>
                <c:pt idx="83">
                  <c:v>3.79197120102</c:v>
                </c:pt>
                <c:pt idx="84">
                  <c:v>3.8254910298799998</c:v>
                </c:pt>
                <c:pt idx="85">
                  <c:v>3.8590782247500002</c:v>
                </c:pt>
                <c:pt idx="86">
                  <c:v>3.8925954228299999</c:v>
                </c:pt>
                <c:pt idx="87">
                  <c:v>3.9261880491099999</c:v>
                </c:pt>
                <c:pt idx="88">
                  <c:v>3.9597090242499999</c:v>
                </c:pt>
                <c:pt idx="89">
                  <c:v>3.9933039379199999</c:v>
                </c:pt>
                <c:pt idx="90">
                  <c:v>4.0268599859799998</c:v>
                </c:pt>
                <c:pt idx="91">
                  <c:v>4.0603956173200002</c:v>
                </c:pt>
                <c:pt idx="92">
                  <c:v>4.0939467238900002</c:v>
                </c:pt>
                <c:pt idx="93">
                  <c:v>4.1275259245899996</c:v>
                </c:pt>
                <c:pt idx="94">
                  <c:v>4.1610683854700001</c:v>
                </c:pt>
                <c:pt idx="95">
                  <c:v>4.19462532948</c:v>
                </c:pt>
                <c:pt idx="96">
                  <c:v>4.2281949699599997</c:v>
                </c:pt>
                <c:pt idx="97">
                  <c:v>4.2617385473500002</c:v>
                </c:pt>
                <c:pt idx="98">
                  <c:v>4.2953031446400001</c:v>
                </c:pt>
                <c:pt idx="99">
                  <c:v>4.3288686738499997</c:v>
                </c:pt>
                <c:pt idx="100">
                  <c:v>4.3624070698599997</c:v>
                </c:pt>
                <c:pt idx="101">
                  <c:v>4.3959725477899996</c:v>
                </c:pt>
                <c:pt idx="102">
                  <c:v>4.4295261943000002</c:v>
                </c:pt>
                <c:pt idx="103">
                  <c:v>4.4630863330199997</c:v>
                </c:pt>
                <c:pt idx="104">
                  <c:v>4.4966390991800003</c:v>
                </c:pt>
                <c:pt idx="105">
                  <c:v>4.5301996981999997</c:v>
                </c:pt>
                <c:pt idx="106">
                  <c:v>4.5637539169699997</c:v>
                </c:pt>
                <c:pt idx="107">
                  <c:v>4.5973111700600002</c:v>
                </c:pt>
                <c:pt idx="108">
                  <c:v>4.6308751611699996</c:v>
                </c:pt>
                <c:pt idx="109">
                  <c:v>4.6644257145100001</c:v>
                </c:pt>
                <c:pt idx="110">
                  <c:v>4.6979873880299996</c:v>
                </c:pt>
                <c:pt idx="111">
                  <c:v>4.7315404180299998</c:v>
                </c:pt>
                <c:pt idx="112">
                  <c:v>4.7651020382400002</c:v>
                </c:pt>
                <c:pt idx="113">
                  <c:v>4.7986575499099997</c:v>
                </c:pt>
                <c:pt idx="114">
                  <c:v>4.8322150258500001</c:v>
                </c:pt>
                <c:pt idx="115">
                  <c:v>4.8657729717500002</c:v>
                </c:pt>
                <c:pt idx="116">
                  <c:v>4.89932794988</c:v>
                </c:pt>
                <c:pt idx="117">
                  <c:v>4.9328845265899997</c:v>
                </c:pt>
                <c:pt idx="118">
                  <c:v>4.9664421136700003</c:v>
                </c:pt>
                <c:pt idx="119">
                  <c:v>5</c:v>
                </c:pt>
              </c:numCache>
            </c:numRef>
          </c:xVal>
          <c:yVal>
            <c:numRef>
              <c:f>'Chart Data'!$D$2:$D$121</c:f>
              <c:numCache>
                <c:formatCode>General</c:formatCode>
                <c:ptCount val="120"/>
                <c:pt idx="0">
                  <c:v>90</c:v>
                </c:pt>
                <c:pt idx="1">
                  <c:v>90</c:v>
                </c:pt>
                <c:pt idx="2">
                  <c:v>90</c:v>
                </c:pt>
                <c:pt idx="3">
                  <c:v>90</c:v>
                </c:pt>
                <c:pt idx="4">
                  <c:v>90</c:v>
                </c:pt>
                <c:pt idx="5">
                  <c:v>90</c:v>
                </c:pt>
                <c:pt idx="6">
                  <c:v>90</c:v>
                </c:pt>
                <c:pt idx="7">
                  <c:v>90</c:v>
                </c:pt>
                <c:pt idx="8">
                  <c:v>90</c:v>
                </c:pt>
                <c:pt idx="9">
                  <c:v>90</c:v>
                </c:pt>
                <c:pt idx="10">
                  <c:v>90</c:v>
                </c:pt>
                <c:pt idx="11">
                  <c:v>90</c:v>
                </c:pt>
                <c:pt idx="12">
                  <c:v>90</c:v>
                </c:pt>
                <c:pt idx="13">
                  <c:v>90</c:v>
                </c:pt>
                <c:pt idx="14">
                  <c:v>90</c:v>
                </c:pt>
                <c:pt idx="15">
                  <c:v>90</c:v>
                </c:pt>
                <c:pt idx="16">
                  <c:v>90</c:v>
                </c:pt>
                <c:pt idx="17">
                  <c:v>90</c:v>
                </c:pt>
                <c:pt idx="18">
                  <c:v>90</c:v>
                </c:pt>
                <c:pt idx="19">
                  <c:v>90</c:v>
                </c:pt>
                <c:pt idx="20">
                  <c:v>90</c:v>
                </c:pt>
                <c:pt idx="21">
                  <c:v>90</c:v>
                </c:pt>
                <c:pt idx="22">
                  <c:v>90</c:v>
                </c:pt>
                <c:pt idx="23">
                  <c:v>90</c:v>
                </c:pt>
                <c:pt idx="24">
                  <c:v>90</c:v>
                </c:pt>
                <c:pt idx="25">
                  <c:v>90</c:v>
                </c:pt>
                <c:pt idx="26">
                  <c:v>90</c:v>
                </c:pt>
                <c:pt idx="27">
                  <c:v>90</c:v>
                </c:pt>
                <c:pt idx="28">
                  <c:v>90</c:v>
                </c:pt>
                <c:pt idx="29">
                  <c:v>90</c:v>
                </c:pt>
                <c:pt idx="30">
                  <c:v>90</c:v>
                </c:pt>
                <c:pt idx="31">
                  <c:v>90</c:v>
                </c:pt>
                <c:pt idx="32">
                  <c:v>90</c:v>
                </c:pt>
                <c:pt idx="33">
                  <c:v>90</c:v>
                </c:pt>
                <c:pt idx="34">
                  <c:v>90</c:v>
                </c:pt>
                <c:pt idx="35">
                  <c:v>90</c:v>
                </c:pt>
                <c:pt idx="36">
                  <c:v>90</c:v>
                </c:pt>
                <c:pt idx="37">
                  <c:v>90</c:v>
                </c:pt>
                <c:pt idx="38">
                  <c:v>90</c:v>
                </c:pt>
                <c:pt idx="39">
                  <c:v>90</c:v>
                </c:pt>
                <c:pt idx="40">
                  <c:v>90</c:v>
                </c:pt>
                <c:pt idx="41">
                  <c:v>90</c:v>
                </c:pt>
                <c:pt idx="42">
                  <c:v>90</c:v>
                </c:pt>
                <c:pt idx="43">
                  <c:v>90</c:v>
                </c:pt>
                <c:pt idx="44">
                  <c:v>90</c:v>
                </c:pt>
                <c:pt idx="45">
                  <c:v>90</c:v>
                </c:pt>
                <c:pt idx="46">
                  <c:v>90</c:v>
                </c:pt>
                <c:pt idx="47">
                  <c:v>90</c:v>
                </c:pt>
                <c:pt idx="48">
                  <c:v>90</c:v>
                </c:pt>
                <c:pt idx="49">
                  <c:v>90</c:v>
                </c:pt>
                <c:pt idx="50">
                  <c:v>90</c:v>
                </c:pt>
                <c:pt idx="51">
                  <c:v>90</c:v>
                </c:pt>
                <c:pt idx="52">
                  <c:v>90</c:v>
                </c:pt>
                <c:pt idx="53">
                  <c:v>90</c:v>
                </c:pt>
                <c:pt idx="54">
                  <c:v>90</c:v>
                </c:pt>
                <c:pt idx="55">
                  <c:v>90</c:v>
                </c:pt>
                <c:pt idx="56">
                  <c:v>90</c:v>
                </c:pt>
                <c:pt idx="57">
                  <c:v>90</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numCache>
            </c:numRef>
          </c:yVal>
          <c:smooth val="1"/>
          <c:extLst>
            <c:ext xmlns:c16="http://schemas.microsoft.com/office/drawing/2014/chart" uri="{C3380CC4-5D6E-409C-BE32-E72D297353CC}">
              <c16:uniqueId val="{00000001-AF81-4E8D-BC8E-96883DBEF3BB}"/>
            </c:ext>
          </c:extLst>
        </c:ser>
        <c:dLbls>
          <c:showLegendKey val="0"/>
          <c:showVal val="0"/>
          <c:showCatName val="0"/>
          <c:showSerName val="0"/>
          <c:showPercent val="0"/>
          <c:showBubbleSize val="0"/>
        </c:dLbls>
        <c:axId val="48650112"/>
        <c:axId val="48672768"/>
      </c:scatterChart>
      <c:valAx>
        <c:axId val="48672768"/>
        <c:scaling>
          <c:orientation val="minMax"/>
          <c:max val="100"/>
          <c:min val="80"/>
        </c:scaling>
        <c:delete val="0"/>
        <c:axPos val="l"/>
        <c:majorGridlines>
          <c:spPr>
            <a:ln w="6668">
              <a:solidFill>
                <a:srgbClr val="DDE5EC"/>
              </a:solidFill>
            </a:ln>
          </c:spPr>
        </c:majorGridlines>
        <c:title>
          <c:tx>
            <c:rich>
              <a:bodyPr/>
              <a:lstStyle/>
              <a:p>
                <a:r>
                  <a:rPr lang="en-GB">
                    <a:latin typeface="Aptos"/>
                    <a:ea typeface="Aptos"/>
                    <a:cs typeface="Aptos"/>
                  </a:rPr>
                  <a:t>Items</a:t>
                </a:r>
              </a:p>
            </c:rich>
          </c:tx>
          <c:overlay val="0"/>
        </c:title>
        <c:numFmt formatCode="General" sourceLinked="1"/>
        <c:majorTickMark val="none"/>
        <c:minorTickMark val="none"/>
        <c:tickLblPos val="nextTo"/>
        <c:spPr>
          <a:ln w="9525">
            <a:solidFill>
              <a:srgbClr val="526171"/>
            </a:solidFill>
          </a:ln>
        </c:spPr>
        <c:txPr>
          <a:bodyPr anchorCtr="1"/>
          <a:lstStyle/>
          <a:p>
            <a:pPr>
              <a:defRPr sz="1575">
                <a:solidFill>
                  <a:srgbClr val="526171"/>
                </a:solidFill>
                <a:latin typeface="Aptos"/>
                <a:ea typeface="Aptos"/>
                <a:cs typeface="Aptos"/>
              </a:defRPr>
            </a:pPr>
            <a:endParaRPr lang="en-US"/>
          </a:p>
        </c:txPr>
        <c:crossAx val="48650112"/>
        <c:crosses val="autoZero"/>
        <c:crossBetween val="midCat"/>
        <c:majorUnit val="5"/>
      </c:valAx>
      <c:valAx>
        <c:axId val="48650112"/>
        <c:scaling>
          <c:orientation val="minMax"/>
          <c:max val="5"/>
          <c:min val="1"/>
        </c:scaling>
        <c:delete val="0"/>
        <c:axPos val="b"/>
        <c:title>
          <c:tx>
            <c:rich>
              <a:bodyPr/>
              <a:lstStyle/>
              <a:p>
                <a:r>
                  <a:rPr lang="en-GB">
                    <a:latin typeface="Aptos"/>
                    <a:ea typeface="Aptos"/>
                    <a:cs typeface="Aptos"/>
                  </a:rPr>
                  <a:t>log₁₀(number of mornings)</a:t>
                </a:r>
              </a:p>
            </c:rich>
          </c:tx>
          <c:overlay val="0"/>
        </c:title>
        <c:numFmt formatCode="General" sourceLinked="1"/>
        <c:majorTickMark val="none"/>
        <c:minorTickMark val="none"/>
        <c:tickLblPos val="nextTo"/>
        <c:spPr>
          <a:ln w="9525">
            <a:solidFill>
              <a:srgbClr val="526171"/>
            </a:solidFill>
          </a:ln>
        </c:spPr>
        <c:txPr>
          <a:bodyPr anchorCtr="1"/>
          <a:lstStyle/>
          <a:p>
            <a:pPr>
              <a:defRPr sz="1575">
                <a:solidFill>
                  <a:srgbClr val="526171"/>
                </a:solidFill>
                <a:latin typeface="Aptos"/>
                <a:ea typeface="Aptos"/>
                <a:cs typeface="Aptos"/>
              </a:defRPr>
            </a:pPr>
            <a:endParaRPr lang="en-US"/>
          </a:p>
        </c:txPr>
        <c:crossAx val="48672768"/>
        <c:crosses val="autoZero"/>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Running proportion</c:v>
          </c:tx>
          <c:spPr>
            <a:ln w="21908">
              <a:solidFill>
                <a:srgbClr val="2F6F4E"/>
              </a:solidFill>
            </a:ln>
          </c:spPr>
          <c:marker>
            <c:symbol val="none"/>
          </c:marker>
          <c:xVal>
            <c:numRef>
              <c:f>'Chart Data'!$A$2:$A$121</c:f>
              <c:numCache>
                <c:formatCode>General</c:formatCode>
                <c:ptCount val="120"/>
                <c:pt idx="0">
                  <c:v>1</c:v>
                </c:pt>
                <c:pt idx="1">
                  <c:v>1.0413926851599999</c:v>
                </c:pt>
                <c:pt idx="2">
                  <c:v>1.0791812460500001</c:v>
                </c:pt>
                <c:pt idx="3">
                  <c:v>1.11394335231</c:v>
                </c:pt>
                <c:pt idx="4">
                  <c:v>1.1461280356800001</c:v>
                </c:pt>
                <c:pt idx="5">
                  <c:v>1.1760912590599999</c:v>
                </c:pt>
                <c:pt idx="6">
                  <c:v>1.20411998266</c:v>
                </c:pt>
                <c:pt idx="7">
                  <c:v>1.2304489213800001</c:v>
                </c:pt>
                <c:pt idx="8">
                  <c:v>1.27875360095</c:v>
                </c:pt>
                <c:pt idx="9">
                  <c:v>1.30102999566</c:v>
                </c:pt>
                <c:pt idx="10">
                  <c:v>1.3424226808199999</c:v>
                </c:pt>
                <c:pt idx="11">
                  <c:v>1.3802112417100001</c:v>
                </c:pt>
                <c:pt idx="12">
                  <c:v>1.41497334797</c:v>
                </c:pt>
                <c:pt idx="13">
                  <c:v>1.4471580313400001</c:v>
                </c:pt>
                <c:pt idx="14">
                  <c:v>1.4771212547200001</c:v>
                </c:pt>
                <c:pt idx="15">
                  <c:v>1.50514997832</c:v>
                </c:pt>
                <c:pt idx="16">
                  <c:v>1.5440680443499999</c:v>
                </c:pt>
                <c:pt idx="17">
                  <c:v>1.57978359662</c:v>
                </c:pt>
                <c:pt idx="18">
                  <c:v>1.6127838567199999</c:v>
                </c:pt>
                <c:pt idx="19">
                  <c:v>1.6434526764899999</c:v>
                </c:pt>
                <c:pt idx="20">
                  <c:v>1.6812412373800001</c:v>
                </c:pt>
                <c:pt idx="21">
                  <c:v>1.7075701760999999</c:v>
                </c:pt>
                <c:pt idx="22">
                  <c:v>1.7481880270100001</c:v>
                </c:pt>
                <c:pt idx="23">
                  <c:v>1.7781512503800001</c:v>
                </c:pt>
                <c:pt idx="24">
                  <c:v>1.81291335664</c:v>
                </c:pt>
                <c:pt idx="25">
                  <c:v>1.8450980400100001</c:v>
                </c:pt>
                <c:pt idx="26">
                  <c:v>1.88081359228</c:v>
                </c:pt>
                <c:pt idx="27">
                  <c:v>1.9138138523799999</c:v>
                </c:pt>
                <c:pt idx="28">
                  <c:v>1.9444826721499999</c:v>
                </c:pt>
                <c:pt idx="29">
                  <c:v>1.97772360529</c:v>
                </c:pt>
                <c:pt idx="30">
                  <c:v>2.0128372247100002</c:v>
                </c:pt>
                <c:pt idx="31">
                  <c:v>2.0453229787899998</c:v>
                </c:pt>
                <c:pt idx="32">
                  <c:v>2.0791812460500001</c:v>
                </c:pt>
                <c:pt idx="33">
                  <c:v>2.1139433523100002</c:v>
                </c:pt>
                <c:pt idx="34">
                  <c:v>2.1461280356799999</c:v>
                </c:pt>
                <c:pt idx="35">
                  <c:v>2.18184358794</c:v>
                </c:pt>
                <c:pt idx="36">
                  <c:v>2.2148438480500001</c:v>
                </c:pt>
                <c:pt idx="37">
                  <c:v>2.2479732663599998</c:v>
                </c:pt>
                <c:pt idx="38">
                  <c:v>2.2810333672500001</c:v>
                </c:pt>
                <c:pt idx="39">
                  <c:v>2.3159703454599998</c:v>
                </c:pt>
                <c:pt idx="40">
                  <c:v>2.3483048630500001</c:v>
                </c:pt>
                <c:pt idx="41">
                  <c:v>2.3820170425699998</c:v>
                </c:pt>
                <c:pt idx="42">
                  <c:v>2.4166405073399999</c:v>
                </c:pt>
                <c:pt idx="43">
                  <c:v>2.45024910832</c:v>
                </c:pt>
                <c:pt idx="44">
                  <c:v>2.48287358361</c:v>
                </c:pt>
                <c:pt idx="45">
                  <c:v>2.5171958979500002</c:v>
                </c:pt>
                <c:pt idx="46">
                  <c:v>2.5502283530600001</c:v>
                </c:pt>
                <c:pt idx="47">
                  <c:v>2.5843312243700001</c:v>
                </c:pt>
                <c:pt idx="48">
                  <c:v>2.6170003411199998</c:v>
                </c:pt>
                <c:pt idx="49">
                  <c:v>2.6512780139999998</c:v>
                </c:pt>
                <c:pt idx="50">
                  <c:v>2.6848453616399999</c:v>
                </c:pt>
                <c:pt idx="51">
                  <c:v>2.71850168887</c:v>
                </c:pt>
                <c:pt idx="52">
                  <c:v>2.75204844782</c:v>
                </c:pt>
                <c:pt idx="53">
                  <c:v>2.7853298350100002</c:v>
                </c:pt>
                <c:pt idx="54">
                  <c:v>2.81888541459</c:v>
                </c:pt>
                <c:pt idx="55">
                  <c:v>2.8524799936399998</c:v>
                </c:pt>
                <c:pt idx="56">
                  <c:v>2.8859263398000001</c:v>
                </c:pt>
                <c:pt idx="57">
                  <c:v>2.9196010237799999</c:v>
                </c:pt>
                <c:pt idx="58">
                  <c:v>2.9527924430399999</c:v>
                </c:pt>
                <c:pt idx="59">
                  <c:v>2.98677173427</c:v>
                </c:pt>
                <c:pt idx="60">
                  <c:v>3.01994668168</c:v>
                </c:pt>
                <c:pt idx="61">
                  <c:v>3.0538464268499999</c:v>
                </c:pt>
                <c:pt idx="62">
                  <c:v>3.0870712059100001</c:v>
                </c:pt>
                <c:pt idx="63">
                  <c:v>3.1209028176100002</c:v>
                </c:pt>
                <c:pt idx="64">
                  <c:v>3.1544239731100001</c:v>
                </c:pt>
                <c:pt idx="65">
                  <c:v>3.18780263872</c:v>
                </c:pt>
                <c:pt idx="66">
                  <c:v>3.2214142378399999</c:v>
                </c:pt>
                <c:pt idx="67">
                  <c:v>3.25503116335</c:v>
                </c:pt>
                <c:pt idx="68">
                  <c:v>3.2886962605900001</c:v>
                </c:pt>
                <c:pt idx="69">
                  <c:v>3.32221929473</c:v>
                </c:pt>
                <c:pt idx="70">
                  <c:v>3.3556430502199999</c:v>
                </c:pt>
                <c:pt idx="71">
                  <c:v>3.3893433112500002</c:v>
                </c:pt>
                <c:pt idx="72">
                  <c:v>3.4227539412999999</c:v>
                </c:pt>
                <c:pt idx="73">
                  <c:v>3.4563660331300001</c:v>
                </c:pt>
                <c:pt idx="74">
                  <c:v>3.4899584794199998</c:v>
                </c:pt>
                <c:pt idx="75">
                  <c:v>3.5234863323400001</c:v>
                </c:pt>
                <c:pt idx="76">
                  <c:v>3.5570257223900001</c:v>
                </c:pt>
                <c:pt idx="77">
                  <c:v>3.5906189482099999</c:v>
                </c:pt>
                <c:pt idx="78">
                  <c:v>3.6241789257499999</c:v>
                </c:pt>
                <c:pt idx="79">
                  <c:v>3.6577249542099999</c:v>
                </c:pt>
                <c:pt idx="80">
                  <c:v>3.6912583581299998</c:v>
                </c:pt>
                <c:pt idx="81">
                  <c:v>3.72484908763</c:v>
                </c:pt>
                <c:pt idx="82">
                  <c:v>3.7583819417700002</c:v>
                </c:pt>
                <c:pt idx="83">
                  <c:v>3.79197120102</c:v>
                </c:pt>
                <c:pt idx="84">
                  <c:v>3.8254910298799998</c:v>
                </c:pt>
                <c:pt idx="85">
                  <c:v>3.8590782247500002</c:v>
                </c:pt>
                <c:pt idx="86">
                  <c:v>3.8925954228299999</c:v>
                </c:pt>
                <c:pt idx="87">
                  <c:v>3.9261880491099999</c:v>
                </c:pt>
                <c:pt idx="88">
                  <c:v>3.9597090242499999</c:v>
                </c:pt>
                <c:pt idx="89">
                  <c:v>3.9933039379199999</c:v>
                </c:pt>
                <c:pt idx="90">
                  <c:v>4.0268599859799998</c:v>
                </c:pt>
                <c:pt idx="91">
                  <c:v>4.0603956173200002</c:v>
                </c:pt>
                <c:pt idx="92">
                  <c:v>4.0939467238900002</c:v>
                </c:pt>
                <c:pt idx="93">
                  <c:v>4.1275259245899996</c:v>
                </c:pt>
                <c:pt idx="94">
                  <c:v>4.1610683854700001</c:v>
                </c:pt>
                <c:pt idx="95">
                  <c:v>4.19462532948</c:v>
                </c:pt>
                <c:pt idx="96">
                  <c:v>4.2281949699599997</c:v>
                </c:pt>
                <c:pt idx="97">
                  <c:v>4.2617385473500002</c:v>
                </c:pt>
                <c:pt idx="98">
                  <c:v>4.2953031446400001</c:v>
                </c:pt>
                <c:pt idx="99">
                  <c:v>4.3288686738499997</c:v>
                </c:pt>
                <c:pt idx="100">
                  <c:v>4.3624070698599997</c:v>
                </c:pt>
                <c:pt idx="101">
                  <c:v>4.3959725477899996</c:v>
                </c:pt>
                <c:pt idx="102">
                  <c:v>4.4295261943000002</c:v>
                </c:pt>
                <c:pt idx="103">
                  <c:v>4.4630863330199997</c:v>
                </c:pt>
                <c:pt idx="104">
                  <c:v>4.4966390991800003</c:v>
                </c:pt>
                <c:pt idx="105">
                  <c:v>4.5301996981999997</c:v>
                </c:pt>
                <c:pt idx="106">
                  <c:v>4.5637539169699997</c:v>
                </c:pt>
                <c:pt idx="107">
                  <c:v>4.5973111700600002</c:v>
                </c:pt>
                <c:pt idx="108">
                  <c:v>4.6308751611699996</c:v>
                </c:pt>
                <c:pt idx="109">
                  <c:v>4.6644257145100001</c:v>
                </c:pt>
                <c:pt idx="110">
                  <c:v>4.6979873880299996</c:v>
                </c:pt>
                <c:pt idx="111">
                  <c:v>4.7315404180299998</c:v>
                </c:pt>
                <c:pt idx="112">
                  <c:v>4.7651020382400002</c:v>
                </c:pt>
                <c:pt idx="113">
                  <c:v>4.7986575499099997</c:v>
                </c:pt>
                <c:pt idx="114">
                  <c:v>4.8322150258500001</c:v>
                </c:pt>
                <c:pt idx="115">
                  <c:v>4.8657729717500002</c:v>
                </c:pt>
                <c:pt idx="116">
                  <c:v>4.89932794988</c:v>
                </c:pt>
                <c:pt idx="117">
                  <c:v>4.9328845265899997</c:v>
                </c:pt>
                <c:pt idx="118">
                  <c:v>4.9664421136700003</c:v>
                </c:pt>
                <c:pt idx="119">
                  <c:v>5</c:v>
                </c:pt>
              </c:numCache>
            </c:numRef>
          </c:xVal>
          <c:yVal>
            <c:numRef>
              <c:f>'Chart Data'!$B$2:$B$121</c:f>
              <c:numCache>
                <c:formatCode>0%</c:formatCode>
                <c:ptCount val="120"/>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0.97142857142899997</c:v>
                </c:pt>
                <c:pt idx="17">
                  <c:v>0.97368421052599996</c:v>
                </c:pt>
                <c:pt idx="18">
                  <c:v>0.97560975609800005</c:v>
                </c:pt>
                <c:pt idx="19">
                  <c:v>0.97727272727299996</c:v>
                </c:pt>
                <c:pt idx="20">
                  <c:v>0.97916666666700003</c:v>
                </c:pt>
                <c:pt idx="21">
                  <c:v>0.98039215686299996</c:v>
                </c:pt>
                <c:pt idx="22">
                  <c:v>0.98214285714299998</c:v>
                </c:pt>
                <c:pt idx="23">
                  <c:v>0.98333333333299999</c:v>
                </c:pt>
                <c:pt idx="24">
                  <c:v>0.98461538461499998</c:v>
                </c:pt>
                <c:pt idx="25">
                  <c:v>0.98571428571399999</c:v>
                </c:pt>
                <c:pt idx="26">
                  <c:v>0.98684210526299998</c:v>
                </c:pt>
                <c:pt idx="27">
                  <c:v>0.97560975609800005</c:v>
                </c:pt>
                <c:pt idx="28">
                  <c:v>0.97727272727299996</c:v>
                </c:pt>
                <c:pt idx="29">
                  <c:v>0.96842105263199996</c:v>
                </c:pt>
                <c:pt idx="30">
                  <c:v>0.97087378640800004</c:v>
                </c:pt>
                <c:pt idx="31">
                  <c:v>0.97297297297300001</c:v>
                </c:pt>
                <c:pt idx="32">
                  <c:v>0.97499999999999998</c:v>
                </c:pt>
                <c:pt idx="33">
                  <c:v>0.97692307692299996</c:v>
                </c:pt>
                <c:pt idx="34">
                  <c:v>0.97857142857099999</c:v>
                </c:pt>
                <c:pt idx="35">
                  <c:v>0.98026315789499996</c:v>
                </c:pt>
                <c:pt idx="36">
                  <c:v>0.98170731707299996</c:v>
                </c:pt>
                <c:pt idx="37">
                  <c:v>0.98305084745799998</c:v>
                </c:pt>
                <c:pt idx="38">
                  <c:v>0.98429319371699997</c:v>
                </c:pt>
                <c:pt idx="39">
                  <c:v>0.98550724637700005</c:v>
                </c:pt>
                <c:pt idx="40">
                  <c:v>0.98654708520199996</c:v>
                </c:pt>
                <c:pt idx="41">
                  <c:v>0.98340248962700005</c:v>
                </c:pt>
                <c:pt idx="42">
                  <c:v>0.98467432950199996</c:v>
                </c:pt>
                <c:pt idx="43">
                  <c:v>0.98581560283699998</c:v>
                </c:pt>
                <c:pt idx="44">
                  <c:v>0.98684210526299998</c:v>
                </c:pt>
                <c:pt idx="45">
                  <c:v>0.98176291793299997</c:v>
                </c:pt>
                <c:pt idx="46">
                  <c:v>0.98028169014099997</c:v>
                </c:pt>
                <c:pt idx="47">
                  <c:v>0.97916666666700003</c:v>
                </c:pt>
                <c:pt idx="48">
                  <c:v>0.97826086956500002</c:v>
                </c:pt>
                <c:pt idx="49">
                  <c:v>0.97544642857099995</c:v>
                </c:pt>
                <c:pt idx="50">
                  <c:v>0.973140495868</c:v>
                </c:pt>
                <c:pt idx="51">
                  <c:v>0.97323135755300005</c:v>
                </c:pt>
                <c:pt idx="52">
                  <c:v>0.97522123893799995</c:v>
                </c:pt>
                <c:pt idx="53">
                  <c:v>0.97377049180300002</c:v>
                </c:pt>
                <c:pt idx="54">
                  <c:v>0.97420333839200002</c:v>
                </c:pt>
                <c:pt idx="55">
                  <c:v>0.97471910112399995</c:v>
                </c:pt>
                <c:pt idx="56">
                  <c:v>0.97529258777600003</c:v>
                </c:pt>
                <c:pt idx="57">
                  <c:v>0.97593261131200004</c:v>
                </c:pt>
                <c:pt idx="58">
                  <c:v>0.97658862876300001</c:v>
                </c:pt>
                <c:pt idx="59">
                  <c:v>0.97731958762899995</c:v>
                </c:pt>
                <c:pt idx="60">
                  <c:v>0.97707736389699995</c:v>
                </c:pt>
                <c:pt idx="61">
                  <c:v>0.97349823321600004</c:v>
                </c:pt>
                <c:pt idx="62">
                  <c:v>0.97463175122699996</c:v>
                </c:pt>
                <c:pt idx="63">
                  <c:v>0.97501892505700005</c:v>
                </c:pt>
                <c:pt idx="64">
                  <c:v>0.97407147862599996</c:v>
                </c:pt>
                <c:pt idx="65">
                  <c:v>0.97404282933200004</c:v>
                </c:pt>
                <c:pt idx="66">
                  <c:v>0.97177177177200003</c:v>
                </c:pt>
                <c:pt idx="67">
                  <c:v>0.97109505280700004</c:v>
                </c:pt>
                <c:pt idx="68">
                  <c:v>0.97119341563799999</c:v>
                </c:pt>
                <c:pt idx="69">
                  <c:v>0.97</c:v>
                </c:pt>
                <c:pt idx="70">
                  <c:v>0.97045855379199997</c:v>
                </c:pt>
                <c:pt idx="71">
                  <c:v>0.96980824153400003</c:v>
                </c:pt>
                <c:pt idx="72">
                  <c:v>0.96977710615799995</c:v>
                </c:pt>
                <c:pt idx="73">
                  <c:v>0.97027972027999998</c:v>
                </c:pt>
                <c:pt idx="74">
                  <c:v>0.96893203883500001</c:v>
                </c:pt>
                <c:pt idx="75">
                  <c:v>0.968544038346</c:v>
                </c:pt>
                <c:pt idx="76">
                  <c:v>0.96699944536899995</c:v>
                </c:pt>
                <c:pt idx="77">
                  <c:v>0.96842915811100005</c:v>
                </c:pt>
                <c:pt idx="78">
                  <c:v>0.96792587312900003</c:v>
                </c:pt>
                <c:pt idx="79">
                  <c:v>0.96767099186299999</c:v>
                </c:pt>
                <c:pt idx="80">
                  <c:v>0.96681596091199995</c:v>
                </c:pt>
                <c:pt idx="81">
                  <c:v>0.96721311475399996</c:v>
                </c:pt>
                <c:pt idx="82">
                  <c:v>0.96703296703300001</c:v>
                </c:pt>
                <c:pt idx="83">
                  <c:v>0.96722634807899999</c:v>
                </c:pt>
                <c:pt idx="84">
                  <c:v>0.96756837542999996</c:v>
                </c:pt>
                <c:pt idx="85">
                  <c:v>0.96721538248700001</c:v>
                </c:pt>
                <c:pt idx="86">
                  <c:v>0.96734537072600002</c:v>
                </c:pt>
                <c:pt idx="87">
                  <c:v>0.96799810359100003</c:v>
                </c:pt>
                <c:pt idx="88">
                  <c:v>0.967741935484</c:v>
                </c:pt>
                <c:pt idx="89">
                  <c:v>0.96841677668299997</c:v>
                </c:pt>
                <c:pt idx="90">
                  <c:v>0.96897913141600001</c:v>
                </c:pt>
                <c:pt idx="91">
                  <c:v>0.96849982596600004</c:v>
                </c:pt>
                <c:pt idx="92">
                  <c:v>0.96850583971000004</c:v>
                </c:pt>
                <c:pt idx="93">
                  <c:v>0.96883620368300005</c:v>
                </c:pt>
                <c:pt idx="94">
                  <c:v>0.96894409937899995</c:v>
                </c:pt>
                <c:pt idx="95">
                  <c:v>0.96857033346099997</c:v>
                </c:pt>
                <c:pt idx="96">
                  <c:v>0.96907521286700005</c:v>
                </c:pt>
                <c:pt idx="97">
                  <c:v>0.968965517241</c:v>
                </c:pt>
                <c:pt idx="98">
                  <c:v>0.96884182794600004</c:v>
                </c:pt>
                <c:pt idx="99">
                  <c:v>0.96862689926800005</c:v>
                </c:pt>
                <c:pt idx="100">
                  <c:v>0.96883139433900001</c:v>
                </c:pt>
                <c:pt idx="101">
                  <c:v>0.96841724595199996</c:v>
                </c:pt>
                <c:pt idx="102">
                  <c:v>0.96834783902400001</c:v>
                </c:pt>
                <c:pt idx="103">
                  <c:v>0.96825724712500005</c:v>
                </c:pt>
                <c:pt idx="104">
                  <c:v>0.968290895185</c:v>
                </c:pt>
                <c:pt idx="105">
                  <c:v>0.96846607669600004</c:v>
                </c:pt>
                <c:pt idx="106">
                  <c:v>0.96868088359799998</c:v>
                </c:pt>
                <c:pt idx="107">
                  <c:v>0.968836092506</c:v>
                </c:pt>
                <c:pt idx="108">
                  <c:v>0.96872075612999997</c:v>
                </c:pt>
                <c:pt idx="109">
                  <c:v>0.96883729995500001</c:v>
                </c:pt>
                <c:pt idx="110">
                  <c:v>0.96880950949099998</c:v>
                </c:pt>
                <c:pt idx="111">
                  <c:v>0.96884625375699995</c:v>
                </c:pt>
                <c:pt idx="112">
                  <c:v>0.96848378675500002</c:v>
                </c:pt>
                <c:pt idx="113">
                  <c:v>0.96844247309300002</c:v>
                </c:pt>
                <c:pt idx="114">
                  <c:v>0.96818436000800001</c:v>
                </c:pt>
                <c:pt idx="115">
                  <c:v>0.96775775407599995</c:v>
                </c:pt>
                <c:pt idx="116">
                  <c:v>0.96749464128100005</c:v>
                </c:pt>
                <c:pt idx="117">
                  <c:v>0.96767077881899999</c:v>
                </c:pt>
                <c:pt idx="118">
                  <c:v>0.96802212523200004</c:v>
                </c:pt>
                <c:pt idx="119">
                  <c:v>0.96818000000000004</c:v>
                </c:pt>
              </c:numCache>
            </c:numRef>
          </c:yVal>
          <c:smooth val="1"/>
          <c:extLst>
            <c:ext xmlns:c16="http://schemas.microsoft.com/office/drawing/2014/chart" uri="{C3380CC4-5D6E-409C-BE32-E72D297353CC}">
              <c16:uniqueId val="{00000000-5192-42D7-8D2F-43755F5A8CCD}"/>
            </c:ext>
          </c:extLst>
        </c:ser>
        <c:ser>
          <c:idx val="1"/>
          <c:order val="1"/>
          <c:tx>
            <c:v>Target probability</c:v>
          </c:tx>
          <c:spPr>
            <a:ln w="21908">
              <a:solidFill>
                <a:srgbClr val="C96B16"/>
              </a:solidFill>
            </a:ln>
          </c:spPr>
          <c:marker>
            <c:symbol val="none"/>
          </c:marker>
          <c:xVal>
            <c:numRef>
              <c:f>'Chart Data'!$C$2:$C$121</c:f>
              <c:numCache>
                <c:formatCode>General</c:formatCode>
                <c:ptCount val="120"/>
                <c:pt idx="0">
                  <c:v>1</c:v>
                </c:pt>
                <c:pt idx="1">
                  <c:v>1.0413926851599999</c:v>
                </c:pt>
                <c:pt idx="2">
                  <c:v>1.0791812460500001</c:v>
                </c:pt>
                <c:pt idx="3">
                  <c:v>1.11394335231</c:v>
                </c:pt>
                <c:pt idx="4">
                  <c:v>1.1461280356800001</c:v>
                </c:pt>
                <c:pt idx="5">
                  <c:v>1.1760912590599999</c:v>
                </c:pt>
                <c:pt idx="6">
                  <c:v>1.20411998266</c:v>
                </c:pt>
                <c:pt idx="7">
                  <c:v>1.2304489213800001</c:v>
                </c:pt>
                <c:pt idx="8">
                  <c:v>1.27875360095</c:v>
                </c:pt>
                <c:pt idx="9">
                  <c:v>1.30102999566</c:v>
                </c:pt>
                <c:pt idx="10">
                  <c:v>1.3424226808199999</c:v>
                </c:pt>
                <c:pt idx="11">
                  <c:v>1.3802112417100001</c:v>
                </c:pt>
                <c:pt idx="12">
                  <c:v>1.41497334797</c:v>
                </c:pt>
                <c:pt idx="13">
                  <c:v>1.4471580313400001</c:v>
                </c:pt>
                <c:pt idx="14">
                  <c:v>1.4771212547200001</c:v>
                </c:pt>
                <c:pt idx="15">
                  <c:v>1.50514997832</c:v>
                </c:pt>
                <c:pt idx="16">
                  <c:v>1.5440680443499999</c:v>
                </c:pt>
                <c:pt idx="17">
                  <c:v>1.57978359662</c:v>
                </c:pt>
                <c:pt idx="18">
                  <c:v>1.6127838567199999</c:v>
                </c:pt>
                <c:pt idx="19">
                  <c:v>1.6434526764899999</c:v>
                </c:pt>
                <c:pt idx="20">
                  <c:v>1.6812412373800001</c:v>
                </c:pt>
                <c:pt idx="21">
                  <c:v>1.7075701760999999</c:v>
                </c:pt>
                <c:pt idx="22">
                  <c:v>1.7481880270100001</c:v>
                </c:pt>
                <c:pt idx="23">
                  <c:v>1.7781512503800001</c:v>
                </c:pt>
                <c:pt idx="24">
                  <c:v>1.81291335664</c:v>
                </c:pt>
                <c:pt idx="25">
                  <c:v>1.8450980400100001</c:v>
                </c:pt>
                <c:pt idx="26">
                  <c:v>1.88081359228</c:v>
                </c:pt>
                <c:pt idx="27">
                  <c:v>1.9138138523799999</c:v>
                </c:pt>
                <c:pt idx="28">
                  <c:v>1.9444826721499999</c:v>
                </c:pt>
                <c:pt idx="29">
                  <c:v>1.97772360529</c:v>
                </c:pt>
                <c:pt idx="30">
                  <c:v>2.0128372247100002</c:v>
                </c:pt>
                <c:pt idx="31">
                  <c:v>2.0453229787899998</c:v>
                </c:pt>
                <c:pt idx="32">
                  <c:v>2.0791812460500001</c:v>
                </c:pt>
                <c:pt idx="33">
                  <c:v>2.1139433523100002</c:v>
                </c:pt>
                <c:pt idx="34">
                  <c:v>2.1461280356799999</c:v>
                </c:pt>
                <c:pt idx="35">
                  <c:v>2.18184358794</c:v>
                </c:pt>
                <c:pt idx="36">
                  <c:v>2.2148438480500001</c:v>
                </c:pt>
                <c:pt idx="37">
                  <c:v>2.2479732663599998</c:v>
                </c:pt>
                <c:pt idx="38">
                  <c:v>2.2810333672500001</c:v>
                </c:pt>
                <c:pt idx="39">
                  <c:v>2.3159703454599998</c:v>
                </c:pt>
                <c:pt idx="40">
                  <c:v>2.3483048630500001</c:v>
                </c:pt>
                <c:pt idx="41">
                  <c:v>2.3820170425699998</c:v>
                </c:pt>
                <c:pt idx="42">
                  <c:v>2.4166405073399999</c:v>
                </c:pt>
                <c:pt idx="43">
                  <c:v>2.45024910832</c:v>
                </c:pt>
                <c:pt idx="44">
                  <c:v>2.48287358361</c:v>
                </c:pt>
                <c:pt idx="45">
                  <c:v>2.5171958979500002</c:v>
                </c:pt>
                <c:pt idx="46">
                  <c:v>2.5502283530600001</c:v>
                </c:pt>
                <c:pt idx="47">
                  <c:v>2.5843312243700001</c:v>
                </c:pt>
                <c:pt idx="48">
                  <c:v>2.6170003411199998</c:v>
                </c:pt>
                <c:pt idx="49">
                  <c:v>2.6512780139999998</c:v>
                </c:pt>
                <c:pt idx="50">
                  <c:v>2.6848453616399999</c:v>
                </c:pt>
                <c:pt idx="51">
                  <c:v>2.71850168887</c:v>
                </c:pt>
                <c:pt idx="52">
                  <c:v>2.75204844782</c:v>
                </c:pt>
                <c:pt idx="53">
                  <c:v>2.7853298350100002</c:v>
                </c:pt>
                <c:pt idx="54">
                  <c:v>2.81888541459</c:v>
                </c:pt>
                <c:pt idx="55">
                  <c:v>2.8524799936399998</c:v>
                </c:pt>
                <c:pt idx="56">
                  <c:v>2.8859263398000001</c:v>
                </c:pt>
                <c:pt idx="57">
                  <c:v>2.9196010237799999</c:v>
                </c:pt>
                <c:pt idx="58">
                  <c:v>2.9527924430399999</c:v>
                </c:pt>
                <c:pt idx="59">
                  <c:v>2.98677173427</c:v>
                </c:pt>
                <c:pt idx="60">
                  <c:v>3.01994668168</c:v>
                </c:pt>
                <c:pt idx="61">
                  <c:v>3.0538464268499999</c:v>
                </c:pt>
                <c:pt idx="62">
                  <c:v>3.0870712059100001</c:v>
                </c:pt>
                <c:pt idx="63">
                  <c:v>3.1209028176100002</c:v>
                </c:pt>
                <c:pt idx="64">
                  <c:v>3.1544239731100001</c:v>
                </c:pt>
                <c:pt idx="65">
                  <c:v>3.18780263872</c:v>
                </c:pt>
                <c:pt idx="66">
                  <c:v>3.2214142378399999</c:v>
                </c:pt>
                <c:pt idx="67">
                  <c:v>3.25503116335</c:v>
                </c:pt>
                <c:pt idx="68">
                  <c:v>3.2886962605900001</c:v>
                </c:pt>
                <c:pt idx="69">
                  <c:v>3.32221929473</c:v>
                </c:pt>
                <c:pt idx="70">
                  <c:v>3.3556430502199999</c:v>
                </c:pt>
                <c:pt idx="71">
                  <c:v>3.3893433112500002</c:v>
                </c:pt>
                <c:pt idx="72">
                  <c:v>3.4227539412999999</c:v>
                </c:pt>
                <c:pt idx="73">
                  <c:v>3.4563660331300001</c:v>
                </c:pt>
                <c:pt idx="74">
                  <c:v>3.4899584794199998</c:v>
                </c:pt>
                <c:pt idx="75">
                  <c:v>3.5234863323400001</c:v>
                </c:pt>
                <c:pt idx="76">
                  <c:v>3.5570257223900001</c:v>
                </c:pt>
                <c:pt idx="77">
                  <c:v>3.5906189482099999</c:v>
                </c:pt>
                <c:pt idx="78">
                  <c:v>3.6241789257499999</c:v>
                </c:pt>
                <c:pt idx="79">
                  <c:v>3.6577249542099999</c:v>
                </c:pt>
                <c:pt idx="80">
                  <c:v>3.6912583581299998</c:v>
                </c:pt>
                <c:pt idx="81">
                  <c:v>3.72484908763</c:v>
                </c:pt>
                <c:pt idx="82">
                  <c:v>3.7583819417700002</c:v>
                </c:pt>
                <c:pt idx="83">
                  <c:v>3.79197120102</c:v>
                </c:pt>
                <c:pt idx="84">
                  <c:v>3.8254910298799998</c:v>
                </c:pt>
                <c:pt idx="85">
                  <c:v>3.8590782247500002</c:v>
                </c:pt>
                <c:pt idx="86">
                  <c:v>3.8925954228299999</c:v>
                </c:pt>
                <c:pt idx="87">
                  <c:v>3.9261880491099999</c:v>
                </c:pt>
                <c:pt idx="88">
                  <c:v>3.9597090242499999</c:v>
                </c:pt>
                <c:pt idx="89">
                  <c:v>3.9933039379199999</c:v>
                </c:pt>
                <c:pt idx="90">
                  <c:v>4.0268599859799998</c:v>
                </c:pt>
                <c:pt idx="91">
                  <c:v>4.0603956173200002</c:v>
                </c:pt>
                <c:pt idx="92">
                  <c:v>4.0939467238900002</c:v>
                </c:pt>
                <c:pt idx="93">
                  <c:v>4.1275259245899996</c:v>
                </c:pt>
                <c:pt idx="94">
                  <c:v>4.1610683854700001</c:v>
                </c:pt>
                <c:pt idx="95">
                  <c:v>4.19462532948</c:v>
                </c:pt>
                <c:pt idx="96">
                  <c:v>4.2281949699599997</c:v>
                </c:pt>
                <c:pt idx="97">
                  <c:v>4.2617385473500002</c:v>
                </c:pt>
                <c:pt idx="98">
                  <c:v>4.2953031446400001</c:v>
                </c:pt>
                <c:pt idx="99">
                  <c:v>4.3288686738499997</c:v>
                </c:pt>
                <c:pt idx="100">
                  <c:v>4.3624070698599997</c:v>
                </c:pt>
                <c:pt idx="101">
                  <c:v>4.3959725477899996</c:v>
                </c:pt>
                <c:pt idx="102">
                  <c:v>4.4295261943000002</c:v>
                </c:pt>
                <c:pt idx="103">
                  <c:v>4.4630863330199997</c:v>
                </c:pt>
                <c:pt idx="104">
                  <c:v>4.4966390991800003</c:v>
                </c:pt>
                <c:pt idx="105">
                  <c:v>4.5301996981999997</c:v>
                </c:pt>
                <c:pt idx="106">
                  <c:v>4.5637539169699997</c:v>
                </c:pt>
                <c:pt idx="107">
                  <c:v>4.5973111700600002</c:v>
                </c:pt>
                <c:pt idx="108">
                  <c:v>4.6308751611699996</c:v>
                </c:pt>
                <c:pt idx="109">
                  <c:v>4.6644257145100001</c:v>
                </c:pt>
                <c:pt idx="110">
                  <c:v>4.6979873880299996</c:v>
                </c:pt>
                <c:pt idx="111">
                  <c:v>4.7315404180299998</c:v>
                </c:pt>
                <c:pt idx="112">
                  <c:v>4.7651020382400002</c:v>
                </c:pt>
                <c:pt idx="113">
                  <c:v>4.7986575499099997</c:v>
                </c:pt>
                <c:pt idx="114">
                  <c:v>4.8322150258500001</c:v>
                </c:pt>
                <c:pt idx="115">
                  <c:v>4.8657729717500002</c:v>
                </c:pt>
                <c:pt idx="116">
                  <c:v>4.89932794988</c:v>
                </c:pt>
                <c:pt idx="117">
                  <c:v>4.9328845265899997</c:v>
                </c:pt>
                <c:pt idx="118">
                  <c:v>4.9664421136700003</c:v>
                </c:pt>
                <c:pt idx="119">
                  <c:v>5</c:v>
                </c:pt>
              </c:numCache>
            </c:numRef>
          </c:xVal>
          <c:yVal>
            <c:numRef>
              <c:f>'Chart Data'!$D$2:$D$121</c:f>
              <c:numCache>
                <c:formatCode>0%</c:formatCode>
                <c:ptCount val="120"/>
                <c:pt idx="0">
                  <c:v>0.96792129697100004</c:v>
                </c:pt>
                <c:pt idx="1">
                  <c:v>0.96792129697100004</c:v>
                </c:pt>
                <c:pt idx="2">
                  <c:v>0.96792129697100004</c:v>
                </c:pt>
                <c:pt idx="3">
                  <c:v>0.96792129697100004</c:v>
                </c:pt>
                <c:pt idx="4">
                  <c:v>0.96792129697100004</c:v>
                </c:pt>
                <c:pt idx="5">
                  <c:v>0.96792129697100004</c:v>
                </c:pt>
                <c:pt idx="6">
                  <c:v>0.96792129697100004</c:v>
                </c:pt>
                <c:pt idx="7">
                  <c:v>0.96792129697100004</c:v>
                </c:pt>
                <c:pt idx="8">
                  <c:v>0.96792129697100004</c:v>
                </c:pt>
                <c:pt idx="9">
                  <c:v>0.96792129697100004</c:v>
                </c:pt>
                <c:pt idx="10">
                  <c:v>0.96792129697100004</c:v>
                </c:pt>
                <c:pt idx="11">
                  <c:v>0.96792129697100004</c:v>
                </c:pt>
                <c:pt idx="12">
                  <c:v>0.96792129697100004</c:v>
                </c:pt>
                <c:pt idx="13">
                  <c:v>0.96792129697100004</c:v>
                </c:pt>
                <c:pt idx="14">
                  <c:v>0.96792129697100004</c:v>
                </c:pt>
                <c:pt idx="15">
                  <c:v>0.96792129697100004</c:v>
                </c:pt>
                <c:pt idx="16">
                  <c:v>0.96792129697100004</c:v>
                </c:pt>
                <c:pt idx="17">
                  <c:v>0.96792129697100004</c:v>
                </c:pt>
                <c:pt idx="18">
                  <c:v>0.96792129697100004</c:v>
                </c:pt>
                <c:pt idx="19">
                  <c:v>0.96792129697100004</c:v>
                </c:pt>
                <c:pt idx="20">
                  <c:v>0.96792129697100004</c:v>
                </c:pt>
                <c:pt idx="21">
                  <c:v>0.96792129697100004</c:v>
                </c:pt>
                <c:pt idx="22">
                  <c:v>0.96792129697100004</c:v>
                </c:pt>
                <c:pt idx="23">
                  <c:v>0.96792129697100004</c:v>
                </c:pt>
                <c:pt idx="24">
                  <c:v>0.96792129697100004</c:v>
                </c:pt>
                <c:pt idx="25">
                  <c:v>0.96792129697100004</c:v>
                </c:pt>
                <c:pt idx="26">
                  <c:v>0.96792129697100004</c:v>
                </c:pt>
                <c:pt idx="27">
                  <c:v>0.96792129697100004</c:v>
                </c:pt>
                <c:pt idx="28">
                  <c:v>0.96792129697100004</c:v>
                </c:pt>
                <c:pt idx="29">
                  <c:v>0.96792129697100004</c:v>
                </c:pt>
                <c:pt idx="30">
                  <c:v>0.96792129697100004</c:v>
                </c:pt>
                <c:pt idx="31">
                  <c:v>0.96792129697100004</c:v>
                </c:pt>
                <c:pt idx="32">
                  <c:v>0.96792129697100004</c:v>
                </c:pt>
                <c:pt idx="33">
                  <c:v>0.96792129697100004</c:v>
                </c:pt>
                <c:pt idx="34">
                  <c:v>0.96792129697100004</c:v>
                </c:pt>
                <c:pt idx="35">
                  <c:v>0.96792129697100004</c:v>
                </c:pt>
                <c:pt idx="36">
                  <c:v>0.96792129697100004</c:v>
                </c:pt>
                <c:pt idx="37">
                  <c:v>0.96792129697100004</c:v>
                </c:pt>
                <c:pt idx="38">
                  <c:v>0.96792129697100004</c:v>
                </c:pt>
                <c:pt idx="39">
                  <c:v>0.96792129697100004</c:v>
                </c:pt>
                <c:pt idx="40">
                  <c:v>0.96792129697100004</c:v>
                </c:pt>
                <c:pt idx="41">
                  <c:v>0.96792129697100004</c:v>
                </c:pt>
                <c:pt idx="42">
                  <c:v>0.96792129697100004</c:v>
                </c:pt>
                <c:pt idx="43">
                  <c:v>0.96792129697100004</c:v>
                </c:pt>
                <c:pt idx="44">
                  <c:v>0.96792129697100004</c:v>
                </c:pt>
                <c:pt idx="45">
                  <c:v>0.96792129697100004</c:v>
                </c:pt>
                <c:pt idx="46">
                  <c:v>0.96792129697100004</c:v>
                </c:pt>
                <c:pt idx="47">
                  <c:v>0.96792129697100004</c:v>
                </c:pt>
                <c:pt idx="48">
                  <c:v>0.96792129697100004</c:v>
                </c:pt>
                <c:pt idx="49">
                  <c:v>0.96792129697100004</c:v>
                </c:pt>
                <c:pt idx="50">
                  <c:v>0.96792129697100004</c:v>
                </c:pt>
                <c:pt idx="51">
                  <c:v>0.96792129697100004</c:v>
                </c:pt>
                <c:pt idx="52">
                  <c:v>0.96792129697100004</c:v>
                </c:pt>
                <c:pt idx="53">
                  <c:v>0.96792129697100004</c:v>
                </c:pt>
                <c:pt idx="54">
                  <c:v>0.96792129697100004</c:v>
                </c:pt>
                <c:pt idx="55">
                  <c:v>0.96792129697100004</c:v>
                </c:pt>
                <c:pt idx="56">
                  <c:v>0.96792129697100004</c:v>
                </c:pt>
                <c:pt idx="57">
                  <c:v>0.96792129697100004</c:v>
                </c:pt>
                <c:pt idx="58">
                  <c:v>0.96792129697100004</c:v>
                </c:pt>
                <c:pt idx="59">
                  <c:v>0.96792129697100004</c:v>
                </c:pt>
                <c:pt idx="60">
                  <c:v>0.96792129697100004</c:v>
                </c:pt>
                <c:pt idx="61">
                  <c:v>0.96792129697100004</c:v>
                </c:pt>
                <c:pt idx="62">
                  <c:v>0.96792129697100004</c:v>
                </c:pt>
                <c:pt idx="63">
                  <c:v>0.96792129697100004</c:v>
                </c:pt>
                <c:pt idx="64">
                  <c:v>0.96792129697100004</c:v>
                </c:pt>
                <c:pt idx="65">
                  <c:v>0.96792129697100004</c:v>
                </c:pt>
                <c:pt idx="66">
                  <c:v>0.96792129697100004</c:v>
                </c:pt>
                <c:pt idx="67">
                  <c:v>0.96792129697100004</c:v>
                </c:pt>
                <c:pt idx="68">
                  <c:v>0.96792129697100004</c:v>
                </c:pt>
                <c:pt idx="69">
                  <c:v>0.96792129697100004</c:v>
                </c:pt>
                <c:pt idx="70">
                  <c:v>0.96792129697100004</c:v>
                </c:pt>
                <c:pt idx="71">
                  <c:v>0.96792129697100004</c:v>
                </c:pt>
                <c:pt idx="72">
                  <c:v>0.96792129697100004</c:v>
                </c:pt>
                <c:pt idx="73">
                  <c:v>0.96792129697100004</c:v>
                </c:pt>
                <c:pt idx="74">
                  <c:v>0.96792129697100004</c:v>
                </c:pt>
                <c:pt idx="75">
                  <c:v>0.96792129697100004</c:v>
                </c:pt>
                <c:pt idx="76">
                  <c:v>0.96792129697100004</c:v>
                </c:pt>
                <c:pt idx="77">
                  <c:v>0.96792129697100004</c:v>
                </c:pt>
                <c:pt idx="78">
                  <c:v>0.96792129697100004</c:v>
                </c:pt>
                <c:pt idx="79">
                  <c:v>0.96792129697100004</c:v>
                </c:pt>
                <c:pt idx="80">
                  <c:v>0.96792129697100004</c:v>
                </c:pt>
                <c:pt idx="81">
                  <c:v>0.96792129697100004</c:v>
                </c:pt>
                <c:pt idx="82">
                  <c:v>0.96792129697100004</c:v>
                </c:pt>
                <c:pt idx="83">
                  <c:v>0.96792129697100004</c:v>
                </c:pt>
                <c:pt idx="84">
                  <c:v>0.96792129697100004</c:v>
                </c:pt>
                <c:pt idx="85">
                  <c:v>0.96792129697100004</c:v>
                </c:pt>
                <c:pt idx="86">
                  <c:v>0.96792129697100004</c:v>
                </c:pt>
                <c:pt idx="87">
                  <c:v>0.96792129697100004</c:v>
                </c:pt>
                <c:pt idx="88">
                  <c:v>0.96792129697100004</c:v>
                </c:pt>
                <c:pt idx="89">
                  <c:v>0.96792129697100004</c:v>
                </c:pt>
                <c:pt idx="90">
                  <c:v>0.96792129697100004</c:v>
                </c:pt>
                <c:pt idx="91">
                  <c:v>0.96792129697100004</c:v>
                </c:pt>
                <c:pt idx="92">
                  <c:v>0.96792129697100004</c:v>
                </c:pt>
                <c:pt idx="93">
                  <c:v>0.96792129697100004</c:v>
                </c:pt>
                <c:pt idx="94">
                  <c:v>0.96792129697100004</c:v>
                </c:pt>
                <c:pt idx="95">
                  <c:v>0.96792129697100004</c:v>
                </c:pt>
                <c:pt idx="96">
                  <c:v>0.96792129697100004</c:v>
                </c:pt>
                <c:pt idx="97">
                  <c:v>0.96792129697100004</c:v>
                </c:pt>
                <c:pt idx="98">
                  <c:v>0.96792129697100004</c:v>
                </c:pt>
                <c:pt idx="99">
                  <c:v>0.96792129697100004</c:v>
                </c:pt>
                <c:pt idx="100">
                  <c:v>0.96792129697100004</c:v>
                </c:pt>
                <c:pt idx="101">
                  <c:v>0.96792129697100004</c:v>
                </c:pt>
                <c:pt idx="102">
                  <c:v>0.96792129697100004</c:v>
                </c:pt>
                <c:pt idx="103">
                  <c:v>0.96792129697100004</c:v>
                </c:pt>
                <c:pt idx="104">
                  <c:v>0.96792129697100004</c:v>
                </c:pt>
                <c:pt idx="105">
                  <c:v>0.96792129697100004</c:v>
                </c:pt>
                <c:pt idx="106">
                  <c:v>0.96792129697100004</c:v>
                </c:pt>
                <c:pt idx="107">
                  <c:v>0.96792129697100004</c:v>
                </c:pt>
                <c:pt idx="108">
                  <c:v>0.96792129697100004</c:v>
                </c:pt>
                <c:pt idx="109">
                  <c:v>0.96792129697100004</c:v>
                </c:pt>
                <c:pt idx="110">
                  <c:v>0.96792129697100004</c:v>
                </c:pt>
                <c:pt idx="111">
                  <c:v>0.96792129697100004</c:v>
                </c:pt>
                <c:pt idx="112">
                  <c:v>0.96792129697100004</c:v>
                </c:pt>
                <c:pt idx="113">
                  <c:v>0.96792129697100004</c:v>
                </c:pt>
                <c:pt idx="114">
                  <c:v>0.96792129697100004</c:v>
                </c:pt>
                <c:pt idx="115">
                  <c:v>0.96792129697100004</c:v>
                </c:pt>
                <c:pt idx="116">
                  <c:v>0.96792129697100004</c:v>
                </c:pt>
                <c:pt idx="117">
                  <c:v>0.96792129697100004</c:v>
                </c:pt>
                <c:pt idx="118">
                  <c:v>0.96792129697100004</c:v>
                </c:pt>
                <c:pt idx="119">
                  <c:v>0.96792129697100004</c:v>
                </c:pt>
              </c:numCache>
            </c:numRef>
          </c:yVal>
          <c:smooth val="1"/>
          <c:extLst>
            <c:ext xmlns:c16="http://schemas.microsoft.com/office/drawing/2014/chart" uri="{C3380CC4-5D6E-409C-BE32-E72D297353CC}">
              <c16:uniqueId val="{00000001-5192-42D7-8D2F-43755F5A8CCD}"/>
            </c:ext>
          </c:extLst>
        </c:ser>
        <c:dLbls>
          <c:showLegendKey val="0"/>
          <c:showVal val="0"/>
          <c:showCatName val="0"/>
          <c:showSerName val="0"/>
          <c:showPercent val="0"/>
          <c:showBubbleSize val="0"/>
        </c:dLbls>
        <c:axId val="48650112"/>
        <c:axId val="48672768"/>
      </c:scatterChart>
      <c:valAx>
        <c:axId val="48672768"/>
        <c:scaling>
          <c:orientation val="minMax"/>
          <c:max val="1.01"/>
          <c:min val="0.9"/>
        </c:scaling>
        <c:delete val="0"/>
        <c:axPos val="l"/>
        <c:majorGridlines>
          <c:spPr>
            <a:ln w="6668">
              <a:solidFill>
                <a:srgbClr val="DDE5EC"/>
              </a:solidFill>
            </a:ln>
          </c:spPr>
        </c:majorGridlines>
        <c:title>
          <c:tx>
            <c:rich>
              <a:bodyPr/>
              <a:lstStyle/>
              <a:p>
                <a:r>
                  <a:rPr lang="en-GB">
                    <a:latin typeface="Aptos"/>
                    <a:ea typeface="Aptos"/>
                    <a:cs typeface="Aptos"/>
                  </a:rPr>
                  <a:t>Within capacity</a:t>
                </a:r>
              </a:p>
            </c:rich>
          </c:tx>
          <c:overlay val="0"/>
        </c:title>
        <c:numFmt formatCode="0%" sourceLinked="1"/>
        <c:majorTickMark val="none"/>
        <c:minorTickMark val="none"/>
        <c:tickLblPos val="nextTo"/>
        <c:spPr>
          <a:ln w="9525">
            <a:solidFill>
              <a:srgbClr val="526171"/>
            </a:solidFill>
          </a:ln>
        </c:spPr>
        <c:txPr>
          <a:bodyPr anchorCtr="1"/>
          <a:lstStyle/>
          <a:p>
            <a:pPr>
              <a:defRPr sz="1575">
                <a:solidFill>
                  <a:srgbClr val="526171"/>
                </a:solidFill>
                <a:latin typeface="Aptos"/>
                <a:ea typeface="Aptos"/>
                <a:cs typeface="Aptos"/>
              </a:defRPr>
            </a:pPr>
            <a:endParaRPr lang="en-US"/>
          </a:p>
        </c:txPr>
        <c:crossAx val="48650112"/>
        <c:crosses val="autoZero"/>
        <c:crossBetween val="midCat"/>
        <c:majorUnit val="0.05"/>
      </c:valAx>
      <c:valAx>
        <c:axId val="48650112"/>
        <c:scaling>
          <c:orientation val="minMax"/>
          <c:max val="5"/>
          <c:min val="1"/>
        </c:scaling>
        <c:delete val="0"/>
        <c:axPos val="b"/>
        <c:title>
          <c:tx>
            <c:rich>
              <a:bodyPr/>
              <a:lstStyle/>
              <a:p>
                <a:r>
                  <a:rPr lang="en-GB">
                    <a:latin typeface="Aptos"/>
                    <a:ea typeface="Aptos"/>
                    <a:cs typeface="Aptos"/>
                  </a:rPr>
                  <a:t>log₁₀(number of mornings)</a:t>
                </a:r>
              </a:p>
            </c:rich>
          </c:tx>
          <c:overlay val="0"/>
        </c:title>
        <c:numFmt formatCode="General" sourceLinked="1"/>
        <c:majorTickMark val="none"/>
        <c:minorTickMark val="none"/>
        <c:tickLblPos val="nextTo"/>
        <c:spPr>
          <a:ln w="9525">
            <a:solidFill>
              <a:srgbClr val="526171"/>
            </a:solidFill>
          </a:ln>
        </c:spPr>
        <c:txPr>
          <a:bodyPr anchorCtr="1"/>
          <a:lstStyle/>
          <a:p>
            <a:pPr>
              <a:defRPr sz="1575">
                <a:solidFill>
                  <a:srgbClr val="526171"/>
                </a:solidFill>
                <a:latin typeface="Aptos"/>
                <a:ea typeface="Aptos"/>
                <a:cs typeface="Aptos"/>
              </a:defRPr>
            </a:pPr>
            <a:endParaRPr lang="en-US"/>
          </a:p>
        </c:txPr>
        <c:crossAx val="48672768"/>
        <c:crosses val="autoZero"/>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Simulated density</c:v>
          </c:tx>
          <c:spPr>
            <a:ln w="21908">
              <a:solidFill>
                <a:srgbClr val="2D75A3"/>
              </a:solidFill>
            </a:ln>
          </c:spPr>
          <c:marker>
            <c:symbol val="none"/>
          </c:marker>
          <c:xVal>
            <c:numRef>
              <c:f>'Chart Data'!$A$2:$A$33</c:f>
              <c:numCache>
                <c:formatCode>General</c:formatCode>
                <c:ptCount val="32"/>
                <c:pt idx="0">
                  <c:v>-3.875</c:v>
                </c:pt>
                <c:pt idx="1">
                  <c:v>-3.625</c:v>
                </c:pt>
                <c:pt idx="2">
                  <c:v>-3.375</c:v>
                </c:pt>
                <c:pt idx="3">
                  <c:v>-3.125</c:v>
                </c:pt>
                <c:pt idx="4">
                  <c:v>-2.875</c:v>
                </c:pt>
                <c:pt idx="5">
                  <c:v>-2.625</c:v>
                </c:pt>
                <c:pt idx="6">
                  <c:v>-2.375</c:v>
                </c:pt>
                <c:pt idx="7">
                  <c:v>-2.125</c:v>
                </c:pt>
                <c:pt idx="8">
                  <c:v>-1.875</c:v>
                </c:pt>
                <c:pt idx="9">
                  <c:v>-1.625</c:v>
                </c:pt>
                <c:pt idx="10">
                  <c:v>-1.375</c:v>
                </c:pt>
                <c:pt idx="11">
                  <c:v>-1.125</c:v>
                </c:pt>
                <c:pt idx="12">
                  <c:v>-0.875</c:v>
                </c:pt>
                <c:pt idx="13">
                  <c:v>-0.625</c:v>
                </c:pt>
                <c:pt idx="14">
                  <c:v>-0.375</c:v>
                </c:pt>
                <c:pt idx="15">
                  <c:v>-0.125</c:v>
                </c:pt>
                <c:pt idx="16">
                  <c:v>0.125</c:v>
                </c:pt>
                <c:pt idx="17">
                  <c:v>0.375</c:v>
                </c:pt>
                <c:pt idx="18">
                  <c:v>0.625</c:v>
                </c:pt>
                <c:pt idx="19">
                  <c:v>0.875</c:v>
                </c:pt>
                <c:pt idx="20">
                  <c:v>1.125</c:v>
                </c:pt>
                <c:pt idx="21">
                  <c:v>1.375</c:v>
                </c:pt>
                <c:pt idx="22">
                  <c:v>1.625</c:v>
                </c:pt>
                <c:pt idx="23">
                  <c:v>1.875</c:v>
                </c:pt>
                <c:pt idx="24">
                  <c:v>2.125</c:v>
                </c:pt>
                <c:pt idx="25">
                  <c:v>2.375</c:v>
                </c:pt>
                <c:pt idx="26">
                  <c:v>2.625</c:v>
                </c:pt>
                <c:pt idx="27">
                  <c:v>2.875</c:v>
                </c:pt>
                <c:pt idx="28">
                  <c:v>3.125</c:v>
                </c:pt>
                <c:pt idx="29">
                  <c:v>3.375</c:v>
                </c:pt>
                <c:pt idx="30">
                  <c:v>3.625</c:v>
                </c:pt>
                <c:pt idx="31">
                  <c:v>3.875</c:v>
                </c:pt>
              </c:numCache>
            </c:numRef>
          </c:xVal>
          <c:yVal>
            <c:numRef>
              <c:f>'Chart Data'!$B$2:$B$33</c:f>
              <c:numCache>
                <c:formatCode>0.0</c:formatCode>
                <c:ptCount val="32"/>
                <c:pt idx="0">
                  <c:v>0</c:v>
                </c:pt>
                <c:pt idx="1">
                  <c:v>0</c:v>
                </c:pt>
                <c:pt idx="2">
                  <c:v>0</c:v>
                </c:pt>
                <c:pt idx="3">
                  <c:v>0</c:v>
                </c:pt>
                <c:pt idx="4">
                  <c:v>0</c:v>
                </c:pt>
                <c:pt idx="5">
                  <c:v>0</c:v>
                </c:pt>
                <c:pt idx="6">
                  <c:v>1.2E-2</c:v>
                </c:pt>
                <c:pt idx="7">
                  <c:v>0.04</c:v>
                </c:pt>
                <c:pt idx="8">
                  <c:v>8.5999999999999993E-2</c:v>
                </c:pt>
                <c:pt idx="9">
                  <c:v>0.12733333333300001</c:v>
                </c:pt>
                <c:pt idx="10">
                  <c:v>0.183333333333</c:v>
                </c:pt>
                <c:pt idx="11">
                  <c:v>0.22733333333299999</c:v>
                </c:pt>
                <c:pt idx="12">
                  <c:v>0.28133333333299998</c:v>
                </c:pt>
                <c:pt idx="13">
                  <c:v>0.32200000000000001</c:v>
                </c:pt>
                <c:pt idx="14">
                  <c:v>0.33266666666700001</c:v>
                </c:pt>
                <c:pt idx="15">
                  <c:v>0.38933333333300002</c:v>
                </c:pt>
                <c:pt idx="16">
                  <c:v>0.38800000000000001</c:v>
                </c:pt>
                <c:pt idx="17">
                  <c:v>0.33066666666700001</c:v>
                </c:pt>
                <c:pt idx="18">
                  <c:v>0.31</c:v>
                </c:pt>
                <c:pt idx="19">
                  <c:v>0.25133333333300001</c:v>
                </c:pt>
                <c:pt idx="20">
                  <c:v>0.228666666667</c:v>
                </c:pt>
                <c:pt idx="21">
                  <c:v>0.183333333333</c:v>
                </c:pt>
                <c:pt idx="22">
                  <c:v>0.14666666666700001</c:v>
                </c:pt>
                <c:pt idx="23">
                  <c:v>9.4E-2</c:v>
                </c:pt>
                <c:pt idx="24">
                  <c:v>5.6666666667000001E-2</c:v>
                </c:pt>
                <c:pt idx="25">
                  <c:v>9.3333333330000001E-3</c:v>
                </c:pt>
                <c:pt idx="26">
                  <c:v>0</c:v>
                </c:pt>
                <c:pt idx="27">
                  <c:v>0</c:v>
                </c:pt>
                <c:pt idx="28">
                  <c:v>0</c:v>
                </c:pt>
                <c:pt idx="29">
                  <c:v>0</c:v>
                </c:pt>
                <c:pt idx="30">
                  <c:v>0</c:v>
                </c:pt>
                <c:pt idx="31">
                  <c:v>0</c:v>
                </c:pt>
              </c:numCache>
            </c:numRef>
          </c:yVal>
          <c:smooth val="1"/>
          <c:extLst>
            <c:ext xmlns:c16="http://schemas.microsoft.com/office/drawing/2014/chart" uri="{C3380CC4-5D6E-409C-BE32-E72D297353CC}">
              <c16:uniqueId val="{00000000-0C63-449B-8532-9369D5BCA63E}"/>
            </c:ext>
          </c:extLst>
        </c:ser>
        <c:ser>
          <c:idx val="1"/>
          <c:order val="1"/>
          <c:tx>
            <c:v>Standard normal</c:v>
          </c:tx>
          <c:spPr>
            <a:ln w="21908">
              <a:solidFill>
                <a:srgbClr val="C96B16"/>
              </a:solidFill>
            </a:ln>
          </c:spPr>
          <c:marker>
            <c:symbol val="none"/>
          </c:marker>
          <c:xVal>
            <c:numRef>
              <c:f>'Chart Data'!$C$2:$C$162</c:f>
              <c:numCache>
                <c:formatCode>General</c:formatCode>
                <c:ptCount val="161"/>
                <c:pt idx="0">
                  <c:v>-4</c:v>
                </c:pt>
                <c:pt idx="1">
                  <c:v>-3.95</c:v>
                </c:pt>
                <c:pt idx="2">
                  <c:v>-3.9</c:v>
                </c:pt>
                <c:pt idx="3">
                  <c:v>-3.85</c:v>
                </c:pt>
                <c:pt idx="4">
                  <c:v>-3.8</c:v>
                </c:pt>
                <c:pt idx="5">
                  <c:v>-3.75</c:v>
                </c:pt>
                <c:pt idx="6">
                  <c:v>-3.7</c:v>
                </c:pt>
                <c:pt idx="7">
                  <c:v>-3.65</c:v>
                </c:pt>
                <c:pt idx="8">
                  <c:v>-3.6</c:v>
                </c:pt>
                <c:pt idx="9">
                  <c:v>-3.55</c:v>
                </c:pt>
                <c:pt idx="10">
                  <c:v>-3.5</c:v>
                </c:pt>
                <c:pt idx="11">
                  <c:v>-3.45</c:v>
                </c:pt>
                <c:pt idx="12">
                  <c:v>-3.4</c:v>
                </c:pt>
                <c:pt idx="13">
                  <c:v>-3.35</c:v>
                </c:pt>
                <c:pt idx="14">
                  <c:v>-3.3</c:v>
                </c:pt>
                <c:pt idx="15">
                  <c:v>-3.25</c:v>
                </c:pt>
                <c:pt idx="16">
                  <c:v>-3.2</c:v>
                </c:pt>
                <c:pt idx="17">
                  <c:v>-3.15</c:v>
                </c:pt>
                <c:pt idx="18">
                  <c:v>-3.1</c:v>
                </c:pt>
                <c:pt idx="19">
                  <c:v>-3.05</c:v>
                </c:pt>
                <c:pt idx="20">
                  <c:v>-3</c:v>
                </c:pt>
                <c:pt idx="21">
                  <c:v>-2.95</c:v>
                </c:pt>
                <c:pt idx="22">
                  <c:v>-2.9</c:v>
                </c:pt>
                <c:pt idx="23">
                  <c:v>-2.85</c:v>
                </c:pt>
                <c:pt idx="24">
                  <c:v>-2.8</c:v>
                </c:pt>
                <c:pt idx="25">
                  <c:v>-2.75</c:v>
                </c:pt>
                <c:pt idx="26">
                  <c:v>-2.7</c:v>
                </c:pt>
                <c:pt idx="27">
                  <c:v>-2.65</c:v>
                </c:pt>
                <c:pt idx="28">
                  <c:v>-2.6</c:v>
                </c:pt>
                <c:pt idx="29">
                  <c:v>-2.5499999999999998</c:v>
                </c:pt>
                <c:pt idx="30">
                  <c:v>-2.5</c:v>
                </c:pt>
                <c:pt idx="31">
                  <c:v>-2.4500000000000002</c:v>
                </c:pt>
                <c:pt idx="32">
                  <c:v>-2.4</c:v>
                </c:pt>
                <c:pt idx="33">
                  <c:v>-2.35</c:v>
                </c:pt>
                <c:pt idx="34">
                  <c:v>-2.2999999999999998</c:v>
                </c:pt>
                <c:pt idx="35">
                  <c:v>-2.25</c:v>
                </c:pt>
                <c:pt idx="36">
                  <c:v>-2.2000000000000002</c:v>
                </c:pt>
                <c:pt idx="37">
                  <c:v>-2.15</c:v>
                </c:pt>
                <c:pt idx="38">
                  <c:v>-2.1</c:v>
                </c:pt>
                <c:pt idx="39">
                  <c:v>-2.0499999999999998</c:v>
                </c:pt>
                <c:pt idx="40">
                  <c:v>-2</c:v>
                </c:pt>
                <c:pt idx="41">
                  <c:v>-1.95</c:v>
                </c:pt>
                <c:pt idx="42">
                  <c:v>-1.9</c:v>
                </c:pt>
                <c:pt idx="43">
                  <c:v>-1.85</c:v>
                </c:pt>
                <c:pt idx="44">
                  <c:v>-1.8</c:v>
                </c:pt>
                <c:pt idx="45">
                  <c:v>-1.75</c:v>
                </c:pt>
                <c:pt idx="46">
                  <c:v>-1.7</c:v>
                </c:pt>
                <c:pt idx="47">
                  <c:v>-1.65</c:v>
                </c:pt>
                <c:pt idx="48">
                  <c:v>-1.6</c:v>
                </c:pt>
                <c:pt idx="49">
                  <c:v>-1.55</c:v>
                </c:pt>
                <c:pt idx="50">
                  <c:v>-1.5</c:v>
                </c:pt>
                <c:pt idx="51">
                  <c:v>-1.45</c:v>
                </c:pt>
                <c:pt idx="52">
                  <c:v>-1.4</c:v>
                </c:pt>
                <c:pt idx="53">
                  <c:v>-1.35</c:v>
                </c:pt>
                <c:pt idx="54">
                  <c:v>-1.3</c:v>
                </c:pt>
                <c:pt idx="55">
                  <c:v>-1.25</c:v>
                </c:pt>
                <c:pt idx="56">
                  <c:v>-1.2</c:v>
                </c:pt>
                <c:pt idx="57">
                  <c:v>-1.1499999999999999</c:v>
                </c:pt>
                <c:pt idx="58">
                  <c:v>-1.1000000000000001</c:v>
                </c:pt>
                <c:pt idx="59">
                  <c:v>-1.05</c:v>
                </c:pt>
                <c:pt idx="60">
                  <c:v>-1</c:v>
                </c:pt>
                <c:pt idx="61">
                  <c:v>-0.95</c:v>
                </c:pt>
                <c:pt idx="62">
                  <c:v>-0.9</c:v>
                </c:pt>
                <c:pt idx="63">
                  <c:v>-0.85</c:v>
                </c:pt>
                <c:pt idx="64">
                  <c:v>-0.8</c:v>
                </c:pt>
                <c:pt idx="65">
                  <c:v>-0.75</c:v>
                </c:pt>
                <c:pt idx="66">
                  <c:v>-0.7</c:v>
                </c:pt>
                <c:pt idx="67">
                  <c:v>-0.65</c:v>
                </c:pt>
                <c:pt idx="68">
                  <c:v>-0.6</c:v>
                </c:pt>
                <c:pt idx="69">
                  <c:v>-0.55000000000000004</c:v>
                </c:pt>
                <c:pt idx="70">
                  <c:v>-0.5</c:v>
                </c:pt>
                <c:pt idx="71">
                  <c:v>-0.45</c:v>
                </c:pt>
                <c:pt idx="72">
                  <c:v>-0.4</c:v>
                </c:pt>
                <c:pt idx="73">
                  <c:v>-0.35</c:v>
                </c:pt>
                <c:pt idx="74">
                  <c:v>-0.3</c:v>
                </c:pt>
                <c:pt idx="75">
                  <c:v>-0.25</c:v>
                </c:pt>
                <c:pt idx="76">
                  <c:v>-0.2</c:v>
                </c:pt>
                <c:pt idx="77">
                  <c:v>-0.15</c:v>
                </c:pt>
                <c:pt idx="78">
                  <c:v>-0.1</c:v>
                </c:pt>
                <c:pt idx="79">
                  <c:v>-0.05</c:v>
                </c:pt>
                <c:pt idx="80">
                  <c:v>0</c:v>
                </c:pt>
                <c:pt idx="81">
                  <c:v>0.05</c:v>
                </c:pt>
                <c:pt idx="82">
                  <c:v>0.1</c:v>
                </c:pt>
                <c:pt idx="83">
                  <c:v>0.15</c:v>
                </c:pt>
                <c:pt idx="84">
                  <c:v>0.2</c:v>
                </c:pt>
                <c:pt idx="85">
                  <c:v>0.25</c:v>
                </c:pt>
                <c:pt idx="86">
                  <c:v>0.3</c:v>
                </c:pt>
                <c:pt idx="87">
                  <c:v>0.35</c:v>
                </c:pt>
                <c:pt idx="88">
                  <c:v>0.4</c:v>
                </c:pt>
                <c:pt idx="89">
                  <c:v>0.45</c:v>
                </c:pt>
                <c:pt idx="90">
                  <c:v>0.5</c:v>
                </c:pt>
                <c:pt idx="91">
                  <c:v>0.55000000000000004</c:v>
                </c:pt>
                <c:pt idx="92">
                  <c:v>0.6</c:v>
                </c:pt>
                <c:pt idx="93">
                  <c:v>0.65</c:v>
                </c:pt>
                <c:pt idx="94">
                  <c:v>0.7</c:v>
                </c:pt>
                <c:pt idx="95">
                  <c:v>0.75</c:v>
                </c:pt>
                <c:pt idx="96">
                  <c:v>0.8</c:v>
                </c:pt>
                <c:pt idx="97">
                  <c:v>0.85</c:v>
                </c:pt>
                <c:pt idx="98">
                  <c:v>0.9</c:v>
                </c:pt>
                <c:pt idx="99">
                  <c:v>0.95</c:v>
                </c:pt>
                <c:pt idx="100">
                  <c:v>1</c:v>
                </c:pt>
                <c:pt idx="101">
                  <c:v>1.05</c:v>
                </c:pt>
                <c:pt idx="102">
                  <c:v>1.1000000000000001</c:v>
                </c:pt>
                <c:pt idx="103">
                  <c:v>1.1499999999999999</c:v>
                </c:pt>
                <c:pt idx="104">
                  <c:v>1.2</c:v>
                </c:pt>
                <c:pt idx="105">
                  <c:v>1.25</c:v>
                </c:pt>
                <c:pt idx="106">
                  <c:v>1.3</c:v>
                </c:pt>
                <c:pt idx="107">
                  <c:v>1.35</c:v>
                </c:pt>
                <c:pt idx="108">
                  <c:v>1.4</c:v>
                </c:pt>
                <c:pt idx="109">
                  <c:v>1.45</c:v>
                </c:pt>
                <c:pt idx="110">
                  <c:v>1.5</c:v>
                </c:pt>
                <c:pt idx="111">
                  <c:v>1.55</c:v>
                </c:pt>
                <c:pt idx="112">
                  <c:v>1.6</c:v>
                </c:pt>
                <c:pt idx="113">
                  <c:v>1.65</c:v>
                </c:pt>
                <c:pt idx="114">
                  <c:v>1.7</c:v>
                </c:pt>
                <c:pt idx="115">
                  <c:v>1.75</c:v>
                </c:pt>
                <c:pt idx="116">
                  <c:v>1.8</c:v>
                </c:pt>
                <c:pt idx="117">
                  <c:v>1.85</c:v>
                </c:pt>
                <c:pt idx="118">
                  <c:v>1.9</c:v>
                </c:pt>
                <c:pt idx="119">
                  <c:v>1.95</c:v>
                </c:pt>
                <c:pt idx="120">
                  <c:v>2</c:v>
                </c:pt>
                <c:pt idx="121">
                  <c:v>2.0499999999999998</c:v>
                </c:pt>
                <c:pt idx="122">
                  <c:v>2.1</c:v>
                </c:pt>
                <c:pt idx="123">
                  <c:v>2.15</c:v>
                </c:pt>
                <c:pt idx="124">
                  <c:v>2.2000000000000002</c:v>
                </c:pt>
                <c:pt idx="125">
                  <c:v>2.25</c:v>
                </c:pt>
                <c:pt idx="126">
                  <c:v>2.2999999999999998</c:v>
                </c:pt>
                <c:pt idx="127">
                  <c:v>2.35</c:v>
                </c:pt>
                <c:pt idx="128">
                  <c:v>2.4</c:v>
                </c:pt>
                <c:pt idx="129">
                  <c:v>2.4500000000000002</c:v>
                </c:pt>
                <c:pt idx="130">
                  <c:v>2.5</c:v>
                </c:pt>
                <c:pt idx="131">
                  <c:v>2.5499999999999998</c:v>
                </c:pt>
                <c:pt idx="132">
                  <c:v>2.6</c:v>
                </c:pt>
                <c:pt idx="133">
                  <c:v>2.65</c:v>
                </c:pt>
                <c:pt idx="134">
                  <c:v>2.7</c:v>
                </c:pt>
                <c:pt idx="135">
                  <c:v>2.75</c:v>
                </c:pt>
                <c:pt idx="136">
                  <c:v>2.8</c:v>
                </c:pt>
                <c:pt idx="137">
                  <c:v>2.85</c:v>
                </c:pt>
                <c:pt idx="138">
                  <c:v>2.9</c:v>
                </c:pt>
                <c:pt idx="139">
                  <c:v>2.95</c:v>
                </c:pt>
                <c:pt idx="140">
                  <c:v>3</c:v>
                </c:pt>
                <c:pt idx="141">
                  <c:v>3.05</c:v>
                </c:pt>
                <c:pt idx="142">
                  <c:v>3.1</c:v>
                </c:pt>
                <c:pt idx="143">
                  <c:v>3.15</c:v>
                </c:pt>
                <c:pt idx="144">
                  <c:v>3.2</c:v>
                </c:pt>
                <c:pt idx="145">
                  <c:v>3.25</c:v>
                </c:pt>
                <c:pt idx="146">
                  <c:v>3.3</c:v>
                </c:pt>
                <c:pt idx="147">
                  <c:v>3.35</c:v>
                </c:pt>
                <c:pt idx="148">
                  <c:v>3.4</c:v>
                </c:pt>
                <c:pt idx="149">
                  <c:v>3.45</c:v>
                </c:pt>
                <c:pt idx="150">
                  <c:v>3.5</c:v>
                </c:pt>
                <c:pt idx="151">
                  <c:v>3.55</c:v>
                </c:pt>
                <c:pt idx="152">
                  <c:v>3.6</c:v>
                </c:pt>
                <c:pt idx="153">
                  <c:v>3.65</c:v>
                </c:pt>
                <c:pt idx="154">
                  <c:v>3.7</c:v>
                </c:pt>
                <c:pt idx="155">
                  <c:v>3.75</c:v>
                </c:pt>
                <c:pt idx="156">
                  <c:v>3.8</c:v>
                </c:pt>
                <c:pt idx="157">
                  <c:v>3.85</c:v>
                </c:pt>
                <c:pt idx="158">
                  <c:v>3.9</c:v>
                </c:pt>
                <c:pt idx="159">
                  <c:v>3.95</c:v>
                </c:pt>
                <c:pt idx="160">
                  <c:v>4</c:v>
                </c:pt>
              </c:numCache>
            </c:numRef>
          </c:xVal>
          <c:yVal>
            <c:numRef>
              <c:f>'Chart Data'!$D$2:$D$162</c:f>
              <c:numCache>
                <c:formatCode>0.0</c:formatCode>
                <c:ptCount val="161"/>
                <c:pt idx="0">
                  <c:v>1.33830226E-4</c:v>
                </c:pt>
                <c:pt idx="1">
                  <c:v>1.6325640899999999E-4</c:v>
                </c:pt>
                <c:pt idx="2">
                  <c:v>1.9865547099999999E-4</c:v>
                </c:pt>
                <c:pt idx="3">
                  <c:v>2.4112657999999999E-4</c:v>
                </c:pt>
                <c:pt idx="4">
                  <c:v>2.91946926E-4</c:v>
                </c:pt>
                <c:pt idx="5">
                  <c:v>3.5259568200000002E-4</c:v>
                </c:pt>
                <c:pt idx="6">
                  <c:v>4.2478027099999998E-4</c:v>
                </c:pt>
                <c:pt idx="7">
                  <c:v>5.1046497399999998E-4</c:v>
                </c:pt>
                <c:pt idx="8">
                  <c:v>6.1190192999999995E-4</c:v>
                </c:pt>
                <c:pt idx="9">
                  <c:v>7.3166446300000003E-4</c:v>
                </c:pt>
                <c:pt idx="10">
                  <c:v>8.7268269499999999E-4</c:v>
                </c:pt>
                <c:pt idx="11">
                  <c:v>1.038281296E-3</c:v>
                </c:pt>
                <c:pt idx="12">
                  <c:v>1.2322191680000001E-3</c:v>
                </c:pt>
                <c:pt idx="13">
                  <c:v>1.4587308049999999E-3</c:v>
                </c:pt>
                <c:pt idx="14">
                  <c:v>1.722568939E-3</c:v>
                </c:pt>
                <c:pt idx="15">
                  <c:v>2.0290480570000001E-3</c:v>
                </c:pt>
                <c:pt idx="16">
                  <c:v>2.384088201E-3</c:v>
                </c:pt>
                <c:pt idx="17">
                  <c:v>2.7942584150000001E-3</c:v>
                </c:pt>
                <c:pt idx="18">
                  <c:v>3.266819056E-3</c:v>
                </c:pt>
                <c:pt idx="19">
                  <c:v>3.809762098E-3</c:v>
                </c:pt>
                <c:pt idx="20">
                  <c:v>4.4318484119999996E-3</c:v>
                </c:pt>
                <c:pt idx="21">
                  <c:v>5.1426409229999998E-3</c:v>
                </c:pt>
                <c:pt idx="22">
                  <c:v>5.95253242E-3</c:v>
                </c:pt>
                <c:pt idx="23">
                  <c:v>6.872766691E-3</c:v>
                </c:pt>
                <c:pt idx="24">
                  <c:v>7.9154515829999994E-3</c:v>
                </c:pt>
                <c:pt idx="25">
                  <c:v>9.0935625020000001E-3</c:v>
                </c:pt>
                <c:pt idx="26">
                  <c:v>1.0420934814000001E-2</c:v>
                </c:pt>
                <c:pt idx="27">
                  <c:v>1.1912243608E-2</c:v>
                </c:pt>
                <c:pt idx="28">
                  <c:v>1.3582969234E-2</c:v>
                </c:pt>
                <c:pt idx="29">
                  <c:v>1.5449347134000001E-2</c:v>
                </c:pt>
                <c:pt idx="30">
                  <c:v>1.7528300494000001E-2</c:v>
                </c:pt>
                <c:pt idx="31">
                  <c:v>1.9837354392E-2</c:v>
                </c:pt>
                <c:pt idx="32">
                  <c:v>2.2394530294999999E-2</c:v>
                </c:pt>
                <c:pt idx="33">
                  <c:v>2.5218219914999999E-2</c:v>
                </c:pt>
                <c:pt idx="34">
                  <c:v>2.8327037741999999E-2</c:v>
                </c:pt>
                <c:pt idx="35">
                  <c:v>3.1739651835999999E-2</c:v>
                </c:pt>
                <c:pt idx="36">
                  <c:v>3.5474592845999998E-2</c:v>
                </c:pt>
                <c:pt idx="37">
                  <c:v>3.9550041589000003E-2</c:v>
                </c:pt>
                <c:pt idx="38">
                  <c:v>4.3983595979999998E-2</c:v>
                </c:pt>
                <c:pt idx="39">
                  <c:v>4.8792018579E-2</c:v>
                </c:pt>
                <c:pt idx="40">
                  <c:v>5.3990966512999998E-2</c:v>
                </c:pt>
                <c:pt idx="41">
                  <c:v>5.9594706068999997E-2</c:v>
                </c:pt>
                <c:pt idx="42">
                  <c:v>6.5615814775000003E-2</c:v>
                </c:pt>
                <c:pt idx="43">
                  <c:v>7.2064874336000007E-2</c:v>
                </c:pt>
                <c:pt idx="44">
                  <c:v>7.8950158300999995E-2</c:v>
                </c:pt>
                <c:pt idx="45">
                  <c:v>8.6277318827000002E-2</c:v>
                </c:pt>
                <c:pt idx="46">
                  <c:v>9.4049077376999995E-2</c:v>
                </c:pt>
                <c:pt idx="47">
                  <c:v>0.10226492456400001</c:v>
                </c:pt>
                <c:pt idx="48">
                  <c:v>0.110920834679</c:v>
                </c:pt>
                <c:pt idx="49">
                  <c:v>0.120009000697</c:v>
                </c:pt>
                <c:pt idx="50">
                  <c:v>0.12951759566599999</c:v>
                </c:pt>
                <c:pt idx="51">
                  <c:v>0.13943056644499999</c:v>
                </c:pt>
                <c:pt idx="52">
                  <c:v>0.14972746563600001</c:v>
                </c:pt>
                <c:pt idx="53">
                  <c:v>0.160383327342</c:v>
                </c:pt>
                <c:pt idx="54">
                  <c:v>0.17136859204800001</c:v>
                </c:pt>
                <c:pt idx="55">
                  <c:v>0.18264908538899999</c:v>
                </c:pt>
                <c:pt idx="56">
                  <c:v>0.19418605498300001</c:v>
                </c:pt>
                <c:pt idx="57">
                  <c:v>0.20593626872000001</c:v>
                </c:pt>
                <c:pt idx="58">
                  <c:v>0.217852177033</c:v>
                </c:pt>
                <c:pt idx="59">
                  <c:v>0.22988214068400001</c:v>
                </c:pt>
                <c:pt idx="60">
                  <c:v>0.24197072451900001</c:v>
                </c:pt>
                <c:pt idx="61">
                  <c:v>0.25405905646900001</c:v>
                </c:pt>
                <c:pt idx="62">
                  <c:v>0.26608524989900001</c:v>
                </c:pt>
                <c:pt idx="63">
                  <c:v>0.27798488613099998</c:v>
                </c:pt>
                <c:pt idx="64">
                  <c:v>0.289691552761</c:v>
                </c:pt>
                <c:pt idx="65">
                  <c:v>0.301137432155</c:v>
                </c:pt>
                <c:pt idx="66">
                  <c:v>0.31225393336700003</c:v>
                </c:pt>
                <c:pt idx="67">
                  <c:v>0.32297235966799998</c:v>
                </c:pt>
                <c:pt idx="68">
                  <c:v>0.33322460289200001</c:v>
                </c:pt>
                <c:pt idx="69">
                  <c:v>0.34294385501899999</c:v>
                </c:pt>
                <c:pt idx="70">
                  <c:v>0.35206532676399999</c:v>
                </c:pt>
                <c:pt idx="71">
                  <c:v>0.360526962462</c:v>
                </c:pt>
                <c:pt idx="72">
                  <c:v>0.36827014030299998</c:v>
                </c:pt>
                <c:pt idx="73">
                  <c:v>0.37524034691699998</c:v>
                </c:pt>
                <c:pt idx="74">
                  <c:v>0.38138781546099998</c:v>
                </c:pt>
                <c:pt idx="75">
                  <c:v>0.38666811680300001</c:v>
                </c:pt>
                <c:pt idx="76">
                  <c:v>0.39104269397500002</c:v>
                </c:pt>
                <c:pt idx="77">
                  <c:v>0.39447933090800003</c:v>
                </c:pt>
                <c:pt idx="78">
                  <c:v>0.39695254747699998</c:v>
                </c:pt>
                <c:pt idx="79">
                  <c:v>0.39844391409500002</c:v>
                </c:pt>
                <c:pt idx="80">
                  <c:v>0.39894228040099999</c:v>
                </c:pt>
                <c:pt idx="81">
                  <c:v>0.39844391409500002</c:v>
                </c:pt>
                <c:pt idx="82">
                  <c:v>0.39695254747699998</c:v>
                </c:pt>
                <c:pt idx="83">
                  <c:v>0.39447933090800003</c:v>
                </c:pt>
                <c:pt idx="84">
                  <c:v>0.39104269397500002</c:v>
                </c:pt>
                <c:pt idx="85">
                  <c:v>0.38666811680300001</c:v>
                </c:pt>
                <c:pt idx="86">
                  <c:v>0.38138781546099998</c:v>
                </c:pt>
                <c:pt idx="87">
                  <c:v>0.37524034691699998</c:v>
                </c:pt>
                <c:pt idx="88">
                  <c:v>0.36827014030299998</c:v>
                </c:pt>
                <c:pt idx="89">
                  <c:v>0.360526962462</c:v>
                </c:pt>
                <c:pt idx="90">
                  <c:v>0.35206532676399999</c:v>
                </c:pt>
                <c:pt idx="91">
                  <c:v>0.34294385501899999</c:v>
                </c:pt>
                <c:pt idx="92">
                  <c:v>0.33322460289200001</c:v>
                </c:pt>
                <c:pt idx="93">
                  <c:v>0.32297235966799998</c:v>
                </c:pt>
                <c:pt idx="94">
                  <c:v>0.31225393336700003</c:v>
                </c:pt>
                <c:pt idx="95">
                  <c:v>0.301137432155</c:v>
                </c:pt>
                <c:pt idx="96">
                  <c:v>0.289691552761</c:v>
                </c:pt>
                <c:pt idx="97">
                  <c:v>0.27798488613099998</c:v>
                </c:pt>
                <c:pt idx="98">
                  <c:v>0.26608524989900001</c:v>
                </c:pt>
                <c:pt idx="99">
                  <c:v>0.25405905646900001</c:v>
                </c:pt>
                <c:pt idx="100">
                  <c:v>0.24197072451900001</c:v>
                </c:pt>
                <c:pt idx="101">
                  <c:v>0.22988214068400001</c:v>
                </c:pt>
                <c:pt idx="102">
                  <c:v>0.217852177033</c:v>
                </c:pt>
                <c:pt idx="103">
                  <c:v>0.20593626872000001</c:v>
                </c:pt>
                <c:pt idx="104">
                  <c:v>0.19418605498300001</c:v>
                </c:pt>
                <c:pt idx="105">
                  <c:v>0.18264908538899999</c:v>
                </c:pt>
                <c:pt idx="106">
                  <c:v>0.17136859204800001</c:v>
                </c:pt>
                <c:pt idx="107">
                  <c:v>0.160383327342</c:v>
                </c:pt>
                <c:pt idx="108">
                  <c:v>0.14972746563600001</c:v>
                </c:pt>
                <c:pt idx="109">
                  <c:v>0.13943056644499999</c:v>
                </c:pt>
                <c:pt idx="110">
                  <c:v>0.12951759566599999</c:v>
                </c:pt>
                <c:pt idx="111">
                  <c:v>0.120009000697</c:v>
                </c:pt>
                <c:pt idx="112">
                  <c:v>0.110920834679</c:v>
                </c:pt>
                <c:pt idx="113">
                  <c:v>0.10226492456400001</c:v>
                </c:pt>
                <c:pt idx="114">
                  <c:v>9.4049077376999995E-2</c:v>
                </c:pt>
                <c:pt idx="115">
                  <c:v>8.6277318827000002E-2</c:v>
                </c:pt>
                <c:pt idx="116">
                  <c:v>7.8950158300999995E-2</c:v>
                </c:pt>
                <c:pt idx="117">
                  <c:v>7.2064874336000007E-2</c:v>
                </c:pt>
                <c:pt idx="118">
                  <c:v>6.5615814775000003E-2</c:v>
                </c:pt>
                <c:pt idx="119">
                  <c:v>5.9594706068999997E-2</c:v>
                </c:pt>
                <c:pt idx="120">
                  <c:v>5.3990966512999998E-2</c:v>
                </c:pt>
                <c:pt idx="121">
                  <c:v>4.8792018579E-2</c:v>
                </c:pt>
                <c:pt idx="122">
                  <c:v>4.3983595979999998E-2</c:v>
                </c:pt>
                <c:pt idx="123">
                  <c:v>3.9550041589000003E-2</c:v>
                </c:pt>
                <c:pt idx="124">
                  <c:v>3.5474592845999998E-2</c:v>
                </c:pt>
                <c:pt idx="125">
                  <c:v>3.1739651835999999E-2</c:v>
                </c:pt>
                <c:pt idx="126">
                  <c:v>2.8327037741999999E-2</c:v>
                </c:pt>
                <c:pt idx="127">
                  <c:v>2.5218219914999999E-2</c:v>
                </c:pt>
                <c:pt idx="128">
                  <c:v>2.2394530294999999E-2</c:v>
                </c:pt>
                <c:pt idx="129">
                  <c:v>1.9837354392E-2</c:v>
                </c:pt>
                <c:pt idx="130">
                  <c:v>1.7528300494000001E-2</c:v>
                </c:pt>
                <c:pt idx="131">
                  <c:v>1.5449347134000001E-2</c:v>
                </c:pt>
                <c:pt idx="132">
                  <c:v>1.3582969234E-2</c:v>
                </c:pt>
                <c:pt idx="133">
                  <c:v>1.1912243608E-2</c:v>
                </c:pt>
                <c:pt idx="134">
                  <c:v>1.0420934814000001E-2</c:v>
                </c:pt>
                <c:pt idx="135">
                  <c:v>9.0935625020000001E-3</c:v>
                </c:pt>
                <c:pt idx="136">
                  <c:v>7.9154515829999994E-3</c:v>
                </c:pt>
                <c:pt idx="137">
                  <c:v>6.872766691E-3</c:v>
                </c:pt>
                <c:pt idx="138">
                  <c:v>5.95253242E-3</c:v>
                </c:pt>
                <c:pt idx="139">
                  <c:v>5.1426409229999998E-3</c:v>
                </c:pt>
                <c:pt idx="140">
                  <c:v>4.4318484119999996E-3</c:v>
                </c:pt>
                <c:pt idx="141">
                  <c:v>3.809762098E-3</c:v>
                </c:pt>
                <c:pt idx="142">
                  <c:v>3.266819056E-3</c:v>
                </c:pt>
                <c:pt idx="143">
                  <c:v>2.7942584150000001E-3</c:v>
                </c:pt>
                <c:pt idx="144">
                  <c:v>2.384088201E-3</c:v>
                </c:pt>
                <c:pt idx="145">
                  <c:v>2.0290480570000001E-3</c:v>
                </c:pt>
                <c:pt idx="146">
                  <c:v>1.722568939E-3</c:v>
                </c:pt>
                <c:pt idx="147">
                  <c:v>1.4587308049999999E-3</c:v>
                </c:pt>
                <c:pt idx="148">
                  <c:v>1.2322191680000001E-3</c:v>
                </c:pt>
                <c:pt idx="149">
                  <c:v>1.038281296E-3</c:v>
                </c:pt>
                <c:pt idx="150">
                  <c:v>8.7268269499999999E-4</c:v>
                </c:pt>
                <c:pt idx="151">
                  <c:v>7.3166446300000003E-4</c:v>
                </c:pt>
                <c:pt idx="152">
                  <c:v>6.1190192999999995E-4</c:v>
                </c:pt>
                <c:pt idx="153">
                  <c:v>5.1046497399999998E-4</c:v>
                </c:pt>
                <c:pt idx="154">
                  <c:v>4.2478027099999998E-4</c:v>
                </c:pt>
                <c:pt idx="155">
                  <c:v>3.5259568200000002E-4</c:v>
                </c:pt>
                <c:pt idx="156">
                  <c:v>2.91946926E-4</c:v>
                </c:pt>
                <c:pt idx="157">
                  <c:v>2.4112657999999999E-4</c:v>
                </c:pt>
                <c:pt idx="158">
                  <c:v>1.9865547099999999E-4</c:v>
                </c:pt>
                <c:pt idx="159">
                  <c:v>1.6325640899999999E-4</c:v>
                </c:pt>
                <c:pt idx="160">
                  <c:v>1.33830226E-4</c:v>
                </c:pt>
              </c:numCache>
            </c:numRef>
          </c:yVal>
          <c:smooth val="1"/>
          <c:extLst>
            <c:ext xmlns:c16="http://schemas.microsoft.com/office/drawing/2014/chart" uri="{C3380CC4-5D6E-409C-BE32-E72D297353CC}">
              <c16:uniqueId val="{00000001-0C63-449B-8532-9369D5BCA63E}"/>
            </c:ext>
          </c:extLst>
        </c:ser>
        <c:dLbls>
          <c:showLegendKey val="0"/>
          <c:showVal val="0"/>
          <c:showCatName val="0"/>
          <c:showSerName val="0"/>
          <c:showPercent val="0"/>
          <c:showBubbleSize val="0"/>
        </c:dLbls>
        <c:axId val="48650112"/>
        <c:axId val="48672768"/>
      </c:scatterChart>
      <c:valAx>
        <c:axId val="48672768"/>
        <c:scaling>
          <c:orientation val="minMax"/>
          <c:max val="0.5"/>
          <c:min val="0"/>
        </c:scaling>
        <c:delete val="0"/>
        <c:axPos val="l"/>
        <c:majorGridlines>
          <c:spPr>
            <a:ln w="6668">
              <a:solidFill>
                <a:srgbClr val="DDE5EC"/>
              </a:solidFill>
            </a:ln>
          </c:spPr>
        </c:majorGridlines>
        <c:title>
          <c:tx>
            <c:rich>
              <a:bodyPr/>
              <a:lstStyle/>
              <a:p>
                <a:r>
                  <a:rPr lang="en-GB">
                    <a:latin typeface="Aptos"/>
                    <a:ea typeface="Aptos"/>
                    <a:cs typeface="Aptos"/>
                  </a:rPr>
                  <a:t>Density</a:t>
                </a:r>
              </a:p>
            </c:rich>
          </c:tx>
          <c:overlay val="0"/>
        </c:title>
        <c:numFmt formatCode="0.0" sourceLinked="1"/>
        <c:majorTickMark val="none"/>
        <c:minorTickMark val="none"/>
        <c:tickLblPos val="nextTo"/>
        <c:spPr>
          <a:ln w="9525">
            <a:solidFill>
              <a:srgbClr val="526171"/>
            </a:solidFill>
          </a:ln>
        </c:spPr>
        <c:txPr>
          <a:bodyPr anchorCtr="1"/>
          <a:lstStyle/>
          <a:p>
            <a:pPr>
              <a:defRPr sz="1575">
                <a:solidFill>
                  <a:srgbClr val="526171"/>
                </a:solidFill>
                <a:latin typeface="Aptos"/>
                <a:ea typeface="Aptos"/>
                <a:cs typeface="Aptos"/>
              </a:defRPr>
            </a:pPr>
            <a:endParaRPr lang="en-US"/>
          </a:p>
        </c:txPr>
        <c:crossAx val="48650112"/>
        <c:crossesAt val="-4"/>
        <c:crossBetween val="midCat"/>
        <c:majorUnit val="0.1"/>
      </c:valAx>
      <c:valAx>
        <c:axId val="48650112"/>
        <c:scaling>
          <c:orientation val="minMax"/>
          <c:max val="4"/>
          <c:min val="-4"/>
        </c:scaling>
        <c:delete val="0"/>
        <c:axPos val="b"/>
        <c:title>
          <c:tx>
            <c:rich>
              <a:bodyPr/>
              <a:lstStyle/>
              <a:p>
                <a:r>
                  <a:rPr lang="en-GB">
                    <a:latin typeface="Aptos"/>
                    <a:ea typeface="Aptos"/>
                    <a:cs typeface="Aptos"/>
                  </a:rPr>
                  <a:t>Standardised mean</a:t>
                </a:r>
              </a:p>
            </c:rich>
          </c:tx>
          <c:overlay val="0"/>
        </c:title>
        <c:numFmt formatCode="General" sourceLinked="1"/>
        <c:majorTickMark val="none"/>
        <c:minorTickMark val="none"/>
        <c:tickLblPos val="nextTo"/>
        <c:spPr>
          <a:ln w="9525">
            <a:solidFill>
              <a:srgbClr val="526171"/>
            </a:solidFill>
          </a:ln>
        </c:spPr>
        <c:txPr>
          <a:bodyPr anchorCtr="1"/>
          <a:lstStyle/>
          <a:p>
            <a:pPr>
              <a:defRPr sz="1575">
                <a:solidFill>
                  <a:srgbClr val="526171"/>
                </a:solidFill>
                <a:latin typeface="Aptos"/>
                <a:ea typeface="Aptos"/>
                <a:cs typeface="Aptos"/>
              </a:defRPr>
            </a:pPr>
            <a:endParaRPr lang="en-US"/>
          </a:p>
        </c:txPr>
        <c:crossAx val="48672768"/>
        <c:crossesAt val="0"/>
        <c:crossBetween val="midCat"/>
        <c:majorUnit val="2"/>
      </c:valAx>
      <c:spPr>
        <a:solidFill>
          <a:srgbClr val="FFFFFF"/>
        </a:solidFill>
        <a:ln w="0">
          <a:noFill/>
        </a:ln>
      </c:spPr>
    </c:plotArea>
    <c:legend>
      <c:legendPos val="b"/>
      <c:overlay val="0"/>
      <c:txPr>
        <a:bodyPr anchorCtr="1"/>
        <a:lstStyle/>
        <a:p>
          <a:pPr>
            <a:defRPr sz="1350">
              <a:solidFill>
                <a:srgbClr val="526171"/>
              </a:solidFill>
              <a:latin typeface="Aptos"/>
              <a:ea typeface="Aptos"/>
              <a:cs typeface="Aptos"/>
            </a:defRPr>
          </a:pPr>
          <a:endParaRPr lang="en-US"/>
        </a:p>
      </c:txPr>
    </c:legend>
    <c:plotVisOnly val="1"/>
    <c:dispBlanksAs val="zero"/>
    <c:showDLblsOverMax val="1"/>
  </c:chart>
  <c:spPr>
    <a:solidFill>
      <a:srgbClr val="FFFFFF"/>
    </a:solidFill>
    <a:ln w="0">
      <a:no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Simulated density</c:v>
          </c:tx>
          <c:spPr>
            <a:ln w="21908">
              <a:solidFill>
                <a:srgbClr val="2D75A3"/>
              </a:solidFill>
            </a:ln>
          </c:spPr>
          <c:marker>
            <c:symbol val="none"/>
          </c:marker>
          <c:xVal>
            <c:numRef>
              <c:f>'Chart Data'!$A$2:$A$33</c:f>
              <c:numCache>
                <c:formatCode>General</c:formatCode>
                <c:ptCount val="32"/>
                <c:pt idx="0">
                  <c:v>-3.875</c:v>
                </c:pt>
                <c:pt idx="1">
                  <c:v>-3.625</c:v>
                </c:pt>
                <c:pt idx="2">
                  <c:v>-3.375</c:v>
                </c:pt>
                <c:pt idx="3">
                  <c:v>-3.125</c:v>
                </c:pt>
                <c:pt idx="4">
                  <c:v>-2.875</c:v>
                </c:pt>
                <c:pt idx="5">
                  <c:v>-2.625</c:v>
                </c:pt>
                <c:pt idx="6">
                  <c:v>-2.375</c:v>
                </c:pt>
                <c:pt idx="7">
                  <c:v>-2.125</c:v>
                </c:pt>
                <c:pt idx="8">
                  <c:v>-1.875</c:v>
                </c:pt>
                <c:pt idx="9">
                  <c:v>-1.625</c:v>
                </c:pt>
                <c:pt idx="10">
                  <c:v>-1.375</c:v>
                </c:pt>
                <c:pt idx="11">
                  <c:v>-1.125</c:v>
                </c:pt>
                <c:pt idx="12">
                  <c:v>-0.875</c:v>
                </c:pt>
                <c:pt idx="13">
                  <c:v>-0.625</c:v>
                </c:pt>
                <c:pt idx="14">
                  <c:v>-0.375</c:v>
                </c:pt>
                <c:pt idx="15">
                  <c:v>-0.125</c:v>
                </c:pt>
                <c:pt idx="16">
                  <c:v>0.125</c:v>
                </c:pt>
                <c:pt idx="17">
                  <c:v>0.375</c:v>
                </c:pt>
                <c:pt idx="18">
                  <c:v>0.625</c:v>
                </c:pt>
                <c:pt idx="19">
                  <c:v>0.875</c:v>
                </c:pt>
                <c:pt idx="20">
                  <c:v>1.125</c:v>
                </c:pt>
                <c:pt idx="21">
                  <c:v>1.375</c:v>
                </c:pt>
                <c:pt idx="22">
                  <c:v>1.625</c:v>
                </c:pt>
                <c:pt idx="23">
                  <c:v>1.875</c:v>
                </c:pt>
                <c:pt idx="24">
                  <c:v>2.125</c:v>
                </c:pt>
                <c:pt idx="25">
                  <c:v>2.375</c:v>
                </c:pt>
                <c:pt idx="26">
                  <c:v>2.625</c:v>
                </c:pt>
                <c:pt idx="27">
                  <c:v>2.875</c:v>
                </c:pt>
                <c:pt idx="28">
                  <c:v>3.125</c:v>
                </c:pt>
                <c:pt idx="29">
                  <c:v>3.375</c:v>
                </c:pt>
                <c:pt idx="30">
                  <c:v>3.625</c:v>
                </c:pt>
                <c:pt idx="31">
                  <c:v>3.875</c:v>
                </c:pt>
              </c:numCache>
            </c:numRef>
          </c:xVal>
          <c:yVal>
            <c:numRef>
              <c:f>'Chart Data'!$B$2:$B$33</c:f>
              <c:numCache>
                <c:formatCode>0.0</c:formatCode>
                <c:ptCount val="32"/>
                <c:pt idx="0">
                  <c:v>0</c:v>
                </c:pt>
                <c:pt idx="1">
                  <c:v>0</c:v>
                </c:pt>
                <c:pt idx="2">
                  <c:v>1.3333333330000001E-3</c:v>
                </c:pt>
                <c:pt idx="3">
                  <c:v>2E-3</c:v>
                </c:pt>
                <c:pt idx="4">
                  <c:v>4.0000000000000001E-3</c:v>
                </c:pt>
                <c:pt idx="5">
                  <c:v>7.333333333E-3</c:v>
                </c:pt>
                <c:pt idx="6">
                  <c:v>0.02</c:v>
                </c:pt>
                <c:pt idx="7">
                  <c:v>3.9333333333000001E-2</c:v>
                </c:pt>
                <c:pt idx="8">
                  <c:v>6.7333333332999998E-2</c:v>
                </c:pt>
                <c:pt idx="9">
                  <c:v>0.11600000000000001</c:v>
                </c:pt>
                <c:pt idx="10">
                  <c:v>0.166666666667</c:v>
                </c:pt>
                <c:pt idx="11">
                  <c:v>0.20266666666700001</c:v>
                </c:pt>
                <c:pt idx="12">
                  <c:v>0.28266666666700002</c:v>
                </c:pt>
                <c:pt idx="13">
                  <c:v>0.314</c:v>
                </c:pt>
                <c:pt idx="14">
                  <c:v>0.37066666666699999</c:v>
                </c:pt>
                <c:pt idx="15">
                  <c:v>0.39800000000000002</c:v>
                </c:pt>
                <c:pt idx="16">
                  <c:v>0.41466666666699997</c:v>
                </c:pt>
                <c:pt idx="17">
                  <c:v>0.36466666666699998</c:v>
                </c:pt>
                <c:pt idx="18">
                  <c:v>0.32133333333300002</c:v>
                </c:pt>
                <c:pt idx="19">
                  <c:v>0.26866666666700001</c:v>
                </c:pt>
                <c:pt idx="20">
                  <c:v>0.22600000000000001</c:v>
                </c:pt>
                <c:pt idx="21">
                  <c:v>0.15933333333300001</c:v>
                </c:pt>
                <c:pt idx="22">
                  <c:v>0.106</c:v>
                </c:pt>
                <c:pt idx="23">
                  <c:v>7.8E-2</c:v>
                </c:pt>
                <c:pt idx="24">
                  <c:v>2.7333333333E-2</c:v>
                </c:pt>
                <c:pt idx="25">
                  <c:v>2.2666666666999999E-2</c:v>
                </c:pt>
                <c:pt idx="26">
                  <c:v>0.01</c:v>
                </c:pt>
                <c:pt idx="27">
                  <c:v>4.0000000000000001E-3</c:v>
                </c:pt>
                <c:pt idx="28">
                  <c:v>3.3333333329999999E-3</c:v>
                </c:pt>
                <c:pt idx="29">
                  <c:v>6.6666666700000005E-4</c:v>
                </c:pt>
                <c:pt idx="30">
                  <c:v>6.6666666700000005E-4</c:v>
                </c:pt>
                <c:pt idx="31">
                  <c:v>6.6666666700000005E-4</c:v>
                </c:pt>
              </c:numCache>
            </c:numRef>
          </c:yVal>
          <c:smooth val="1"/>
          <c:extLst>
            <c:ext xmlns:c16="http://schemas.microsoft.com/office/drawing/2014/chart" uri="{C3380CC4-5D6E-409C-BE32-E72D297353CC}">
              <c16:uniqueId val="{00000000-BD09-44E9-BE7C-605AD7B6295E}"/>
            </c:ext>
          </c:extLst>
        </c:ser>
        <c:ser>
          <c:idx val="1"/>
          <c:order val="1"/>
          <c:tx>
            <c:v>Standard normal</c:v>
          </c:tx>
          <c:spPr>
            <a:ln w="21908">
              <a:solidFill>
                <a:srgbClr val="C96B16"/>
              </a:solidFill>
            </a:ln>
          </c:spPr>
          <c:marker>
            <c:symbol val="none"/>
          </c:marker>
          <c:xVal>
            <c:numRef>
              <c:f>'Chart Data'!$C$2:$C$162</c:f>
              <c:numCache>
                <c:formatCode>General</c:formatCode>
                <c:ptCount val="161"/>
                <c:pt idx="0">
                  <c:v>-4</c:v>
                </c:pt>
                <c:pt idx="1">
                  <c:v>-3.95</c:v>
                </c:pt>
                <c:pt idx="2">
                  <c:v>-3.9</c:v>
                </c:pt>
                <c:pt idx="3">
                  <c:v>-3.85</c:v>
                </c:pt>
                <c:pt idx="4">
                  <c:v>-3.8</c:v>
                </c:pt>
                <c:pt idx="5">
                  <c:v>-3.75</c:v>
                </c:pt>
                <c:pt idx="6">
                  <c:v>-3.7</c:v>
                </c:pt>
                <c:pt idx="7">
                  <c:v>-3.65</c:v>
                </c:pt>
                <c:pt idx="8">
                  <c:v>-3.6</c:v>
                </c:pt>
                <c:pt idx="9">
                  <c:v>-3.55</c:v>
                </c:pt>
                <c:pt idx="10">
                  <c:v>-3.5</c:v>
                </c:pt>
                <c:pt idx="11">
                  <c:v>-3.45</c:v>
                </c:pt>
                <c:pt idx="12">
                  <c:v>-3.4</c:v>
                </c:pt>
                <c:pt idx="13">
                  <c:v>-3.35</c:v>
                </c:pt>
                <c:pt idx="14">
                  <c:v>-3.3</c:v>
                </c:pt>
                <c:pt idx="15">
                  <c:v>-3.25</c:v>
                </c:pt>
                <c:pt idx="16">
                  <c:v>-3.2</c:v>
                </c:pt>
                <c:pt idx="17">
                  <c:v>-3.15</c:v>
                </c:pt>
                <c:pt idx="18">
                  <c:v>-3.1</c:v>
                </c:pt>
                <c:pt idx="19">
                  <c:v>-3.05</c:v>
                </c:pt>
                <c:pt idx="20">
                  <c:v>-3</c:v>
                </c:pt>
                <c:pt idx="21">
                  <c:v>-2.95</c:v>
                </c:pt>
                <c:pt idx="22">
                  <c:v>-2.9</c:v>
                </c:pt>
                <c:pt idx="23">
                  <c:v>-2.85</c:v>
                </c:pt>
                <c:pt idx="24">
                  <c:v>-2.8</c:v>
                </c:pt>
                <c:pt idx="25">
                  <c:v>-2.75</c:v>
                </c:pt>
                <c:pt idx="26">
                  <c:v>-2.7</c:v>
                </c:pt>
                <c:pt idx="27">
                  <c:v>-2.65</c:v>
                </c:pt>
                <c:pt idx="28">
                  <c:v>-2.6</c:v>
                </c:pt>
                <c:pt idx="29">
                  <c:v>-2.5499999999999998</c:v>
                </c:pt>
                <c:pt idx="30">
                  <c:v>-2.5</c:v>
                </c:pt>
                <c:pt idx="31">
                  <c:v>-2.4500000000000002</c:v>
                </c:pt>
                <c:pt idx="32">
                  <c:v>-2.4</c:v>
                </c:pt>
                <c:pt idx="33">
                  <c:v>-2.35</c:v>
                </c:pt>
                <c:pt idx="34">
                  <c:v>-2.2999999999999998</c:v>
                </c:pt>
                <c:pt idx="35">
                  <c:v>-2.25</c:v>
                </c:pt>
                <c:pt idx="36">
                  <c:v>-2.2000000000000002</c:v>
                </c:pt>
                <c:pt idx="37">
                  <c:v>-2.15</c:v>
                </c:pt>
                <c:pt idx="38">
                  <c:v>-2.1</c:v>
                </c:pt>
                <c:pt idx="39">
                  <c:v>-2.0499999999999998</c:v>
                </c:pt>
                <c:pt idx="40">
                  <c:v>-2</c:v>
                </c:pt>
                <c:pt idx="41">
                  <c:v>-1.95</c:v>
                </c:pt>
                <c:pt idx="42">
                  <c:v>-1.9</c:v>
                </c:pt>
                <c:pt idx="43">
                  <c:v>-1.85</c:v>
                </c:pt>
                <c:pt idx="44">
                  <c:v>-1.8</c:v>
                </c:pt>
                <c:pt idx="45">
                  <c:v>-1.75</c:v>
                </c:pt>
                <c:pt idx="46">
                  <c:v>-1.7</c:v>
                </c:pt>
                <c:pt idx="47">
                  <c:v>-1.65</c:v>
                </c:pt>
                <c:pt idx="48">
                  <c:v>-1.6</c:v>
                </c:pt>
                <c:pt idx="49">
                  <c:v>-1.55</c:v>
                </c:pt>
                <c:pt idx="50">
                  <c:v>-1.5</c:v>
                </c:pt>
                <c:pt idx="51">
                  <c:v>-1.45</c:v>
                </c:pt>
                <c:pt idx="52">
                  <c:v>-1.4</c:v>
                </c:pt>
                <c:pt idx="53">
                  <c:v>-1.35</c:v>
                </c:pt>
                <c:pt idx="54">
                  <c:v>-1.3</c:v>
                </c:pt>
                <c:pt idx="55">
                  <c:v>-1.25</c:v>
                </c:pt>
                <c:pt idx="56">
                  <c:v>-1.2</c:v>
                </c:pt>
                <c:pt idx="57">
                  <c:v>-1.1499999999999999</c:v>
                </c:pt>
                <c:pt idx="58">
                  <c:v>-1.1000000000000001</c:v>
                </c:pt>
                <c:pt idx="59">
                  <c:v>-1.05</c:v>
                </c:pt>
                <c:pt idx="60">
                  <c:v>-1</c:v>
                </c:pt>
                <c:pt idx="61">
                  <c:v>-0.95</c:v>
                </c:pt>
                <c:pt idx="62">
                  <c:v>-0.9</c:v>
                </c:pt>
                <c:pt idx="63">
                  <c:v>-0.85</c:v>
                </c:pt>
                <c:pt idx="64">
                  <c:v>-0.8</c:v>
                </c:pt>
                <c:pt idx="65">
                  <c:v>-0.75</c:v>
                </c:pt>
                <c:pt idx="66">
                  <c:v>-0.7</c:v>
                </c:pt>
                <c:pt idx="67">
                  <c:v>-0.65</c:v>
                </c:pt>
                <c:pt idx="68">
                  <c:v>-0.6</c:v>
                </c:pt>
                <c:pt idx="69">
                  <c:v>-0.55000000000000004</c:v>
                </c:pt>
                <c:pt idx="70">
                  <c:v>-0.5</c:v>
                </c:pt>
                <c:pt idx="71">
                  <c:v>-0.45</c:v>
                </c:pt>
                <c:pt idx="72">
                  <c:v>-0.4</c:v>
                </c:pt>
                <c:pt idx="73">
                  <c:v>-0.35</c:v>
                </c:pt>
                <c:pt idx="74">
                  <c:v>-0.3</c:v>
                </c:pt>
                <c:pt idx="75">
                  <c:v>-0.25</c:v>
                </c:pt>
                <c:pt idx="76">
                  <c:v>-0.2</c:v>
                </c:pt>
                <c:pt idx="77">
                  <c:v>-0.15</c:v>
                </c:pt>
                <c:pt idx="78">
                  <c:v>-0.1</c:v>
                </c:pt>
                <c:pt idx="79">
                  <c:v>-0.05</c:v>
                </c:pt>
                <c:pt idx="80">
                  <c:v>0</c:v>
                </c:pt>
                <c:pt idx="81">
                  <c:v>0.05</c:v>
                </c:pt>
                <c:pt idx="82">
                  <c:v>0.1</c:v>
                </c:pt>
                <c:pt idx="83">
                  <c:v>0.15</c:v>
                </c:pt>
                <c:pt idx="84">
                  <c:v>0.2</c:v>
                </c:pt>
                <c:pt idx="85">
                  <c:v>0.25</c:v>
                </c:pt>
                <c:pt idx="86">
                  <c:v>0.3</c:v>
                </c:pt>
                <c:pt idx="87">
                  <c:v>0.35</c:v>
                </c:pt>
                <c:pt idx="88">
                  <c:v>0.4</c:v>
                </c:pt>
                <c:pt idx="89">
                  <c:v>0.45</c:v>
                </c:pt>
                <c:pt idx="90">
                  <c:v>0.5</c:v>
                </c:pt>
                <c:pt idx="91">
                  <c:v>0.55000000000000004</c:v>
                </c:pt>
                <c:pt idx="92">
                  <c:v>0.6</c:v>
                </c:pt>
                <c:pt idx="93">
                  <c:v>0.65</c:v>
                </c:pt>
                <c:pt idx="94">
                  <c:v>0.7</c:v>
                </c:pt>
                <c:pt idx="95">
                  <c:v>0.75</c:v>
                </c:pt>
                <c:pt idx="96">
                  <c:v>0.8</c:v>
                </c:pt>
                <c:pt idx="97">
                  <c:v>0.85</c:v>
                </c:pt>
                <c:pt idx="98">
                  <c:v>0.9</c:v>
                </c:pt>
                <c:pt idx="99">
                  <c:v>0.95</c:v>
                </c:pt>
                <c:pt idx="100">
                  <c:v>1</c:v>
                </c:pt>
                <c:pt idx="101">
                  <c:v>1.05</c:v>
                </c:pt>
                <c:pt idx="102">
                  <c:v>1.1000000000000001</c:v>
                </c:pt>
                <c:pt idx="103">
                  <c:v>1.1499999999999999</c:v>
                </c:pt>
                <c:pt idx="104">
                  <c:v>1.2</c:v>
                </c:pt>
                <c:pt idx="105">
                  <c:v>1.25</c:v>
                </c:pt>
                <c:pt idx="106">
                  <c:v>1.3</c:v>
                </c:pt>
                <c:pt idx="107">
                  <c:v>1.35</c:v>
                </c:pt>
                <c:pt idx="108">
                  <c:v>1.4</c:v>
                </c:pt>
                <c:pt idx="109">
                  <c:v>1.45</c:v>
                </c:pt>
                <c:pt idx="110">
                  <c:v>1.5</c:v>
                </c:pt>
                <c:pt idx="111">
                  <c:v>1.55</c:v>
                </c:pt>
                <c:pt idx="112">
                  <c:v>1.6</c:v>
                </c:pt>
                <c:pt idx="113">
                  <c:v>1.65</c:v>
                </c:pt>
                <c:pt idx="114">
                  <c:v>1.7</c:v>
                </c:pt>
                <c:pt idx="115">
                  <c:v>1.75</c:v>
                </c:pt>
                <c:pt idx="116">
                  <c:v>1.8</c:v>
                </c:pt>
                <c:pt idx="117">
                  <c:v>1.85</c:v>
                </c:pt>
                <c:pt idx="118">
                  <c:v>1.9</c:v>
                </c:pt>
                <c:pt idx="119">
                  <c:v>1.95</c:v>
                </c:pt>
                <c:pt idx="120">
                  <c:v>2</c:v>
                </c:pt>
                <c:pt idx="121">
                  <c:v>2.0499999999999998</c:v>
                </c:pt>
                <c:pt idx="122">
                  <c:v>2.1</c:v>
                </c:pt>
                <c:pt idx="123">
                  <c:v>2.15</c:v>
                </c:pt>
                <c:pt idx="124">
                  <c:v>2.2000000000000002</c:v>
                </c:pt>
                <c:pt idx="125">
                  <c:v>2.25</c:v>
                </c:pt>
                <c:pt idx="126">
                  <c:v>2.2999999999999998</c:v>
                </c:pt>
                <c:pt idx="127">
                  <c:v>2.35</c:v>
                </c:pt>
                <c:pt idx="128">
                  <c:v>2.4</c:v>
                </c:pt>
                <c:pt idx="129">
                  <c:v>2.4500000000000002</c:v>
                </c:pt>
                <c:pt idx="130">
                  <c:v>2.5</c:v>
                </c:pt>
                <c:pt idx="131">
                  <c:v>2.5499999999999998</c:v>
                </c:pt>
                <c:pt idx="132">
                  <c:v>2.6</c:v>
                </c:pt>
                <c:pt idx="133">
                  <c:v>2.65</c:v>
                </c:pt>
                <c:pt idx="134">
                  <c:v>2.7</c:v>
                </c:pt>
                <c:pt idx="135">
                  <c:v>2.75</c:v>
                </c:pt>
                <c:pt idx="136">
                  <c:v>2.8</c:v>
                </c:pt>
                <c:pt idx="137">
                  <c:v>2.85</c:v>
                </c:pt>
                <c:pt idx="138">
                  <c:v>2.9</c:v>
                </c:pt>
                <c:pt idx="139">
                  <c:v>2.95</c:v>
                </c:pt>
                <c:pt idx="140">
                  <c:v>3</c:v>
                </c:pt>
                <c:pt idx="141">
                  <c:v>3.05</c:v>
                </c:pt>
                <c:pt idx="142">
                  <c:v>3.1</c:v>
                </c:pt>
                <c:pt idx="143">
                  <c:v>3.15</c:v>
                </c:pt>
                <c:pt idx="144">
                  <c:v>3.2</c:v>
                </c:pt>
                <c:pt idx="145">
                  <c:v>3.25</c:v>
                </c:pt>
                <c:pt idx="146">
                  <c:v>3.3</c:v>
                </c:pt>
                <c:pt idx="147">
                  <c:v>3.35</c:v>
                </c:pt>
                <c:pt idx="148">
                  <c:v>3.4</c:v>
                </c:pt>
                <c:pt idx="149">
                  <c:v>3.45</c:v>
                </c:pt>
                <c:pt idx="150">
                  <c:v>3.5</c:v>
                </c:pt>
                <c:pt idx="151">
                  <c:v>3.55</c:v>
                </c:pt>
                <c:pt idx="152">
                  <c:v>3.6</c:v>
                </c:pt>
                <c:pt idx="153">
                  <c:v>3.65</c:v>
                </c:pt>
                <c:pt idx="154">
                  <c:v>3.7</c:v>
                </c:pt>
                <c:pt idx="155">
                  <c:v>3.75</c:v>
                </c:pt>
                <c:pt idx="156">
                  <c:v>3.8</c:v>
                </c:pt>
                <c:pt idx="157">
                  <c:v>3.85</c:v>
                </c:pt>
                <c:pt idx="158">
                  <c:v>3.9</c:v>
                </c:pt>
                <c:pt idx="159">
                  <c:v>3.95</c:v>
                </c:pt>
                <c:pt idx="160">
                  <c:v>4</c:v>
                </c:pt>
              </c:numCache>
            </c:numRef>
          </c:xVal>
          <c:yVal>
            <c:numRef>
              <c:f>'Chart Data'!$D$2:$D$162</c:f>
              <c:numCache>
                <c:formatCode>0.0</c:formatCode>
                <c:ptCount val="161"/>
                <c:pt idx="0">
                  <c:v>1.33830226E-4</c:v>
                </c:pt>
                <c:pt idx="1">
                  <c:v>1.6325640899999999E-4</c:v>
                </c:pt>
                <c:pt idx="2">
                  <c:v>1.9865547099999999E-4</c:v>
                </c:pt>
                <c:pt idx="3">
                  <c:v>2.4112657999999999E-4</c:v>
                </c:pt>
                <c:pt idx="4">
                  <c:v>2.91946926E-4</c:v>
                </c:pt>
                <c:pt idx="5">
                  <c:v>3.5259568200000002E-4</c:v>
                </c:pt>
                <c:pt idx="6">
                  <c:v>4.2478027099999998E-4</c:v>
                </c:pt>
                <c:pt idx="7">
                  <c:v>5.1046497399999998E-4</c:v>
                </c:pt>
                <c:pt idx="8">
                  <c:v>6.1190192999999995E-4</c:v>
                </c:pt>
                <c:pt idx="9">
                  <c:v>7.3166446300000003E-4</c:v>
                </c:pt>
                <c:pt idx="10">
                  <c:v>8.7268269499999999E-4</c:v>
                </c:pt>
                <c:pt idx="11">
                  <c:v>1.038281296E-3</c:v>
                </c:pt>
                <c:pt idx="12">
                  <c:v>1.2322191680000001E-3</c:v>
                </c:pt>
                <c:pt idx="13">
                  <c:v>1.4587308049999999E-3</c:v>
                </c:pt>
                <c:pt idx="14">
                  <c:v>1.722568939E-3</c:v>
                </c:pt>
                <c:pt idx="15">
                  <c:v>2.0290480570000001E-3</c:v>
                </c:pt>
                <c:pt idx="16">
                  <c:v>2.384088201E-3</c:v>
                </c:pt>
                <c:pt idx="17">
                  <c:v>2.7942584150000001E-3</c:v>
                </c:pt>
                <c:pt idx="18">
                  <c:v>3.266819056E-3</c:v>
                </c:pt>
                <c:pt idx="19">
                  <c:v>3.809762098E-3</c:v>
                </c:pt>
                <c:pt idx="20">
                  <c:v>4.4318484119999996E-3</c:v>
                </c:pt>
                <c:pt idx="21">
                  <c:v>5.1426409229999998E-3</c:v>
                </c:pt>
                <c:pt idx="22">
                  <c:v>5.95253242E-3</c:v>
                </c:pt>
                <c:pt idx="23">
                  <c:v>6.872766691E-3</c:v>
                </c:pt>
                <c:pt idx="24">
                  <c:v>7.9154515829999994E-3</c:v>
                </c:pt>
                <c:pt idx="25">
                  <c:v>9.0935625020000001E-3</c:v>
                </c:pt>
                <c:pt idx="26">
                  <c:v>1.0420934814000001E-2</c:v>
                </c:pt>
                <c:pt idx="27">
                  <c:v>1.1912243608E-2</c:v>
                </c:pt>
                <c:pt idx="28">
                  <c:v>1.3582969234E-2</c:v>
                </c:pt>
                <c:pt idx="29">
                  <c:v>1.5449347134000001E-2</c:v>
                </c:pt>
                <c:pt idx="30">
                  <c:v>1.7528300494000001E-2</c:v>
                </c:pt>
                <c:pt idx="31">
                  <c:v>1.9837354392E-2</c:v>
                </c:pt>
                <c:pt idx="32">
                  <c:v>2.2394530294999999E-2</c:v>
                </c:pt>
                <c:pt idx="33">
                  <c:v>2.5218219914999999E-2</c:v>
                </c:pt>
                <c:pt idx="34">
                  <c:v>2.8327037741999999E-2</c:v>
                </c:pt>
                <c:pt idx="35">
                  <c:v>3.1739651835999999E-2</c:v>
                </c:pt>
                <c:pt idx="36">
                  <c:v>3.5474592845999998E-2</c:v>
                </c:pt>
                <c:pt idx="37">
                  <c:v>3.9550041589000003E-2</c:v>
                </c:pt>
                <c:pt idx="38">
                  <c:v>4.3983595979999998E-2</c:v>
                </c:pt>
                <c:pt idx="39">
                  <c:v>4.8792018579E-2</c:v>
                </c:pt>
                <c:pt idx="40">
                  <c:v>5.3990966512999998E-2</c:v>
                </c:pt>
                <c:pt idx="41">
                  <c:v>5.9594706068999997E-2</c:v>
                </c:pt>
                <c:pt idx="42">
                  <c:v>6.5615814775000003E-2</c:v>
                </c:pt>
                <c:pt idx="43">
                  <c:v>7.2064874336000007E-2</c:v>
                </c:pt>
                <c:pt idx="44">
                  <c:v>7.8950158300999995E-2</c:v>
                </c:pt>
                <c:pt idx="45">
                  <c:v>8.6277318827000002E-2</c:v>
                </c:pt>
                <c:pt idx="46">
                  <c:v>9.4049077376999995E-2</c:v>
                </c:pt>
                <c:pt idx="47">
                  <c:v>0.10226492456400001</c:v>
                </c:pt>
                <c:pt idx="48">
                  <c:v>0.110920834679</c:v>
                </c:pt>
                <c:pt idx="49">
                  <c:v>0.120009000697</c:v>
                </c:pt>
                <c:pt idx="50">
                  <c:v>0.12951759566599999</c:v>
                </c:pt>
                <c:pt idx="51">
                  <c:v>0.13943056644499999</c:v>
                </c:pt>
                <c:pt idx="52">
                  <c:v>0.14972746563600001</c:v>
                </c:pt>
                <c:pt idx="53">
                  <c:v>0.160383327342</c:v>
                </c:pt>
                <c:pt idx="54">
                  <c:v>0.17136859204800001</c:v>
                </c:pt>
                <c:pt idx="55">
                  <c:v>0.18264908538899999</c:v>
                </c:pt>
                <c:pt idx="56">
                  <c:v>0.19418605498300001</c:v>
                </c:pt>
                <c:pt idx="57">
                  <c:v>0.20593626872000001</c:v>
                </c:pt>
                <c:pt idx="58">
                  <c:v>0.217852177033</c:v>
                </c:pt>
                <c:pt idx="59">
                  <c:v>0.22988214068400001</c:v>
                </c:pt>
                <c:pt idx="60">
                  <c:v>0.24197072451900001</c:v>
                </c:pt>
                <c:pt idx="61">
                  <c:v>0.25405905646900001</c:v>
                </c:pt>
                <c:pt idx="62">
                  <c:v>0.26608524989900001</c:v>
                </c:pt>
                <c:pt idx="63">
                  <c:v>0.27798488613099998</c:v>
                </c:pt>
                <c:pt idx="64">
                  <c:v>0.289691552761</c:v>
                </c:pt>
                <c:pt idx="65">
                  <c:v>0.301137432155</c:v>
                </c:pt>
                <c:pt idx="66">
                  <c:v>0.31225393336700003</c:v>
                </c:pt>
                <c:pt idx="67">
                  <c:v>0.32297235966799998</c:v>
                </c:pt>
                <c:pt idx="68">
                  <c:v>0.33322460289200001</c:v>
                </c:pt>
                <c:pt idx="69">
                  <c:v>0.34294385501899999</c:v>
                </c:pt>
                <c:pt idx="70">
                  <c:v>0.35206532676399999</c:v>
                </c:pt>
                <c:pt idx="71">
                  <c:v>0.360526962462</c:v>
                </c:pt>
                <c:pt idx="72">
                  <c:v>0.36827014030299998</c:v>
                </c:pt>
                <c:pt idx="73">
                  <c:v>0.37524034691699998</c:v>
                </c:pt>
                <c:pt idx="74">
                  <c:v>0.38138781546099998</c:v>
                </c:pt>
                <c:pt idx="75">
                  <c:v>0.38666811680300001</c:v>
                </c:pt>
                <c:pt idx="76">
                  <c:v>0.39104269397500002</c:v>
                </c:pt>
                <c:pt idx="77">
                  <c:v>0.39447933090800003</c:v>
                </c:pt>
                <c:pt idx="78">
                  <c:v>0.39695254747699998</c:v>
                </c:pt>
                <c:pt idx="79">
                  <c:v>0.39844391409500002</c:v>
                </c:pt>
                <c:pt idx="80">
                  <c:v>0.39894228040099999</c:v>
                </c:pt>
                <c:pt idx="81">
                  <c:v>0.39844391409500002</c:v>
                </c:pt>
                <c:pt idx="82">
                  <c:v>0.39695254747699998</c:v>
                </c:pt>
                <c:pt idx="83">
                  <c:v>0.39447933090800003</c:v>
                </c:pt>
                <c:pt idx="84">
                  <c:v>0.39104269397500002</c:v>
                </c:pt>
                <c:pt idx="85">
                  <c:v>0.38666811680300001</c:v>
                </c:pt>
                <c:pt idx="86">
                  <c:v>0.38138781546099998</c:v>
                </c:pt>
                <c:pt idx="87">
                  <c:v>0.37524034691699998</c:v>
                </c:pt>
                <c:pt idx="88">
                  <c:v>0.36827014030299998</c:v>
                </c:pt>
                <c:pt idx="89">
                  <c:v>0.360526962462</c:v>
                </c:pt>
                <c:pt idx="90">
                  <c:v>0.35206532676399999</c:v>
                </c:pt>
                <c:pt idx="91">
                  <c:v>0.34294385501899999</c:v>
                </c:pt>
                <c:pt idx="92">
                  <c:v>0.33322460289200001</c:v>
                </c:pt>
                <c:pt idx="93">
                  <c:v>0.32297235966799998</c:v>
                </c:pt>
                <c:pt idx="94">
                  <c:v>0.31225393336700003</c:v>
                </c:pt>
                <c:pt idx="95">
                  <c:v>0.301137432155</c:v>
                </c:pt>
                <c:pt idx="96">
                  <c:v>0.289691552761</c:v>
                </c:pt>
                <c:pt idx="97">
                  <c:v>0.27798488613099998</c:v>
                </c:pt>
                <c:pt idx="98">
                  <c:v>0.26608524989900001</c:v>
                </c:pt>
                <c:pt idx="99">
                  <c:v>0.25405905646900001</c:v>
                </c:pt>
                <c:pt idx="100">
                  <c:v>0.24197072451900001</c:v>
                </c:pt>
                <c:pt idx="101">
                  <c:v>0.22988214068400001</c:v>
                </c:pt>
                <c:pt idx="102">
                  <c:v>0.217852177033</c:v>
                </c:pt>
                <c:pt idx="103">
                  <c:v>0.20593626872000001</c:v>
                </c:pt>
                <c:pt idx="104">
                  <c:v>0.19418605498300001</c:v>
                </c:pt>
                <c:pt idx="105">
                  <c:v>0.18264908538899999</c:v>
                </c:pt>
                <c:pt idx="106">
                  <c:v>0.17136859204800001</c:v>
                </c:pt>
                <c:pt idx="107">
                  <c:v>0.160383327342</c:v>
                </c:pt>
                <c:pt idx="108">
                  <c:v>0.14972746563600001</c:v>
                </c:pt>
                <c:pt idx="109">
                  <c:v>0.13943056644499999</c:v>
                </c:pt>
                <c:pt idx="110">
                  <c:v>0.12951759566599999</c:v>
                </c:pt>
                <c:pt idx="111">
                  <c:v>0.120009000697</c:v>
                </c:pt>
                <c:pt idx="112">
                  <c:v>0.110920834679</c:v>
                </c:pt>
                <c:pt idx="113">
                  <c:v>0.10226492456400001</c:v>
                </c:pt>
                <c:pt idx="114">
                  <c:v>9.4049077376999995E-2</c:v>
                </c:pt>
                <c:pt idx="115">
                  <c:v>8.6277318827000002E-2</c:v>
                </c:pt>
                <c:pt idx="116">
                  <c:v>7.8950158300999995E-2</c:v>
                </c:pt>
                <c:pt idx="117">
                  <c:v>7.2064874336000007E-2</c:v>
                </c:pt>
                <c:pt idx="118">
                  <c:v>6.5615814775000003E-2</c:v>
                </c:pt>
                <c:pt idx="119">
                  <c:v>5.9594706068999997E-2</c:v>
                </c:pt>
                <c:pt idx="120">
                  <c:v>5.3990966512999998E-2</c:v>
                </c:pt>
                <c:pt idx="121">
                  <c:v>4.8792018579E-2</c:v>
                </c:pt>
                <c:pt idx="122">
                  <c:v>4.3983595979999998E-2</c:v>
                </c:pt>
                <c:pt idx="123">
                  <c:v>3.9550041589000003E-2</c:v>
                </c:pt>
                <c:pt idx="124">
                  <c:v>3.5474592845999998E-2</c:v>
                </c:pt>
                <c:pt idx="125">
                  <c:v>3.1739651835999999E-2</c:v>
                </c:pt>
                <c:pt idx="126">
                  <c:v>2.8327037741999999E-2</c:v>
                </c:pt>
                <c:pt idx="127">
                  <c:v>2.5218219914999999E-2</c:v>
                </c:pt>
                <c:pt idx="128">
                  <c:v>2.2394530294999999E-2</c:v>
                </c:pt>
                <c:pt idx="129">
                  <c:v>1.9837354392E-2</c:v>
                </c:pt>
                <c:pt idx="130">
                  <c:v>1.7528300494000001E-2</c:v>
                </c:pt>
                <c:pt idx="131">
                  <c:v>1.5449347134000001E-2</c:v>
                </c:pt>
                <c:pt idx="132">
                  <c:v>1.3582969234E-2</c:v>
                </c:pt>
                <c:pt idx="133">
                  <c:v>1.1912243608E-2</c:v>
                </c:pt>
                <c:pt idx="134">
                  <c:v>1.0420934814000001E-2</c:v>
                </c:pt>
                <c:pt idx="135">
                  <c:v>9.0935625020000001E-3</c:v>
                </c:pt>
                <c:pt idx="136">
                  <c:v>7.9154515829999994E-3</c:v>
                </c:pt>
                <c:pt idx="137">
                  <c:v>6.872766691E-3</c:v>
                </c:pt>
                <c:pt idx="138">
                  <c:v>5.95253242E-3</c:v>
                </c:pt>
                <c:pt idx="139">
                  <c:v>5.1426409229999998E-3</c:v>
                </c:pt>
                <c:pt idx="140">
                  <c:v>4.4318484119999996E-3</c:v>
                </c:pt>
                <c:pt idx="141">
                  <c:v>3.809762098E-3</c:v>
                </c:pt>
                <c:pt idx="142">
                  <c:v>3.266819056E-3</c:v>
                </c:pt>
                <c:pt idx="143">
                  <c:v>2.7942584150000001E-3</c:v>
                </c:pt>
                <c:pt idx="144">
                  <c:v>2.384088201E-3</c:v>
                </c:pt>
                <c:pt idx="145">
                  <c:v>2.0290480570000001E-3</c:v>
                </c:pt>
                <c:pt idx="146">
                  <c:v>1.722568939E-3</c:v>
                </c:pt>
                <c:pt idx="147">
                  <c:v>1.4587308049999999E-3</c:v>
                </c:pt>
                <c:pt idx="148">
                  <c:v>1.2322191680000001E-3</c:v>
                </c:pt>
                <c:pt idx="149">
                  <c:v>1.038281296E-3</c:v>
                </c:pt>
                <c:pt idx="150">
                  <c:v>8.7268269499999999E-4</c:v>
                </c:pt>
                <c:pt idx="151">
                  <c:v>7.3166446300000003E-4</c:v>
                </c:pt>
                <c:pt idx="152">
                  <c:v>6.1190192999999995E-4</c:v>
                </c:pt>
                <c:pt idx="153">
                  <c:v>5.1046497399999998E-4</c:v>
                </c:pt>
                <c:pt idx="154">
                  <c:v>4.2478027099999998E-4</c:v>
                </c:pt>
                <c:pt idx="155">
                  <c:v>3.5259568200000002E-4</c:v>
                </c:pt>
                <c:pt idx="156">
                  <c:v>2.91946926E-4</c:v>
                </c:pt>
                <c:pt idx="157">
                  <c:v>2.4112657999999999E-4</c:v>
                </c:pt>
                <c:pt idx="158">
                  <c:v>1.9865547099999999E-4</c:v>
                </c:pt>
                <c:pt idx="159">
                  <c:v>1.6325640899999999E-4</c:v>
                </c:pt>
                <c:pt idx="160">
                  <c:v>1.33830226E-4</c:v>
                </c:pt>
              </c:numCache>
            </c:numRef>
          </c:yVal>
          <c:smooth val="1"/>
          <c:extLst>
            <c:ext xmlns:c16="http://schemas.microsoft.com/office/drawing/2014/chart" uri="{C3380CC4-5D6E-409C-BE32-E72D297353CC}">
              <c16:uniqueId val="{00000001-BD09-44E9-BE7C-605AD7B6295E}"/>
            </c:ext>
          </c:extLst>
        </c:ser>
        <c:dLbls>
          <c:showLegendKey val="0"/>
          <c:showVal val="0"/>
          <c:showCatName val="0"/>
          <c:showSerName val="0"/>
          <c:showPercent val="0"/>
          <c:showBubbleSize val="0"/>
        </c:dLbls>
        <c:axId val="48650112"/>
        <c:axId val="48672768"/>
      </c:scatterChart>
      <c:valAx>
        <c:axId val="48672768"/>
        <c:scaling>
          <c:orientation val="minMax"/>
          <c:max val="0.5"/>
          <c:min val="0"/>
        </c:scaling>
        <c:delete val="0"/>
        <c:axPos val="l"/>
        <c:majorGridlines>
          <c:spPr>
            <a:ln w="6668">
              <a:solidFill>
                <a:srgbClr val="DDE5EC"/>
              </a:solidFill>
            </a:ln>
          </c:spPr>
        </c:majorGridlines>
        <c:numFmt formatCode="0.0" sourceLinked="1"/>
        <c:majorTickMark val="none"/>
        <c:minorTickMark val="none"/>
        <c:tickLblPos val="nextTo"/>
        <c:spPr>
          <a:ln w="9525">
            <a:solidFill>
              <a:srgbClr val="526171"/>
            </a:solidFill>
          </a:ln>
        </c:spPr>
        <c:txPr>
          <a:bodyPr anchorCtr="1"/>
          <a:lstStyle/>
          <a:p>
            <a:pPr>
              <a:defRPr sz="1575">
                <a:solidFill>
                  <a:srgbClr val="526171"/>
                </a:solidFill>
                <a:latin typeface="Aptos"/>
                <a:ea typeface="Aptos"/>
                <a:cs typeface="Aptos"/>
              </a:defRPr>
            </a:pPr>
            <a:endParaRPr lang="en-US"/>
          </a:p>
        </c:txPr>
        <c:crossAx val="48650112"/>
        <c:crossesAt val="-4"/>
        <c:crossBetween val="midCat"/>
        <c:majorUnit val="0.1"/>
      </c:valAx>
      <c:valAx>
        <c:axId val="48650112"/>
        <c:scaling>
          <c:orientation val="minMax"/>
          <c:max val="4"/>
          <c:min val="-4"/>
        </c:scaling>
        <c:delete val="0"/>
        <c:axPos val="b"/>
        <c:title>
          <c:tx>
            <c:rich>
              <a:bodyPr/>
              <a:lstStyle/>
              <a:p>
                <a:r>
                  <a:rPr lang="en-GB">
                    <a:latin typeface="Aptos"/>
                    <a:ea typeface="Aptos"/>
                    <a:cs typeface="Aptos"/>
                  </a:rPr>
                  <a:t>Standardised mean</a:t>
                </a:r>
              </a:p>
            </c:rich>
          </c:tx>
          <c:overlay val="0"/>
        </c:title>
        <c:numFmt formatCode="General" sourceLinked="1"/>
        <c:majorTickMark val="none"/>
        <c:minorTickMark val="none"/>
        <c:tickLblPos val="nextTo"/>
        <c:spPr>
          <a:ln w="9525">
            <a:solidFill>
              <a:srgbClr val="526171"/>
            </a:solidFill>
          </a:ln>
        </c:spPr>
        <c:txPr>
          <a:bodyPr anchorCtr="1"/>
          <a:lstStyle/>
          <a:p>
            <a:pPr>
              <a:defRPr sz="1575">
                <a:solidFill>
                  <a:srgbClr val="526171"/>
                </a:solidFill>
                <a:latin typeface="Aptos"/>
                <a:ea typeface="Aptos"/>
                <a:cs typeface="Aptos"/>
              </a:defRPr>
            </a:pPr>
            <a:endParaRPr lang="en-US"/>
          </a:p>
        </c:txPr>
        <c:crossAx val="48672768"/>
        <c:crossesAt val="0"/>
        <c:crossBetween val="midCat"/>
        <c:majorUnit val="2"/>
      </c:valAx>
      <c:spPr>
        <a:solidFill>
          <a:srgbClr val="FFFFFF"/>
        </a:solidFill>
        <a:ln w="0">
          <a:noFill/>
        </a:ln>
      </c:spPr>
    </c:plotArea>
    <c:legend>
      <c:legendPos val="b"/>
      <c:overlay val="0"/>
      <c:txPr>
        <a:bodyPr anchorCtr="1"/>
        <a:lstStyle/>
        <a:p>
          <a:pPr>
            <a:defRPr sz="1350">
              <a:solidFill>
                <a:srgbClr val="526171"/>
              </a:solidFill>
              <a:latin typeface="Aptos"/>
              <a:ea typeface="Aptos"/>
              <a:cs typeface="Aptos"/>
            </a:defRPr>
          </a:pPr>
          <a:endParaRPr lang="en-US"/>
        </a:p>
      </c:txPr>
    </c:legend>
    <c:plotVisOnly val="1"/>
    <c:dispBlanksAs val="zero"/>
    <c:showDLblsOverMax val="1"/>
  </c:chart>
  <c:spPr>
    <a:solidFill>
      <a:srgbClr val="FFFFFF"/>
    </a:solidFill>
    <a:ln w="0">
      <a:noFill/>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Inside</c:v>
          </c:tx>
          <c:spPr>
            <a:ln w="0">
              <a:noFill/>
            </a:ln>
          </c:spPr>
          <c:marker>
            <c:symbol val="circle"/>
            <c:size val="6"/>
            <c:spPr>
              <a:solidFill>
                <a:srgbClr val="2F6F4E"/>
              </a:solidFill>
            </c:spPr>
          </c:marker>
          <c:xVal>
            <c:numRef>
              <c:f>'Chart Data'!$A$2:$A$57</c:f>
              <c:numCache>
                <c:formatCode>General</c:formatCode>
                <c:ptCount val="56"/>
                <c:pt idx="0">
                  <c:v>7.6328702944000001E-2</c:v>
                </c:pt>
                <c:pt idx="1">
                  <c:v>-0.26186552040900002</c:v>
                </c:pt>
                <c:pt idx="2">
                  <c:v>0.34864786100900003</c:v>
                </c:pt>
                <c:pt idx="3">
                  <c:v>0.35983532232799997</c:v>
                </c:pt>
                <c:pt idx="4">
                  <c:v>0.65400605163799996</c:v>
                </c:pt>
                <c:pt idx="5">
                  <c:v>0.69973126219000004</c:v>
                </c:pt>
                <c:pt idx="6">
                  <c:v>0.25493586740599999</c:v>
                </c:pt>
                <c:pt idx="7">
                  <c:v>-0.62732736264400002</c:v>
                </c:pt>
                <c:pt idx="8">
                  <c:v>0.51893315364500003</c:v>
                </c:pt>
                <c:pt idx="9">
                  <c:v>-0.72068218085199998</c:v>
                </c:pt>
                <c:pt idx="10">
                  <c:v>0.17369894688900001</c:v>
                </c:pt>
                <c:pt idx="11">
                  <c:v>-0.16389166823199999</c:v>
                </c:pt>
                <c:pt idx="12">
                  <c:v>-9.1728596827999997E-2</c:v>
                </c:pt>
                <c:pt idx="13">
                  <c:v>0.78958037577600004</c:v>
                </c:pt>
                <c:pt idx="14">
                  <c:v>-0.37591796518100001</c:v>
                </c:pt>
                <c:pt idx="15">
                  <c:v>0.55030723041999996</c:v>
                </c:pt>
                <c:pt idx="16">
                  <c:v>-0.69867174118300002</c:v>
                </c:pt>
                <c:pt idx="17">
                  <c:v>-0.45145886336300001</c:v>
                </c:pt>
                <c:pt idx="18">
                  <c:v>-0.16331433821399999</c:v>
                </c:pt>
                <c:pt idx="19">
                  <c:v>0.73736852512200002</c:v>
                </c:pt>
                <c:pt idx="20">
                  <c:v>0.30800015851200002</c:v>
                </c:pt>
                <c:pt idx="21">
                  <c:v>-0.57834270965199996</c:v>
                </c:pt>
                <c:pt idx="22">
                  <c:v>0.534888825447</c:v>
                </c:pt>
                <c:pt idx="23">
                  <c:v>0.73773154127100005</c:v>
                </c:pt>
                <c:pt idx="24">
                  <c:v>-0.204861467755</c:v>
                </c:pt>
                <c:pt idx="25">
                  <c:v>-0.60283295993700003</c:v>
                </c:pt>
                <c:pt idx="26">
                  <c:v>-0.37275094463000003</c:v>
                </c:pt>
                <c:pt idx="27">
                  <c:v>0.44865135456100003</c:v>
                </c:pt>
                <c:pt idx="28">
                  <c:v>0.74448444196499997</c:v>
                </c:pt>
                <c:pt idx="29">
                  <c:v>-4.8176779510000003E-2</c:v>
                </c:pt>
                <c:pt idx="30">
                  <c:v>-0.83051254959200005</c:v>
                </c:pt>
                <c:pt idx="31">
                  <c:v>0.63281229183499998</c:v>
                </c:pt>
                <c:pt idx="32">
                  <c:v>0.90751469632899995</c:v>
                </c:pt>
                <c:pt idx="33">
                  <c:v>-0.62826380658600001</c:v>
                </c:pt>
                <c:pt idx="34">
                  <c:v>-0.774377792748</c:v>
                </c:pt>
                <c:pt idx="35">
                  <c:v>-0.42937433305700001</c:v>
                </c:pt>
                <c:pt idx="36">
                  <c:v>-7.8191815587000002E-2</c:v>
                </c:pt>
                <c:pt idx="37">
                  <c:v>0.174490896693</c:v>
                </c:pt>
                <c:pt idx="38">
                  <c:v>-0.76385920007800001</c:v>
                </c:pt>
                <c:pt idx="39">
                  <c:v>9.9578560285000006E-2</c:v>
                </c:pt>
                <c:pt idx="40">
                  <c:v>0.415007083878</c:v>
                </c:pt>
                <c:pt idx="41">
                  <c:v>-0.48077523345399997</c:v>
                </c:pt>
                <c:pt idx="42">
                  <c:v>0.77054884110900002</c:v>
                </c:pt>
                <c:pt idx="43">
                  <c:v>-0.56195434317199999</c:v>
                </c:pt>
                <c:pt idx="44">
                  <c:v>-0.84287629862500002</c:v>
                </c:pt>
                <c:pt idx="45">
                  <c:v>0.89451010242200002</c:v>
                </c:pt>
                <c:pt idx="46">
                  <c:v>0.380751785038</c:v>
                </c:pt>
                <c:pt idx="47">
                  <c:v>0.59294378470300002</c:v>
                </c:pt>
                <c:pt idx="48">
                  <c:v>0.63046930811900004</c:v>
                </c:pt>
                <c:pt idx="49">
                  <c:v>-0.30350923525599999</c:v>
                </c:pt>
                <c:pt idx="50">
                  <c:v>0.116963058944</c:v>
                </c:pt>
                <c:pt idx="51">
                  <c:v>-0.54421855444800005</c:v>
                </c:pt>
                <c:pt idx="52">
                  <c:v>-0.50046931462199995</c:v>
                </c:pt>
                <c:pt idx="53">
                  <c:v>-0.481029376673</c:v>
                </c:pt>
                <c:pt idx="54">
                  <c:v>-0.39492130748799997</c:v>
                </c:pt>
                <c:pt idx="55">
                  <c:v>0.33361006396499998</c:v>
                </c:pt>
              </c:numCache>
            </c:numRef>
          </c:xVal>
          <c:yVal>
            <c:numRef>
              <c:f>'Chart Data'!$B$2:$B$57</c:f>
              <c:numCache>
                <c:formatCode>General</c:formatCode>
                <c:ptCount val="56"/>
                <c:pt idx="0">
                  <c:v>-0.31345826037300001</c:v>
                </c:pt>
                <c:pt idx="1">
                  <c:v>-0.25100646882400002</c:v>
                </c:pt>
                <c:pt idx="2">
                  <c:v>-0.34007308922899998</c:v>
                </c:pt>
                <c:pt idx="3">
                  <c:v>-0.75405525022599995</c:v>
                </c:pt>
                <c:pt idx="4">
                  <c:v>0.57042191865299996</c:v>
                </c:pt>
                <c:pt idx="5">
                  <c:v>-0.13501037668999999</c:v>
                </c:pt>
                <c:pt idx="6">
                  <c:v>-0.75543520237799999</c:v>
                </c:pt>
                <c:pt idx="7">
                  <c:v>-5.4641745169999997E-3</c:v>
                </c:pt>
                <c:pt idx="8">
                  <c:v>7.9714408688999996E-2</c:v>
                </c:pt>
                <c:pt idx="9">
                  <c:v>-0.12068448497500001</c:v>
                </c:pt>
                <c:pt idx="10">
                  <c:v>-0.361700995207</c:v>
                </c:pt>
                <c:pt idx="11">
                  <c:v>0.77392898165299995</c:v>
                </c:pt>
                <c:pt idx="12">
                  <c:v>7.8494225010000002E-2</c:v>
                </c:pt>
                <c:pt idx="13">
                  <c:v>-0.27628895714200002</c:v>
                </c:pt>
                <c:pt idx="14">
                  <c:v>0.762578388898</c:v>
                </c:pt>
                <c:pt idx="15">
                  <c:v>-0.12629982434100001</c:v>
                </c:pt>
                <c:pt idx="16">
                  <c:v>-0.49609005014399998</c:v>
                </c:pt>
                <c:pt idx="17">
                  <c:v>-9.6474586648000002E-2</c:v>
                </c:pt>
                <c:pt idx="18">
                  <c:v>8.5467858770999994E-2</c:v>
                </c:pt>
                <c:pt idx="19">
                  <c:v>0.26252670703800002</c:v>
                </c:pt>
                <c:pt idx="20">
                  <c:v>0.184443136822</c:v>
                </c:pt>
                <c:pt idx="21">
                  <c:v>-0.100681782094</c:v>
                </c:pt>
                <c:pt idx="22">
                  <c:v>6.7363330127000007E-2</c:v>
                </c:pt>
                <c:pt idx="23">
                  <c:v>0.261764932467</c:v>
                </c:pt>
                <c:pt idx="24">
                  <c:v>5.2639326212000001E-2</c:v>
                </c:pt>
                <c:pt idx="25">
                  <c:v>0.145640282628</c:v>
                </c:pt>
                <c:pt idx="26">
                  <c:v>0.56279864962799997</c:v>
                </c:pt>
                <c:pt idx="27">
                  <c:v>0.61635900586000003</c:v>
                </c:pt>
                <c:pt idx="28">
                  <c:v>-1.6655676487999999E-2</c:v>
                </c:pt>
                <c:pt idx="29">
                  <c:v>6.1627227212999999E-2</c:v>
                </c:pt>
                <c:pt idx="30">
                  <c:v>0.46445950251200002</c:v>
                </c:pt>
                <c:pt idx="31">
                  <c:v>-0.60054292761000005</c:v>
                </c:pt>
                <c:pt idx="32">
                  <c:v>-0.200534656324</c:v>
                </c:pt>
                <c:pt idx="33">
                  <c:v>-0.398851065984</c:v>
                </c:pt>
                <c:pt idx="34">
                  <c:v>0.54364183066799998</c:v>
                </c:pt>
                <c:pt idx="35">
                  <c:v>0.38659218874599999</c:v>
                </c:pt>
                <c:pt idx="36">
                  <c:v>-0.75005393451900004</c:v>
                </c:pt>
                <c:pt idx="37">
                  <c:v>0.93435089394899995</c:v>
                </c:pt>
                <c:pt idx="38">
                  <c:v>0.15285508434299999</c:v>
                </c:pt>
                <c:pt idx="39">
                  <c:v>0.74344386910500004</c:v>
                </c:pt>
                <c:pt idx="40">
                  <c:v>-0.102875865783</c:v>
                </c:pt>
                <c:pt idx="41">
                  <c:v>0.74420896471499998</c:v>
                </c:pt>
                <c:pt idx="42">
                  <c:v>0.56806689539499999</c:v>
                </c:pt>
                <c:pt idx="43">
                  <c:v>0.109076565417</c:v>
                </c:pt>
                <c:pt idx="44">
                  <c:v>0.18049658803999999</c:v>
                </c:pt>
                <c:pt idx="45">
                  <c:v>-0.29241597455599999</c:v>
                </c:pt>
                <c:pt idx="46">
                  <c:v>-0.59620707237600001</c:v>
                </c:pt>
                <c:pt idx="47">
                  <c:v>0.79288398974399998</c:v>
                </c:pt>
                <c:pt idx="48">
                  <c:v>-0.118511205854</c:v>
                </c:pt>
                <c:pt idx="49">
                  <c:v>-0.83250485254100004</c:v>
                </c:pt>
                <c:pt idx="50">
                  <c:v>0.52825271632399995</c:v>
                </c:pt>
                <c:pt idx="51">
                  <c:v>0.51190353192899996</c:v>
                </c:pt>
                <c:pt idx="52">
                  <c:v>0.45812948810499998</c:v>
                </c:pt>
                <c:pt idx="53">
                  <c:v>0.83710780603599999</c:v>
                </c:pt>
                <c:pt idx="54">
                  <c:v>-0.76714457800000002</c:v>
                </c:pt>
                <c:pt idx="55">
                  <c:v>0.54455007926400001</c:v>
                </c:pt>
              </c:numCache>
            </c:numRef>
          </c:yVal>
          <c:smooth val="1"/>
          <c:extLst>
            <c:ext xmlns:c16="http://schemas.microsoft.com/office/drawing/2014/chart" uri="{C3380CC4-5D6E-409C-BE32-E72D297353CC}">
              <c16:uniqueId val="{00000000-0FF8-47B7-9353-B7EED5F7BAF9}"/>
            </c:ext>
          </c:extLst>
        </c:ser>
        <c:ser>
          <c:idx val="1"/>
          <c:order val="1"/>
          <c:tx>
            <c:v>Outside</c:v>
          </c:tx>
          <c:spPr>
            <a:ln w="0">
              <a:noFill/>
            </a:ln>
          </c:spPr>
          <c:marker>
            <c:symbol val="circle"/>
            <c:size val="6"/>
            <c:spPr>
              <a:solidFill>
                <a:srgbClr val="C96B16"/>
              </a:solidFill>
            </c:spPr>
          </c:marker>
          <c:xVal>
            <c:numRef>
              <c:f>'Chart Data'!$C$2:$C$25</c:f>
              <c:numCache>
                <c:formatCode>General</c:formatCode>
                <c:ptCount val="24"/>
                <c:pt idx="0">
                  <c:v>0.97488998037300001</c:v>
                </c:pt>
                <c:pt idx="1">
                  <c:v>-0.89654153603200004</c:v>
                </c:pt>
                <c:pt idx="2">
                  <c:v>-0.98220838892899998</c:v>
                </c:pt>
                <c:pt idx="3">
                  <c:v>-0.90383302599500004</c:v>
                </c:pt>
                <c:pt idx="4">
                  <c:v>-0.78623984286199999</c:v>
                </c:pt>
                <c:pt idx="5">
                  <c:v>0.94097830428200002</c:v>
                </c:pt>
                <c:pt idx="6">
                  <c:v>-0.86900650365900001</c:v>
                </c:pt>
                <c:pt idx="7">
                  <c:v>0.65553523685299997</c:v>
                </c:pt>
                <c:pt idx="8">
                  <c:v>-0.88048546514000003</c:v>
                </c:pt>
                <c:pt idx="9">
                  <c:v>-0.98937368274500004</c:v>
                </c:pt>
                <c:pt idx="10">
                  <c:v>0.59953934793200003</c:v>
                </c:pt>
                <c:pt idx="11">
                  <c:v>0.68272118407299998</c:v>
                </c:pt>
                <c:pt idx="12">
                  <c:v>0.97507678187299995</c:v>
                </c:pt>
                <c:pt idx="13">
                  <c:v>0.65504084529700002</c:v>
                </c:pt>
                <c:pt idx="14">
                  <c:v>0.66994623719699997</c:v>
                </c:pt>
                <c:pt idx="15">
                  <c:v>-0.69013344432699997</c:v>
                </c:pt>
                <c:pt idx="16">
                  <c:v>0.97400854501400003</c:v>
                </c:pt>
                <c:pt idx="17">
                  <c:v>0.91467228140000001</c:v>
                </c:pt>
                <c:pt idx="18">
                  <c:v>-0.63025899162700005</c:v>
                </c:pt>
                <c:pt idx="19">
                  <c:v>-0.65284539748899995</c:v>
                </c:pt>
                <c:pt idx="20">
                  <c:v>0.61373320979299995</c:v>
                </c:pt>
                <c:pt idx="21">
                  <c:v>0.69596282027</c:v>
                </c:pt>
                <c:pt idx="22">
                  <c:v>-0.97605631306200002</c:v>
                </c:pt>
                <c:pt idx="23">
                  <c:v>-0.52361815270599998</c:v>
                </c:pt>
              </c:numCache>
            </c:numRef>
          </c:xVal>
          <c:yVal>
            <c:numRef>
              <c:f>'Chart Data'!$D$2:$D$25</c:f>
              <c:numCache>
                <c:formatCode>General</c:formatCode>
                <c:ptCount val="24"/>
                <c:pt idx="0">
                  <c:v>0.26551254521399997</c:v>
                </c:pt>
                <c:pt idx="1">
                  <c:v>0.70038269361799999</c:v>
                </c:pt>
                <c:pt idx="2">
                  <c:v>0.95753512437099997</c:v>
                </c:pt>
                <c:pt idx="3">
                  <c:v>-0.58512146758600003</c:v>
                </c:pt>
                <c:pt idx="4">
                  <c:v>0.73237215703000003</c:v>
                </c:pt>
                <c:pt idx="5">
                  <c:v>-0.44803372713299999</c:v>
                </c:pt>
                <c:pt idx="6">
                  <c:v>0.73331024382200005</c:v>
                </c:pt>
                <c:pt idx="7">
                  <c:v>0.78942968220099996</c:v>
                </c:pt>
                <c:pt idx="8">
                  <c:v>-0.52238881089099998</c:v>
                </c:pt>
                <c:pt idx="9">
                  <c:v>0.38523924205900001</c:v>
                </c:pt>
                <c:pt idx="10">
                  <c:v>0.94724988046699998</c:v>
                </c:pt>
                <c:pt idx="11">
                  <c:v>-0.81638175274199998</c:v>
                </c:pt>
                <c:pt idx="12">
                  <c:v>0.818460852455</c:v>
                </c:pt>
                <c:pt idx="13">
                  <c:v>0.98759261804099996</c:v>
                </c:pt>
                <c:pt idx="14">
                  <c:v>-0.88147327806200004</c:v>
                </c:pt>
                <c:pt idx="15">
                  <c:v>0.913910740906</c:v>
                </c:pt>
                <c:pt idx="16">
                  <c:v>-0.474033790161</c:v>
                </c:pt>
                <c:pt idx="17">
                  <c:v>-0.58356379506199996</c:v>
                </c:pt>
                <c:pt idx="18">
                  <c:v>0.92514910640500003</c:v>
                </c:pt>
                <c:pt idx="19">
                  <c:v>0.99194432045500003</c:v>
                </c:pt>
                <c:pt idx="20">
                  <c:v>-0.91652591757000001</c:v>
                </c:pt>
                <c:pt idx="21">
                  <c:v>0.80764054129999996</c:v>
                </c:pt>
                <c:pt idx="22">
                  <c:v>-0.230605666904</c:v>
                </c:pt>
                <c:pt idx="23">
                  <c:v>-0.91915795234099995</c:v>
                </c:pt>
              </c:numCache>
            </c:numRef>
          </c:yVal>
          <c:smooth val="1"/>
          <c:extLst>
            <c:ext xmlns:c16="http://schemas.microsoft.com/office/drawing/2014/chart" uri="{C3380CC4-5D6E-409C-BE32-E72D297353CC}">
              <c16:uniqueId val="{00000001-0FF8-47B7-9353-B7EED5F7BAF9}"/>
            </c:ext>
          </c:extLst>
        </c:ser>
        <c:ser>
          <c:idx val="2"/>
          <c:order val="2"/>
          <c:tx>
            <c:v>Circle boundary</c:v>
          </c:tx>
          <c:spPr>
            <a:ln w="21908">
              <a:solidFill>
                <a:srgbClr val="526171"/>
              </a:solidFill>
            </a:ln>
          </c:spPr>
          <c:marker>
            <c:symbol val="none"/>
          </c:marker>
          <c:xVal>
            <c:numRef>
              <c:f>'Chart Data'!$E$2:$E$122</c:f>
              <c:numCache>
                <c:formatCode>General</c:formatCode>
                <c:ptCount val="121"/>
                <c:pt idx="0">
                  <c:v>-1</c:v>
                </c:pt>
                <c:pt idx="1">
                  <c:v>-0.98333333333299999</c:v>
                </c:pt>
                <c:pt idx="2">
                  <c:v>-0.96666666666699996</c:v>
                </c:pt>
                <c:pt idx="3">
                  <c:v>-0.95</c:v>
                </c:pt>
                <c:pt idx="4">
                  <c:v>-0.93333333333299995</c:v>
                </c:pt>
                <c:pt idx="5">
                  <c:v>-0.91666666666700003</c:v>
                </c:pt>
                <c:pt idx="6">
                  <c:v>-0.9</c:v>
                </c:pt>
                <c:pt idx="7">
                  <c:v>-0.88333333333300001</c:v>
                </c:pt>
                <c:pt idx="8">
                  <c:v>-0.86666666666699999</c:v>
                </c:pt>
                <c:pt idx="9">
                  <c:v>-0.85</c:v>
                </c:pt>
                <c:pt idx="10">
                  <c:v>-0.83333333333299997</c:v>
                </c:pt>
                <c:pt idx="11">
                  <c:v>-0.81666666666700005</c:v>
                </c:pt>
                <c:pt idx="12">
                  <c:v>-0.8</c:v>
                </c:pt>
                <c:pt idx="13">
                  <c:v>-0.78333333333300004</c:v>
                </c:pt>
                <c:pt idx="14">
                  <c:v>-0.76666666666700001</c:v>
                </c:pt>
                <c:pt idx="15">
                  <c:v>-0.75</c:v>
                </c:pt>
                <c:pt idx="16">
                  <c:v>-0.73333333333299999</c:v>
                </c:pt>
                <c:pt idx="17">
                  <c:v>-0.71666666666699996</c:v>
                </c:pt>
                <c:pt idx="18">
                  <c:v>-0.7</c:v>
                </c:pt>
                <c:pt idx="19">
                  <c:v>-0.68333333333299995</c:v>
                </c:pt>
                <c:pt idx="20">
                  <c:v>-0.66666666666700003</c:v>
                </c:pt>
                <c:pt idx="21">
                  <c:v>-0.65</c:v>
                </c:pt>
                <c:pt idx="22">
                  <c:v>-0.63333333333300001</c:v>
                </c:pt>
                <c:pt idx="23">
                  <c:v>-0.61666666666699999</c:v>
                </c:pt>
                <c:pt idx="24">
                  <c:v>-0.6</c:v>
                </c:pt>
                <c:pt idx="25">
                  <c:v>-0.58333333333299997</c:v>
                </c:pt>
                <c:pt idx="26">
                  <c:v>-0.56666666666700005</c:v>
                </c:pt>
                <c:pt idx="27">
                  <c:v>-0.55000000000000004</c:v>
                </c:pt>
                <c:pt idx="28">
                  <c:v>-0.53333333333300004</c:v>
                </c:pt>
                <c:pt idx="29">
                  <c:v>-0.51666666666700001</c:v>
                </c:pt>
                <c:pt idx="30">
                  <c:v>-0.5</c:v>
                </c:pt>
                <c:pt idx="31">
                  <c:v>-0.48333333333299999</c:v>
                </c:pt>
                <c:pt idx="32">
                  <c:v>-0.46666666666700002</c:v>
                </c:pt>
                <c:pt idx="33">
                  <c:v>-0.45</c:v>
                </c:pt>
                <c:pt idx="34">
                  <c:v>-0.433333333333</c:v>
                </c:pt>
                <c:pt idx="35">
                  <c:v>-0.41666666666699997</c:v>
                </c:pt>
                <c:pt idx="36">
                  <c:v>-0.4</c:v>
                </c:pt>
                <c:pt idx="37">
                  <c:v>-0.38333333333300001</c:v>
                </c:pt>
                <c:pt idx="38">
                  <c:v>-0.36666666666699999</c:v>
                </c:pt>
                <c:pt idx="39">
                  <c:v>-0.35</c:v>
                </c:pt>
                <c:pt idx="40">
                  <c:v>-0.33333333333300003</c:v>
                </c:pt>
                <c:pt idx="41">
                  <c:v>-0.316666666667</c:v>
                </c:pt>
                <c:pt idx="42">
                  <c:v>-0.3</c:v>
                </c:pt>
                <c:pt idx="43">
                  <c:v>-0.28333333333299998</c:v>
                </c:pt>
                <c:pt idx="44">
                  <c:v>-0.26666666666700001</c:v>
                </c:pt>
                <c:pt idx="45">
                  <c:v>-0.25</c:v>
                </c:pt>
                <c:pt idx="46">
                  <c:v>-0.23333333333299999</c:v>
                </c:pt>
                <c:pt idx="47">
                  <c:v>-0.21666666666699999</c:v>
                </c:pt>
                <c:pt idx="48">
                  <c:v>-0.2</c:v>
                </c:pt>
                <c:pt idx="49">
                  <c:v>-0.183333333333</c:v>
                </c:pt>
                <c:pt idx="50">
                  <c:v>-0.166666666667</c:v>
                </c:pt>
                <c:pt idx="51">
                  <c:v>-0.15</c:v>
                </c:pt>
                <c:pt idx="52">
                  <c:v>-0.13333333333299999</c:v>
                </c:pt>
                <c:pt idx="53">
                  <c:v>-0.116666666667</c:v>
                </c:pt>
                <c:pt idx="54">
                  <c:v>-0.1</c:v>
                </c:pt>
                <c:pt idx="55">
                  <c:v>-8.3333333332999998E-2</c:v>
                </c:pt>
                <c:pt idx="56">
                  <c:v>-6.6666666666999996E-2</c:v>
                </c:pt>
                <c:pt idx="57">
                  <c:v>-0.05</c:v>
                </c:pt>
                <c:pt idx="58">
                  <c:v>-3.3333333333000002E-2</c:v>
                </c:pt>
                <c:pt idx="59">
                  <c:v>-1.6666666667E-2</c:v>
                </c:pt>
                <c:pt idx="60">
                  <c:v>0</c:v>
                </c:pt>
                <c:pt idx="61">
                  <c:v>1.6666666667E-2</c:v>
                </c:pt>
                <c:pt idx="62">
                  <c:v>3.3333333333000002E-2</c:v>
                </c:pt>
                <c:pt idx="63">
                  <c:v>0.05</c:v>
                </c:pt>
                <c:pt idx="64">
                  <c:v>6.6666666666999996E-2</c:v>
                </c:pt>
                <c:pt idx="65">
                  <c:v>8.3333333332999998E-2</c:v>
                </c:pt>
                <c:pt idx="66">
                  <c:v>0.1</c:v>
                </c:pt>
                <c:pt idx="67">
                  <c:v>0.116666666667</c:v>
                </c:pt>
                <c:pt idx="68">
                  <c:v>0.13333333333299999</c:v>
                </c:pt>
                <c:pt idx="69">
                  <c:v>0.15</c:v>
                </c:pt>
                <c:pt idx="70">
                  <c:v>0.166666666667</c:v>
                </c:pt>
                <c:pt idx="71">
                  <c:v>0.183333333333</c:v>
                </c:pt>
                <c:pt idx="72">
                  <c:v>0.2</c:v>
                </c:pt>
                <c:pt idx="73">
                  <c:v>0.21666666666699999</c:v>
                </c:pt>
                <c:pt idx="74">
                  <c:v>0.23333333333299999</c:v>
                </c:pt>
                <c:pt idx="75">
                  <c:v>0.25</c:v>
                </c:pt>
                <c:pt idx="76">
                  <c:v>0.26666666666700001</c:v>
                </c:pt>
                <c:pt idx="77">
                  <c:v>0.28333333333299998</c:v>
                </c:pt>
                <c:pt idx="78">
                  <c:v>0.3</c:v>
                </c:pt>
                <c:pt idx="79">
                  <c:v>0.316666666667</c:v>
                </c:pt>
                <c:pt idx="80">
                  <c:v>0.33333333333300003</c:v>
                </c:pt>
                <c:pt idx="81">
                  <c:v>0.35</c:v>
                </c:pt>
                <c:pt idx="82">
                  <c:v>0.36666666666699999</c:v>
                </c:pt>
                <c:pt idx="83">
                  <c:v>0.38333333333300001</c:v>
                </c:pt>
                <c:pt idx="84">
                  <c:v>0.4</c:v>
                </c:pt>
                <c:pt idx="85">
                  <c:v>0.41666666666699997</c:v>
                </c:pt>
                <c:pt idx="86">
                  <c:v>0.433333333333</c:v>
                </c:pt>
                <c:pt idx="87">
                  <c:v>0.45</c:v>
                </c:pt>
                <c:pt idx="88">
                  <c:v>0.46666666666700002</c:v>
                </c:pt>
                <c:pt idx="89">
                  <c:v>0.48333333333299999</c:v>
                </c:pt>
                <c:pt idx="90">
                  <c:v>0.5</c:v>
                </c:pt>
                <c:pt idx="91">
                  <c:v>0.51666666666700001</c:v>
                </c:pt>
                <c:pt idx="92">
                  <c:v>0.53333333333300004</c:v>
                </c:pt>
                <c:pt idx="93">
                  <c:v>0.55000000000000004</c:v>
                </c:pt>
                <c:pt idx="94">
                  <c:v>0.56666666666700005</c:v>
                </c:pt>
                <c:pt idx="95">
                  <c:v>0.58333333333299997</c:v>
                </c:pt>
                <c:pt idx="96">
                  <c:v>0.6</c:v>
                </c:pt>
                <c:pt idx="97">
                  <c:v>0.61666666666699999</c:v>
                </c:pt>
                <c:pt idx="98">
                  <c:v>0.63333333333300001</c:v>
                </c:pt>
                <c:pt idx="99">
                  <c:v>0.65</c:v>
                </c:pt>
                <c:pt idx="100">
                  <c:v>0.66666666666700003</c:v>
                </c:pt>
                <c:pt idx="101">
                  <c:v>0.68333333333299995</c:v>
                </c:pt>
                <c:pt idx="102">
                  <c:v>0.7</c:v>
                </c:pt>
                <c:pt idx="103">
                  <c:v>0.71666666666699996</c:v>
                </c:pt>
                <c:pt idx="104">
                  <c:v>0.73333333333299999</c:v>
                </c:pt>
                <c:pt idx="105">
                  <c:v>0.75</c:v>
                </c:pt>
                <c:pt idx="106">
                  <c:v>0.76666666666700001</c:v>
                </c:pt>
                <c:pt idx="107">
                  <c:v>0.78333333333300004</c:v>
                </c:pt>
                <c:pt idx="108">
                  <c:v>0.8</c:v>
                </c:pt>
                <c:pt idx="109">
                  <c:v>0.81666666666700005</c:v>
                </c:pt>
                <c:pt idx="110">
                  <c:v>0.83333333333299997</c:v>
                </c:pt>
                <c:pt idx="111">
                  <c:v>0.85</c:v>
                </c:pt>
                <c:pt idx="112">
                  <c:v>0.86666666666699999</c:v>
                </c:pt>
                <c:pt idx="113">
                  <c:v>0.88333333333300001</c:v>
                </c:pt>
                <c:pt idx="114">
                  <c:v>0.9</c:v>
                </c:pt>
                <c:pt idx="115">
                  <c:v>0.91666666666700003</c:v>
                </c:pt>
                <c:pt idx="116">
                  <c:v>0.93333333333299995</c:v>
                </c:pt>
                <c:pt idx="117">
                  <c:v>0.95</c:v>
                </c:pt>
                <c:pt idx="118">
                  <c:v>0.96666666666699996</c:v>
                </c:pt>
                <c:pt idx="119">
                  <c:v>0.98333333333299999</c:v>
                </c:pt>
                <c:pt idx="120">
                  <c:v>1</c:v>
                </c:pt>
              </c:numCache>
            </c:numRef>
          </c:xVal>
          <c:yVal>
            <c:numRef>
              <c:f>'Chart Data'!$F$2:$F$122</c:f>
              <c:numCache>
                <c:formatCode>General</c:formatCode>
                <c:ptCount val="121"/>
                <c:pt idx="0">
                  <c:v>0</c:v>
                </c:pt>
                <c:pt idx="1">
                  <c:v>0.18181186857699999</c:v>
                </c:pt>
                <c:pt idx="2">
                  <c:v>0.256038191596</c:v>
                </c:pt>
                <c:pt idx="3">
                  <c:v>0.31224989992000002</c:v>
                </c:pt>
                <c:pt idx="4">
                  <c:v>0.35901098714200003</c:v>
                </c:pt>
                <c:pt idx="5">
                  <c:v>0.39965262694300002</c:v>
                </c:pt>
                <c:pt idx="6">
                  <c:v>0.435889894354</c:v>
                </c:pt>
                <c:pt idx="7">
                  <c:v>0.46874537034800001</c:v>
                </c:pt>
                <c:pt idx="8">
                  <c:v>0.49888765156999998</c:v>
                </c:pt>
                <c:pt idx="9">
                  <c:v>0.52678268764299996</c:v>
                </c:pt>
                <c:pt idx="10">
                  <c:v>0.55277079839300003</c:v>
                </c:pt>
                <c:pt idx="11">
                  <c:v>0.57710965643900003</c:v>
                </c:pt>
                <c:pt idx="12">
                  <c:v>0.6</c:v>
                </c:pt>
                <c:pt idx="13">
                  <c:v>0.62160187329899996</c:v>
                </c:pt>
                <c:pt idx="14">
                  <c:v>0.64204534280900005</c:v>
                </c:pt>
                <c:pt idx="15">
                  <c:v>0.66143782776600002</c:v>
                </c:pt>
                <c:pt idx="16">
                  <c:v>0.67986926847899998</c:v>
                </c:pt>
                <c:pt idx="17">
                  <c:v>0.69741586509700004</c:v>
                </c:pt>
                <c:pt idx="18">
                  <c:v>0.71414284285399998</c:v>
                </c:pt>
                <c:pt idx="19">
                  <c:v>0.73010653712700002</c:v>
                </c:pt>
                <c:pt idx="20">
                  <c:v>0.74535599249999995</c:v>
                </c:pt>
                <c:pt idx="21">
                  <c:v>0.759934207679</c:v>
                </c:pt>
                <c:pt idx="22">
                  <c:v>0.77387911774999996</c:v>
                </c:pt>
                <c:pt idx="23">
                  <c:v>0.78722437857500005</c:v>
                </c:pt>
                <c:pt idx="24">
                  <c:v>0.8</c:v>
                </c:pt>
                <c:pt idx="25">
                  <c:v>0.81223286206699996</c:v>
                </c:pt>
                <c:pt idx="26">
                  <c:v>0.82394713962099997</c:v>
                </c:pt>
                <c:pt idx="27">
                  <c:v>0.83516465442499999</c:v>
                </c:pt>
                <c:pt idx="28">
                  <c:v>0.84590516936299998</c:v>
                </c:pt>
                <c:pt idx="29">
                  <c:v>0.85618663593599997</c:v>
                </c:pt>
                <c:pt idx="30">
                  <c:v>0.86602540378399995</c:v>
                </c:pt>
                <c:pt idx="31">
                  <c:v>0.87543639911100002</c:v>
                </c:pt>
                <c:pt idx="32">
                  <c:v>0.88443327742800004</c:v>
                </c:pt>
                <c:pt idx="33">
                  <c:v>0.893028554975</c:v>
                </c:pt>
                <c:pt idx="34">
                  <c:v>0.90123372230599996</c:v>
                </c:pt>
                <c:pt idx="35">
                  <c:v>0.90905934288599999</c:v>
                </c:pt>
                <c:pt idx="36">
                  <c:v>0.91651513899100001</c:v>
                </c:pt>
                <c:pt idx="37">
                  <c:v>0.92361006683299995</c:v>
                </c:pt>
                <c:pt idx="38">
                  <c:v>0.93035238246399998</c:v>
                </c:pt>
                <c:pt idx="39">
                  <c:v>0.93674969976</c:v>
                </c:pt>
                <c:pt idx="40">
                  <c:v>0.94280904158199996</c:v>
                </c:pt>
                <c:pt idx="41">
                  <c:v>0.94853688500900002</c:v>
                </c:pt>
                <c:pt idx="42">
                  <c:v>0.95393920141699995</c:v>
                </c:pt>
                <c:pt idx="43">
                  <c:v>0.959021492054</c:v>
                </c:pt>
                <c:pt idx="44">
                  <c:v>0.96378881965300001</c:v>
                </c:pt>
                <c:pt idx="45">
                  <c:v>0.96824583655200003</c:v>
                </c:pt>
                <c:pt idx="46">
                  <c:v>0.97239680972099996</c:v>
                </c:pt>
                <c:pt idx="47">
                  <c:v>0.97624564304000006</c:v>
                </c:pt>
                <c:pt idx="48">
                  <c:v>0.97979589711299997</c:v>
                </c:pt>
                <c:pt idx="49">
                  <c:v>0.98305080687099999</c:v>
                </c:pt>
                <c:pt idx="50">
                  <c:v>0.98601329718300001</c:v>
                </c:pt>
                <c:pt idx="51">
                  <c:v>0.98868599666400003</c:v>
                </c:pt>
                <c:pt idx="52">
                  <c:v>0.99107124982100003</c:v>
                </c:pt>
                <c:pt idx="53">
                  <c:v>0.99317112769600002</c:v>
                </c:pt>
                <c:pt idx="54">
                  <c:v>0.99498743710699999</c:v>
                </c:pt>
                <c:pt idx="55">
                  <c:v>0.99652172859199994</c:v>
                </c:pt>
                <c:pt idx="56">
                  <c:v>0.99777530313999996</c:v>
                </c:pt>
                <c:pt idx="57">
                  <c:v>0.99874921777199999</c:v>
                </c:pt>
                <c:pt idx="58">
                  <c:v>0.99944429003799995</c:v>
                </c:pt>
                <c:pt idx="59">
                  <c:v>0.99986110146499996</c:v>
                </c:pt>
                <c:pt idx="60">
                  <c:v>1</c:v>
                </c:pt>
                <c:pt idx="61">
                  <c:v>0.99986110146499996</c:v>
                </c:pt>
                <c:pt idx="62">
                  <c:v>0.99944429003799995</c:v>
                </c:pt>
                <c:pt idx="63">
                  <c:v>0.99874921777199999</c:v>
                </c:pt>
                <c:pt idx="64">
                  <c:v>0.99777530313999996</c:v>
                </c:pt>
                <c:pt idx="65">
                  <c:v>0.99652172859199994</c:v>
                </c:pt>
                <c:pt idx="66">
                  <c:v>0.99498743710699999</c:v>
                </c:pt>
                <c:pt idx="67">
                  <c:v>0.99317112769600002</c:v>
                </c:pt>
                <c:pt idx="68">
                  <c:v>0.99107124982100003</c:v>
                </c:pt>
                <c:pt idx="69">
                  <c:v>0.98868599666400003</c:v>
                </c:pt>
                <c:pt idx="70">
                  <c:v>0.98601329718300001</c:v>
                </c:pt>
                <c:pt idx="71">
                  <c:v>0.98305080687099999</c:v>
                </c:pt>
                <c:pt idx="72">
                  <c:v>0.97979589711299997</c:v>
                </c:pt>
                <c:pt idx="73">
                  <c:v>0.97624564304000006</c:v>
                </c:pt>
                <c:pt idx="74">
                  <c:v>0.97239680972099996</c:v>
                </c:pt>
                <c:pt idx="75">
                  <c:v>0.96824583655200003</c:v>
                </c:pt>
                <c:pt idx="76">
                  <c:v>0.96378881965300001</c:v>
                </c:pt>
                <c:pt idx="77">
                  <c:v>0.959021492054</c:v>
                </c:pt>
                <c:pt idx="78">
                  <c:v>0.95393920141699995</c:v>
                </c:pt>
                <c:pt idx="79">
                  <c:v>0.94853688500900002</c:v>
                </c:pt>
                <c:pt idx="80">
                  <c:v>0.94280904158199996</c:v>
                </c:pt>
                <c:pt idx="81">
                  <c:v>0.93674969976</c:v>
                </c:pt>
                <c:pt idx="82">
                  <c:v>0.93035238246399998</c:v>
                </c:pt>
                <c:pt idx="83">
                  <c:v>0.92361006683299995</c:v>
                </c:pt>
                <c:pt idx="84">
                  <c:v>0.91651513899100001</c:v>
                </c:pt>
                <c:pt idx="85">
                  <c:v>0.90905934288599999</c:v>
                </c:pt>
                <c:pt idx="86">
                  <c:v>0.90123372230599996</c:v>
                </c:pt>
                <c:pt idx="87">
                  <c:v>0.893028554975</c:v>
                </c:pt>
                <c:pt idx="88">
                  <c:v>0.88443327742800004</c:v>
                </c:pt>
                <c:pt idx="89">
                  <c:v>0.87543639911100002</c:v>
                </c:pt>
                <c:pt idx="90">
                  <c:v>0.86602540378399995</c:v>
                </c:pt>
                <c:pt idx="91">
                  <c:v>0.85618663593599997</c:v>
                </c:pt>
                <c:pt idx="92">
                  <c:v>0.84590516936299998</c:v>
                </c:pt>
                <c:pt idx="93">
                  <c:v>0.83516465442499999</c:v>
                </c:pt>
                <c:pt idx="94">
                  <c:v>0.82394713962099997</c:v>
                </c:pt>
                <c:pt idx="95">
                  <c:v>0.81223286206699996</c:v>
                </c:pt>
                <c:pt idx="96">
                  <c:v>0.8</c:v>
                </c:pt>
                <c:pt idx="97">
                  <c:v>0.78722437857500005</c:v>
                </c:pt>
                <c:pt idx="98">
                  <c:v>0.77387911774999996</c:v>
                </c:pt>
                <c:pt idx="99">
                  <c:v>0.759934207679</c:v>
                </c:pt>
                <c:pt idx="100">
                  <c:v>0.74535599249999995</c:v>
                </c:pt>
                <c:pt idx="101">
                  <c:v>0.73010653712700002</c:v>
                </c:pt>
                <c:pt idx="102">
                  <c:v>0.71414284285399998</c:v>
                </c:pt>
                <c:pt idx="103">
                  <c:v>0.69741586509700004</c:v>
                </c:pt>
                <c:pt idx="104">
                  <c:v>0.67986926847899998</c:v>
                </c:pt>
                <c:pt idx="105">
                  <c:v>0.66143782776600002</c:v>
                </c:pt>
                <c:pt idx="106">
                  <c:v>0.64204534280900005</c:v>
                </c:pt>
                <c:pt idx="107">
                  <c:v>0.62160187329899996</c:v>
                </c:pt>
                <c:pt idx="108">
                  <c:v>0.6</c:v>
                </c:pt>
                <c:pt idx="109">
                  <c:v>0.57710965643900003</c:v>
                </c:pt>
                <c:pt idx="110">
                  <c:v>0.55277079839300003</c:v>
                </c:pt>
                <c:pt idx="111">
                  <c:v>0.52678268764299996</c:v>
                </c:pt>
                <c:pt idx="112">
                  <c:v>0.49888765156999998</c:v>
                </c:pt>
                <c:pt idx="113">
                  <c:v>0.46874537034800001</c:v>
                </c:pt>
                <c:pt idx="114">
                  <c:v>0.435889894354</c:v>
                </c:pt>
                <c:pt idx="115">
                  <c:v>0.39965262694300002</c:v>
                </c:pt>
                <c:pt idx="116">
                  <c:v>0.35901098714200003</c:v>
                </c:pt>
                <c:pt idx="117">
                  <c:v>0.31224989992000002</c:v>
                </c:pt>
                <c:pt idx="118">
                  <c:v>0.256038191596</c:v>
                </c:pt>
                <c:pt idx="119">
                  <c:v>0.18181186857699999</c:v>
                </c:pt>
                <c:pt idx="120">
                  <c:v>0</c:v>
                </c:pt>
              </c:numCache>
            </c:numRef>
          </c:yVal>
          <c:smooth val="1"/>
          <c:extLst>
            <c:ext xmlns:c16="http://schemas.microsoft.com/office/drawing/2014/chart" uri="{C3380CC4-5D6E-409C-BE32-E72D297353CC}">
              <c16:uniqueId val="{00000002-0FF8-47B7-9353-B7EED5F7BAF9}"/>
            </c:ext>
          </c:extLst>
        </c:ser>
        <c:ser>
          <c:idx val="3"/>
          <c:order val="3"/>
          <c:tx>
            <c:v>Circle boundary lower</c:v>
          </c:tx>
          <c:spPr>
            <a:ln w="21908">
              <a:solidFill>
                <a:srgbClr val="526171"/>
              </a:solidFill>
            </a:ln>
          </c:spPr>
          <c:marker>
            <c:symbol val="none"/>
          </c:marker>
          <c:xVal>
            <c:numRef>
              <c:f>'Chart Data'!$G$2:$G$122</c:f>
              <c:numCache>
                <c:formatCode>General</c:formatCode>
                <c:ptCount val="121"/>
                <c:pt idx="0">
                  <c:v>-1</c:v>
                </c:pt>
                <c:pt idx="1">
                  <c:v>-0.98333333333299999</c:v>
                </c:pt>
                <c:pt idx="2">
                  <c:v>-0.96666666666699996</c:v>
                </c:pt>
                <c:pt idx="3">
                  <c:v>-0.95</c:v>
                </c:pt>
                <c:pt idx="4">
                  <c:v>-0.93333333333299995</c:v>
                </c:pt>
                <c:pt idx="5">
                  <c:v>-0.91666666666700003</c:v>
                </c:pt>
                <c:pt idx="6">
                  <c:v>-0.9</c:v>
                </c:pt>
                <c:pt idx="7">
                  <c:v>-0.88333333333300001</c:v>
                </c:pt>
                <c:pt idx="8">
                  <c:v>-0.86666666666699999</c:v>
                </c:pt>
                <c:pt idx="9">
                  <c:v>-0.85</c:v>
                </c:pt>
                <c:pt idx="10">
                  <c:v>-0.83333333333299997</c:v>
                </c:pt>
                <c:pt idx="11">
                  <c:v>-0.81666666666700005</c:v>
                </c:pt>
                <c:pt idx="12">
                  <c:v>-0.8</c:v>
                </c:pt>
                <c:pt idx="13">
                  <c:v>-0.78333333333300004</c:v>
                </c:pt>
                <c:pt idx="14">
                  <c:v>-0.76666666666700001</c:v>
                </c:pt>
                <c:pt idx="15">
                  <c:v>-0.75</c:v>
                </c:pt>
                <c:pt idx="16">
                  <c:v>-0.73333333333299999</c:v>
                </c:pt>
                <c:pt idx="17">
                  <c:v>-0.71666666666699996</c:v>
                </c:pt>
                <c:pt idx="18">
                  <c:v>-0.7</c:v>
                </c:pt>
                <c:pt idx="19">
                  <c:v>-0.68333333333299995</c:v>
                </c:pt>
                <c:pt idx="20">
                  <c:v>-0.66666666666700003</c:v>
                </c:pt>
                <c:pt idx="21">
                  <c:v>-0.65</c:v>
                </c:pt>
                <c:pt idx="22">
                  <c:v>-0.63333333333300001</c:v>
                </c:pt>
                <c:pt idx="23">
                  <c:v>-0.61666666666699999</c:v>
                </c:pt>
                <c:pt idx="24">
                  <c:v>-0.6</c:v>
                </c:pt>
                <c:pt idx="25">
                  <c:v>-0.58333333333299997</c:v>
                </c:pt>
                <c:pt idx="26">
                  <c:v>-0.56666666666700005</c:v>
                </c:pt>
                <c:pt idx="27">
                  <c:v>-0.55000000000000004</c:v>
                </c:pt>
                <c:pt idx="28">
                  <c:v>-0.53333333333300004</c:v>
                </c:pt>
                <c:pt idx="29">
                  <c:v>-0.51666666666700001</c:v>
                </c:pt>
                <c:pt idx="30">
                  <c:v>-0.5</c:v>
                </c:pt>
                <c:pt idx="31">
                  <c:v>-0.48333333333299999</c:v>
                </c:pt>
                <c:pt idx="32">
                  <c:v>-0.46666666666700002</c:v>
                </c:pt>
                <c:pt idx="33">
                  <c:v>-0.45</c:v>
                </c:pt>
                <c:pt idx="34">
                  <c:v>-0.433333333333</c:v>
                </c:pt>
                <c:pt idx="35">
                  <c:v>-0.41666666666699997</c:v>
                </c:pt>
                <c:pt idx="36">
                  <c:v>-0.4</c:v>
                </c:pt>
                <c:pt idx="37">
                  <c:v>-0.38333333333300001</c:v>
                </c:pt>
                <c:pt idx="38">
                  <c:v>-0.36666666666699999</c:v>
                </c:pt>
                <c:pt idx="39">
                  <c:v>-0.35</c:v>
                </c:pt>
                <c:pt idx="40">
                  <c:v>-0.33333333333300003</c:v>
                </c:pt>
                <c:pt idx="41">
                  <c:v>-0.316666666667</c:v>
                </c:pt>
                <c:pt idx="42">
                  <c:v>-0.3</c:v>
                </c:pt>
                <c:pt idx="43">
                  <c:v>-0.28333333333299998</c:v>
                </c:pt>
                <c:pt idx="44">
                  <c:v>-0.26666666666700001</c:v>
                </c:pt>
                <c:pt idx="45">
                  <c:v>-0.25</c:v>
                </c:pt>
                <c:pt idx="46">
                  <c:v>-0.23333333333299999</c:v>
                </c:pt>
                <c:pt idx="47">
                  <c:v>-0.21666666666699999</c:v>
                </c:pt>
                <c:pt idx="48">
                  <c:v>-0.2</c:v>
                </c:pt>
                <c:pt idx="49">
                  <c:v>-0.183333333333</c:v>
                </c:pt>
                <c:pt idx="50">
                  <c:v>-0.166666666667</c:v>
                </c:pt>
                <c:pt idx="51">
                  <c:v>-0.15</c:v>
                </c:pt>
                <c:pt idx="52">
                  <c:v>-0.13333333333299999</c:v>
                </c:pt>
                <c:pt idx="53">
                  <c:v>-0.116666666667</c:v>
                </c:pt>
                <c:pt idx="54">
                  <c:v>-0.1</c:v>
                </c:pt>
                <c:pt idx="55">
                  <c:v>-8.3333333332999998E-2</c:v>
                </c:pt>
                <c:pt idx="56">
                  <c:v>-6.6666666666999996E-2</c:v>
                </c:pt>
                <c:pt idx="57">
                  <c:v>-0.05</c:v>
                </c:pt>
                <c:pt idx="58">
                  <c:v>-3.3333333333000002E-2</c:v>
                </c:pt>
                <c:pt idx="59">
                  <c:v>-1.6666666667E-2</c:v>
                </c:pt>
                <c:pt idx="60">
                  <c:v>0</c:v>
                </c:pt>
                <c:pt idx="61">
                  <c:v>1.6666666667E-2</c:v>
                </c:pt>
                <c:pt idx="62">
                  <c:v>3.3333333333000002E-2</c:v>
                </c:pt>
                <c:pt idx="63">
                  <c:v>0.05</c:v>
                </c:pt>
                <c:pt idx="64">
                  <c:v>6.6666666666999996E-2</c:v>
                </c:pt>
                <c:pt idx="65">
                  <c:v>8.3333333332999998E-2</c:v>
                </c:pt>
                <c:pt idx="66">
                  <c:v>0.1</c:v>
                </c:pt>
                <c:pt idx="67">
                  <c:v>0.116666666667</c:v>
                </c:pt>
                <c:pt idx="68">
                  <c:v>0.13333333333299999</c:v>
                </c:pt>
                <c:pt idx="69">
                  <c:v>0.15</c:v>
                </c:pt>
                <c:pt idx="70">
                  <c:v>0.166666666667</c:v>
                </c:pt>
                <c:pt idx="71">
                  <c:v>0.183333333333</c:v>
                </c:pt>
                <c:pt idx="72">
                  <c:v>0.2</c:v>
                </c:pt>
                <c:pt idx="73">
                  <c:v>0.21666666666699999</c:v>
                </c:pt>
                <c:pt idx="74">
                  <c:v>0.23333333333299999</c:v>
                </c:pt>
                <c:pt idx="75">
                  <c:v>0.25</c:v>
                </c:pt>
                <c:pt idx="76">
                  <c:v>0.26666666666700001</c:v>
                </c:pt>
                <c:pt idx="77">
                  <c:v>0.28333333333299998</c:v>
                </c:pt>
                <c:pt idx="78">
                  <c:v>0.3</c:v>
                </c:pt>
                <c:pt idx="79">
                  <c:v>0.316666666667</c:v>
                </c:pt>
                <c:pt idx="80">
                  <c:v>0.33333333333300003</c:v>
                </c:pt>
                <c:pt idx="81">
                  <c:v>0.35</c:v>
                </c:pt>
                <c:pt idx="82">
                  <c:v>0.36666666666699999</c:v>
                </c:pt>
                <c:pt idx="83">
                  <c:v>0.38333333333300001</c:v>
                </c:pt>
                <c:pt idx="84">
                  <c:v>0.4</c:v>
                </c:pt>
                <c:pt idx="85">
                  <c:v>0.41666666666699997</c:v>
                </c:pt>
                <c:pt idx="86">
                  <c:v>0.433333333333</c:v>
                </c:pt>
                <c:pt idx="87">
                  <c:v>0.45</c:v>
                </c:pt>
                <c:pt idx="88">
                  <c:v>0.46666666666700002</c:v>
                </c:pt>
                <c:pt idx="89">
                  <c:v>0.48333333333299999</c:v>
                </c:pt>
                <c:pt idx="90">
                  <c:v>0.5</c:v>
                </c:pt>
                <c:pt idx="91">
                  <c:v>0.51666666666700001</c:v>
                </c:pt>
                <c:pt idx="92">
                  <c:v>0.53333333333300004</c:v>
                </c:pt>
                <c:pt idx="93">
                  <c:v>0.55000000000000004</c:v>
                </c:pt>
                <c:pt idx="94">
                  <c:v>0.56666666666700005</c:v>
                </c:pt>
                <c:pt idx="95">
                  <c:v>0.58333333333299997</c:v>
                </c:pt>
                <c:pt idx="96">
                  <c:v>0.6</c:v>
                </c:pt>
                <c:pt idx="97">
                  <c:v>0.61666666666699999</c:v>
                </c:pt>
                <c:pt idx="98">
                  <c:v>0.63333333333300001</c:v>
                </c:pt>
                <c:pt idx="99">
                  <c:v>0.65</c:v>
                </c:pt>
                <c:pt idx="100">
                  <c:v>0.66666666666700003</c:v>
                </c:pt>
                <c:pt idx="101">
                  <c:v>0.68333333333299995</c:v>
                </c:pt>
                <c:pt idx="102">
                  <c:v>0.7</c:v>
                </c:pt>
                <c:pt idx="103">
                  <c:v>0.71666666666699996</c:v>
                </c:pt>
                <c:pt idx="104">
                  <c:v>0.73333333333299999</c:v>
                </c:pt>
                <c:pt idx="105">
                  <c:v>0.75</c:v>
                </c:pt>
                <c:pt idx="106">
                  <c:v>0.76666666666700001</c:v>
                </c:pt>
                <c:pt idx="107">
                  <c:v>0.78333333333300004</c:v>
                </c:pt>
                <c:pt idx="108">
                  <c:v>0.8</c:v>
                </c:pt>
                <c:pt idx="109">
                  <c:v>0.81666666666700005</c:v>
                </c:pt>
                <c:pt idx="110">
                  <c:v>0.83333333333299997</c:v>
                </c:pt>
                <c:pt idx="111">
                  <c:v>0.85</c:v>
                </c:pt>
                <c:pt idx="112">
                  <c:v>0.86666666666699999</c:v>
                </c:pt>
                <c:pt idx="113">
                  <c:v>0.88333333333300001</c:v>
                </c:pt>
                <c:pt idx="114">
                  <c:v>0.9</c:v>
                </c:pt>
                <c:pt idx="115">
                  <c:v>0.91666666666700003</c:v>
                </c:pt>
                <c:pt idx="116">
                  <c:v>0.93333333333299995</c:v>
                </c:pt>
                <c:pt idx="117">
                  <c:v>0.95</c:v>
                </c:pt>
                <c:pt idx="118">
                  <c:v>0.96666666666699996</c:v>
                </c:pt>
                <c:pt idx="119">
                  <c:v>0.98333333333299999</c:v>
                </c:pt>
                <c:pt idx="120">
                  <c:v>1</c:v>
                </c:pt>
              </c:numCache>
            </c:numRef>
          </c:xVal>
          <c:yVal>
            <c:numRef>
              <c:f>'Chart Data'!$H$2:$H$122</c:f>
              <c:numCache>
                <c:formatCode>General</c:formatCode>
                <c:ptCount val="121"/>
                <c:pt idx="0">
                  <c:v>0</c:v>
                </c:pt>
                <c:pt idx="1">
                  <c:v>-0.18181186857699999</c:v>
                </c:pt>
                <c:pt idx="2">
                  <c:v>-0.256038191596</c:v>
                </c:pt>
                <c:pt idx="3">
                  <c:v>-0.31224989992000002</c:v>
                </c:pt>
                <c:pt idx="4">
                  <c:v>-0.35901098714200003</c:v>
                </c:pt>
                <c:pt idx="5">
                  <c:v>-0.39965262694300002</c:v>
                </c:pt>
                <c:pt idx="6">
                  <c:v>-0.435889894354</c:v>
                </c:pt>
                <c:pt idx="7">
                  <c:v>-0.46874537034800001</c:v>
                </c:pt>
                <c:pt idx="8">
                  <c:v>-0.49888765156999998</c:v>
                </c:pt>
                <c:pt idx="9">
                  <c:v>-0.52678268764299996</c:v>
                </c:pt>
                <c:pt idx="10">
                  <c:v>-0.55277079839300003</c:v>
                </c:pt>
                <c:pt idx="11">
                  <c:v>-0.57710965643900003</c:v>
                </c:pt>
                <c:pt idx="12">
                  <c:v>-0.6</c:v>
                </c:pt>
                <c:pt idx="13">
                  <c:v>-0.62160187329899996</c:v>
                </c:pt>
                <c:pt idx="14">
                  <c:v>-0.64204534280900005</c:v>
                </c:pt>
                <c:pt idx="15">
                  <c:v>-0.66143782776600002</c:v>
                </c:pt>
                <c:pt idx="16">
                  <c:v>-0.67986926847899998</c:v>
                </c:pt>
                <c:pt idx="17">
                  <c:v>-0.69741586509700004</c:v>
                </c:pt>
                <c:pt idx="18">
                  <c:v>-0.71414284285399998</c:v>
                </c:pt>
                <c:pt idx="19">
                  <c:v>-0.73010653712700002</c:v>
                </c:pt>
                <c:pt idx="20">
                  <c:v>-0.74535599249999995</c:v>
                </c:pt>
                <c:pt idx="21">
                  <c:v>-0.759934207679</c:v>
                </c:pt>
                <c:pt idx="22">
                  <c:v>-0.77387911774999996</c:v>
                </c:pt>
                <c:pt idx="23">
                  <c:v>-0.78722437857500005</c:v>
                </c:pt>
                <c:pt idx="24">
                  <c:v>-0.8</c:v>
                </c:pt>
                <c:pt idx="25">
                  <c:v>-0.81223286206699996</c:v>
                </c:pt>
                <c:pt idx="26">
                  <c:v>-0.82394713962099997</c:v>
                </c:pt>
                <c:pt idx="27">
                  <c:v>-0.83516465442499999</c:v>
                </c:pt>
                <c:pt idx="28">
                  <c:v>-0.84590516936299998</c:v>
                </c:pt>
                <c:pt idx="29">
                  <c:v>-0.85618663593599997</c:v>
                </c:pt>
                <c:pt idx="30">
                  <c:v>-0.86602540378399995</c:v>
                </c:pt>
                <c:pt idx="31">
                  <c:v>-0.87543639911100002</c:v>
                </c:pt>
                <c:pt idx="32">
                  <c:v>-0.88443327742800004</c:v>
                </c:pt>
                <c:pt idx="33">
                  <c:v>-0.893028554975</c:v>
                </c:pt>
                <c:pt idx="34">
                  <c:v>-0.90123372230599996</c:v>
                </c:pt>
                <c:pt idx="35">
                  <c:v>-0.90905934288599999</c:v>
                </c:pt>
                <c:pt idx="36">
                  <c:v>-0.91651513899100001</c:v>
                </c:pt>
                <c:pt idx="37">
                  <c:v>-0.92361006683299995</c:v>
                </c:pt>
                <c:pt idx="38">
                  <c:v>-0.93035238246399998</c:v>
                </c:pt>
                <c:pt idx="39">
                  <c:v>-0.93674969976</c:v>
                </c:pt>
                <c:pt idx="40">
                  <c:v>-0.94280904158199996</c:v>
                </c:pt>
                <c:pt idx="41">
                  <c:v>-0.94853688500900002</c:v>
                </c:pt>
                <c:pt idx="42">
                  <c:v>-0.95393920141699995</c:v>
                </c:pt>
                <c:pt idx="43">
                  <c:v>-0.959021492054</c:v>
                </c:pt>
                <c:pt idx="44">
                  <c:v>-0.96378881965300001</c:v>
                </c:pt>
                <c:pt idx="45">
                  <c:v>-0.96824583655200003</c:v>
                </c:pt>
                <c:pt idx="46">
                  <c:v>-0.97239680972099996</c:v>
                </c:pt>
                <c:pt idx="47">
                  <c:v>-0.97624564304000006</c:v>
                </c:pt>
                <c:pt idx="48">
                  <c:v>-0.97979589711299997</c:v>
                </c:pt>
                <c:pt idx="49">
                  <c:v>-0.98305080687099999</c:v>
                </c:pt>
                <c:pt idx="50">
                  <c:v>-0.98601329718300001</c:v>
                </c:pt>
                <c:pt idx="51">
                  <c:v>-0.98868599666400003</c:v>
                </c:pt>
                <c:pt idx="52">
                  <c:v>-0.99107124982100003</c:v>
                </c:pt>
                <c:pt idx="53">
                  <c:v>-0.99317112769600002</c:v>
                </c:pt>
                <c:pt idx="54">
                  <c:v>-0.99498743710699999</c:v>
                </c:pt>
                <c:pt idx="55">
                  <c:v>-0.99652172859199994</c:v>
                </c:pt>
                <c:pt idx="56">
                  <c:v>-0.99777530313999996</c:v>
                </c:pt>
                <c:pt idx="57">
                  <c:v>-0.99874921777199999</c:v>
                </c:pt>
                <c:pt idx="58">
                  <c:v>-0.99944429003799995</c:v>
                </c:pt>
                <c:pt idx="59">
                  <c:v>-0.99986110146499996</c:v>
                </c:pt>
                <c:pt idx="60">
                  <c:v>-1</c:v>
                </c:pt>
                <c:pt idx="61">
                  <c:v>-0.99986110146499996</c:v>
                </c:pt>
                <c:pt idx="62">
                  <c:v>-0.99944429003799995</c:v>
                </c:pt>
                <c:pt idx="63">
                  <c:v>-0.99874921777199999</c:v>
                </c:pt>
                <c:pt idx="64">
                  <c:v>-0.99777530313999996</c:v>
                </c:pt>
                <c:pt idx="65">
                  <c:v>-0.99652172859199994</c:v>
                </c:pt>
                <c:pt idx="66">
                  <c:v>-0.99498743710699999</c:v>
                </c:pt>
                <c:pt idx="67">
                  <c:v>-0.99317112769600002</c:v>
                </c:pt>
                <c:pt idx="68">
                  <c:v>-0.99107124982100003</c:v>
                </c:pt>
                <c:pt idx="69">
                  <c:v>-0.98868599666400003</c:v>
                </c:pt>
                <c:pt idx="70">
                  <c:v>-0.98601329718300001</c:v>
                </c:pt>
                <c:pt idx="71">
                  <c:v>-0.98305080687099999</c:v>
                </c:pt>
                <c:pt idx="72">
                  <c:v>-0.97979589711299997</c:v>
                </c:pt>
                <c:pt idx="73">
                  <c:v>-0.97624564304000006</c:v>
                </c:pt>
                <c:pt idx="74">
                  <c:v>-0.97239680972099996</c:v>
                </c:pt>
                <c:pt idx="75">
                  <c:v>-0.96824583655200003</c:v>
                </c:pt>
                <c:pt idx="76">
                  <c:v>-0.96378881965300001</c:v>
                </c:pt>
                <c:pt idx="77">
                  <c:v>-0.959021492054</c:v>
                </c:pt>
                <c:pt idx="78">
                  <c:v>-0.95393920141699995</c:v>
                </c:pt>
                <c:pt idx="79">
                  <c:v>-0.94853688500900002</c:v>
                </c:pt>
                <c:pt idx="80">
                  <c:v>-0.94280904158199996</c:v>
                </c:pt>
                <c:pt idx="81">
                  <c:v>-0.93674969976</c:v>
                </c:pt>
                <c:pt idx="82">
                  <c:v>-0.93035238246399998</c:v>
                </c:pt>
                <c:pt idx="83">
                  <c:v>-0.92361006683299995</c:v>
                </c:pt>
                <c:pt idx="84">
                  <c:v>-0.91651513899100001</c:v>
                </c:pt>
                <c:pt idx="85">
                  <c:v>-0.90905934288599999</c:v>
                </c:pt>
                <c:pt idx="86">
                  <c:v>-0.90123372230599996</c:v>
                </c:pt>
                <c:pt idx="87">
                  <c:v>-0.893028554975</c:v>
                </c:pt>
                <c:pt idx="88">
                  <c:v>-0.88443327742800004</c:v>
                </c:pt>
                <c:pt idx="89">
                  <c:v>-0.87543639911100002</c:v>
                </c:pt>
                <c:pt idx="90">
                  <c:v>-0.86602540378399995</c:v>
                </c:pt>
                <c:pt idx="91">
                  <c:v>-0.85618663593599997</c:v>
                </c:pt>
                <c:pt idx="92">
                  <c:v>-0.84590516936299998</c:v>
                </c:pt>
                <c:pt idx="93">
                  <c:v>-0.83516465442499999</c:v>
                </c:pt>
                <c:pt idx="94">
                  <c:v>-0.82394713962099997</c:v>
                </c:pt>
                <c:pt idx="95">
                  <c:v>-0.81223286206699996</c:v>
                </c:pt>
                <c:pt idx="96">
                  <c:v>-0.8</c:v>
                </c:pt>
                <c:pt idx="97">
                  <c:v>-0.78722437857500005</c:v>
                </c:pt>
                <c:pt idx="98">
                  <c:v>-0.77387911774999996</c:v>
                </c:pt>
                <c:pt idx="99">
                  <c:v>-0.759934207679</c:v>
                </c:pt>
                <c:pt idx="100">
                  <c:v>-0.74535599249999995</c:v>
                </c:pt>
                <c:pt idx="101">
                  <c:v>-0.73010653712700002</c:v>
                </c:pt>
                <c:pt idx="102">
                  <c:v>-0.71414284285399998</c:v>
                </c:pt>
                <c:pt idx="103">
                  <c:v>-0.69741586509700004</c:v>
                </c:pt>
                <c:pt idx="104">
                  <c:v>-0.67986926847899998</c:v>
                </c:pt>
                <c:pt idx="105">
                  <c:v>-0.66143782776600002</c:v>
                </c:pt>
                <c:pt idx="106">
                  <c:v>-0.64204534280900005</c:v>
                </c:pt>
                <c:pt idx="107">
                  <c:v>-0.62160187329899996</c:v>
                </c:pt>
                <c:pt idx="108">
                  <c:v>-0.6</c:v>
                </c:pt>
                <c:pt idx="109">
                  <c:v>-0.57710965643900003</c:v>
                </c:pt>
                <c:pt idx="110">
                  <c:v>-0.55277079839300003</c:v>
                </c:pt>
                <c:pt idx="111">
                  <c:v>-0.52678268764299996</c:v>
                </c:pt>
                <c:pt idx="112">
                  <c:v>-0.49888765156999998</c:v>
                </c:pt>
                <c:pt idx="113">
                  <c:v>-0.46874537034800001</c:v>
                </c:pt>
                <c:pt idx="114">
                  <c:v>-0.435889894354</c:v>
                </c:pt>
                <c:pt idx="115">
                  <c:v>-0.39965262694300002</c:v>
                </c:pt>
                <c:pt idx="116">
                  <c:v>-0.35901098714200003</c:v>
                </c:pt>
                <c:pt idx="117">
                  <c:v>-0.31224989992000002</c:v>
                </c:pt>
                <c:pt idx="118">
                  <c:v>-0.256038191596</c:v>
                </c:pt>
                <c:pt idx="119">
                  <c:v>-0.18181186857699999</c:v>
                </c:pt>
                <c:pt idx="120">
                  <c:v>0</c:v>
                </c:pt>
              </c:numCache>
            </c:numRef>
          </c:yVal>
          <c:smooth val="1"/>
          <c:extLst>
            <c:ext xmlns:c16="http://schemas.microsoft.com/office/drawing/2014/chart" uri="{C3380CC4-5D6E-409C-BE32-E72D297353CC}">
              <c16:uniqueId val="{00000003-0FF8-47B7-9353-B7EED5F7BAF9}"/>
            </c:ext>
          </c:extLst>
        </c:ser>
        <c:dLbls>
          <c:showLegendKey val="0"/>
          <c:showVal val="0"/>
          <c:showCatName val="0"/>
          <c:showSerName val="0"/>
          <c:showPercent val="0"/>
          <c:showBubbleSize val="0"/>
        </c:dLbls>
        <c:axId val="48650112"/>
        <c:axId val="48672768"/>
      </c:scatterChart>
      <c:valAx>
        <c:axId val="48672768"/>
        <c:scaling>
          <c:orientation val="minMax"/>
          <c:max val="1"/>
          <c:min val="-1"/>
        </c:scaling>
        <c:delete val="0"/>
        <c:axPos val="l"/>
        <c:majorGridlines>
          <c:spPr>
            <a:ln w="6668">
              <a:solidFill>
                <a:srgbClr val="DDE5EC"/>
              </a:solidFill>
            </a:ln>
          </c:spPr>
        </c:majorGridlines>
        <c:title>
          <c:tx>
            <c:rich>
              <a:bodyPr/>
              <a:lstStyle/>
              <a:p>
                <a:r>
                  <a:rPr lang="en-GB">
                    <a:latin typeface="Aptos"/>
                    <a:ea typeface="Aptos"/>
                    <a:cs typeface="Aptos"/>
                  </a:rPr>
                  <a:t>V</a:t>
                </a:r>
              </a:p>
            </c:rich>
          </c:tx>
          <c:overlay val="0"/>
        </c:title>
        <c:numFmt formatCode="General" sourceLinked="1"/>
        <c:majorTickMark val="none"/>
        <c:minorTickMark val="none"/>
        <c:tickLblPos val="nextTo"/>
        <c:spPr>
          <a:ln w="9525">
            <a:solidFill>
              <a:srgbClr val="526171"/>
            </a:solidFill>
          </a:ln>
        </c:spPr>
        <c:txPr>
          <a:bodyPr anchorCtr="1"/>
          <a:lstStyle/>
          <a:p>
            <a:pPr>
              <a:defRPr sz="1575">
                <a:solidFill>
                  <a:srgbClr val="526171"/>
                </a:solidFill>
                <a:latin typeface="Aptos"/>
                <a:ea typeface="Aptos"/>
                <a:cs typeface="Aptos"/>
              </a:defRPr>
            </a:pPr>
            <a:endParaRPr lang="en-US"/>
          </a:p>
        </c:txPr>
        <c:crossAx val="48650112"/>
        <c:crossesAt val="-1"/>
        <c:crossBetween val="midCat"/>
        <c:majorUnit val="1"/>
      </c:valAx>
      <c:valAx>
        <c:axId val="48650112"/>
        <c:scaling>
          <c:orientation val="minMax"/>
          <c:max val="1"/>
          <c:min val="-1"/>
        </c:scaling>
        <c:delete val="0"/>
        <c:axPos val="b"/>
        <c:title>
          <c:tx>
            <c:rich>
              <a:bodyPr/>
              <a:lstStyle/>
              <a:p>
                <a:r>
                  <a:rPr lang="en-GB">
                    <a:latin typeface="Aptos"/>
                    <a:ea typeface="Aptos"/>
                    <a:cs typeface="Aptos"/>
                  </a:rPr>
                  <a:t>U</a:t>
                </a:r>
              </a:p>
            </c:rich>
          </c:tx>
          <c:overlay val="0"/>
        </c:title>
        <c:numFmt formatCode="General" sourceLinked="1"/>
        <c:majorTickMark val="none"/>
        <c:minorTickMark val="none"/>
        <c:tickLblPos val="nextTo"/>
        <c:spPr>
          <a:ln w="9525">
            <a:solidFill>
              <a:srgbClr val="526171"/>
            </a:solidFill>
          </a:ln>
        </c:spPr>
        <c:txPr>
          <a:bodyPr anchorCtr="1"/>
          <a:lstStyle/>
          <a:p>
            <a:pPr>
              <a:defRPr sz="1575">
                <a:solidFill>
                  <a:srgbClr val="526171"/>
                </a:solidFill>
                <a:latin typeface="Aptos"/>
                <a:ea typeface="Aptos"/>
                <a:cs typeface="Aptos"/>
              </a:defRPr>
            </a:pPr>
            <a:endParaRPr lang="en-US"/>
          </a:p>
        </c:txPr>
        <c:crossAx val="48672768"/>
        <c:crossesAt val="-1"/>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session assumes only SMP Sessions 1–5. We begin with a warehouse model, define independent samples and repeated simulations, and build Monte Carlo estimates. The law of large numbers and central limit theorem are new material here. We teach each before applying it. We then introduce standard errors and explain normal coverage before constructing uncertainty intervals. The later examples apply the same method to an expectation, an area and an integral. Use the new derivation slides as short board discussions.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available background is expectation and variance from Sessions 2–3, normal standardisation from Session 4, and independence, covariance and sums from Session 5. The sampling framework, estimators, LLN, CLT, Monte Carlo standard errors and intervals are introduced in this session. Use the table as a route through the practical question. No prior STA course is assumed.</a:t>
            </a:r>
          </a:p>
          <a:p>
            <a:r>
              <a:t>Notebook preparation. Before class, restart the notebook kernel and run all cells once. Keep that kernel running while navigating in slide order. The notebook index contains links to each labelled demonstration. Optional cues may be skipped.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this as a model, not as observed data. Each morning has 50 orders. For every order, the model says that 1 item occurs with probability 0.60, 2 items with probability 0.30, and 6 items with probability 0.10. We also assume orders are independent. Capacity is 110 items. The question is the probability that the total number of items for the 50 orders is at most 110.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table shows one possible morning. Thirty-one one-item orders, fourteen two-item orders, and five six-item orders give 89 items in total. Since 89 is below capacity, record a 1 for this morning. Stress that a trial is the whole morning. One order is an input into the trial. Later, when we estimate the probability of coping, one morning produces one indicator value.</a:t>
            </a:r>
          </a:p>
          <a:p>
            <a:r>
              <a:t>Notebook demonstration. One simulated morning. The slide shows an illustrative batch. This cell generates a real simulated batch, so its counts need not match the slide. Return to Slide 5. Matching code cells: core-005.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bag analogy. Imagine a bag with 100 tickets: 60 say one item, 30 say two items, and 10 say six items. Draw one ticket, replace it, and repeat 50 times. Replacing the ticket keeps the probabilities fixed. The computer uses a random number generator to do the equivalent. It does not force every morning to contain exactly 30, 15, and 5 orders of the three sizes.</a:t>
            </a:r>
          </a:p>
          <a:p>
            <a:r>
              <a:t>Notebook demonstration. Where the randomness comes from.  Return to Slide 6. Matching code cells: core-008.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expected order size is 1.8 items. By linearity of expectation, the expected total for 50 orders is 90. Expected does not mean guaranteed, typical in every morning, or a target imposed on the simulation. The calculation tells us the long-run average of many morning totals. Independence is not needed for this expectation calculation, although it matters when we calculate variance and simulate the model.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students whether knowing the average total of 90 settles the capacity question. It does not. Two mornings with 60 and 120 items have average 90, but one exceeds capacity. We need the distribution of the total, not just its mean. This is the key reason that the fraction of simulated mornings below 110 can approach about 96.8 percent while the average workload approaches 90 items.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Define these two counts before any simulation code or repeated-average notation. Lowercase n is the number of observations within one sample or morning. Uppercase N is the number of independent complete trials repeated by the simulation. Changing n changes the warehouse experiment. Changing N gives more repetitions of the same experiment. The notation is a teaching convention; the website sometimes uses lowercase n for Monte Carlo trials, so always read what the count refers to.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Spell out independent and identically distributed. Independent means that knowing observations does not change the joint probability rules for the others. Identically distributed means each observation follows the same distribution. A sample mean is itself a random variable because it changes with the observations. Imagine collecting a fresh sample of the same size repeatedly and calculating its mean each time. The distribution of those means is the sampling distribution. Source: https://www.probabilitycourse.com/chapter8/8_1_1_random_sampling.php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Recall the Session 5 variance-of-a-sum result. Here μ and σ² are the mean and variance of one observation. The mean of the sample mean is μ by linearity. The factor 1/n becomes 1/n² in a variance, and independence removes all covariance terms. The standard deviation is therefore σ/√n. This describes variation across repeated sample means. We will later use the name standard error for the standard deviation of an estimator.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each panel, imagine generating a fresh sample, averaging it, and repeating that complete experiment 6,000 times. The histogram displays the resulting averages. All original observations are Uniform(0,1). A histogram here uses density on its vertical axis: bar area, rather than height alone, is the fraction of observations in an interval. The spread decreases as n grows, as predicted by σ/√n. The CLT will later explain the emerging shape.</a:t>
            </a:r>
          </a:p>
          <a:p>
            <a:r>
              <a:t>Notebook demonstration. Sampling distributions and their spread. Run both labelled cells in order. No CLT explanation is needed here: describe the observed shapes and spreads. Return to Slide 12. Matching code cells: core-018, core-020.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 estimator is a rule for calculating an estimate from random observations. θ names a fixed quantity such as an expected workload or an event probability. Y names the recorded output of one complete trial. For the warehouse, Y may be a morning total or its 0/1 capacity indicator. Y1 through YN are independent copies of this output. The hat on θ marks an estimate, and N records the number of trials. The calculated value changes between runs even though θ stays fixed. Further reading: Art B. Owen, Monte Carlo theory, methods and examples, Chapter 2, https://artowen.su.domains/mc/Ch-intro.pdf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 indicator records 1 if an event occurs and 0 otherwise. This is a Bernoulli output, familiar from Session 2. If p is the event probability, expectation gives 1 times p plus 0 times 1−p, which equals p. Averaging the indicators therefore gives the success count K divided by the number of trials N. Define both symbols explicitly before using the formula. Indicator variance will be derived before the probability standard error. Further reading: Art B. Owen, Monte Carlo theory, methods and examples, Chapter 2, https://artowen.su.domains/mc/Ch-intro.pdf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code line by line as a worked implementation. NumPy is imported with the short name np. default_rng(6) creates a generator with a reproducible starting state. choice draws the values with the given probabilities. size=(N,n) creates N rows, each with n orders. sum(axis=1) adds across each row, giving N morning totals. The comparison produces True or False for each morning. Their mean treats True as 1 and False as 0, giving the fraction that fit. Python syntax is being explained here, not assumed. Sampling API: https://numpy.org/doc/stable/reference/random/generator.html</a:t>
            </a:r>
          </a:p>
          <a:p>
            <a:r>
              <a:t>Notebook demonstration. Simulating many mornings. Revisit this cell from Slide 16 to change the seed. Restore seed 6 and rerun this cell before continuing to Slide 17. The seed-6 output matches the fixed results in the deck. Return to Slide 15. Matching code cells: core-010.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row is a prefix of the same run, using seed 6. The table is observed simulation output. Ask students what differs between the two columns. The first averages item totals and the second averages 0/1 indicators. The 1,000-trial result moves away from the eventual probability, so increasing N does not improve every realised estimate. The LLN, introduced shortly, explains the limiting behaviour.</a:t>
            </a:r>
          </a:p>
          <a:p>
            <a:r>
              <a:t>Notebook demonstration. Reading the simulation results.  Return to Slide 16. Matching code cells: core-012.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seed fixes the starting state of a pseudorandom generator. It lets us reproduce exactly the same artificial sequence of orders. Without a fixed seed, a new run creates different orders and therefore a different estimate. The underlying model probability does not change. Set a seed once before generating the whole experiment. Resetting the same seed for each trial would repeat the same first draw and would not generate independent trials.</a:t>
            </a:r>
          </a:p>
          <a:p>
            <a:r>
              <a:t>Notebook demonstration. Revisit the cell labelled Slide 14. Change the seed and rerun to show variation. Restore seed 6 and rerun before returning to Slide 17, so subsequent results use the original run. Matching code cells: core-010.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Introduce the law in words first: for any chosen tolerance, the chance that the Monte Carlo average misses its target by more than that tolerance becomes small as the number of independent trials grows. The symbol ε names the tolerance. The arrow with the words in probability is shorthand for this claim. E[|Y|]&lt;∞ means the expected absolute output is finite. Recall the infinite-mean example from Session 3 to show that a valid probability model does not automatically satisfy this requirement. </a:t>
            </a:r>
            <a:r>
              <a:rPr lang="en-GB" dirty="0"/>
              <a:t>Choose an acceptable error, say </a:t>
            </a:r>
            <a:r>
              <a:rPr lang="en-GB" b="1" dirty="0"/>
              <a:t>2 items</a:t>
            </a:r>
            <a:r>
              <a:rPr lang="en-GB" dirty="0"/>
              <a:t>, so \(\</a:t>
            </a:r>
            <a:r>
              <a:rPr lang="en-GB" dirty="0" err="1"/>
              <a:t>varepsilon</a:t>
            </a:r>
            <a:r>
              <a:rPr lang="en-GB" dirty="0"/>
              <a:t>=2\). Then it says:</a:t>
            </a:r>
          </a:p>
          <a:p>
            <a:r>
              <a:rPr lang="en-GB" dirty="0"/>
              <a:t>As we simulate more mornings, the probability that their average is more than 2 items away from 90 approaches zero.</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curve is one running calculation, with the estimate recomputed as more mornings are added. The horizontal axis is log10(N): positions 1, 2, 3, 4 and 5 mean 10, 100, 1,000, 10,000 and 100,000 mornings. Equal steps therefore multiply the number of trials by ten. The orange lines mark the two fixed model targets. The probability target is a numerical reference calculation from the discrete model; students are not expected to derive its convolution. These curves illustrate the LLN but can fluctuate in either direction.</a:t>
            </a:r>
          </a:p>
          <a:p>
            <a:r>
              <a:t>Notebook demonstration. LLN: two running averages.  Return to Slide 19. Matching code cells: core-022.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CLT is new here. First imagine repeating the whole sampling experiment and collecting the sample means. Subtract μ to centre them and divide by their standard deviation σ/√n to put them on a common scale. The distribution of the resulting variable approaches a standard normal distribution. In distribution refers to this change of probability distributions; it does not mean the individual observations become normal. N(μ,σ²/n) uses variance as its second parameter. The assumptions are independent, identically distributed observations with finite, positive variance. Source: ProbabilityCourse 7.1.2, https://www.probabilitycourse.com/chapter7/7_1_2_central_limit_theorem.php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plots use sample means from Uniform(0,1) observations. We centre and scale each mean as just introduced by the CLT, so both distributions have theoretical mean zero and variance one. The blue curves trace the simulated density and orange shows the standard normal density. Standardisation lets us compare the shapes separately from their decreasing spread. The plot is a simulation illustration of the theorem, not a proof. Source: ProbabilityCourse 7.1.2, https://www.probabilitycourse.com/chapter7/7_1_2_central_limit_theorem.php</a:t>
            </a:r>
          </a:p>
          <a:p>
            <a:r>
              <a:t>Notebook demonstration. CLT: standardised means. The first cell visualises the CLT. The second is an optional probability calculation for the mean of 30 uniform draws. Return to Slide 21. Matching code cells: core-025, core-027.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Normal models and standardisation were covered in SMP Session 4. Here the new fact is that a mean of independent normal observations is exactly normal for every n. For other populations, the CLT supplies an approximation as n grows. The normal distribution notation always lists the mean and variance. The water example in exercise 1 explicitly assumes normal observations, whereas the uniform example uses a CLT approximation. Source: ProbabilityCourse 7.1.2, https://www.probabilitycourse.com/chapter7/7_1_2_central_limit_theorem.php</a:t>
            </a:r>
          </a:p>
          <a:p>
            <a:r>
              <a:t>Notebook demonstration. Optional CLT extension: a skewed population. Show the histograms. The three-point population is illustrative, not inferred uniquely from its mean and SD. The probability-solving code is instructor background. Return to Slide 22. Matching code cells: core-079.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CLT was stated for a sample mean. Show explicitly why it also approximates a total. The total equals n times the mean, so its mean is nμ and its variance is nσ². Both standardised expressions are the same random variable. This is the missing bridge before using a normal distribution for the warehouse workload. The second argument of N is the variance. Source: ProbabilityCourse 7.1.2, https://www.probabilitycourse.com/chapter7/7_1_2_central_limit_theorem.php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Apply the CLT only after the mean-to-sum bridge. Recall E[X²]=0.6×1²+0.3×2²+0.1×6²=5.4, so Var(X)=5.4−1.8²=2.16. Session 5 sum rules give total mean 90 and variance 108. Φ is the standard normal CDF from Session 4. The displayed first approximation uses the literal boundary 110 and gives 0.972854. The next slide introduces the half-unit correction for integer totals. The reference value 0.9679213 was computed numerically from the original discrete model; deriving it is not required. Neither the mean alone nor the RNG determines this tail probability.</a:t>
            </a:r>
          </a:p>
          <a:p>
            <a:r>
              <a:t>Notebook demonstration. Warehouse probability: normal approximation and simulation.  Return to Slide 24. Matching code cells: core-030.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Session 2 introduced Poisson means and variances. Here 365 independent Poisson(10) days give total mean and variance 3650, using Session 5 sum rules. An integer k is represented by the interval from k−0.5 to k+0.5 under a continuous approximation. Thus counts starting at 3801 correspond to the normal area above 3800.5. This is called a continuity correction. It adjusts the integer boundary but does not remove other errors in the normal shape approximation. The value 0.00637 is rounded. For the warehouse, the analogous boundary would be 110.5. A boundary adjustment need not improve every skewed-model tail approximation.</a:t>
            </a:r>
          </a:p>
          <a:p>
            <a:r>
              <a:t>Notebook demonstration. Normal approximation to an annual count. Use only this approximation cell here. The daily simulation and its Monte Carlo SE are labelled Slide 41B, after SE has been introduced. Return to Slide 25. Matching code cells: optional-012.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Separate two kinds of variation. Output variation is the variation among individual simulated mornings. Monte Carlo uncertainty is variation in the estimated average if we repeated the entire simulation many times. The first can be substantial even with a very precise estimate of its mean. For probability estimation, the outputs are indicators. Their standard deviation is square root of p times one minus p, and the standard error of their average shrinks by square root 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 indicator is a Bernoulli variable, linking back to Session 2. Because zero squared is zero and one squared is one, Y² equals Y. Its first and second moments both equal p. Therefore Var(Y)=p−p². Apply the already derived variance-of-an-average formula to N independent indicators. This gives the theoretical standard error. The next steps estimate p or the output variance from simulated observations.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model output SD σY may be unknown. We estimate it from the trial outputs. Subtract the observed average from every output, square the deviations, add them and divide by N−1. The square root is sY. Estimating the mean creates a constraint: the deviations sum to zero. Once N−1 deviations are specified, the final deviation is determined. The N−1 denominator corrects the resulting downward bias in the naive average of squared deviations. A proof of unbiasedness is not a prerequisite here. In NumPy, std(ddof=1) uses this denominator.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previous slide defined the sample output SD sY. Dividing it by √N estimates the spread of the Monte Carlo average across independent reruns. For a probability, we already derived output variance p(1−p), so a common estimate replaces p with the observed fraction. This version uses N in its denominator. Computing the sample SD of the indicators with N−1 and dividing by √N gives the slightly different finite-sample estimate with denominator N−1 inside the final square root. They agree closely for large N. Further reading: Art B. Owen, Monte Carlo theory, methods and examples, Chapter 2, https://artowen.su.domains/mc/Ch-intro.pdf</a:t>
            </a:r>
          </a:p>
          <a:p>
            <a:r>
              <a:t>Notebook demonstration. Monte Carlo standard errors. The first cell reports both warehouse SEs. The second is an optional repeated-run demonstration that prepares the coverage plot at Slide 30. Return to Slide 29. Matching code cells: core-034, core-036.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Recall the standard normal CDF from Session 4: Φ(1.96)≈0.975 and Φ(−1.96)≈0.025, so the central probability is approximately 0.95. Apply the CLT to independent trial outputs. It makes the standardised Monte Carlo error approximately standard normal when the approximation is adequate. Multiplying the inequality by the standard error gives the error bound below. Rearranging this bound gives the interval on the following slide. No prior statistical confidence-interval theory is assumed. Source: ProbabilityCourse 7.1.2, https://www.probabilitycourse.com/chapter7/7_1_2_central_limit_theorem.php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previous normal-coverage calculation explains both the interval and the number 1.96. The true output SD is generally unknown, so use the sample SD from the run. Repeated independent runs with a fixed N would produce different intervals; approximately 95 percent of them cover the same fixed target when the approximation is adequate. This is uncertainty caused by finite simulation. It does not account for a wrong model or uncertain model inputs. Near-zero event counts require care, as the rare-event example will show.</a:t>
            </a:r>
          </a:p>
          <a:p>
            <a:r>
              <a:t>Notebook demonstration. What 95% coverage means. Uses the repeated runs prepared in the second Slide 28 cell (or by Run All before class). Each interval estimates the mean workload, not an individual morning. Return to Slide 31. Matching code cells: core-040.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this as a report, not as proof that the real warehouse model is correct. With 100,000 independent simulated mornings, the estimate is 0.96818. The estimated Monte Carlo standard error is about 0.000555, giving an approximate 95 percent interval from 0.96709 to 0.96927. The exact probability under this simple discrete model is 0.9679213, which lies in the interval. A narrow interval only describes computation error under this model.</a:t>
            </a:r>
          </a:p>
          <a:p>
            <a:r>
              <a:t>Notebook demonstration. Reporting the warehouse probability and interval. Also checks the central normal probability used on Slide 29. Return to Slide 32. Matching code cells: core-038.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Define the requested accuracy before solving for N. The first inequality targets standard error a. The second targets an approximate 95 percent interval half-width h, meaning the distance from its centre to an endpoint. Rearrange the preceding standard-error formulas and round the required number of trials upward. If output variance is unknown, a pilot run is a smaller preliminary simulation used to estimate it for planning. This planning calculation does not guarantee the error of a particular run.</a:t>
            </a:r>
          </a:p>
          <a:p>
            <a:r>
              <a:t>Notebook demonstration. Planning the number of trials. The scaling table here uses the warehouse probability. Slide 33 illustrates the same square-root rule with exp(U), so its numerical SEs differ. Return to Slide 33. Matching code cells: core-043.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square-root rate is a computational limitation. For the e-to-the-U output, the standard error falls from about 0.049 at 100 trials to 0.0049 at 10,000 trials. Multiplying N by four divides the standard error by two. Multiplying N by 100 divides it by ten. The observed error in any one run still moves randomly around zero, so it does not fall smoothly even though its typical scale follows this rate.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example links Monte Carlo to transformations and LOTUS. Draw U uniformly between zero and one, transform each draw to e to the power U, and average the transformed values. We can calculate the exact target as e minus one, so it is a useful check. Emphasise that the procedure averages e to the U values. Taking e to the average U would estimate a different quantity.</a:t>
            </a:r>
          </a:p>
          <a:p>
            <a:r>
              <a:t>Notebook demonstration. Estimating the expectation of exp(U). Run both labelled cells for the estimate and the comparison of theoretical and estimated SE. Return to Slide 35. Matching code cells: core-047, core-049.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Draw U and V independently from Uniform(−1,1). Their joint density is constant 1/4 throughout the square, using the independence rule from Session 5. Probability inside a region is its area times this constant density, so the unit circle has probability π/4. The condition U²+V²≤1 is the equation of the circle and its interior. One trial is one pair of coordinates. The plot shows only the first 80 points from seed 6. The later estimate uses 10,000 points.</a:t>
            </a:r>
          </a:p>
          <a:p>
            <a:r>
              <a:t>Notebook demonstration. Random points in a square and circle. This picture has its own seed and 2,000 points. It illustrates the same model as the slide, but is a different simulated run. Return to Slide 36. Matching code cells: optional-004.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square has area four and the circle has area pi, so the hit probability is pi over four. The fraction of hits estimates that probability. Multiply by four to estimate pi. The standard error must also be multiplied by four because scaling an estimator scales its standard deviation. In the seeded run, 7,916 of 10,000 points land in the circle, giving pi-hat of 3.1664 and estimated standard error about 0.01625. This is a vivid example, not an efficient way to compute pi.</a:t>
            </a:r>
          </a:p>
          <a:p>
            <a:r>
              <a:t>Notebook demonstration. Estimating pi and its Monte Carlo SE. This table uses different seeds and trial counts from the fixed slide example. Expect different estimates, with the same target pi. Return to Slide 37. Matching code cells: optional-003.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 integral is interval width times average function height. If U is uniform on a to b, E of f(U) is the integral divided by b minus a. That is why the estimator includes the width factor. For the example from zero to two, the target integral of u squared is eight thirds. E of U squared is only four thirds, so forgetting the width factor gives the wrong answer. Monte Carlo is useful when direct integration becomes difficult, especially with many variables.</a:t>
            </a:r>
          </a:p>
          <a:p>
            <a:r>
              <a:t>Notebook demonstration. Monte Carlo integration.  Return to Slide 38. Matching code cells: core-051.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Rare-event estimates need enough expected hits. If p is 0.001 and N is 1,000, the expected number of hits is only one. The probability of observing no hits is about 0.368. Therefore, seeing zero events does not establish that the probability is zero. It also explains why the usual normal interval based on p-hat can fail at the boundary. In rare-event settings, check expected hits and use suitable binomial intervals.</a:t>
            </a:r>
          </a:p>
          <a:p>
            <a:r>
              <a:t>Notebook demonstration. Rare events and zero-hit runs. Run the three labelled cells in order. Zero observed hits do not establish zero probability or zero uncertainty. Return to Slide 39. Matching code cells: optional-021, optional-022, optional-023.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as a reference after all symbols and results have been introduced. The fixed target θ is the expected trial output. The estimator averages N independent outputs. Its theoretical variance follows from the variance-of-a-sum rule. Estimated standard error uses the sample SD, and the interval uses the normal coverage just derived. An event indicator is one choice of output Y. The finite-variance and independence assumptions remain necessary.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exercises each rehearse a distinct part of the session. Ask students to write down the trial, the output, and the target before coding. Exercises 1 and 7 concern sample means and normal calculations. Exercises 2 and 3 question the CLT approximation. Exercises 4 and 5 practise Monte Carlo estimation. Exercise 6 separates an LLN path from a collection of repeated experiments. Exercise 8 addresses rare-event accuracy.</a:t>
            </a:r>
          </a:p>
          <a:p>
            <a:r>
              <a:t>Notebook demonstration. Optional exercise demonstrations: Slide 41A is exact normal sampling. Slide 41B simulates daily accident counts. Run Slide 24 first if its variables are not already present. Return to this exercise slide afterwards. Other optional examples are linked from the notebook slide index. Matching code cells: optional-008, optional-009, optional-013, optional-014.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2870EAE-A536-4FF1-A0CD-8F5EB1632D59}"/>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178B5738-D023-492B-B349-C0339DF45801}"/>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282CF6D8-C2A6-4156-B853-03ED3871F058}"/>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6CDE37E-CF60-4081-BEA2-2847471DBFB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BF34CE81-5F39-4C09-BB6B-D31595003604}"/>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CA852AE-C27F-4A1F-92F9-27A03E8A5C5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AC8E54B1-EB33-49BA-B7AE-D5649305C6F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0E8B63AA-1D96-44F3-B71B-76CC28FE0C6B}"/>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B732E69-4582-4B8B-A65D-E3F4FA1BBB7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B2A5C183-575B-45C3-8EF7-6A46A3D7668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chart" Target="../charts/chart3.xml"/><Relationship Id="rId4" Type="http://schemas.openxmlformats.org/officeDocument/2006/relationships/chart" Target="../charts/char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chart" Target="../charts/chart5.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chart" Target="../charts/chart7.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image" Target="../media/image28.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6.xml"/><Relationship Id="rId5" Type="http://schemas.openxmlformats.org/officeDocument/2006/relationships/image" Target="../media/image40.png"/><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6.xml"/><Relationship Id="rId5" Type="http://schemas.openxmlformats.org/officeDocument/2006/relationships/image" Target="../media/image44.png"/><Relationship Id="rId4" Type="http://schemas.openxmlformats.org/officeDocument/2006/relationships/image" Target="../media/image43.png"/></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7.xml"/><Relationship Id="rId1" Type="http://schemas.openxmlformats.org/officeDocument/2006/relationships/slideLayout" Target="../slideLayouts/slideLayout6.xml"/><Relationship Id="rId5" Type="http://schemas.openxmlformats.org/officeDocument/2006/relationships/image" Target="../media/image47.png"/><Relationship Id="rId4" Type="http://schemas.openxmlformats.org/officeDocument/2006/relationships/image" Target="../media/image46.png"/></Relationships>
</file>

<file path=ppt/slides/_rels/slide3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9.xml"/><Relationship Id="rId1" Type="http://schemas.openxmlformats.org/officeDocument/2006/relationships/slideLayout" Target="../slideLayouts/slideLayout6.xml"/><Relationship Id="rId5" Type="http://schemas.openxmlformats.org/officeDocument/2006/relationships/image" Target="../media/image51.png"/><Relationship Id="rId4" Type="http://schemas.openxmlformats.org/officeDocument/2006/relationships/image" Target="../media/image5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8AA964E9-17CC-4A13-ABD4-10F4B4244E8A}"/>
              </a:ext>
            </a:extLst>
          </p:cNvPr>
          <p:cNvSpPr>
            <a:spLocks noGrp="1"/>
          </p:cNvSpPr>
          <p:nvPr/>
        </p:nvSpPr>
        <p:spPr>
          <a:xfrm>
            <a:off x="742950" y="638175"/>
            <a:ext cx="10706100" cy="1381125"/>
          </a:xfrm>
          <a:prstGeom prst="rect">
            <a:avLst/>
          </a:prstGeom>
          <a:noFill/>
          <a:ln w="0">
            <a:noFill/>
          </a:ln>
        </p:spPr>
        <p:txBody>
          <a:bodyPr wrap="square" lIns="0" tIns="0" rIns="0" bIns="0" anchor="t">
            <a:noAutofit/>
          </a:bodyPr>
          <a:lstStyle>
            <a:lvl1pPr>
              <a:buNone/>
              <a:defRPr sz="3675" b="1">
                <a:solidFill>
                  <a:srgbClr val="17365D"/>
                </a:solidFill>
                <a:latin typeface="Aptos"/>
                <a:ea typeface="Aptos"/>
                <a:cs typeface="Aptos"/>
              </a:defRPr>
            </a:lvl1pPr>
            <a:lvl2pPr>
              <a:buNone/>
              <a:defRPr sz="3675" b="1">
                <a:solidFill>
                  <a:srgbClr val="17365D"/>
                </a:solidFill>
                <a:latin typeface="Aptos"/>
                <a:ea typeface="Aptos"/>
                <a:cs typeface="Aptos"/>
              </a:defRPr>
            </a:lvl2pPr>
            <a:lvl3pPr>
              <a:buNone/>
              <a:defRPr sz="3675" b="1">
                <a:solidFill>
                  <a:srgbClr val="17365D"/>
                </a:solidFill>
                <a:latin typeface="Aptos"/>
                <a:ea typeface="Aptos"/>
                <a:cs typeface="Aptos"/>
              </a:defRPr>
            </a:lvl3pPr>
            <a:lvl4pPr>
              <a:buNone/>
              <a:defRPr sz="3675" b="1">
                <a:solidFill>
                  <a:srgbClr val="17365D"/>
                </a:solidFill>
                <a:latin typeface="Aptos"/>
                <a:ea typeface="Aptos"/>
                <a:cs typeface="Aptos"/>
              </a:defRPr>
            </a:lvl4pPr>
            <a:lvl5pPr>
              <a:buNone/>
              <a:defRPr sz="3675" b="1">
                <a:solidFill>
                  <a:srgbClr val="17365D"/>
                </a:solidFill>
                <a:latin typeface="Aptos"/>
                <a:ea typeface="Aptos"/>
                <a:cs typeface="Aptos"/>
              </a:defRPr>
            </a:lvl5pPr>
            <a:lvl6pPr>
              <a:buNone/>
              <a:defRPr sz="3675" b="1">
                <a:solidFill>
                  <a:srgbClr val="17365D"/>
                </a:solidFill>
                <a:latin typeface="Aptos"/>
                <a:ea typeface="Aptos"/>
                <a:cs typeface="Aptos"/>
              </a:defRPr>
            </a:lvl6pPr>
            <a:lvl7pPr>
              <a:buNone/>
              <a:defRPr sz="3675" b="1">
                <a:solidFill>
                  <a:srgbClr val="17365D"/>
                </a:solidFill>
                <a:latin typeface="Aptos"/>
                <a:ea typeface="Aptos"/>
                <a:cs typeface="Aptos"/>
              </a:defRPr>
            </a:lvl7pPr>
            <a:lvl8pPr>
              <a:buNone/>
              <a:defRPr sz="3675" b="1">
                <a:solidFill>
                  <a:srgbClr val="17365D"/>
                </a:solidFill>
                <a:latin typeface="Aptos"/>
                <a:ea typeface="Aptos"/>
                <a:cs typeface="Aptos"/>
              </a:defRPr>
            </a:lvl8pPr>
            <a:lvl9pPr>
              <a:buNone/>
              <a:defRPr sz="3675" b="1">
                <a:solidFill>
                  <a:srgbClr val="17365D"/>
                </a:solidFill>
                <a:latin typeface="Aptos"/>
                <a:ea typeface="Aptos"/>
                <a:cs typeface="Aptos"/>
              </a:defRPr>
            </a:lvl9pPr>
          </a:lstStyle>
          <a:p>
            <a:pPr>
              <a:buNone/>
              <a:defRPr sz="3675" b="1">
                <a:solidFill>
                  <a:srgbClr val="17365D"/>
                </a:solidFill>
                <a:latin typeface="Aptos"/>
                <a:ea typeface="Aptos"/>
                <a:cs typeface="Aptos"/>
              </a:defRPr>
            </a:pPr>
            <a:r>
              <a:rPr sz="3675" b="1">
                <a:solidFill>
                  <a:srgbClr val="17365D"/>
                </a:solidFill>
                <a:latin typeface="Aptos"/>
                <a:ea typeface="Aptos"/>
                <a:cs typeface="Aptos"/>
              </a:rPr>
              <a:t>Random Sampling, Monte Carlo</a:t>
            </a:r>
          </a:p>
          <a:p>
            <a:pPr>
              <a:buNone/>
              <a:defRPr sz="3675" b="1">
                <a:solidFill>
                  <a:srgbClr val="17365D"/>
                </a:solidFill>
                <a:latin typeface="Aptos"/>
                <a:ea typeface="Aptos"/>
                <a:cs typeface="Aptos"/>
              </a:defRPr>
            </a:pPr>
            <a:r>
              <a:rPr sz="3675" b="1">
                <a:solidFill>
                  <a:srgbClr val="17365D"/>
                </a:solidFill>
                <a:latin typeface="Aptos"/>
                <a:ea typeface="Aptos"/>
                <a:cs typeface="Aptos"/>
              </a:rPr>
              <a:t>and Limit Theorems</a:t>
            </a:r>
          </a:p>
        </p:txBody>
      </p:sp>
      <p:sp>
        <p:nvSpPr>
          <p:cNvPr id="2" name="text-1">
            <a:extLst>
              <a:ext uri="{FF2B5EF4-FFF2-40B4-BE49-F238E27FC236}">
                <a16:creationId xmlns:a16="http://schemas.microsoft.com/office/drawing/2014/main" id="{26562D23-9132-45FB-93A4-204405CE7D59}"/>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3" name="text-2">
            <a:extLst>
              <a:ext uri="{FF2B5EF4-FFF2-40B4-BE49-F238E27FC236}">
                <a16:creationId xmlns:a16="http://schemas.microsoft.com/office/drawing/2014/main" id="{7E40AFA9-7EA8-4E56-BF31-290A824822F9}"/>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1</a:t>
            </a:r>
          </a:p>
        </p:txBody>
      </p:sp>
      <p:sp>
        <p:nvSpPr>
          <p:cNvPr id="4" name="text-3">
            <a:extLst>
              <a:ext uri="{FF2B5EF4-FFF2-40B4-BE49-F238E27FC236}">
                <a16:creationId xmlns:a16="http://schemas.microsoft.com/office/drawing/2014/main" id="{26A8985C-6B5D-458B-9DB3-F4AADE02E65F}"/>
              </a:ext>
            </a:extLst>
          </p:cNvPr>
          <p:cNvSpPr>
            <a:spLocks noGrp="1"/>
          </p:cNvSpPr>
          <p:nvPr/>
        </p:nvSpPr>
        <p:spPr>
          <a:xfrm>
            <a:off x="781050" y="2095500"/>
            <a:ext cx="10477500" cy="523875"/>
          </a:xfrm>
          <a:prstGeom prst="rect">
            <a:avLst/>
          </a:prstGeom>
          <a:noFill/>
          <a:ln w="0">
            <a:noFill/>
          </a:ln>
        </p:spPr>
        <p:txBody>
          <a:bodyPr wrap="square" lIns="0" tIns="0" rIns="0" bIns="0" anchor="t">
            <a:noAutofit/>
          </a:bodyPr>
          <a:lstStyle>
            <a:lvl1pPr>
              <a:buNone/>
              <a:defRPr sz="2550" b="0">
                <a:solidFill>
                  <a:srgbClr val="2D75A3"/>
                </a:solidFill>
                <a:latin typeface="Aptos"/>
                <a:ea typeface="Aptos"/>
                <a:cs typeface="Aptos"/>
              </a:defRPr>
            </a:lvl1pPr>
            <a:lvl2pPr>
              <a:buNone/>
              <a:defRPr sz="2550" b="0">
                <a:solidFill>
                  <a:srgbClr val="2D75A3"/>
                </a:solidFill>
                <a:latin typeface="Aptos"/>
                <a:ea typeface="Aptos"/>
                <a:cs typeface="Aptos"/>
              </a:defRPr>
            </a:lvl2pPr>
            <a:lvl3pPr>
              <a:buNone/>
              <a:defRPr sz="2550" b="0">
                <a:solidFill>
                  <a:srgbClr val="2D75A3"/>
                </a:solidFill>
                <a:latin typeface="Aptos"/>
                <a:ea typeface="Aptos"/>
                <a:cs typeface="Aptos"/>
              </a:defRPr>
            </a:lvl3pPr>
            <a:lvl4pPr>
              <a:buNone/>
              <a:defRPr sz="2550" b="0">
                <a:solidFill>
                  <a:srgbClr val="2D75A3"/>
                </a:solidFill>
                <a:latin typeface="Aptos"/>
                <a:ea typeface="Aptos"/>
                <a:cs typeface="Aptos"/>
              </a:defRPr>
            </a:lvl4pPr>
            <a:lvl5pPr>
              <a:buNone/>
              <a:defRPr sz="2550" b="0">
                <a:solidFill>
                  <a:srgbClr val="2D75A3"/>
                </a:solidFill>
                <a:latin typeface="Aptos"/>
                <a:ea typeface="Aptos"/>
                <a:cs typeface="Aptos"/>
              </a:defRPr>
            </a:lvl5pPr>
            <a:lvl6pPr>
              <a:buNone/>
              <a:defRPr sz="2550" b="0">
                <a:solidFill>
                  <a:srgbClr val="2D75A3"/>
                </a:solidFill>
                <a:latin typeface="Aptos"/>
                <a:ea typeface="Aptos"/>
                <a:cs typeface="Aptos"/>
              </a:defRPr>
            </a:lvl6pPr>
            <a:lvl7pPr>
              <a:buNone/>
              <a:defRPr sz="2550" b="0">
                <a:solidFill>
                  <a:srgbClr val="2D75A3"/>
                </a:solidFill>
                <a:latin typeface="Aptos"/>
                <a:ea typeface="Aptos"/>
                <a:cs typeface="Aptos"/>
              </a:defRPr>
            </a:lvl7pPr>
            <a:lvl8pPr>
              <a:buNone/>
              <a:defRPr sz="2550" b="0">
                <a:solidFill>
                  <a:srgbClr val="2D75A3"/>
                </a:solidFill>
                <a:latin typeface="Aptos"/>
                <a:ea typeface="Aptos"/>
                <a:cs typeface="Aptos"/>
              </a:defRPr>
            </a:lvl8pPr>
            <a:lvl9pPr>
              <a:buNone/>
              <a:defRPr sz="2550" b="0">
                <a:solidFill>
                  <a:srgbClr val="2D75A3"/>
                </a:solidFill>
                <a:latin typeface="Aptos"/>
                <a:ea typeface="Aptos"/>
                <a:cs typeface="Aptos"/>
              </a:defRPr>
            </a:lvl9pPr>
          </a:lstStyle>
          <a:p>
            <a:pPr>
              <a:buNone/>
              <a:defRPr sz="2550" b="0">
                <a:solidFill>
                  <a:srgbClr val="2D75A3"/>
                </a:solidFill>
                <a:latin typeface="Aptos"/>
                <a:ea typeface="Aptos"/>
                <a:cs typeface="Aptos"/>
              </a:defRPr>
            </a:pPr>
            <a:r>
              <a:rPr sz="2550" b="0">
                <a:solidFill>
                  <a:srgbClr val="2D75A3"/>
                </a:solidFill>
                <a:latin typeface="Aptos"/>
                <a:ea typeface="Aptos"/>
                <a:cs typeface="Aptos"/>
              </a:rPr>
              <a:t>SMP1 · Session 6</a:t>
            </a:r>
          </a:p>
        </p:txBody>
      </p:sp>
      <p:sp>
        <p:nvSpPr>
          <p:cNvPr id="5" name="text-4">
            <a:extLst>
              <a:ext uri="{FF2B5EF4-FFF2-40B4-BE49-F238E27FC236}">
                <a16:creationId xmlns:a16="http://schemas.microsoft.com/office/drawing/2014/main" id="{65DB0A79-EB2C-40E6-ADE2-6D5FAFFA9796}"/>
              </a:ext>
            </a:extLst>
          </p:cNvPr>
          <p:cNvSpPr>
            <a:spLocks noGrp="1"/>
          </p:cNvSpPr>
          <p:nvPr/>
        </p:nvSpPr>
        <p:spPr>
          <a:xfrm>
            <a:off x="781050" y="3286125"/>
            <a:ext cx="10477500" cy="1238250"/>
          </a:xfrm>
          <a:prstGeom prst="rect">
            <a:avLst/>
          </a:prstGeom>
          <a:noFill/>
          <a:ln w="0">
            <a:noFill/>
          </a:ln>
        </p:spPr>
        <p:txBody>
          <a:bodyPr wrap="square" lIns="0" tIns="0" rIns="0" bIns="0" anchor="t">
            <a:noAutofit/>
          </a:bodyPr>
          <a:lstStyle>
            <a:lvl1pPr>
              <a:buNone/>
              <a:defRPr sz="3000" b="0">
                <a:solidFill>
                  <a:srgbClr val="17365D"/>
                </a:solidFill>
                <a:latin typeface="Aptos"/>
                <a:ea typeface="Aptos"/>
                <a:cs typeface="Aptos"/>
              </a:defRPr>
            </a:lvl1pPr>
            <a:lvl2pPr>
              <a:buNone/>
              <a:defRPr sz="3000" b="0">
                <a:solidFill>
                  <a:srgbClr val="17365D"/>
                </a:solidFill>
                <a:latin typeface="Aptos"/>
                <a:ea typeface="Aptos"/>
                <a:cs typeface="Aptos"/>
              </a:defRPr>
            </a:lvl2pPr>
            <a:lvl3pPr>
              <a:buNone/>
              <a:defRPr sz="3000" b="0">
                <a:solidFill>
                  <a:srgbClr val="17365D"/>
                </a:solidFill>
                <a:latin typeface="Aptos"/>
                <a:ea typeface="Aptos"/>
                <a:cs typeface="Aptos"/>
              </a:defRPr>
            </a:lvl3pPr>
            <a:lvl4pPr>
              <a:buNone/>
              <a:defRPr sz="3000" b="0">
                <a:solidFill>
                  <a:srgbClr val="17365D"/>
                </a:solidFill>
                <a:latin typeface="Aptos"/>
                <a:ea typeface="Aptos"/>
                <a:cs typeface="Aptos"/>
              </a:defRPr>
            </a:lvl4pPr>
            <a:lvl5pPr>
              <a:buNone/>
              <a:defRPr sz="3000" b="0">
                <a:solidFill>
                  <a:srgbClr val="17365D"/>
                </a:solidFill>
                <a:latin typeface="Aptos"/>
                <a:ea typeface="Aptos"/>
                <a:cs typeface="Aptos"/>
              </a:defRPr>
            </a:lvl5pPr>
            <a:lvl6pPr>
              <a:buNone/>
              <a:defRPr sz="3000" b="0">
                <a:solidFill>
                  <a:srgbClr val="17365D"/>
                </a:solidFill>
                <a:latin typeface="Aptos"/>
                <a:ea typeface="Aptos"/>
                <a:cs typeface="Aptos"/>
              </a:defRPr>
            </a:lvl6pPr>
            <a:lvl7pPr>
              <a:buNone/>
              <a:defRPr sz="3000" b="0">
                <a:solidFill>
                  <a:srgbClr val="17365D"/>
                </a:solidFill>
                <a:latin typeface="Aptos"/>
                <a:ea typeface="Aptos"/>
                <a:cs typeface="Aptos"/>
              </a:defRPr>
            </a:lvl7pPr>
            <a:lvl8pPr>
              <a:buNone/>
              <a:defRPr sz="3000" b="0">
                <a:solidFill>
                  <a:srgbClr val="17365D"/>
                </a:solidFill>
                <a:latin typeface="Aptos"/>
                <a:ea typeface="Aptos"/>
                <a:cs typeface="Aptos"/>
              </a:defRPr>
            </a:lvl8pPr>
            <a:lvl9pPr>
              <a:buNone/>
              <a:defRPr sz="3000" b="0">
                <a:solidFill>
                  <a:srgbClr val="17365D"/>
                </a:solidFill>
                <a:latin typeface="Aptos"/>
                <a:ea typeface="Aptos"/>
                <a:cs typeface="Aptos"/>
              </a:defRPr>
            </a:lvl9pPr>
          </a:lstStyle>
          <a:p>
            <a:pPr>
              <a:buNone/>
              <a:defRPr sz="3000" b="0">
                <a:solidFill>
                  <a:srgbClr val="17365D"/>
                </a:solidFill>
                <a:latin typeface="Aptos"/>
                <a:ea typeface="Aptos"/>
                <a:cs typeface="Aptos"/>
              </a:defRPr>
            </a:pPr>
            <a:r>
              <a:rPr sz="3000" b="0">
                <a:solidFill>
                  <a:srgbClr val="17365D"/>
                </a:solidFill>
                <a:latin typeface="Aptos"/>
                <a:ea typeface="Aptos"/>
                <a:cs typeface="Aptos"/>
              </a:rPr>
              <a:t>Random experiments can help us calculate</a:t>
            </a:r>
          </a:p>
          <a:p>
            <a:pPr>
              <a:buNone/>
              <a:defRPr sz="3000" b="0">
                <a:solidFill>
                  <a:srgbClr val="17365D"/>
                </a:solidFill>
                <a:latin typeface="Aptos"/>
                <a:ea typeface="Aptos"/>
                <a:cs typeface="Aptos"/>
              </a:defRPr>
            </a:pPr>
            <a:r>
              <a:rPr sz="3000" b="0">
                <a:solidFill>
                  <a:srgbClr val="17365D"/>
                </a:solidFill>
                <a:latin typeface="Aptos"/>
                <a:ea typeface="Aptos"/>
                <a:cs typeface="Aptos"/>
              </a:rPr>
              <a:t>probabilities, expectations and integrals.</a:t>
            </a:r>
          </a:p>
        </p:txBody>
      </p:sp>
      <p:sp>
        <p:nvSpPr>
          <p:cNvPr id="6" name="text-5">
            <a:extLst>
              <a:ext uri="{FF2B5EF4-FFF2-40B4-BE49-F238E27FC236}">
                <a16:creationId xmlns:a16="http://schemas.microsoft.com/office/drawing/2014/main" id="{8ACEFEB9-3AA7-44A4-B5DC-A5818922B05F}"/>
              </a:ext>
            </a:extLst>
          </p:cNvPr>
          <p:cNvSpPr>
            <a:spLocks noGrp="1"/>
          </p:cNvSpPr>
          <p:nvPr/>
        </p:nvSpPr>
        <p:spPr>
          <a:xfrm>
            <a:off x="781050" y="5381625"/>
            <a:ext cx="10477500" cy="381000"/>
          </a:xfrm>
          <a:prstGeom prst="rect">
            <a:avLst/>
          </a:prstGeom>
          <a:noFill/>
          <a:ln w="0">
            <a:noFill/>
          </a:ln>
        </p:spPr>
        <p:txBody>
          <a:bodyPr wrap="square" lIns="0" tIns="0" rIns="0" bIns="0" anchor="t">
            <a:noAutofit/>
          </a:bodyPr>
          <a:lstStyle>
            <a:lvl1pPr>
              <a:buNone/>
              <a:defRPr sz="1875" b="0">
                <a:solidFill>
                  <a:srgbClr val="526171"/>
                </a:solidFill>
                <a:latin typeface="Aptos"/>
                <a:ea typeface="Aptos"/>
                <a:cs typeface="Aptos"/>
              </a:defRPr>
            </a:lvl1pPr>
            <a:lvl2pPr>
              <a:buNone/>
              <a:defRPr sz="1875" b="0">
                <a:solidFill>
                  <a:srgbClr val="526171"/>
                </a:solidFill>
                <a:latin typeface="Aptos"/>
                <a:ea typeface="Aptos"/>
                <a:cs typeface="Aptos"/>
              </a:defRPr>
            </a:lvl2pPr>
            <a:lvl3pPr>
              <a:buNone/>
              <a:defRPr sz="1875" b="0">
                <a:solidFill>
                  <a:srgbClr val="526171"/>
                </a:solidFill>
                <a:latin typeface="Aptos"/>
                <a:ea typeface="Aptos"/>
                <a:cs typeface="Aptos"/>
              </a:defRPr>
            </a:lvl3pPr>
            <a:lvl4pPr>
              <a:buNone/>
              <a:defRPr sz="1875" b="0">
                <a:solidFill>
                  <a:srgbClr val="526171"/>
                </a:solidFill>
                <a:latin typeface="Aptos"/>
                <a:ea typeface="Aptos"/>
                <a:cs typeface="Aptos"/>
              </a:defRPr>
            </a:lvl4pPr>
            <a:lvl5pPr>
              <a:buNone/>
              <a:defRPr sz="1875" b="0">
                <a:solidFill>
                  <a:srgbClr val="526171"/>
                </a:solidFill>
                <a:latin typeface="Aptos"/>
                <a:ea typeface="Aptos"/>
                <a:cs typeface="Aptos"/>
              </a:defRPr>
            </a:lvl5pPr>
            <a:lvl6pPr>
              <a:buNone/>
              <a:defRPr sz="1875" b="0">
                <a:solidFill>
                  <a:srgbClr val="526171"/>
                </a:solidFill>
                <a:latin typeface="Aptos"/>
                <a:ea typeface="Aptos"/>
                <a:cs typeface="Aptos"/>
              </a:defRPr>
            </a:lvl6pPr>
            <a:lvl7pPr>
              <a:buNone/>
              <a:defRPr sz="1875" b="0">
                <a:solidFill>
                  <a:srgbClr val="526171"/>
                </a:solidFill>
                <a:latin typeface="Aptos"/>
                <a:ea typeface="Aptos"/>
                <a:cs typeface="Aptos"/>
              </a:defRPr>
            </a:lvl7pPr>
            <a:lvl8pPr>
              <a:buNone/>
              <a:defRPr sz="1875" b="0">
                <a:solidFill>
                  <a:srgbClr val="526171"/>
                </a:solidFill>
                <a:latin typeface="Aptos"/>
                <a:ea typeface="Aptos"/>
                <a:cs typeface="Aptos"/>
              </a:defRPr>
            </a:lvl8pPr>
            <a:lvl9pPr>
              <a:buNone/>
              <a:defRPr sz="1875" b="0">
                <a:solidFill>
                  <a:srgbClr val="526171"/>
                </a:solidFill>
                <a:latin typeface="Aptos"/>
                <a:ea typeface="Aptos"/>
                <a:cs typeface="Aptos"/>
              </a:defRPr>
            </a:lvl9pPr>
          </a:lstStyle>
          <a:p>
            <a:pPr>
              <a:buNone/>
              <a:defRPr sz="1875" b="0">
                <a:solidFill>
                  <a:srgbClr val="526171"/>
                </a:solidFill>
                <a:latin typeface="Aptos"/>
                <a:ea typeface="Aptos"/>
                <a:cs typeface="Aptos"/>
              </a:defRPr>
            </a:pPr>
            <a:r>
              <a:rPr sz="1875" b="0">
                <a:solidFill>
                  <a:srgbClr val="526171"/>
                </a:solidFill>
                <a:latin typeface="Aptos"/>
                <a:ea typeface="Aptos"/>
                <a:cs typeface="Aptos"/>
              </a:rPr>
              <a:t>Lecture notes accompany the slides.</a:t>
            </a:r>
          </a:p>
        </p:txBody>
      </p:sp>
    </p:spTree>
    <p:extLst>
      <p:ext uri="{BB962C8B-B14F-4D97-AF65-F5344CB8AC3E}">
        <p14:creationId xmlns:p14="http://schemas.microsoft.com/office/powerpoint/2010/main" val="1564866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C21110A6-ADA3-4168-B6AE-AB3E726E49CA}"/>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The session at a glance</a:t>
            </a:r>
          </a:p>
        </p:txBody>
      </p:sp>
      <p:sp>
        <p:nvSpPr>
          <p:cNvPr id="2" name="Straight Connector 1">
            <a:extLst>
              <a:ext uri="{FF2B5EF4-FFF2-40B4-BE49-F238E27FC236}">
                <a16:creationId xmlns:a16="http://schemas.microsoft.com/office/drawing/2014/main" id="{8C86CFED-DD21-45D5-A6AC-DECBC36AFE18}"/>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0227B946-4747-44AE-9B1A-68BAEA83C632}"/>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D7E7A752-3C65-4701-A637-C5C1589259C3}"/>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2</a:t>
            </a:r>
          </a:p>
        </p:txBody>
      </p:sp>
      <p:graphicFrame>
        <p:nvGraphicFramePr>
          <p:cNvPr id="13" name="Table 12"/>
          <p:cNvGraphicFramePr/>
          <p:nvPr/>
        </p:nvGraphicFramePr>
        <p:xfrm>
          <a:off x="857250" y="1809750"/>
          <a:ext cx="10477500" cy="3333750"/>
        </p:xfrm>
        <a:graphic>
          <a:graphicData uri="http://schemas.openxmlformats.org/drawingml/2006/table">
            <a:tbl>
              <a:tblPr firstRow="1"/>
              <a:tblGrid>
                <a:gridCol w="3048000">
                  <a:extLst>
                    <a:ext uri="{9D8B030D-6E8A-4147-A177-3AD203B41FA5}">
                      <a16:colId xmlns:a16="http://schemas.microsoft.com/office/drawing/2014/main" val="20000"/>
                    </a:ext>
                  </a:extLst>
                </a:gridCol>
                <a:gridCol w="7429500">
                  <a:extLst>
                    <a:ext uri="{9D8B030D-6E8A-4147-A177-3AD203B41FA5}">
                      <a16:colId xmlns:a16="http://schemas.microsoft.com/office/drawing/2014/main" val="20001"/>
                    </a:ext>
                  </a:extLst>
                </a:gridCol>
              </a:tblGrid>
              <a:tr h="666750">
                <a:tc>
                  <a:txBody>
                    <a:bodyPr/>
                    <a:lstStyle/>
                    <a:p>
                      <a:r>
                        <a:rPr sz="2175" b="1">
                          <a:solidFill>
                            <a:srgbClr val="FFFFFF"/>
                          </a:solidFill>
                          <a:latin typeface="Aptos"/>
                          <a:ea typeface="Aptos"/>
                          <a:cs typeface="Aptos"/>
                        </a:rPr>
                        <a:t>Topic</a:t>
                      </a:r>
                    </a:p>
                  </a:txBody>
                  <a:tcPr anchor="ctr">
                    <a:lnL w="6191">
                      <a:solidFill>
                        <a:srgbClr val="DDE5EC"/>
                      </a:solidFill>
                      <a:prstDash val="soli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tc>
                  <a:txBody>
                    <a:bodyPr/>
                    <a:lstStyle/>
                    <a:p>
                      <a:r>
                        <a:rPr sz="2175" b="1">
                          <a:solidFill>
                            <a:srgbClr val="FFFFFF"/>
                          </a:solidFill>
                          <a:latin typeface="Aptos"/>
                          <a:ea typeface="Aptos"/>
                          <a:cs typeface="Aptos"/>
                        </a:rPr>
                        <a:t>Question</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extLst>
                  <a:ext uri="{0D108BD9-81ED-4DB2-BD59-A6C34878D82A}">
                    <a16:rowId xmlns:a16="http://schemas.microsoft.com/office/drawing/2014/main" val="10000"/>
                  </a:ext>
                </a:extLst>
              </a:tr>
              <a:tr h="666750">
                <a:tc>
                  <a:txBody>
                    <a:bodyPr/>
                    <a:lstStyle/>
                    <a:p>
                      <a:r>
                        <a:rPr sz="2175" b="0">
                          <a:solidFill>
                            <a:srgbClr val="17365D"/>
                          </a:solidFill>
                          <a:latin typeface="Aptos"/>
                          <a:ea typeface="Aptos"/>
                          <a:cs typeface="Aptos"/>
                        </a:rPr>
                        <a:t>Sampling</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75" b="0">
                          <a:solidFill>
                            <a:srgbClr val="17365D"/>
                          </a:solidFill>
                          <a:latin typeface="Aptos"/>
                          <a:ea typeface="Aptos"/>
                          <a:cs typeface="Aptos"/>
                        </a:rPr>
                        <a:t>How do we generate a possible morning?</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1"/>
                  </a:ext>
                </a:extLst>
              </a:tr>
              <a:tr h="666750">
                <a:tc>
                  <a:txBody>
                    <a:bodyPr/>
                    <a:lstStyle/>
                    <a:p>
                      <a:r>
                        <a:rPr sz="2175" b="0">
                          <a:solidFill>
                            <a:srgbClr val="17365D"/>
                          </a:solidFill>
                          <a:latin typeface="Aptos"/>
                          <a:ea typeface="Aptos"/>
                          <a:cs typeface="Aptos"/>
                        </a:rPr>
                        <a:t>Monte Carlo</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75" b="0">
                          <a:solidFill>
                            <a:srgbClr val="17365D"/>
                          </a:solidFill>
                          <a:latin typeface="Aptos"/>
                          <a:ea typeface="Aptos"/>
                          <a:cs typeface="Aptos"/>
                        </a:rPr>
                        <a:t>What do we record and average?</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2"/>
                  </a:ext>
                </a:extLst>
              </a:tr>
              <a:tr h="666750">
                <a:tc>
                  <a:txBody>
                    <a:bodyPr/>
                    <a:lstStyle/>
                    <a:p>
                      <a:r>
                        <a:rPr sz="2175" b="0">
                          <a:solidFill>
                            <a:srgbClr val="17365D"/>
                          </a:solidFill>
                          <a:latin typeface="Aptos"/>
                          <a:ea typeface="Aptos"/>
                          <a:cs typeface="Aptos"/>
                        </a:rPr>
                        <a:t>LLN and CLT</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75" b="0">
                          <a:solidFill>
                            <a:srgbClr val="17365D"/>
                          </a:solidFill>
                          <a:latin typeface="Aptos"/>
                          <a:ea typeface="Aptos"/>
                          <a:cs typeface="Aptos"/>
                        </a:rPr>
                        <a:t>Why does it work, and how does the error behave?</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3"/>
                  </a:ext>
                </a:extLst>
              </a:tr>
              <a:tr h="666750">
                <a:tc>
                  <a:txBody>
                    <a:bodyPr/>
                    <a:lstStyle/>
                    <a:p>
                      <a:r>
                        <a:rPr sz="2175" b="0">
                          <a:solidFill>
                            <a:srgbClr val="17365D"/>
                          </a:solidFill>
                          <a:latin typeface="Aptos"/>
                          <a:ea typeface="Aptos"/>
                          <a:cs typeface="Aptos"/>
                        </a:rPr>
                        <a:t>Accuracy</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75" b="0">
                          <a:solidFill>
                            <a:srgbClr val="17365D"/>
                          </a:solidFill>
                          <a:latin typeface="Aptos"/>
                          <a:ea typeface="Aptos"/>
                          <a:cs typeface="Aptos"/>
                        </a:rPr>
                        <a:t>How many simulated trials do we need?</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6" name="text-4">
            <a:extLst>
              <a:ext uri="{FF2B5EF4-FFF2-40B4-BE49-F238E27FC236}">
                <a16:creationId xmlns:a16="http://schemas.microsoft.com/office/drawing/2014/main" id="{38EBC56E-A248-43FE-89CA-6B5EA9D7A1A8}"/>
              </a:ext>
            </a:extLst>
          </p:cNvPr>
          <p:cNvSpPr>
            <a:spLocks noGrp="1"/>
          </p:cNvSpPr>
          <p:nvPr/>
        </p:nvSpPr>
        <p:spPr>
          <a:xfrm>
            <a:off x="857250" y="5524500"/>
            <a:ext cx="10287000" cy="704850"/>
          </a:xfrm>
          <a:prstGeom prst="rect">
            <a:avLst/>
          </a:prstGeom>
          <a:noFill/>
          <a:ln w="0">
            <a:noFill/>
          </a:ln>
        </p:spPr>
        <p:txBody>
          <a:bodyPr wrap="square" lIns="0" tIns="0" rIns="0" bIns="0" anchor="t">
            <a:noAutofit/>
          </a:bodyPr>
          <a:lstStyle>
            <a:lvl1pPr>
              <a:buNone/>
              <a:defRPr sz="2100" b="0">
                <a:solidFill>
                  <a:srgbClr val="17365D"/>
                </a:solidFill>
                <a:latin typeface="Aptos"/>
                <a:ea typeface="Aptos"/>
                <a:cs typeface="Aptos"/>
              </a:defRPr>
            </a:lvl1pPr>
            <a:lvl2pPr>
              <a:buNone/>
              <a:defRPr sz="2100" b="0">
                <a:solidFill>
                  <a:srgbClr val="17365D"/>
                </a:solidFill>
                <a:latin typeface="Aptos"/>
                <a:ea typeface="Aptos"/>
                <a:cs typeface="Aptos"/>
              </a:defRPr>
            </a:lvl2pPr>
            <a:lvl3pPr>
              <a:buNone/>
              <a:defRPr sz="2100" b="0">
                <a:solidFill>
                  <a:srgbClr val="17365D"/>
                </a:solidFill>
                <a:latin typeface="Aptos"/>
                <a:ea typeface="Aptos"/>
                <a:cs typeface="Aptos"/>
              </a:defRPr>
            </a:lvl3pPr>
            <a:lvl4pPr>
              <a:buNone/>
              <a:defRPr sz="2100" b="0">
                <a:solidFill>
                  <a:srgbClr val="17365D"/>
                </a:solidFill>
                <a:latin typeface="Aptos"/>
                <a:ea typeface="Aptos"/>
                <a:cs typeface="Aptos"/>
              </a:defRPr>
            </a:lvl4pPr>
            <a:lvl5pPr>
              <a:buNone/>
              <a:defRPr sz="2100" b="0">
                <a:solidFill>
                  <a:srgbClr val="17365D"/>
                </a:solidFill>
                <a:latin typeface="Aptos"/>
                <a:ea typeface="Aptos"/>
                <a:cs typeface="Aptos"/>
              </a:defRPr>
            </a:lvl5pPr>
            <a:lvl6pPr>
              <a:buNone/>
              <a:defRPr sz="2100" b="0">
                <a:solidFill>
                  <a:srgbClr val="17365D"/>
                </a:solidFill>
                <a:latin typeface="Aptos"/>
                <a:ea typeface="Aptos"/>
                <a:cs typeface="Aptos"/>
              </a:defRPr>
            </a:lvl6pPr>
            <a:lvl7pPr>
              <a:buNone/>
              <a:defRPr sz="2100" b="0">
                <a:solidFill>
                  <a:srgbClr val="17365D"/>
                </a:solidFill>
                <a:latin typeface="Aptos"/>
                <a:ea typeface="Aptos"/>
                <a:cs typeface="Aptos"/>
              </a:defRPr>
            </a:lvl7pPr>
            <a:lvl8pPr>
              <a:buNone/>
              <a:defRPr sz="2100" b="0">
                <a:solidFill>
                  <a:srgbClr val="17365D"/>
                </a:solidFill>
                <a:latin typeface="Aptos"/>
                <a:ea typeface="Aptos"/>
                <a:cs typeface="Aptos"/>
              </a:defRPr>
            </a:lvl8pPr>
            <a:lvl9pPr>
              <a:buNone/>
              <a:defRPr sz="2100" b="0">
                <a:solidFill>
                  <a:srgbClr val="17365D"/>
                </a:solidFill>
                <a:latin typeface="Aptos"/>
                <a:ea typeface="Aptos"/>
                <a:cs typeface="Aptos"/>
              </a:defRPr>
            </a:lvl9pPr>
          </a:lstStyle>
          <a:p>
            <a:pPr>
              <a:buNone/>
              <a:defRPr sz="2100" b="0">
                <a:solidFill>
                  <a:srgbClr val="17365D"/>
                </a:solidFill>
                <a:latin typeface="Aptos"/>
                <a:ea typeface="Aptos"/>
                <a:cs typeface="Aptos"/>
              </a:defRPr>
            </a:pPr>
            <a:r>
              <a:rPr sz="2100" b="0">
                <a:solidFill>
                  <a:srgbClr val="17365D"/>
                </a:solidFill>
                <a:latin typeface="Aptos"/>
                <a:ea typeface="Aptos"/>
                <a:cs typeface="Aptos"/>
              </a:rPr>
              <a:t>Recall from SMP 2–5: expectation, variance, independence and normal standardisation.</a:t>
            </a:r>
          </a:p>
        </p:txBody>
      </p:sp>
    </p:spTree>
    <p:extLst>
      <p:ext uri="{BB962C8B-B14F-4D97-AF65-F5344CB8AC3E}">
        <p14:creationId xmlns:p14="http://schemas.microsoft.com/office/powerpoint/2010/main" val="590517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A80C6F10-2E0B-4273-9A8C-9792A4E791D8}"/>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The warehouse model</a:t>
            </a:r>
          </a:p>
        </p:txBody>
      </p:sp>
      <p:sp>
        <p:nvSpPr>
          <p:cNvPr id="2" name="Straight Connector 1">
            <a:extLst>
              <a:ext uri="{FF2B5EF4-FFF2-40B4-BE49-F238E27FC236}">
                <a16:creationId xmlns:a16="http://schemas.microsoft.com/office/drawing/2014/main" id="{3EC0EE39-3763-487D-91A3-61C83FEC839D}"/>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9ACABF6B-69F5-453C-84AF-6434A5E1026B}"/>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851851DB-CCC2-4A06-9149-0D6683CC0E01}"/>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3</a:t>
            </a:r>
          </a:p>
        </p:txBody>
      </p:sp>
      <p:sp>
        <p:nvSpPr>
          <p:cNvPr id="5" name="text-4">
            <a:extLst>
              <a:ext uri="{FF2B5EF4-FFF2-40B4-BE49-F238E27FC236}">
                <a16:creationId xmlns:a16="http://schemas.microsoft.com/office/drawing/2014/main" id="{DBC8A5F1-3920-478A-A58B-375B924CE523}"/>
              </a:ext>
            </a:extLst>
          </p:cNvPr>
          <p:cNvSpPr>
            <a:spLocks noGrp="1"/>
          </p:cNvSpPr>
          <p:nvPr/>
        </p:nvSpPr>
        <p:spPr>
          <a:xfrm>
            <a:off x="857250" y="1657350"/>
            <a:ext cx="10477500" cy="523875"/>
          </a:xfrm>
          <a:prstGeom prst="rect">
            <a:avLst/>
          </a:prstGeom>
          <a:noFill/>
          <a:ln w="0">
            <a:noFill/>
          </a:ln>
        </p:spPr>
        <p:txBody>
          <a:bodyPr wrap="square" lIns="0" tIns="0" rIns="0" bIns="0" anchor="t">
            <a:noAutofit/>
          </a:bodyPr>
          <a:lstStyle>
            <a:lvl1pPr>
              <a:buNone/>
              <a:defRPr sz="2550" b="0">
                <a:solidFill>
                  <a:srgbClr val="17365D"/>
                </a:solidFill>
                <a:latin typeface="Aptos"/>
                <a:ea typeface="Aptos"/>
                <a:cs typeface="Aptos"/>
              </a:defRPr>
            </a:lvl1pPr>
            <a:lvl2pPr>
              <a:buNone/>
              <a:defRPr sz="2550" b="0">
                <a:solidFill>
                  <a:srgbClr val="17365D"/>
                </a:solidFill>
                <a:latin typeface="Aptos"/>
                <a:ea typeface="Aptos"/>
                <a:cs typeface="Aptos"/>
              </a:defRPr>
            </a:lvl2pPr>
            <a:lvl3pPr>
              <a:buNone/>
              <a:defRPr sz="2550" b="0">
                <a:solidFill>
                  <a:srgbClr val="17365D"/>
                </a:solidFill>
                <a:latin typeface="Aptos"/>
                <a:ea typeface="Aptos"/>
                <a:cs typeface="Aptos"/>
              </a:defRPr>
            </a:lvl3pPr>
            <a:lvl4pPr>
              <a:buNone/>
              <a:defRPr sz="2550" b="0">
                <a:solidFill>
                  <a:srgbClr val="17365D"/>
                </a:solidFill>
                <a:latin typeface="Aptos"/>
                <a:ea typeface="Aptos"/>
                <a:cs typeface="Aptos"/>
              </a:defRPr>
            </a:lvl4pPr>
            <a:lvl5pPr>
              <a:buNone/>
              <a:defRPr sz="2550" b="0">
                <a:solidFill>
                  <a:srgbClr val="17365D"/>
                </a:solidFill>
                <a:latin typeface="Aptos"/>
                <a:ea typeface="Aptos"/>
                <a:cs typeface="Aptos"/>
              </a:defRPr>
            </a:lvl5pPr>
            <a:lvl6pPr>
              <a:buNone/>
              <a:defRPr sz="2550" b="0">
                <a:solidFill>
                  <a:srgbClr val="17365D"/>
                </a:solidFill>
                <a:latin typeface="Aptos"/>
                <a:ea typeface="Aptos"/>
                <a:cs typeface="Aptos"/>
              </a:defRPr>
            </a:lvl6pPr>
            <a:lvl7pPr>
              <a:buNone/>
              <a:defRPr sz="2550" b="0">
                <a:solidFill>
                  <a:srgbClr val="17365D"/>
                </a:solidFill>
                <a:latin typeface="Aptos"/>
                <a:ea typeface="Aptos"/>
                <a:cs typeface="Aptos"/>
              </a:defRPr>
            </a:lvl7pPr>
            <a:lvl8pPr>
              <a:buNone/>
              <a:defRPr sz="2550" b="0">
                <a:solidFill>
                  <a:srgbClr val="17365D"/>
                </a:solidFill>
                <a:latin typeface="Aptos"/>
                <a:ea typeface="Aptos"/>
                <a:cs typeface="Aptos"/>
              </a:defRPr>
            </a:lvl8pPr>
            <a:lvl9pPr>
              <a:buNone/>
              <a:defRPr sz="2550" b="0">
                <a:solidFill>
                  <a:srgbClr val="17365D"/>
                </a:solidFill>
                <a:latin typeface="Aptos"/>
                <a:ea typeface="Aptos"/>
                <a:cs typeface="Aptos"/>
              </a:defRPr>
            </a:lvl9pPr>
          </a:lstStyle>
          <a:p>
            <a:pPr>
              <a:buNone/>
              <a:defRPr sz="2550" b="0">
                <a:solidFill>
                  <a:srgbClr val="17365D"/>
                </a:solidFill>
                <a:latin typeface="Aptos"/>
                <a:ea typeface="Aptos"/>
                <a:cs typeface="Aptos"/>
              </a:defRPr>
            </a:pPr>
            <a:r>
              <a:rPr sz="2550" b="0">
                <a:solidFill>
                  <a:srgbClr val="17365D"/>
                </a:solidFill>
                <a:latin typeface="Aptos"/>
                <a:ea typeface="Aptos"/>
                <a:cs typeface="Aptos"/>
              </a:rPr>
              <a:t>50 independent orders arrive each morning.</a:t>
            </a:r>
          </a:p>
        </p:txBody>
      </p:sp>
      <p:graphicFrame>
        <p:nvGraphicFramePr>
          <p:cNvPr id="16" name="Table 15"/>
          <p:cNvGraphicFramePr/>
          <p:nvPr/>
        </p:nvGraphicFramePr>
        <p:xfrm>
          <a:off x="857250" y="2476500"/>
          <a:ext cx="10477500" cy="1485900"/>
        </p:xfrm>
        <a:graphic>
          <a:graphicData uri="http://schemas.openxmlformats.org/drawingml/2006/table">
            <a:tbl>
              <a:tblPr firstRow="1"/>
              <a:tblGrid>
                <a:gridCol w="419100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gridCol w="2095500">
                  <a:extLst>
                    <a:ext uri="{9D8B030D-6E8A-4147-A177-3AD203B41FA5}">
                      <a16:colId xmlns:a16="http://schemas.microsoft.com/office/drawing/2014/main" val="20003"/>
                    </a:ext>
                  </a:extLst>
                </a:gridCol>
              </a:tblGrid>
              <a:tr h="742950">
                <a:tc>
                  <a:txBody>
                    <a:bodyPr/>
                    <a:lstStyle/>
                    <a:p>
                      <a:r>
                        <a:rPr sz="2400" b="1">
                          <a:solidFill>
                            <a:srgbClr val="FFFFFF"/>
                          </a:solidFill>
                          <a:latin typeface="Aptos"/>
                          <a:ea typeface="Aptos"/>
                          <a:cs typeface="Aptos"/>
                        </a:rPr>
                        <a:t>Items in one order</a:t>
                      </a:r>
                    </a:p>
                  </a:txBody>
                  <a:tcPr anchor="ctr">
                    <a:lnL w="6191">
                      <a:solidFill>
                        <a:srgbClr val="DDE5EC"/>
                      </a:solidFill>
                      <a:prstDash val="soli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tc>
                  <a:txBody>
                    <a:bodyPr/>
                    <a:lstStyle/>
                    <a:p>
                      <a:r>
                        <a:rPr sz="2400" b="1">
                          <a:solidFill>
                            <a:srgbClr val="FFFFFF"/>
                          </a:solidFill>
                          <a:latin typeface="Aptos"/>
                          <a:ea typeface="Aptos"/>
                          <a:cs typeface="Aptos"/>
                        </a:rPr>
                        <a:t>1</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tc>
                  <a:txBody>
                    <a:bodyPr/>
                    <a:lstStyle/>
                    <a:p>
                      <a:r>
                        <a:rPr sz="2400" b="1">
                          <a:solidFill>
                            <a:srgbClr val="FFFFFF"/>
                          </a:solidFill>
                          <a:latin typeface="Aptos"/>
                          <a:ea typeface="Aptos"/>
                          <a:cs typeface="Aptos"/>
                        </a:rPr>
                        <a:t>2</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tc>
                  <a:txBody>
                    <a:bodyPr/>
                    <a:lstStyle/>
                    <a:p>
                      <a:r>
                        <a:rPr sz="2400" b="1">
                          <a:solidFill>
                            <a:srgbClr val="FFFFFF"/>
                          </a:solidFill>
                          <a:latin typeface="Aptos"/>
                          <a:ea typeface="Aptos"/>
                          <a:cs typeface="Aptos"/>
                        </a:rPr>
                        <a:t>6</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extLst>
                  <a:ext uri="{0D108BD9-81ED-4DB2-BD59-A6C34878D82A}">
                    <a16:rowId xmlns:a16="http://schemas.microsoft.com/office/drawing/2014/main" val="10000"/>
                  </a:ext>
                </a:extLst>
              </a:tr>
              <a:tr h="742950">
                <a:tc>
                  <a:txBody>
                    <a:bodyPr/>
                    <a:lstStyle/>
                    <a:p>
                      <a:r>
                        <a:rPr sz="2400" b="0">
                          <a:solidFill>
                            <a:srgbClr val="17365D"/>
                          </a:solidFill>
                          <a:latin typeface="Aptos"/>
                          <a:ea typeface="Aptos"/>
                          <a:cs typeface="Aptos"/>
                        </a:rPr>
                        <a:t>Probability</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400" b="0">
                          <a:solidFill>
                            <a:srgbClr val="17365D"/>
                          </a:solidFill>
                          <a:latin typeface="Aptos"/>
                          <a:ea typeface="Aptos"/>
                          <a:cs typeface="Aptos"/>
                        </a:rPr>
                        <a:t>0.60</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400" b="0">
                          <a:solidFill>
                            <a:srgbClr val="17365D"/>
                          </a:solidFill>
                          <a:latin typeface="Aptos"/>
                          <a:ea typeface="Aptos"/>
                          <a:cs typeface="Aptos"/>
                        </a:rPr>
                        <a:t>0.30</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400" b="0">
                          <a:solidFill>
                            <a:srgbClr val="17365D"/>
                          </a:solidFill>
                          <a:latin typeface="Aptos"/>
                          <a:ea typeface="Aptos"/>
                          <a:cs typeface="Aptos"/>
                        </a:rPr>
                        <a:t>0.10</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7" name="text-5">
            <a:extLst>
              <a:ext uri="{FF2B5EF4-FFF2-40B4-BE49-F238E27FC236}">
                <a16:creationId xmlns:a16="http://schemas.microsoft.com/office/drawing/2014/main" id="{E592A162-4B5A-4192-8909-4A8B7B3018CA}"/>
              </a:ext>
            </a:extLst>
          </p:cNvPr>
          <p:cNvSpPr>
            <a:spLocks noGrp="1"/>
          </p:cNvSpPr>
          <p:nvPr/>
        </p:nvSpPr>
        <p:spPr>
          <a:xfrm>
            <a:off x="857250" y="4438650"/>
            <a:ext cx="10477500" cy="571500"/>
          </a:xfrm>
          <a:prstGeom prst="rect">
            <a:avLst/>
          </a:prstGeom>
          <a:noFill/>
          <a:ln w="0">
            <a:noFill/>
          </a:ln>
        </p:spPr>
        <p:txBody>
          <a:bodyPr wrap="square" lIns="0" tIns="0" rIns="0" bIns="0" anchor="t">
            <a:noAutofit/>
          </a:bodyPr>
          <a:lstStyle>
            <a:lvl1pPr>
              <a:buNone/>
              <a:defRPr sz="2550" b="1">
                <a:solidFill>
                  <a:srgbClr val="2D75A3"/>
                </a:solidFill>
                <a:latin typeface="Aptos"/>
                <a:ea typeface="Aptos"/>
                <a:cs typeface="Aptos"/>
              </a:defRPr>
            </a:lvl1pPr>
            <a:lvl2pPr>
              <a:buNone/>
              <a:defRPr sz="2550" b="1">
                <a:solidFill>
                  <a:srgbClr val="2D75A3"/>
                </a:solidFill>
                <a:latin typeface="Aptos"/>
                <a:ea typeface="Aptos"/>
                <a:cs typeface="Aptos"/>
              </a:defRPr>
            </a:lvl2pPr>
            <a:lvl3pPr>
              <a:buNone/>
              <a:defRPr sz="2550" b="1">
                <a:solidFill>
                  <a:srgbClr val="2D75A3"/>
                </a:solidFill>
                <a:latin typeface="Aptos"/>
                <a:ea typeface="Aptos"/>
                <a:cs typeface="Aptos"/>
              </a:defRPr>
            </a:lvl3pPr>
            <a:lvl4pPr>
              <a:buNone/>
              <a:defRPr sz="2550" b="1">
                <a:solidFill>
                  <a:srgbClr val="2D75A3"/>
                </a:solidFill>
                <a:latin typeface="Aptos"/>
                <a:ea typeface="Aptos"/>
                <a:cs typeface="Aptos"/>
              </a:defRPr>
            </a:lvl4pPr>
            <a:lvl5pPr>
              <a:buNone/>
              <a:defRPr sz="2550" b="1">
                <a:solidFill>
                  <a:srgbClr val="2D75A3"/>
                </a:solidFill>
                <a:latin typeface="Aptos"/>
                <a:ea typeface="Aptos"/>
                <a:cs typeface="Aptos"/>
              </a:defRPr>
            </a:lvl5pPr>
            <a:lvl6pPr>
              <a:buNone/>
              <a:defRPr sz="2550" b="1">
                <a:solidFill>
                  <a:srgbClr val="2D75A3"/>
                </a:solidFill>
                <a:latin typeface="Aptos"/>
                <a:ea typeface="Aptos"/>
                <a:cs typeface="Aptos"/>
              </a:defRPr>
            </a:lvl6pPr>
            <a:lvl7pPr>
              <a:buNone/>
              <a:defRPr sz="2550" b="1">
                <a:solidFill>
                  <a:srgbClr val="2D75A3"/>
                </a:solidFill>
                <a:latin typeface="Aptos"/>
                <a:ea typeface="Aptos"/>
                <a:cs typeface="Aptos"/>
              </a:defRPr>
            </a:lvl7pPr>
            <a:lvl8pPr>
              <a:buNone/>
              <a:defRPr sz="2550" b="1">
                <a:solidFill>
                  <a:srgbClr val="2D75A3"/>
                </a:solidFill>
                <a:latin typeface="Aptos"/>
                <a:ea typeface="Aptos"/>
                <a:cs typeface="Aptos"/>
              </a:defRPr>
            </a:lvl8pPr>
            <a:lvl9pPr>
              <a:buNone/>
              <a:defRPr sz="2550" b="1">
                <a:solidFill>
                  <a:srgbClr val="2D75A3"/>
                </a:solidFill>
                <a:latin typeface="Aptos"/>
                <a:ea typeface="Aptos"/>
                <a:cs typeface="Aptos"/>
              </a:defRPr>
            </a:lvl9pPr>
          </a:lstStyle>
          <a:p>
            <a:pPr>
              <a:buNone/>
              <a:defRPr sz="2550" b="1">
                <a:solidFill>
                  <a:srgbClr val="2D75A3"/>
                </a:solidFill>
                <a:latin typeface="Aptos"/>
                <a:ea typeface="Aptos"/>
                <a:cs typeface="Aptos"/>
              </a:defRPr>
            </a:pPr>
            <a:r>
              <a:rPr sz="2550" b="1">
                <a:solidFill>
                  <a:srgbClr val="2D75A3"/>
                </a:solidFill>
                <a:latin typeface="Aptos"/>
                <a:ea typeface="Aptos"/>
                <a:cs typeface="Aptos"/>
              </a:rPr>
              <a:t>Capacity: 110 items per morning</a:t>
            </a:r>
          </a:p>
        </p:txBody>
      </p:sp>
      <p:sp>
        <p:nvSpPr>
          <p:cNvPr id="8" name="text-6">
            <a:extLst>
              <a:ext uri="{FF2B5EF4-FFF2-40B4-BE49-F238E27FC236}">
                <a16:creationId xmlns:a16="http://schemas.microsoft.com/office/drawing/2014/main" id="{06950D89-2322-41C9-9347-B94BC2AF44E7}"/>
              </a:ext>
            </a:extLst>
          </p:cNvPr>
          <p:cNvSpPr>
            <a:spLocks noGrp="1"/>
          </p:cNvSpPr>
          <p:nvPr/>
        </p:nvSpPr>
        <p:spPr>
          <a:xfrm>
            <a:off x="857250" y="5353050"/>
            <a:ext cx="10477500" cy="666750"/>
          </a:xfrm>
          <a:prstGeom prst="rect">
            <a:avLst/>
          </a:prstGeom>
          <a:noFill/>
          <a:ln w="0">
            <a:noFill/>
          </a:ln>
        </p:spPr>
        <p:txBody>
          <a:bodyPr wrap="square" lIns="0" tIns="0" rIns="0" bIns="0" anchor="t">
            <a:noAutofit/>
          </a:bodyPr>
          <a:lstStyle>
            <a:lvl1pPr>
              <a:buNone/>
              <a:defRPr sz="2550" b="0">
                <a:solidFill>
                  <a:srgbClr val="17365D"/>
                </a:solidFill>
                <a:latin typeface="Aptos"/>
                <a:ea typeface="Aptos"/>
                <a:cs typeface="Aptos"/>
              </a:defRPr>
            </a:lvl1pPr>
            <a:lvl2pPr>
              <a:buNone/>
              <a:defRPr sz="2550" b="0">
                <a:solidFill>
                  <a:srgbClr val="17365D"/>
                </a:solidFill>
                <a:latin typeface="Aptos"/>
                <a:ea typeface="Aptos"/>
                <a:cs typeface="Aptos"/>
              </a:defRPr>
            </a:lvl2pPr>
            <a:lvl3pPr>
              <a:buNone/>
              <a:defRPr sz="2550" b="0">
                <a:solidFill>
                  <a:srgbClr val="17365D"/>
                </a:solidFill>
                <a:latin typeface="Aptos"/>
                <a:ea typeface="Aptos"/>
                <a:cs typeface="Aptos"/>
              </a:defRPr>
            </a:lvl3pPr>
            <a:lvl4pPr>
              <a:buNone/>
              <a:defRPr sz="2550" b="0">
                <a:solidFill>
                  <a:srgbClr val="17365D"/>
                </a:solidFill>
                <a:latin typeface="Aptos"/>
                <a:ea typeface="Aptos"/>
                <a:cs typeface="Aptos"/>
              </a:defRPr>
            </a:lvl4pPr>
            <a:lvl5pPr>
              <a:buNone/>
              <a:defRPr sz="2550" b="0">
                <a:solidFill>
                  <a:srgbClr val="17365D"/>
                </a:solidFill>
                <a:latin typeface="Aptos"/>
                <a:ea typeface="Aptos"/>
                <a:cs typeface="Aptos"/>
              </a:defRPr>
            </a:lvl5pPr>
            <a:lvl6pPr>
              <a:buNone/>
              <a:defRPr sz="2550" b="0">
                <a:solidFill>
                  <a:srgbClr val="17365D"/>
                </a:solidFill>
                <a:latin typeface="Aptos"/>
                <a:ea typeface="Aptos"/>
                <a:cs typeface="Aptos"/>
              </a:defRPr>
            </a:lvl6pPr>
            <a:lvl7pPr>
              <a:buNone/>
              <a:defRPr sz="2550" b="0">
                <a:solidFill>
                  <a:srgbClr val="17365D"/>
                </a:solidFill>
                <a:latin typeface="Aptos"/>
                <a:ea typeface="Aptos"/>
                <a:cs typeface="Aptos"/>
              </a:defRPr>
            </a:lvl7pPr>
            <a:lvl8pPr>
              <a:buNone/>
              <a:defRPr sz="2550" b="0">
                <a:solidFill>
                  <a:srgbClr val="17365D"/>
                </a:solidFill>
                <a:latin typeface="Aptos"/>
                <a:ea typeface="Aptos"/>
                <a:cs typeface="Aptos"/>
              </a:defRPr>
            </a:lvl8pPr>
            <a:lvl9pPr>
              <a:buNone/>
              <a:defRPr sz="2550" b="0">
                <a:solidFill>
                  <a:srgbClr val="17365D"/>
                </a:solidFill>
                <a:latin typeface="Aptos"/>
                <a:ea typeface="Aptos"/>
                <a:cs typeface="Aptos"/>
              </a:defRPr>
            </a:lvl9pPr>
          </a:lstStyle>
          <a:p>
            <a:pPr>
              <a:buNone/>
              <a:defRPr sz="2550" b="0">
                <a:solidFill>
                  <a:srgbClr val="17365D"/>
                </a:solidFill>
                <a:latin typeface="Aptos"/>
                <a:ea typeface="Aptos"/>
                <a:cs typeface="Aptos"/>
              </a:defRPr>
            </a:pPr>
            <a:r>
              <a:rPr sz="2550" b="0">
                <a:solidFill>
                  <a:srgbClr val="17365D"/>
                </a:solidFill>
                <a:latin typeface="Aptos"/>
                <a:ea typeface="Aptos"/>
                <a:cs typeface="Aptos"/>
              </a:rPr>
              <a:t>How often can the warehouse handle all 50 orders?</a:t>
            </a:r>
          </a:p>
        </p:txBody>
      </p:sp>
    </p:spTree>
    <p:extLst>
      <p:ext uri="{BB962C8B-B14F-4D97-AF65-F5344CB8AC3E}">
        <p14:creationId xmlns:p14="http://schemas.microsoft.com/office/powerpoint/2010/main" val="35284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84300A65-C1B8-4B6F-9BC0-391C097A5A67}"/>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One simulated morning</a:t>
            </a:r>
          </a:p>
        </p:txBody>
      </p:sp>
      <p:sp>
        <p:nvSpPr>
          <p:cNvPr id="2" name="Straight Connector 1">
            <a:extLst>
              <a:ext uri="{FF2B5EF4-FFF2-40B4-BE49-F238E27FC236}">
                <a16:creationId xmlns:a16="http://schemas.microsoft.com/office/drawing/2014/main" id="{5EB3E077-4EAB-4B5F-898C-C4EC22019D92}"/>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5A69723D-9302-49B4-97ED-9159191104C0}"/>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9DAEB519-57A7-435A-A3A3-7599DF7E06A2}"/>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4</a:t>
            </a:r>
          </a:p>
        </p:txBody>
      </p:sp>
      <p:graphicFrame>
        <p:nvGraphicFramePr>
          <p:cNvPr id="14" name="Table 13"/>
          <p:cNvGraphicFramePr/>
          <p:nvPr>
            <p:extLst>
              <p:ext uri="{D42A27DB-BD31-4B8C-83A1-F6EECF244321}">
                <p14:modId xmlns:p14="http://schemas.microsoft.com/office/powerpoint/2010/main" val="1494111043"/>
              </p:ext>
            </p:extLst>
          </p:nvPr>
        </p:nvGraphicFramePr>
        <p:xfrm>
          <a:off x="857250" y="1685925"/>
          <a:ext cx="10477500" cy="3238500"/>
        </p:xfrm>
        <a:graphic>
          <a:graphicData uri="http://schemas.openxmlformats.org/drawingml/2006/table">
            <a:tbl>
              <a:tblPr firstRow="1"/>
              <a:tblGrid>
                <a:gridCol w="3333750">
                  <a:extLst>
                    <a:ext uri="{9D8B030D-6E8A-4147-A177-3AD203B41FA5}">
                      <a16:colId xmlns:a16="http://schemas.microsoft.com/office/drawing/2014/main" val="20000"/>
                    </a:ext>
                  </a:extLst>
                </a:gridCol>
                <a:gridCol w="3571875">
                  <a:extLst>
                    <a:ext uri="{9D8B030D-6E8A-4147-A177-3AD203B41FA5}">
                      <a16:colId xmlns:a16="http://schemas.microsoft.com/office/drawing/2014/main" val="20001"/>
                    </a:ext>
                  </a:extLst>
                </a:gridCol>
                <a:gridCol w="3571875">
                  <a:extLst>
                    <a:ext uri="{9D8B030D-6E8A-4147-A177-3AD203B41FA5}">
                      <a16:colId xmlns:a16="http://schemas.microsoft.com/office/drawing/2014/main" val="20002"/>
                    </a:ext>
                  </a:extLst>
                </a:gridCol>
              </a:tblGrid>
              <a:tr h="647700">
                <a:tc>
                  <a:txBody>
                    <a:bodyPr/>
                    <a:lstStyle/>
                    <a:p>
                      <a:r>
                        <a:rPr sz="2100" b="1">
                          <a:solidFill>
                            <a:srgbClr val="FFFFFF"/>
                          </a:solidFill>
                          <a:latin typeface="Aptos"/>
                          <a:ea typeface="Aptos"/>
                          <a:cs typeface="Aptos"/>
                        </a:rPr>
                        <a:t>Order size</a:t>
                      </a:r>
                    </a:p>
                  </a:txBody>
                  <a:tcPr anchor="ctr">
                    <a:lnL w="6191">
                      <a:solidFill>
                        <a:srgbClr val="DDE5EC"/>
                      </a:solidFill>
                      <a:prstDash val="soli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tc>
                  <a:txBody>
                    <a:bodyPr/>
                    <a:lstStyle/>
                    <a:p>
                      <a:r>
                        <a:rPr sz="2100" b="1">
                          <a:solidFill>
                            <a:srgbClr val="FFFFFF"/>
                          </a:solidFill>
                          <a:latin typeface="Aptos"/>
                          <a:ea typeface="Aptos"/>
                          <a:cs typeface="Aptos"/>
                        </a:rPr>
                        <a:t>Number of orders</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tc>
                  <a:txBody>
                    <a:bodyPr/>
                    <a:lstStyle/>
                    <a:p>
                      <a:r>
                        <a:rPr sz="2100" b="1">
                          <a:solidFill>
                            <a:srgbClr val="FFFFFF"/>
                          </a:solidFill>
                          <a:latin typeface="Aptos"/>
                          <a:ea typeface="Aptos"/>
                          <a:cs typeface="Aptos"/>
                        </a:rPr>
                        <a:t>Items required</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extLst>
                  <a:ext uri="{0D108BD9-81ED-4DB2-BD59-A6C34878D82A}">
                    <a16:rowId xmlns:a16="http://schemas.microsoft.com/office/drawing/2014/main" val="10000"/>
                  </a:ext>
                </a:extLst>
              </a:tr>
              <a:tr h="647700">
                <a:tc>
                  <a:txBody>
                    <a:bodyPr/>
                    <a:lstStyle/>
                    <a:p>
                      <a:r>
                        <a:rPr sz="2100" b="0">
                          <a:solidFill>
                            <a:srgbClr val="17365D"/>
                          </a:solidFill>
                          <a:latin typeface="Aptos"/>
                          <a:ea typeface="Aptos"/>
                          <a:cs typeface="Aptos"/>
                        </a:rPr>
                        <a:t>1 item</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00" b="0" dirty="0">
                          <a:solidFill>
                            <a:srgbClr val="17365D"/>
                          </a:solidFill>
                          <a:latin typeface="Aptos"/>
                          <a:ea typeface="Aptos"/>
                          <a:cs typeface="Aptos"/>
                        </a:rPr>
                        <a:t>3</a:t>
                      </a:r>
                      <a:r>
                        <a:rPr lang="en-GB" sz="2100" b="0" dirty="0">
                          <a:solidFill>
                            <a:srgbClr val="17365D"/>
                          </a:solidFill>
                          <a:latin typeface="Aptos"/>
                          <a:ea typeface="Aptos"/>
                          <a:cs typeface="Aptos"/>
                        </a:rPr>
                        <a:t>1</a:t>
                      </a:r>
                      <a:endParaRPr sz="2100" b="0" dirty="0">
                        <a:solidFill>
                          <a:srgbClr val="17365D"/>
                        </a:solidFill>
                        <a:latin typeface="Aptos"/>
                        <a:ea typeface="Aptos"/>
                        <a:cs typeface="Aptos"/>
                      </a:endParaRP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00" b="0" dirty="0">
                          <a:solidFill>
                            <a:srgbClr val="17365D"/>
                          </a:solidFill>
                          <a:latin typeface="Aptos"/>
                          <a:ea typeface="Aptos"/>
                          <a:cs typeface="Aptos"/>
                        </a:rPr>
                        <a:t>3</a:t>
                      </a:r>
                      <a:r>
                        <a:rPr lang="en-GB" sz="2100" b="0" dirty="0">
                          <a:solidFill>
                            <a:srgbClr val="17365D"/>
                          </a:solidFill>
                          <a:latin typeface="Aptos"/>
                          <a:ea typeface="Aptos"/>
                          <a:cs typeface="Aptos"/>
                        </a:rPr>
                        <a:t>1</a:t>
                      </a:r>
                      <a:endParaRPr sz="2100" b="0" dirty="0">
                        <a:solidFill>
                          <a:srgbClr val="17365D"/>
                        </a:solidFill>
                        <a:latin typeface="Aptos"/>
                        <a:ea typeface="Aptos"/>
                        <a:cs typeface="Aptos"/>
                      </a:endParaRP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1"/>
                  </a:ext>
                </a:extLst>
              </a:tr>
              <a:tr h="647700">
                <a:tc>
                  <a:txBody>
                    <a:bodyPr/>
                    <a:lstStyle/>
                    <a:p>
                      <a:r>
                        <a:rPr sz="2100" b="0">
                          <a:solidFill>
                            <a:srgbClr val="17365D"/>
                          </a:solidFill>
                          <a:latin typeface="Aptos"/>
                          <a:ea typeface="Aptos"/>
                          <a:cs typeface="Aptos"/>
                        </a:rPr>
                        <a:t>2 items</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00" b="0">
                          <a:solidFill>
                            <a:srgbClr val="17365D"/>
                          </a:solidFill>
                          <a:latin typeface="Aptos"/>
                          <a:ea typeface="Aptos"/>
                          <a:cs typeface="Aptos"/>
                        </a:rPr>
                        <a:t>14</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00" b="0">
                          <a:solidFill>
                            <a:srgbClr val="17365D"/>
                          </a:solidFill>
                          <a:latin typeface="Aptos"/>
                          <a:ea typeface="Aptos"/>
                          <a:cs typeface="Aptos"/>
                        </a:rPr>
                        <a:t>28</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2"/>
                  </a:ext>
                </a:extLst>
              </a:tr>
              <a:tr h="647700">
                <a:tc>
                  <a:txBody>
                    <a:bodyPr/>
                    <a:lstStyle/>
                    <a:p>
                      <a:r>
                        <a:rPr sz="2100" b="0">
                          <a:solidFill>
                            <a:srgbClr val="17365D"/>
                          </a:solidFill>
                          <a:latin typeface="Aptos"/>
                          <a:ea typeface="Aptos"/>
                          <a:cs typeface="Aptos"/>
                        </a:rPr>
                        <a:t>6 items</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00" b="0" dirty="0">
                          <a:solidFill>
                            <a:srgbClr val="17365D"/>
                          </a:solidFill>
                          <a:latin typeface="Aptos"/>
                          <a:ea typeface="Aptos"/>
                          <a:cs typeface="Aptos"/>
                        </a:rPr>
                        <a:t>5</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00" b="0">
                          <a:solidFill>
                            <a:srgbClr val="17365D"/>
                          </a:solidFill>
                          <a:latin typeface="Aptos"/>
                          <a:ea typeface="Aptos"/>
                          <a:cs typeface="Aptos"/>
                        </a:rPr>
                        <a:t>30</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3"/>
                  </a:ext>
                </a:extLst>
              </a:tr>
              <a:tr h="647700">
                <a:tc>
                  <a:txBody>
                    <a:bodyPr/>
                    <a:lstStyle/>
                    <a:p>
                      <a:r>
                        <a:rPr sz="2100" b="0">
                          <a:solidFill>
                            <a:srgbClr val="17365D"/>
                          </a:solidFill>
                          <a:latin typeface="Aptos"/>
                          <a:ea typeface="Aptos"/>
                          <a:cs typeface="Aptos"/>
                        </a:rPr>
                        <a:t>Total</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00" b="0">
                          <a:solidFill>
                            <a:srgbClr val="17365D"/>
                          </a:solidFill>
                          <a:latin typeface="Aptos"/>
                          <a:ea typeface="Aptos"/>
                          <a:cs typeface="Aptos"/>
                        </a:rPr>
                        <a:t>50</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00" b="0" dirty="0">
                          <a:solidFill>
                            <a:srgbClr val="17365D"/>
                          </a:solidFill>
                          <a:latin typeface="Aptos"/>
                          <a:ea typeface="Aptos"/>
                          <a:cs typeface="Aptos"/>
                        </a:rPr>
                        <a:t>89</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6" name="text-4">
            <a:extLst>
              <a:ext uri="{FF2B5EF4-FFF2-40B4-BE49-F238E27FC236}">
                <a16:creationId xmlns:a16="http://schemas.microsoft.com/office/drawing/2014/main" id="{8155A946-68F8-4E93-B054-A0DA67DFCBAB}"/>
              </a:ext>
            </a:extLst>
          </p:cNvPr>
          <p:cNvSpPr>
            <a:spLocks noGrp="1"/>
          </p:cNvSpPr>
          <p:nvPr/>
        </p:nvSpPr>
        <p:spPr>
          <a:xfrm>
            <a:off x="857250" y="5305425"/>
            <a:ext cx="10477500" cy="590550"/>
          </a:xfrm>
          <a:prstGeom prst="rect">
            <a:avLst/>
          </a:prstGeom>
          <a:noFill/>
          <a:ln w="0">
            <a:noFill/>
          </a:ln>
        </p:spPr>
        <p:txBody>
          <a:bodyPr wrap="square" lIns="0" tIns="0" rIns="0" bIns="0" anchor="t">
            <a:noAutofit/>
          </a:bodyPr>
          <a:lstStyle>
            <a:lvl1pPr>
              <a:buNone/>
              <a:defRPr sz="2550" b="1">
                <a:solidFill>
                  <a:srgbClr val="2F6F4E"/>
                </a:solidFill>
                <a:latin typeface="Aptos"/>
                <a:ea typeface="Aptos"/>
                <a:cs typeface="Aptos"/>
              </a:defRPr>
            </a:lvl1pPr>
            <a:lvl2pPr>
              <a:buNone/>
              <a:defRPr sz="2550" b="1">
                <a:solidFill>
                  <a:srgbClr val="2F6F4E"/>
                </a:solidFill>
                <a:latin typeface="Aptos"/>
                <a:ea typeface="Aptos"/>
                <a:cs typeface="Aptos"/>
              </a:defRPr>
            </a:lvl2pPr>
            <a:lvl3pPr>
              <a:buNone/>
              <a:defRPr sz="2550" b="1">
                <a:solidFill>
                  <a:srgbClr val="2F6F4E"/>
                </a:solidFill>
                <a:latin typeface="Aptos"/>
                <a:ea typeface="Aptos"/>
                <a:cs typeface="Aptos"/>
              </a:defRPr>
            </a:lvl3pPr>
            <a:lvl4pPr>
              <a:buNone/>
              <a:defRPr sz="2550" b="1">
                <a:solidFill>
                  <a:srgbClr val="2F6F4E"/>
                </a:solidFill>
                <a:latin typeface="Aptos"/>
                <a:ea typeface="Aptos"/>
                <a:cs typeface="Aptos"/>
              </a:defRPr>
            </a:lvl4pPr>
            <a:lvl5pPr>
              <a:buNone/>
              <a:defRPr sz="2550" b="1">
                <a:solidFill>
                  <a:srgbClr val="2F6F4E"/>
                </a:solidFill>
                <a:latin typeface="Aptos"/>
                <a:ea typeface="Aptos"/>
                <a:cs typeface="Aptos"/>
              </a:defRPr>
            </a:lvl5pPr>
            <a:lvl6pPr>
              <a:buNone/>
              <a:defRPr sz="2550" b="1">
                <a:solidFill>
                  <a:srgbClr val="2F6F4E"/>
                </a:solidFill>
                <a:latin typeface="Aptos"/>
                <a:ea typeface="Aptos"/>
                <a:cs typeface="Aptos"/>
              </a:defRPr>
            </a:lvl6pPr>
            <a:lvl7pPr>
              <a:buNone/>
              <a:defRPr sz="2550" b="1">
                <a:solidFill>
                  <a:srgbClr val="2F6F4E"/>
                </a:solidFill>
                <a:latin typeface="Aptos"/>
                <a:ea typeface="Aptos"/>
                <a:cs typeface="Aptos"/>
              </a:defRPr>
            </a:lvl7pPr>
            <a:lvl8pPr>
              <a:buNone/>
              <a:defRPr sz="2550" b="1">
                <a:solidFill>
                  <a:srgbClr val="2F6F4E"/>
                </a:solidFill>
                <a:latin typeface="Aptos"/>
                <a:ea typeface="Aptos"/>
                <a:cs typeface="Aptos"/>
              </a:defRPr>
            </a:lvl8pPr>
            <a:lvl9pPr>
              <a:buNone/>
              <a:defRPr sz="2550" b="1">
                <a:solidFill>
                  <a:srgbClr val="2F6F4E"/>
                </a:solidFill>
                <a:latin typeface="Aptos"/>
                <a:ea typeface="Aptos"/>
                <a:cs typeface="Aptos"/>
              </a:defRPr>
            </a:lvl9pPr>
          </a:lstStyle>
          <a:p>
            <a:pPr>
              <a:buNone/>
              <a:defRPr sz="2550" b="1">
                <a:solidFill>
                  <a:srgbClr val="2F6F4E"/>
                </a:solidFill>
                <a:latin typeface="Aptos"/>
                <a:ea typeface="Aptos"/>
                <a:cs typeface="Aptos"/>
              </a:defRPr>
            </a:pPr>
            <a:r>
              <a:rPr sz="2550" b="1">
                <a:solidFill>
                  <a:srgbClr val="2F6F4E"/>
                </a:solidFill>
                <a:latin typeface="Aptos"/>
                <a:ea typeface="Aptos"/>
                <a:cs typeface="Aptos"/>
              </a:rPr>
              <a:t>89 ≤ 110, so this morning fits. Record 1.</a:t>
            </a:r>
          </a:p>
        </p:txBody>
      </p:sp>
      <p:sp>
        <p:nvSpPr>
          <p:cNvPr id="7" name="text-5">
            <a:extLst>
              <a:ext uri="{FF2B5EF4-FFF2-40B4-BE49-F238E27FC236}">
                <a16:creationId xmlns:a16="http://schemas.microsoft.com/office/drawing/2014/main" id="{AD48C5E5-276F-4260-A256-3BC3EB5BACD2}"/>
              </a:ext>
            </a:extLst>
          </p:cNvPr>
          <p:cNvSpPr>
            <a:spLocks noGrp="1"/>
          </p:cNvSpPr>
          <p:nvPr/>
        </p:nvSpPr>
        <p:spPr>
          <a:xfrm>
            <a:off x="857250" y="6076950"/>
            <a:ext cx="10477500" cy="228600"/>
          </a:xfrm>
          <a:prstGeom prst="rect">
            <a:avLst/>
          </a:prstGeom>
          <a:noFill/>
          <a:ln w="0">
            <a:noFill/>
          </a:ln>
        </p:spPr>
        <p:txBody>
          <a:bodyPr wrap="square" lIns="0" tIns="0" rIns="0" bIns="0" anchor="t">
            <a:noAutofit/>
          </a:bodyPr>
          <a:lstStyle>
            <a:lvl1pPr>
              <a:buNone/>
              <a:defRPr sz="1425" b="0">
                <a:solidFill>
                  <a:srgbClr val="526171"/>
                </a:solidFill>
                <a:latin typeface="Aptos"/>
                <a:ea typeface="Aptos"/>
                <a:cs typeface="Aptos"/>
              </a:defRPr>
            </a:lvl1pPr>
            <a:lvl2pPr>
              <a:buNone/>
              <a:defRPr sz="1425" b="0">
                <a:solidFill>
                  <a:srgbClr val="526171"/>
                </a:solidFill>
                <a:latin typeface="Aptos"/>
                <a:ea typeface="Aptos"/>
                <a:cs typeface="Aptos"/>
              </a:defRPr>
            </a:lvl2pPr>
            <a:lvl3pPr>
              <a:buNone/>
              <a:defRPr sz="1425" b="0">
                <a:solidFill>
                  <a:srgbClr val="526171"/>
                </a:solidFill>
                <a:latin typeface="Aptos"/>
                <a:ea typeface="Aptos"/>
                <a:cs typeface="Aptos"/>
              </a:defRPr>
            </a:lvl3pPr>
            <a:lvl4pPr>
              <a:buNone/>
              <a:defRPr sz="1425" b="0">
                <a:solidFill>
                  <a:srgbClr val="526171"/>
                </a:solidFill>
                <a:latin typeface="Aptos"/>
                <a:ea typeface="Aptos"/>
                <a:cs typeface="Aptos"/>
              </a:defRPr>
            </a:lvl4pPr>
            <a:lvl5pPr>
              <a:buNone/>
              <a:defRPr sz="1425" b="0">
                <a:solidFill>
                  <a:srgbClr val="526171"/>
                </a:solidFill>
                <a:latin typeface="Aptos"/>
                <a:ea typeface="Aptos"/>
                <a:cs typeface="Aptos"/>
              </a:defRPr>
            </a:lvl5pPr>
            <a:lvl6pPr>
              <a:buNone/>
              <a:defRPr sz="1425" b="0">
                <a:solidFill>
                  <a:srgbClr val="526171"/>
                </a:solidFill>
                <a:latin typeface="Aptos"/>
                <a:ea typeface="Aptos"/>
                <a:cs typeface="Aptos"/>
              </a:defRPr>
            </a:lvl6pPr>
            <a:lvl7pPr>
              <a:buNone/>
              <a:defRPr sz="1425" b="0">
                <a:solidFill>
                  <a:srgbClr val="526171"/>
                </a:solidFill>
                <a:latin typeface="Aptos"/>
                <a:ea typeface="Aptos"/>
                <a:cs typeface="Aptos"/>
              </a:defRPr>
            </a:lvl7pPr>
            <a:lvl8pPr>
              <a:buNone/>
              <a:defRPr sz="1425" b="0">
                <a:solidFill>
                  <a:srgbClr val="526171"/>
                </a:solidFill>
                <a:latin typeface="Aptos"/>
                <a:ea typeface="Aptos"/>
                <a:cs typeface="Aptos"/>
              </a:defRPr>
            </a:lvl8pPr>
            <a:lvl9pPr>
              <a:buNone/>
              <a:defRPr sz="1425" b="0">
                <a:solidFill>
                  <a:srgbClr val="526171"/>
                </a:solidFill>
                <a:latin typeface="Aptos"/>
                <a:ea typeface="Aptos"/>
                <a:cs typeface="Aptos"/>
              </a:defRPr>
            </a:lvl9pPr>
          </a:lstStyle>
          <a:p>
            <a:pPr>
              <a:buNone/>
              <a:defRPr sz="1425" b="0">
                <a:solidFill>
                  <a:srgbClr val="526171"/>
                </a:solidFill>
                <a:latin typeface="Aptos"/>
                <a:ea typeface="Aptos"/>
                <a:cs typeface="Aptos"/>
              </a:defRPr>
            </a:pPr>
            <a:r>
              <a:rPr sz="1425" b="0">
                <a:solidFill>
                  <a:srgbClr val="526171"/>
                </a:solidFill>
                <a:latin typeface="Aptos"/>
                <a:ea typeface="Aptos"/>
                <a:cs typeface="Aptos"/>
              </a:rPr>
              <a:t>Illustrative batch</a:t>
            </a:r>
          </a:p>
        </p:txBody>
      </p:sp>
      <p:sp>
        <p:nvSpPr>
          <p:cNvPr id="15" name="notebook-cue-slide-4">
            <a:extLst>
              <a:ext uri="{FF2B5EF4-FFF2-40B4-BE49-F238E27FC236}">
                <a16:creationId xmlns:a16="http://schemas.microsoft.com/office/drawing/2014/main" id="{19CF74D9-A953-47B0-A428-B24FEB93A2D0}"/>
              </a:ext>
            </a:extLst>
          </p:cNvPr>
          <p:cNvSpPr>
            <a:spLocks noGrp="1"/>
          </p:cNvSpPr>
          <p:nvPr/>
        </p:nvSpPr>
        <p:spPr>
          <a:xfrm>
            <a:off x="2952750" y="6429375"/>
            <a:ext cx="7620000" cy="295275"/>
          </a:xfrm>
          <a:prstGeom prst="rect">
            <a:avLst/>
          </a:prstGeom>
          <a:noFill/>
          <a:ln w="0">
            <a:noFill/>
          </a:ln>
        </p:spPr>
        <p:txBody>
          <a:bodyPr wrap="none" lIns="0" tIns="0" rIns="0" bIns="0" anchor="ctr">
            <a:noAutofit/>
          </a:bodyPr>
          <a:lstStyle>
            <a:defPPr algn="ctr">
              <a:defRPr sz="1650" b="1">
                <a:solidFill>
                  <a:srgbClr val="2F6F4E"/>
                </a:solidFill>
                <a:latin typeface="Aptos"/>
                <a:ea typeface="Aptos"/>
                <a:cs typeface="Aptos"/>
              </a:defRPr>
            </a:defPPr>
            <a:lvl1pPr algn="ctr">
              <a:defRPr sz="1650" b="1">
                <a:solidFill>
                  <a:srgbClr val="2F6F4E"/>
                </a:solidFill>
                <a:latin typeface="Aptos"/>
                <a:ea typeface="Aptos"/>
                <a:cs typeface="Aptos"/>
              </a:defRPr>
            </a:lvl1pPr>
            <a:lvl2pPr algn="ctr">
              <a:defRPr sz="1650" b="1">
                <a:solidFill>
                  <a:srgbClr val="2F6F4E"/>
                </a:solidFill>
                <a:latin typeface="Aptos"/>
                <a:ea typeface="Aptos"/>
                <a:cs typeface="Aptos"/>
              </a:defRPr>
            </a:lvl2pPr>
            <a:lvl3pPr algn="ctr">
              <a:defRPr sz="1650" b="1">
                <a:solidFill>
                  <a:srgbClr val="2F6F4E"/>
                </a:solidFill>
                <a:latin typeface="Aptos"/>
                <a:ea typeface="Aptos"/>
                <a:cs typeface="Aptos"/>
              </a:defRPr>
            </a:lvl3pPr>
            <a:lvl4pPr algn="ctr">
              <a:defRPr sz="1650" b="1">
                <a:solidFill>
                  <a:srgbClr val="2F6F4E"/>
                </a:solidFill>
                <a:latin typeface="Aptos"/>
                <a:ea typeface="Aptos"/>
                <a:cs typeface="Aptos"/>
              </a:defRPr>
            </a:lvl4pPr>
            <a:lvl5pPr algn="ctr">
              <a:defRPr sz="1650" b="1">
                <a:solidFill>
                  <a:srgbClr val="2F6F4E"/>
                </a:solidFill>
                <a:latin typeface="Aptos"/>
                <a:ea typeface="Aptos"/>
                <a:cs typeface="Aptos"/>
              </a:defRPr>
            </a:lvl5pPr>
            <a:lvl6pPr algn="ctr">
              <a:defRPr sz="1650" b="1">
                <a:solidFill>
                  <a:srgbClr val="2F6F4E"/>
                </a:solidFill>
                <a:latin typeface="Aptos"/>
                <a:ea typeface="Aptos"/>
                <a:cs typeface="Aptos"/>
              </a:defRPr>
            </a:lvl6pPr>
            <a:lvl7pPr algn="ctr">
              <a:defRPr sz="1650" b="1">
                <a:solidFill>
                  <a:srgbClr val="2F6F4E"/>
                </a:solidFill>
                <a:latin typeface="Aptos"/>
                <a:ea typeface="Aptos"/>
                <a:cs typeface="Aptos"/>
              </a:defRPr>
            </a:lvl7pPr>
            <a:lvl8pPr algn="ctr">
              <a:defRPr sz="1650" b="1">
                <a:solidFill>
                  <a:srgbClr val="2F6F4E"/>
                </a:solidFill>
                <a:latin typeface="Aptos"/>
                <a:ea typeface="Aptos"/>
                <a:cs typeface="Aptos"/>
              </a:defRPr>
            </a:lvl8pPr>
            <a:lvl9pPr algn="ctr">
              <a:defRPr sz="1650" b="1">
                <a:solidFill>
                  <a:srgbClr val="2F6F4E"/>
                </a:solidFill>
                <a:latin typeface="Aptos"/>
                <a:ea typeface="Aptos"/>
                <a:cs typeface="Aptos"/>
              </a:defRPr>
            </a:lvl9pPr>
          </a:lstStyle>
          <a:p>
            <a:pPr algn="ctr">
              <a:defRPr sz="1650" b="1">
                <a:solidFill>
                  <a:srgbClr val="2F6F4E"/>
                </a:solidFill>
                <a:latin typeface="Aptos"/>
                <a:ea typeface="Aptos"/>
                <a:cs typeface="Aptos"/>
              </a:defRPr>
            </a:pPr>
            <a:r>
              <a:rPr sz="1650" b="1">
                <a:solidFill>
                  <a:srgbClr val="2F6F4E"/>
                </a:solidFill>
                <a:latin typeface="Aptos"/>
                <a:ea typeface="Aptos"/>
                <a:cs typeface="Aptos"/>
              </a:rPr>
              <a:t>Notebook: Slide 4</a:t>
            </a:r>
          </a:p>
        </p:txBody>
      </p:sp>
    </p:spTree>
    <p:extLst>
      <p:ext uri="{BB962C8B-B14F-4D97-AF65-F5344CB8AC3E}">
        <p14:creationId xmlns:p14="http://schemas.microsoft.com/office/powerpoint/2010/main" val="231163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97B0A311-0A29-4A8C-95F4-EA4368DE70C6}"/>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The source of randomness</a:t>
            </a:r>
          </a:p>
        </p:txBody>
      </p:sp>
      <p:sp>
        <p:nvSpPr>
          <p:cNvPr id="2" name="Straight Connector 1">
            <a:extLst>
              <a:ext uri="{FF2B5EF4-FFF2-40B4-BE49-F238E27FC236}">
                <a16:creationId xmlns:a16="http://schemas.microsoft.com/office/drawing/2014/main" id="{32147FFA-250A-460F-9F52-7ABCEA46C7B5}"/>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AD701772-60BB-4F44-8867-A4DEE77AEA32}"/>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9F2157B3-A64A-4959-937A-197F6F64E91C}"/>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5</a:t>
            </a:r>
          </a:p>
        </p:txBody>
      </p:sp>
      <p:sp>
        <p:nvSpPr>
          <p:cNvPr id="5" name="text-4">
            <a:extLst>
              <a:ext uri="{FF2B5EF4-FFF2-40B4-BE49-F238E27FC236}">
                <a16:creationId xmlns:a16="http://schemas.microsoft.com/office/drawing/2014/main" id="{F70F4D44-379B-4EF2-BD97-794E9FD77C31}"/>
              </a:ext>
            </a:extLst>
          </p:cNvPr>
          <p:cNvSpPr>
            <a:spLocks noGrp="1"/>
          </p:cNvSpPr>
          <p:nvPr/>
        </p:nvSpPr>
        <p:spPr>
          <a:xfrm>
            <a:off x="857250" y="1619250"/>
            <a:ext cx="10477500" cy="742950"/>
          </a:xfrm>
          <a:prstGeom prst="rect">
            <a:avLst/>
          </a:prstGeom>
          <a:noFill/>
          <a:ln w="0">
            <a:noFill/>
          </a:ln>
        </p:spPr>
        <p:txBody>
          <a:bodyPr wrap="square" lIns="0" tIns="0" rIns="0" bIns="0" anchor="t">
            <a:noAutofit/>
          </a:bodyPr>
          <a:lstStyle>
            <a:lvl1pPr>
              <a:buNone/>
              <a:defRPr sz="2250" b="0">
                <a:solidFill>
                  <a:srgbClr val="17365D"/>
                </a:solidFill>
                <a:latin typeface="Aptos"/>
                <a:ea typeface="Aptos"/>
                <a:cs typeface="Aptos"/>
              </a:defRPr>
            </a:lvl1pPr>
            <a:lvl2pPr>
              <a:buNone/>
              <a:defRPr sz="2250" b="0">
                <a:solidFill>
                  <a:srgbClr val="17365D"/>
                </a:solidFill>
                <a:latin typeface="Aptos"/>
                <a:ea typeface="Aptos"/>
                <a:cs typeface="Aptos"/>
              </a:defRPr>
            </a:lvl2pPr>
            <a:lvl3pPr>
              <a:buNone/>
              <a:defRPr sz="2250" b="0">
                <a:solidFill>
                  <a:srgbClr val="17365D"/>
                </a:solidFill>
                <a:latin typeface="Aptos"/>
                <a:ea typeface="Aptos"/>
                <a:cs typeface="Aptos"/>
              </a:defRPr>
            </a:lvl3pPr>
            <a:lvl4pPr>
              <a:buNone/>
              <a:defRPr sz="2250" b="0">
                <a:solidFill>
                  <a:srgbClr val="17365D"/>
                </a:solidFill>
                <a:latin typeface="Aptos"/>
                <a:ea typeface="Aptos"/>
                <a:cs typeface="Aptos"/>
              </a:defRPr>
            </a:lvl4pPr>
            <a:lvl5pPr>
              <a:buNone/>
              <a:defRPr sz="2250" b="0">
                <a:solidFill>
                  <a:srgbClr val="17365D"/>
                </a:solidFill>
                <a:latin typeface="Aptos"/>
                <a:ea typeface="Aptos"/>
                <a:cs typeface="Aptos"/>
              </a:defRPr>
            </a:lvl5pPr>
            <a:lvl6pPr>
              <a:buNone/>
              <a:defRPr sz="2250" b="0">
                <a:solidFill>
                  <a:srgbClr val="17365D"/>
                </a:solidFill>
                <a:latin typeface="Aptos"/>
                <a:ea typeface="Aptos"/>
                <a:cs typeface="Aptos"/>
              </a:defRPr>
            </a:lvl6pPr>
            <a:lvl7pPr>
              <a:buNone/>
              <a:defRPr sz="2250" b="0">
                <a:solidFill>
                  <a:srgbClr val="17365D"/>
                </a:solidFill>
                <a:latin typeface="Aptos"/>
                <a:ea typeface="Aptos"/>
                <a:cs typeface="Aptos"/>
              </a:defRPr>
            </a:lvl7pPr>
            <a:lvl8pPr>
              <a:buNone/>
              <a:defRPr sz="2250" b="0">
                <a:solidFill>
                  <a:srgbClr val="17365D"/>
                </a:solidFill>
                <a:latin typeface="Aptos"/>
                <a:ea typeface="Aptos"/>
                <a:cs typeface="Aptos"/>
              </a:defRPr>
            </a:lvl8pPr>
            <a:lvl9pPr>
              <a:buNone/>
              <a:defRPr sz="2250" b="0">
                <a:solidFill>
                  <a:srgbClr val="17365D"/>
                </a:solidFill>
                <a:latin typeface="Aptos"/>
                <a:ea typeface="Aptos"/>
                <a:cs typeface="Aptos"/>
              </a:defRPr>
            </a:lvl9pPr>
          </a:lstStyle>
          <a:p>
            <a:pPr>
              <a:buNone/>
              <a:defRPr sz="2250" b="0">
                <a:solidFill>
                  <a:srgbClr val="17365D"/>
                </a:solidFill>
                <a:latin typeface="Aptos"/>
                <a:ea typeface="Aptos"/>
                <a:cs typeface="Aptos"/>
              </a:defRPr>
            </a:pPr>
            <a:r>
              <a:rPr sz="2250" b="0">
                <a:solidFill>
                  <a:srgbClr val="17365D"/>
                </a:solidFill>
                <a:latin typeface="Aptos"/>
                <a:ea typeface="Aptos"/>
                <a:cs typeface="Aptos"/>
              </a:rPr>
              <a:t>Draw U uniformly from 0 to 1: equal-length intervals are equally likely.</a:t>
            </a:r>
          </a:p>
        </p:txBody>
      </p:sp>
      <p:graphicFrame>
        <p:nvGraphicFramePr>
          <p:cNvPr id="15" name="Table 14"/>
          <p:cNvGraphicFramePr/>
          <p:nvPr/>
        </p:nvGraphicFramePr>
        <p:xfrm>
          <a:off x="857250" y="2628900"/>
          <a:ext cx="10477500" cy="2381252"/>
        </p:xfrm>
        <a:graphic>
          <a:graphicData uri="http://schemas.openxmlformats.org/drawingml/2006/table">
            <a:tbl>
              <a:tblPr firstRow="1"/>
              <a:tblGrid>
                <a:gridCol w="59055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595313">
                <a:tc>
                  <a:txBody>
                    <a:bodyPr/>
                    <a:lstStyle/>
                    <a:p>
                      <a:r>
                        <a:rPr sz="2250" b="1">
                          <a:solidFill>
                            <a:srgbClr val="FFFFFF"/>
                          </a:solidFill>
                          <a:latin typeface="Aptos"/>
                          <a:ea typeface="Aptos"/>
                          <a:cs typeface="Aptos"/>
                        </a:rPr>
                        <a:t>Uniform draw U</a:t>
                      </a:r>
                    </a:p>
                  </a:txBody>
                  <a:tcPr anchor="ctr">
                    <a:lnL w="6191">
                      <a:solidFill>
                        <a:srgbClr val="DDE5EC"/>
                      </a:solidFill>
                      <a:prstDash val="soli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tc>
                  <a:txBody>
                    <a:bodyPr/>
                    <a:lstStyle/>
                    <a:p>
                      <a:r>
                        <a:rPr sz="2250" b="1">
                          <a:solidFill>
                            <a:srgbClr val="FFFFFF"/>
                          </a:solidFill>
                          <a:latin typeface="Aptos"/>
                          <a:ea typeface="Aptos"/>
                          <a:cs typeface="Aptos"/>
                        </a:rPr>
                        <a:t>Order size</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extLst>
                  <a:ext uri="{0D108BD9-81ED-4DB2-BD59-A6C34878D82A}">
                    <a16:rowId xmlns:a16="http://schemas.microsoft.com/office/drawing/2014/main" val="10000"/>
                  </a:ext>
                </a:extLst>
              </a:tr>
              <a:tr h="595313">
                <a:tc>
                  <a:txBody>
                    <a:bodyPr/>
                    <a:lstStyle/>
                    <a:p>
                      <a:r>
                        <a:rPr sz="2250" b="0">
                          <a:solidFill>
                            <a:srgbClr val="17365D"/>
                          </a:solidFill>
                          <a:latin typeface="Aptos"/>
                          <a:ea typeface="Aptos"/>
                          <a:cs typeface="Aptos"/>
                        </a:rPr>
                        <a:t>0 ≤ U &lt; 0.60</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250" b="0">
                          <a:solidFill>
                            <a:srgbClr val="17365D"/>
                          </a:solidFill>
                          <a:latin typeface="Aptos"/>
                          <a:ea typeface="Aptos"/>
                          <a:cs typeface="Aptos"/>
                        </a:rPr>
                        <a:t>1 item</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1"/>
                  </a:ext>
                </a:extLst>
              </a:tr>
              <a:tr h="595313">
                <a:tc>
                  <a:txBody>
                    <a:bodyPr/>
                    <a:lstStyle/>
                    <a:p>
                      <a:r>
                        <a:rPr sz="2250" b="0">
                          <a:solidFill>
                            <a:srgbClr val="17365D"/>
                          </a:solidFill>
                          <a:latin typeface="Aptos"/>
                          <a:ea typeface="Aptos"/>
                          <a:cs typeface="Aptos"/>
                        </a:rPr>
                        <a:t>0.60 ≤ U &lt; 0.90</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250" b="0">
                          <a:solidFill>
                            <a:srgbClr val="17365D"/>
                          </a:solidFill>
                          <a:latin typeface="Aptos"/>
                          <a:ea typeface="Aptos"/>
                          <a:cs typeface="Aptos"/>
                        </a:rPr>
                        <a:t>2 items</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2"/>
                  </a:ext>
                </a:extLst>
              </a:tr>
              <a:tr h="595313">
                <a:tc>
                  <a:txBody>
                    <a:bodyPr/>
                    <a:lstStyle/>
                    <a:p>
                      <a:r>
                        <a:rPr sz="2250" b="0">
                          <a:solidFill>
                            <a:srgbClr val="17365D"/>
                          </a:solidFill>
                          <a:latin typeface="Aptos"/>
                          <a:ea typeface="Aptos"/>
                          <a:cs typeface="Aptos"/>
                        </a:rPr>
                        <a:t>0.90 ≤ U &lt; 1</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250" b="0">
                          <a:solidFill>
                            <a:srgbClr val="17365D"/>
                          </a:solidFill>
                          <a:latin typeface="Aptos"/>
                          <a:ea typeface="Aptos"/>
                          <a:cs typeface="Aptos"/>
                        </a:rPr>
                        <a:t>6 items</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7" name="text-5">
            <a:extLst>
              <a:ext uri="{FF2B5EF4-FFF2-40B4-BE49-F238E27FC236}">
                <a16:creationId xmlns:a16="http://schemas.microsoft.com/office/drawing/2014/main" id="{F77B08A5-1D46-4DAD-B3EE-B18FDDBD3421}"/>
              </a:ext>
            </a:extLst>
          </p:cNvPr>
          <p:cNvSpPr>
            <a:spLocks noGrp="1"/>
          </p:cNvSpPr>
          <p:nvPr/>
        </p:nvSpPr>
        <p:spPr>
          <a:xfrm>
            <a:off x="857250" y="5448300"/>
            <a:ext cx="10477500" cy="552450"/>
          </a:xfrm>
          <a:prstGeom prst="rect">
            <a:avLst/>
          </a:prstGeom>
          <a:noFill/>
          <a:ln w="0">
            <a:noFill/>
          </a:ln>
        </p:spPr>
        <p:txBody>
          <a:bodyPr wrap="square" lIns="0" tIns="0" rIns="0" bIns="0" anchor="t">
            <a:noAutofit/>
          </a:bodyPr>
          <a:lstStyle>
            <a:lvl1pPr>
              <a:buNone/>
              <a:defRPr sz="2475" b="1">
                <a:solidFill>
                  <a:srgbClr val="2D75A3"/>
                </a:solidFill>
                <a:latin typeface="Aptos"/>
                <a:ea typeface="Aptos"/>
                <a:cs typeface="Aptos"/>
              </a:defRPr>
            </a:lvl1pPr>
            <a:lvl2pPr>
              <a:buNone/>
              <a:defRPr sz="2475" b="1">
                <a:solidFill>
                  <a:srgbClr val="2D75A3"/>
                </a:solidFill>
                <a:latin typeface="Aptos"/>
                <a:ea typeface="Aptos"/>
                <a:cs typeface="Aptos"/>
              </a:defRPr>
            </a:lvl2pPr>
            <a:lvl3pPr>
              <a:buNone/>
              <a:defRPr sz="2475" b="1">
                <a:solidFill>
                  <a:srgbClr val="2D75A3"/>
                </a:solidFill>
                <a:latin typeface="Aptos"/>
                <a:ea typeface="Aptos"/>
                <a:cs typeface="Aptos"/>
              </a:defRPr>
            </a:lvl3pPr>
            <a:lvl4pPr>
              <a:buNone/>
              <a:defRPr sz="2475" b="1">
                <a:solidFill>
                  <a:srgbClr val="2D75A3"/>
                </a:solidFill>
                <a:latin typeface="Aptos"/>
                <a:ea typeface="Aptos"/>
                <a:cs typeface="Aptos"/>
              </a:defRPr>
            </a:lvl4pPr>
            <a:lvl5pPr>
              <a:buNone/>
              <a:defRPr sz="2475" b="1">
                <a:solidFill>
                  <a:srgbClr val="2D75A3"/>
                </a:solidFill>
                <a:latin typeface="Aptos"/>
                <a:ea typeface="Aptos"/>
                <a:cs typeface="Aptos"/>
              </a:defRPr>
            </a:lvl5pPr>
            <a:lvl6pPr>
              <a:buNone/>
              <a:defRPr sz="2475" b="1">
                <a:solidFill>
                  <a:srgbClr val="2D75A3"/>
                </a:solidFill>
                <a:latin typeface="Aptos"/>
                <a:ea typeface="Aptos"/>
                <a:cs typeface="Aptos"/>
              </a:defRPr>
            </a:lvl6pPr>
            <a:lvl7pPr>
              <a:buNone/>
              <a:defRPr sz="2475" b="1">
                <a:solidFill>
                  <a:srgbClr val="2D75A3"/>
                </a:solidFill>
                <a:latin typeface="Aptos"/>
                <a:ea typeface="Aptos"/>
                <a:cs typeface="Aptos"/>
              </a:defRPr>
            </a:lvl7pPr>
            <a:lvl8pPr>
              <a:buNone/>
              <a:defRPr sz="2475" b="1">
                <a:solidFill>
                  <a:srgbClr val="2D75A3"/>
                </a:solidFill>
                <a:latin typeface="Aptos"/>
                <a:ea typeface="Aptos"/>
                <a:cs typeface="Aptos"/>
              </a:defRPr>
            </a:lvl8pPr>
            <a:lvl9pPr>
              <a:buNone/>
              <a:defRPr sz="2475" b="1">
                <a:solidFill>
                  <a:srgbClr val="2D75A3"/>
                </a:solidFill>
                <a:latin typeface="Aptos"/>
                <a:ea typeface="Aptos"/>
                <a:cs typeface="Aptos"/>
              </a:defRPr>
            </a:lvl9pPr>
          </a:lstStyle>
          <a:p>
            <a:pPr>
              <a:buNone/>
              <a:defRPr sz="2475" b="1">
                <a:solidFill>
                  <a:srgbClr val="2D75A3"/>
                </a:solidFill>
                <a:latin typeface="Aptos"/>
                <a:ea typeface="Aptos"/>
                <a:cs typeface="Aptos"/>
              </a:defRPr>
            </a:pPr>
            <a:r>
              <a:rPr sz="2475" b="1">
                <a:solidFill>
                  <a:srgbClr val="2D75A3"/>
                </a:solidFill>
                <a:latin typeface="Aptos"/>
                <a:ea typeface="Aptos"/>
                <a:cs typeface="Aptos"/>
              </a:rPr>
              <a:t>Fixed probabilities. Different realised orders.</a:t>
            </a:r>
          </a:p>
        </p:txBody>
      </p:sp>
      <p:sp>
        <p:nvSpPr>
          <p:cNvPr id="16" name="notebook-cue-slide-5">
            <a:extLst>
              <a:ext uri="{FF2B5EF4-FFF2-40B4-BE49-F238E27FC236}">
                <a16:creationId xmlns:a16="http://schemas.microsoft.com/office/drawing/2014/main" id="{A0BA0D81-CEDC-48F9-A9FB-245FD1C77781}"/>
              </a:ext>
            </a:extLst>
          </p:cNvPr>
          <p:cNvSpPr>
            <a:spLocks noGrp="1"/>
          </p:cNvSpPr>
          <p:nvPr/>
        </p:nvSpPr>
        <p:spPr>
          <a:xfrm>
            <a:off x="2952750" y="6429375"/>
            <a:ext cx="7620000" cy="295275"/>
          </a:xfrm>
          <a:prstGeom prst="rect">
            <a:avLst/>
          </a:prstGeom>
          <a:noFill/>
          <a:ln w="0">
            <a:noFill/>
          </a:ln>
        </p:spPr>
        <p:txBody>
          <a:bodyPr wrap="none" lIns="0" tIns="0" rIns="0" bIns="0" anchor="ctr">
            <a:noAutofit/>
          </a:bodyPr>
          <a:lstStyle>
            <a:defPPr algn="ctr">
              <a:defRPr sz="1650" b="1">
                <a:solidFill>
                  <a:srgbClr val="2F6F4E"/>
                </a:solidFill>
                <a:latin typeface="Aptos"/>
                <a:ea typeface="Aptos"/>
                <a:cs typeface="Aptos"/>
              </a:defRPr>
            </a:defPPr>
            <a:lvl1pPr algn="ctr">
              <a:defRPr sz="1650" b="1">
                <a:solidFill>
                  <a:srgbClr val="2F6F4E"/>
                </a:solidFill>
                <a:latin typeface="Aptos"/>
                <a:ea typeface="Aptos"/>
                <a:cs typeface="Aptos"/>
              </a:defRPr>
            </a:lvl1pPr>
            <a:lvl2pPr algn="ctr">
              <a:defRPr sz="1650" b="1">
                <a:solidFill>
                  <a:srgbClr val="2F6F4E"/>
                </a:solidFill>
                <a:latin typeface="Aptos"/>
                <a:ea typeface="Aptos"/>
                <a:cs typeface="Aptos"/>
              </a:defRPr>
            </a:lvl2pPr>
            <a:lvl3pPr algn="ctr">
              <a:defRPr sz="1650" b="1">
                <a:solidFill>
                  <a:srgbClr val="2F6F4E"/>
                </a:solidFill>
                <a:latin typeface="Aptos"/>
                <a:ea typeface="Aptos"/>
                <a:cs typeface="Aptos"/>
              </a:defRPr>
            </a:lvl3pPr>
            <a:lvl4pPr algn="ctr">
              <a:defRPr sz="1650" b="1">
                <a:solidFill>
                  <a:srgbClr val="2F6F4E"/>
                </a:solidFill>
                <a:latin typeface="Aptos"/>
                <a:ea typeface="Aptos"/>
                <a:cs typeface="Aptos"/>
              </a:defRPr>
            </a:lvl4pPr>
            <a:lvl5pPr algn="ctr">
              <a:defRPr sz="1650" b="1">
                <a:solidFill>
                  <a:srgbClr val="2F6F4E"/>
                </a:solidFill>
                <a:latin typeface="Aptos"/>
                <a:ea typeface="Aptos"/>
                <a:cs typeface="Aptos"/>
              </a:defRPr>
            </a:lvl5pPr>
            <a:lvl6pPr algn="ctr">
              <a:defRPr sz="1650" b="1">
                <a:solidFill>
                  <a:srgbClr val="2F6F4E"/>
                </a:solidFill>
                <a:latin typeface="Aptos"/>
                <a:ea typeface="Aptos"/>
                <a:cs typeface="Aptos"/>
              </a:defRPr>
            </a:lvl6pPr>
            <a:lvl7pPr algn="ctr">
              <a:defRPr sz="1650" b="1">
                <a:solidFill>
                  <a:srgbClr val="2F6F4E"/>
                </a:solidFill>
                <a:latin typeface="Aptos"/>
                <a:ea typeface="Aptos"/>
                <a:cs typeface="Aptos"/>
              </a:defRPr>
            </a:lvl7pPr>
            <a:lvl8pPr algn="ctr">
              <a:defRPr sz="1650" b="1">
                <a:solidFill>
                  <a:srgbClr val="2F6F4E"/>
                </a:solidFill>
                <a:latin typeface="Aptos"/>
                <a:ea typeface="Aptos"/>
                <a:cs typeface="Aptos"/>
              </a:defRPr>
            </a:lvl8pPr>
            <a:lvl9pPr algn="ctr">
              <a:defRPr sz="1650" b="1">
                <a:solidFill>
                  <a:srgbClr val="2F6F4E"/>
                </a:solidFill>
                <a:latin typeface="Aptos"/>
                <a:ea typeface="Aptos"/>
                <a:cs typeface="Aptos"/>
              </a:defRPr>
            </a:lvl9pPr>
          </a:lstStyle>
          <a:p>
            <a:pPr algn="ctr">
              <a:defRPr sz="1650" b="1">
                <a:solidFill>
                  <a:srgbClr val="2F6F4E"/>
                </a:solidFill>
                <a:latin typeface="Aptos"/>
                <a:ea typeface="Aptos"/>
                <a:cs typeface="Aptos"/>
              </a:defRPr>
            </a:pPr>
            <a:r>
              <a:rPr sz="1650" b="1">
                <a:solidFill>
                  <a:srgbClr val="2F6F4E"/>
                </a:solidFill>
                <a:latin typeface="Aptos"/>
                <a:ea typeface="Aptos"/>
                <a:cs typeface="Aptos"/>
              </a:rPr>
              <a:t>Notebook: Slide 5 (optional)</a:t>
            </a:r>
          </a:p>
        </p:txBody>
      </p:sp>
    </p:spTree>
    <p:extLst>
      <p:ext uri="{BB962C8B-B14F-4D97-AF65-F5344CB8AC3E}">
        <p14:creationId xmlns:p14="http://schemas.microsoft.com/office/powerpoint/2010/main" val="824131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7D68F02C-C990-4A20-94BC-98608743EDDB}"/>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The expected workload is 90 items</a:t>
            </a:r>
          </a:p>
        </p:txBody>
      </p:sp>
      <p:sp>
        <p:nvSpPr>
          <p:cNvPr id="2" name="Straight Connector 1">
            <a:extLst>
              <a:ext uri="{FF2B5EF4-FFF2-40B4-BE49-F238E27FC236}">
                <a16:creationId xmlns:a16="http://schemas.microsoft.com/office/drawing/2014/main" id="{0CC02C21-0227-487B-B40E-B69C2A62D630}"/>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C469DA65-BD13-4A7E-840A-ED7699DAF8C9}"/>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724228D2-DCB2-4D2C-84F8-957E5E1D4997}"/>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6</a:t>
            </a:r>
          </a:p>
        </p:txBody>
      </p:sp>
      <mc:AlternateContent xmlns:mc="http://schemas.openxmlformats.org/markup-compatibility/2006">
        <mc:Choice xmlns:a14="http://schemas.microsoft.com/office/drawing/2010/main" Requires="a14">
          <p:sp>
            <p:nvSpPr>
              <p:cNvPr id="5" name="EQ_001">
                <a:extLst>
                  <a:ext uri="{FF2B5EF4-FFF2-40B4-BE49-F238E27FC236}">
                    <a16:creationId xmlns:a16="http://schemas.microsoft.com/office/drawing/2014/main" id="{A88EE31B-040F-4CAF-902A-B2D4500CE7C8}"/>
                  </a:ext>
                </a:extLst>
              </p:cNvPr>
              <p:cNvSpPr>
                <a:spLocks noGrp="1"/>
              </p:cNvSpPr>
              <p:nvPr/>
            </p:nvSpPr>
            <p:spPr>
              <a:xfrm>
                <a:off x="857250" y="1857375"/>
                <a:ext cx="10477500" cy="1047750"/>
              </a:xfrm>
              <a:prstGeom prst="rect">
                <a:avLst/>
              </a:prstGeom>
              <a:noFill/>
              <a:ln w="0">
                <a:noFill/>
              </a:ln>
            </p:spPr>
            <p:txBody>
              <a:bodyPr wrap="none" lIns="0" tIns="0" rIns="0" bIns="0" anchor="ctr">
                <a:noAutofit/>
              </a:bodyPr>
              <a:lstStyle>
                <a:lvl1pPr algn="l">
                  <a:buNone/>
                  <a:defRPr sz="2800">
                    <a:solidFill>
                      <a:srgbClr val="17365D"/>
                    </a:solidFill>
                    <a:latin typeface="Cambria Math"/>
                    <a:ea typeface="Cambria Math"/>
                    <a:cs typeface="Cambria Math"/>
                  </a:defRPr>
                </a:lvl1pPr>
                <a:lvl2pPr algn="l">
                  <a:buNone/>
                  <a:defRPr sz="2800">
                    <a:solidFill>
                      <a:srgbClr val="17365D"/>
                    </a:solidFill>
                    <a:latin typeface="Cambria Math"/>
                    <a:ea typeface="Cambria Math"/>
                    <a:cs typeface="Cambria Math"/>
                  </a:defRPr>
                </a:lvl2pPr>
                <a:lvl3pPr algn="l">
                  <a:buNone/>
                  <a:defRPr sz="2800">
                    <a:solidFill>
                      <a:srgbClr val="17365D"/>
                    </a:solidFill>
                    <a:latin typeface="Cambria Math"/>
                    <a:ea typeface="Cambria Math"/>
                    <a:cs typeface="Cambria Math"/>
                  </a:defRPr>
                </a:lvl3pPr>
                <a:lvl4pPr algn="l">
                  <a:buNone/>
                  <a:defRPr sz="2800">
                    <a:solidFill>
                      <a:srgbClr val="17365D"/>
                    </a:solidFill>
                    <a:latin typeface="Cambria Math"/>
                    <a:ea typeface="Cambria Math"/>
                    <a:cs typeface="Cambria Math"/>
                  </a:defRPr>
                </a:lvl4pPr>
                <a:lvl5pPr algn="l">
                  <a:buNone/>
                  <a:defRPr sz="2800">
                    <a:solidFill>
                      <a:srgbClr val="17365D"/>
                    </a:solidFill>
                    <a:latin typeface="Cambria Math"/>
                    <a:ea typeface="Cambria Math"/>
                    <a:cs typeface="Cambria Math"/>
                  </a:defRPr>
                </a:lvl5pPr>
                <a:lvl6pPr algn="l">
                  <a:buNone/>
                  <a:defRPr sz="2800">
                    <a:solidFill>
                      <a:srgbClr val="17365D"/>
                    </a:solidFill>
                    <a:latin typeface="Cambria Math"/>
                    <a:ea typeface="Cambria Math"/>
                    <a:cs typeface="Cambria Math"/>
                  </a:defRPr>
                </a:lvl6pPr>
                <a:lvl7pPr algn="l">
                  <a:buNone/>
                  <a:defRPr sz="2800">
                    <a:solidFill>
                      <a:srgbClr val="17365D"/>
                    </a:solidFill>
                    <a:latin typeface="Cambria Math"/>
                    <a:ea typeface="Cambria Math"/>
                    <a:cs typeface="Cambria Math"/>
                  </a:defRPr>
                </a:lvl7pPr>
                <a:lvl8pPr algn="l">
                  <a:buNone/>
                  <a:defRPr sz="2800">
                    <a:solidFill>
                      <a:srgbClr val="17365D"/>
                    </a:solidFill>
                    <a:latin typeface="Cambria Math"/>
                    <a:ea typeface="Cambria Math"/>
                    <a:cs typeface="Cambria Math"/>
                  </a:defRPr>
                </a:lvl8pPr>
                <a:lvl9pPr algn="l">
                  <a:buNone/>
                  <a:defRPr sz="2800">
                    <a:solidFill>
                      <a:srgbClr val="17365D"/>
                    </a:solidFill>
                    <a:latin typeface="Cambria Math"/>
                    <a:ea typeface="Cambria Math"/>
                    <a:cs typeface="Cambria Math"/>
                  </a:defRPr>
                </a:lvl9pPr>
              </a:lstStyle>
              <a:p>
                <a:pPr>
                  <a:buNone/>
                  <a:defRPr sz="2800">
                    <a:solidFill>
                      <a:srgbClr val="17365D"/>
                    </a:solidFill>
                  </a:defRPr>
                </a:pPr>
                <a14:m>
                  <m:oMathPara xmlns:m="http://schemas.openxmlformats.org/officeDocument/2006/math">
                    <m:oMath>
                      <m:r>
                        <a:rPr>
                          <a:latin typeface="Cambria Math" panose="02040503050406030204" pitchFamily="18" charset="0"/>
                        </a:rPr>
                        <m:t>𝐸</m:t>
                      </m:r>
                      <m:d>
                        <m:dPr>
                          <m:begChr m:val="["/>
                          <m:endChr m:val="]"/>
                          <m:ctrlPr>
                            <a:rPr>
                              <a:latin typeface="Cambria Math" panose="02040503050406030204" pitchFamily="18" charset="0"/>
                            </a:rPr>
                          </m:ctrlPr>
                        </m:dPr>
                        <m:e>
                          <m:r>
                            <a:rPr>
                              <a:latin typeface="Cambria Math" panose="02040503050406030204" pitchFamily="18" charset="0"/>
                            </a:rPr>
                            <m:t>𝑋</m:t>
                          </m:r>
                        </m:e>
                      </m:d>
                      <m:r>
                        <a:rPr>
                          <a:latin typeface="Cambria Math" panose="02040503050406030204" pitchFamily="18" charset="0"/>
                        </a:rPr>
                        <m:t>=0.6·1+0.3·2+0.1·6=1.8</m:t>
                      </m:r>
                    </m:oMath>
                  </m:oMathPara>
                </a14:m>
                <a:endParaRPr/>
              </a:p>
            </p:txBody>
          </p:sp>
        </mc:Choice>
        <mc:Fallback>
          <p:sp>
            <p:nvSpPr>
              <p:cNvPr id="5" name="EQ_001">
                <a:extLst>
                  <a:ext uri="{FF2B5EF4-FFF2-40B4-BE49-F238E27FC236}">
                    <a16:creationId xmlns:a16="http://schemas.microsoft.com/office/drawing/2014/main" id="{A88EE31B-040F-4CAF-902A-B2D4500CE7C8}"/>
                  </a:ext>
                </a:extLst>
              </p:cNvPr>
              <p:cNvSpPr>
                <a:spLocks noGrp="1" noRot="1" noChangeAspect="1" noMove="1" noResize="1" noEditPoints="1" noAdjustHandles="1" noChangeArrowheads="1" noChangeShapeType="1" noTextEdit="1"/>
              </p:cNvSpPr>
              <p:nvPr/>
            </p:nvSpPr>
            <p:spPr>
              <a:xfrm>
                <a:off x="857250" y="1857375"/>
                <a:ext cx="10477500" cy="1047750"/>
              </a:xfrm>
              <a:prstGeom prst="rect">
                <a:avLst/>
              </a:prstGeom>
              <a:blipFill>
                <a:blip r:embed="rId3"/>
                <a:stretch>
                  <a:fillRect/>
                </a:stretch>
              </a:blipFill>
              <a:ln w="0">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6" name="EQ_002">
                <a:extLst>
                  <a:ext uri="{FF2B5EF4-FFF2-40B4-BE49-F238E27FC236}">
                    <a16:creationId xmlns:a16="http://schemas.microsoft.com/office/drawing/2014/main" id="{67A559FE-6858-48E7-8A46-50DA4707A13C}"/>
                  </a:ext>
                </a:extLst>
              </p:cNvPr>
              <p:cNvSpPr>
                <a:spLocks noGrp="1"/>
              </p:cNvSpPr>
              <p:nvPr/>
            </p:nvSpPr>
            <p:spPr>
              <a:xfrm>
                <a:off x="857250" y="3143250"/>
                <a:ext cx="10477500" cy="1000125"/>
              </a:xfrm>
              <a:prstGeom prst="rect">
                <a:avLst/>
              </a:prstGeom>
              <a:noFill/>
              <a:ln w="0">
                <a:noFill/>
              </a:ln>
            </p:spPr>
            <p:txBody>
              <a:bodyPr wrap="none" lIns="0" tIns="0" rIns="0" bIns="0" anchor="ctr">
                <a:noAutofit/>
              </a:bodyPr>
              <a:lstStyle>
                <a:lvl1pPr algn="l">
                  <a:buNone/>
                  <a:defRPr sz="3000">
                    <a:solidFill>
                      <a:srgbClr val="17365D"/>
                    </a:solidFill>
                    <a:latin typeface="Cambria Math"/>
                    <a:ea typeface="Cambria Math"/>
                    <a:cs typeface="Cambria Math"/>
                  </a:defRPr>
                </a:lvl1pPr>
                <a:lvl2pPr algn="l">
                  <a:buNone/>
                  <a:defRPr sz="3000">
                    <a:solidFill>
                      <a:srgbClr val="17365D"/>
                    </a:solidFill>
                    <a:latin typeface="Cambria Math"/>
                    <a:ea typeface="Cambria Math"/>
                    <a:cs typeface="Cambria Math"/>
                  </a:defRPr>
                </a:lvl2pPr>
                <a:lvl3pPr algn="l">
                  <a:buNone/>
                  <a:defRPr sz="3000">
                    <a:solidFill>
                      <a:srgbClr val="17365D"/>
                    </a:solidFill>
                    <a:latin typeface="Cambria Math"/>
                    <a:ea typeface="Cambria Math"/>
                    <a:cs typeface="Cambria Math"/>
                  </a:defRPr>
                </a:lvl3pPr>
                <a:lvl4pPr algn="l">
                  <a:buNone/>
                  <a:defRPr sz="3000">
                    <a:solidFill>
                      <a:srgbClr val="17365D"/>
                    </a:solidFill>
                    <a:latin typeface="Cambria Math"/>
                    <a:ea typeface="Cambria Math"/>
                    <a:cs typeface="Cambria Math"/>
                  </a:defRPr>
                </a:lvl4pPr>
                <a:lvl5pPr algn="l">
                  <a:buNone/>
                  <a:defRPr sz="3000">
                    <a:solidFill>
                      <a:srgbClr val="17365D"/>
                    </a:solidFill>
                    <a:latin typeface="Cambria Math"/>
                    <a:ea typeface="Cambria Math"/>
                    <a:cs typeface="Cambria Math"/>
                  </a:defRPr>
                </a:lvl5pPr>
                <a:lvl6pPr algn="l">
                  <a:buNone/>
                  <a:defRPr sz="3000">
                    <a:solidFill>
                      <a:srgbClr val="17365D"/>
                    </a:solidFill>
                    <a:latin typeface="Cambria Math"/>
                    <a:ea typeface="Cambria Math"/>
                    <a:cs typeface="Cambria Math"/>
                  </a:defRPr>
                </a:lvl6pPr>
                <a:lvl7pPr algn="l">
                  <a:buNone/>
                  <a:defRPr sz="3000">
                    <a:solidFill>
                      <a:srgbClr val="17365D"/>
                    </a:solidFill>
                    <a:latin typeface="Cambria Math"/>
                    <a:ea typeface="Cambria Math"/>
                    <a:cs typeface="Cambria Math"/>
                  </a:defRPr>
                </a:lvl7pPr>
                <a:lvl8pPr algn="l">
                  <a:buNone/>
                  <a:defRPr sz="3000">
                    <a:solidFill>
                      <a:srgbClr val="17365D"/>
                    </a:solidFill>
                    <a:latin typeface="Cambria Math"/>
                    <a:ea typeface="Cambria Math"/>
                    <a:cs typeface="Cambria Math"/>
                  </a:defRPr>
                </a:lvl8pPr>
                <a:lvl9pPr algn="l">
                  <a:buNone/>
                  <a:defRPr sz="3000">
                    <a:solidFill>
                      <a:srgbClr val="17365D"/>
                    </a:solidFill>
                    <a:latin typeface="Cambria Math"/>
                    <a:ea typeface="Cambria Math"/>
                    <a:cs typeface="Cambria Math"/>
                  </a:defRPr>
                </a:lvl9pPr>
              </a:lstStyle>
              <a:p>
                <a:pPr>
                  <a:buNone/>
                  <a:defRPr sz="3000">
                    <a:solidFill>
                      <a:srgbClr val="17365D"/>
                    </a:solidFill>
                  </a:defRPr>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50</m:t>
                          </m:r>
                        </m:sub>
                      </m:sSub>
                      <m:r>
                        <a:rPr>
                          <a:latin typeface="Cambria Math" panose="02040503050406030204" pitchFamily="18" charset="0"/>
                        </a:rPr>
                        <m:t>=</m:t>
                      </m:r>
                      <m:nary>
                        <m:naryPr>
                          <m:chr m:val="∑"/>
                          <m:limLoc m:val="undOvr"/>
                          <m:ctrlPr>
                            <a:rPr>
                              <a:latin typeface="Cambria Math" panose="02040503050406030204" pitchFamily="18" charset="0"/>
                            </a:rPr>
                          </m:ctrlPr>
                        </m:naryPr>
                        <m:sub>
                          <m:r>
                            <a:rPr>
                              <a:latin typeface="Cambria Math" panose="02040503050406030204" pitchFamily="18" charset="0"/>
                            </a:rPr>
                            <m:t>𝑗</m:t>
                          </m:r>
                          <m:r>
                            <a:rPr>
                              <a:latin typeface="Cambria Math" panose="02040503050406030204" pitchFamily="18" charset="0"/>
                            </a:rPr>
                            <m:t>=1</m:t>
                          </m:r>
                        </m:sub>
                        <m:sup>
                          <m:r>
                            <a:rPr>
                              <a:latin typeface="Cambria Math" panose="02040503050406030204" pitchFamily="18" charset="0"/>
                            </a:rPr>
                            <m:t>50</m:t>
                          </m:r>
                        </m:sup>
                        <m:e>
                          <m:sSub>
                            <m:sSubPr>
                              <m:ctrlPr>
                                <a:rPr>
                                  <a:latin typeface="Cambria Math" panose="02040503050406030204" pitchFamily="18" charset="0"/>
                                </a:rPr>
                              </m:ctrlPr>
                            </m:sSubPr>
                            <m:e>
                              <m:r>
                                <a:rPr>
                                  <a:latin typeface="Cambria Math" panose="02040503050406030204" pitchFamily="18" charset="0"/>
                                </a:rPr>
                                <m:t>𝑋</m:t>
                              </m:r>
                            </m:e>
                            <m:sub>
                              <m:r>
                                <a:rPr>
                                  <a:latin typeface="Cambria Math" panose="02040503050406030204" pitchFamily="18" charset="0"/>
                                </a:rPr>
                                <m:t>𝑗</m:t>
                              </m:r>
                            </m:sub>
                          </m:sSub>
                        </m:e>
                      </m:nary>
                    </m:oMath>
                  </m:oMathPara>
                </a14:m>
                <a:endParaRPr/>
              </a:p>
            </p:txBody>
          </p:sp>
        </mc:Choice>
        <mc:Fallback>
          <p:sp>
            <p:nvSpPr>
              <p:cNvPr id="6" name="EQ_002">
                <a:extLst>
                  <a:ext uri="{FF2B5EF4-FFF2-40B4-BE49-F238E27FC236}">
                    <a16:creationId xmlns:a16="http://schemas.microsoft.com/office/drawing/2014/main" id="{67A559FE-6858-48E7-8A46-50DA4707A13C}"/>
                  </a:ext>
                </a:extLst>
              </p:cNvPr>
              <p:cNvSpPr>
                <a:spLocks noGrp="1" noRot="1" noChangeAspect="1" noMove="1" noResize="1" noEditPoints="1" noAdjustHandles="1" noChangeArrowheads="1" noChangeShapeType="1" noTextEdit="1"/>
              </p:cNvSpPr>
              <p:nvPr/>
            </p:nvSpPr>
            <p:spPr>
              <a:xfrm>
                <a:off x="857250" y="3143250"/>
                <a:ext cx="10477500" cy="1000125"/>
              </a:xfrm>
              <a:prstGeom prst="rect">
                <a:avLst/>
              </a:prstGeom>
              <a:blipFill>
                <a:blip r:embed="rId4"/>
                <a:stretch>
                  <a:fillRect t="-12805" b="-17073"/>
                </a:stretch>
              </a:blipFill>
              <a:ln w="0">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7" name="EQ_003">
                <a:extLst>
                  <a:ext uri="{FF2B5EF4-FFF2-40B4-BE49-F238E27FC236}">
                    <a16:creationId xmlns:a16="http://schemas.microsoft.com/office/drawing/2014/main" id="{9EEC6481-EB30-4EE5-9690-84701843C69F}"/>
                  </a:ext>
                </a:extLst>
              </p:cNvPr>
              <p:cNvSpPr>
                <a:spLocks noGrp="1"/>
              </p:cNvSpPr>
              <p:nvPr/>
            </p:nvSpPr>
            <p:spPr>
              <a:xfrm>
                <a:off x="857250" y="4333875"/>
                <a:ext cx="10477500" cy="952500"/>
              </a:xfrm>
              <a:prstGeom prst="rect">
                <a:avLst/>
              </a:prstGeom>
              <a:noFill/>
              <a:ln w="0">
                <a:noFill/>
              </a:ln>
            </p:spPr>
            <p:txBody>
              <a:bodyPr wrap="none" lIns="0" tIns="0" rIns="0" bIns="0" anchor="ctr">
                <a:noAutofit/>
              </a:bodyPr>
              <a:lstStyle>
                <a:lvl1pPr algn="l">
                  <a:buNone/>
                  <a:defRPr sz="3200">
                    <a:solidFill>
                      <a:srgbClr val="17365D"/>
                    </a:solidFill>
                    <a:latin typeface="Cambria Math"/>
                    <a:ea typeface="Cambria Math"/>
                    <a:cs typeface="Cambria Math"/>
                  </a:defRPr>
                </a:lvl1pPr>
                <a:lvl2pPr algn="l">
                  <a:buNone/>
                  <a:defRPr sz="3200">
                    <a:solidFill>
                      <a:srgbClr val="17365D"/>
                    </a:solidFill>
                    <a:latin typeface="Cambria Math"/>
                    <a:ea typeface="Cambria Math"/>
                    <a:cs typeface="Cambria Math"/>
                  </a:defRPr>
                </a:lvl2pPr>
                <a:lvl3pPr algn="l">
                  <a:buNone/>
                  <a:defRPr sz="3200">
                    <a:solidFill>
                      <a:srgbClr val="17365D"/>
                    </a:solidFill>
                    <a:latin typeface="Cambria Math"/>
                    <a:ea typeface="Cambria Math"/>
                    <a:cs typeface="Cambria Math"/>
                  </a:defRPr>
                </a:lvl3pPr>
                <a:lvl4pPr algn="l">
                  <a:buNone/>
                  <a:defRPr sz="3200">
                    <a:solidFill>
                      <a:srgbClr val="17365D"/>
                    </a:solidFill>
                    <a:latin typeface="Cambria Math"/>
                    <a:ea typeface="Cambria Math"/>
                    <a:cs typeface="Cambria Math"/>
                  </a:defRPr>
                </a:lvl4pPr>
                <a:lvl5pPr algn="l">
                  <a:buNone/>
                  <a:defRPr sz="3200">
                    <a:solidFill>
                      <a:srgbClr val="17365D"/>
                    </a:solidFill>
                    <a:latin typeface="Cambria Math"/>
                    <a:ea typeface="Cambria Math"/>
                    <a:cs typeface="Cambria Math"/>
                  </a:defRPr>
                </a:lvl5pPr>
                <a:lvl6pPr algn="l">
                  <a:buNone/>
                  <a:defRPr sz="3200">
                    <a:solidFill>
                      <a:srgbClr val="17365D"/>
                    </a:solidFill>
                    <a:latin typeface="Cambria Math"/>
                    <a:ea typeface="Cambria Math"/>
                    <a:cs typeface="Cambria Math"/>
                  </a:defRPr>
                </a:lvl6pPr>
                <a:lvl7pPr algn="l">
                  <a:buNone/>
                  <a:defRPr sz="3200">
                    <a:solidFill>
                      <a:srgbClr val="17365D"/>
                    </a:solidFill>
                    <a:latin typeface="Cambria Math"/>
                    <a:ea typeface="Cambria Math"/>
                    <a:cs typeface="Cambria Math"/>
                  </a:defRPr>
                </a:lvl7pPr>
                <a:lvl8pPr algn="l">
                  <a:buNone/>
                  <a:defRPr sz="3200">
                    <a:solidFill>
                      <a:srgbClr val="17365D"/>
                    </a:solidFill>
                    <a:latin typeface="Cambria Math"/>
                    <a:ea typeface="Cambria Math"/>
                    <a:cs typeface="Cambria Math"/>
                  </a:defRPr>
                </a:lvl8pPr>
                <a:lvl9pPr algn="l">
                  <a:buNone/>
                  <a:defRPr sz="3200">
                    <a:solidFill>
                      <a:srgbClr val="17365D"/>
                    </a:solidFill>
                    <a:latin typeface="Cambria Math"/>
                    <a:ea typeface="Cambria Math"/>
                    <a:cs typeface="Cambria Math"/>
                  </a:defRPr>
                </a:lvl9pPr>
              </a:lstStyle>
              <a:p>
                <a:pPr>
                  <a:buNone/>
                  <a:defRPr sz="3200">
                    <a:solidFill>
                      <a:srgbClr val="17365D"/>
                    </a:solidFill>
                  </a:defRPr>
                </a:pPr>
                <a14:m>
                  <m:oMathPara xmlns:m="http://schemas.openxmlformats.org/officeDocument/2006/math">
                    <m:oMath>
                      <m:r>
                        <a:rPr>
                          <a:latin typeface="Cambria Math" panose="02040503050406030204" pitchFamily="18" charset="0"/>
                        </a:rPr>
                        <m:t>𝐸</m:t>
                      </m:r>
                      <m:d>
                        <m:dPr>
                          <m:begChr m:val="["/>
                          <m:endChr m:val="]"/>
                          <m:ctrlPr>
                            <a:rPr i="1">
                              <a:latin typeface="Cambria Math" panose="02040503050406030204" pitchFamily="18" charset="0"/>
                            </a:rPr>
                          </m:ctrlPr>
                        </m:dPr>
                        <m:e>
                          <m:sSub>
                            <m:sSubPr>
                              <m:ctrlPr>
                                <a:rPr>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50</m:t>
                              </m:r>
                            </m:sub>
                          </m:sSub>
                        </m:e>
                      </m:d>
                      <m:r>
                        <a:rPr>
                          <a:latin typeface="Cambria Math" panose="02040503050406030204" pitchFamily="18" charset="0"/>
                        </a:rPr>
                        <m:t>=50·1.8=90</m:t>
                      </m:r>
                    </m:oMath>
                  </m:oMathPara>
                </a14:m>
                <a:endParaRPr/>
              </a:p>
            </p:txBody>
          </p:sp>
        </mc:Choice>
        <mc:Fallback>
          <p:sp>
            <p:nvSpPr>
              <p:cNvPr id="7" name="EQ_003">
                <a:extLst>
                  <a:ext uri="{FF2B5EF4-FFF2-40B4-BE49-F238E27FC236}">
                    <a16:creationId xmlns:a16="http://schemas.microsoft.com/office/drawing/2014/main" id="{9EEC6481-EB30-4EE5-9690-84701843C69F}"/>
                  </a:ext>
                </a:extLst>
              </p:cNvPr>
              <p:cNvSpPr>
                <a:spLocks noGrp="1" noRot="1" noChangeAspect="1" noMove="1" noResize="1" noEditPoints="1" noAdjustHandles="1" noChangeArrowheads="1" noChangeShapeType="1" noTextEdit="1"/>
              </p:cNvSpPr>
              <p:nvPr/>
            </p:nvSpPr>
            <p:spPr>
              <a:xfrm>
                <a:off x="857250" y="4333875"/>
                <a:ext cx="10477500" cy="952500"/>
              </a:xfrm>
              <a:prstGeom prst="rect">
                <a:avLst/>
              </a:prstGeom>
              <a:blipFill>
                <a:blip r:embed="rId5"/>
                <a:stretch>
                  <a:fillRect/>
                </a:stretch>
              </a:blipFill>
              <a:ln w="0">
                <a:noFill/>
              </a:ln>
            </p:spPr>
            <p:txBody>
              <a:bodyPr/>
              <a:lstStyle/>
              <a:p>
                <a:r>
                  <a:rPr lang="en-GB">
                    <a:noFill/>
                  </a:rPr>
                  <a:t> </a:t>
                </a:r>
              </a:p>
            </p:txBody>
          </p:sp>
        </mc:Fallback>
      </mc:AlternateContent>
      <p:sp>
        <p:nvSpPr>
          <p:cNvPr id="8" name="text-7">
            <a:extLst>
              <a:ext uri="{FF2B5EF4-FFF2-40B4-BE49-F238E27FC236}">
                <a16:creationId xmlns:a16="http://schemas.microsoft.com/office/drawing/2014/main" id="{5EC18B81-64AA-42A0-A979-8AE43259DE2A}"/>
              </a:ext>
            </a:extLst>
          </p:cNvPr>
          <p:cNvSpPr>
            <a:spLocks noGrp="1"/>
          </p:cNvSpPr>
          <p:nvPr/>
        </p:nvSpPr>
        <p:spPr>
          <a:xfrm>
            <a:off x="857250" y="5572125"/>
            <a:ext cx="10477500" cy="590550"/>
          </a:xfrm>
          <a:prstGeom prst="rect">
            <a:avLst/>
          </a:prstGeom>
          <a:noFill/>
          <a:ln w="0">
            <a:noFill/>
          </a:ln>
        </p:spPr>
        <p:txBody>
          <a:bodyPr wrap="square" lIns="0" tIns="0" rIns="0" bIns="0" anchor="t">
            <a:noAutofit/>
          </a:bodyPr>
          <a:lstStyle>
            <a:lvl1pPr>
              <a:buNone/>
              <a:defRPr sz="2175" b="0">
                <a:solidFill>
                  <a:srgbClr val="17365D"/>
                </a:solidFill>
                <a:latin typeface="Aptos"/>
                <a:ea typeface="Aptos"/>
                <a:cs typeface="Aptos"/>
              </a:defRPr>
            </a:lvl1pPr>
            <a:lvl2pPr>
              <a:buNone/>
              <a:defRPr sz="2175" b="0">
                <a:solidFill>
                  <a:srgbClr val="17365D"/>
                </a:solidFill>
                <a:latin typeface="Aptos"/>
                <a:ea typeface="Aptos"/>
                <a:cs typeface="Aptos"/>
              </a:defRPr>
            </a:lvl2pPr>
            <a:lvl3pPr>
              <a:buNone/>
              <a:defRPr sz="2175" b="0">
                <a:solidFill>
                  <a:srgbClr val="17365D"/>
                </a:solidFill>
                <a:latin typeface="Aptos"/>
                <a:ea typeface="Aptos"/>
                <a:cs typeface="Aptos"/>
              </a:defRPr>
            </a:lvl3pPr>
            <a:lvl4pPr>
              <a:buNone/>
              <a:defRPr sz="2175" b="0">
                <a:solidFill>
                  <a:srgbClr val="17365D"/>
                </a:solidFill>
                <a:latin typeface="Aptos"/>
                <a:ea typeface="Aptos"/>
                <a:cs typeface="Aptos"/>
              </a:defRPr>
            </a:lvl4pPr>
            <a:lvl5pPr>
              <a:buNone/>
              <a:defRPr sz="2175" b="0">
                <a:solidFill>
                  <a:srgbClr val="17365D"/>
                </a:solidFill>
                <a:latin typeface="Aptos"/>
                <a:ea typeface="Aptos"/>
                <a:cs typeface="Aptos"/>
              </a:defRPr>
            </a:lvl5pPr>
            <a:lvl6pPr>
              <a:buNone/>
              <a:defRPr sz="2175" b="0">
                <a:solidFill>
                  <a:srgbClr val="17365D"/>
                </a:solidFill>
                <a:latin typeface="Aptos"/>
                <a:ea typeface="Aptos"/>
                <a:cs typeface="Aptos"/>
              </a:defRPr>
            </a:lvl6pPr>
            <a:lvl7pPr>
              <a:buNone/>
              <a:defRPr sz="2175" b="0">
                <a:solidFill>
                  <a:srgbClr val="17365D"/>
                </a:solidFill>
                <a:latin typeface="Aptos"/>
                <a:ea typeface="Aptos"/>
                <a:cs typeface="Aptos"/>
              </a:defRPr>
            </a:lvl7pPr>
            <a:lvl8pPr>
              <a:buNone/>
              <a:defRPr sz="2175" b="0">
                <a:solidFill>
                  <a:srgbClr val="17365D"/>
                </a:solidFill>
                <a:latin typeface="Aptos"/>
                <a:ea typeface="Aptos"/>
                <a:cs typeface="Aptos"/>
              </a:defRPr>
            </a:lvl8pPr>
            <a:lvl9pPr>
              <a:buNone/>
              <a:defRPr sz="2175" b="0">
                <a:solidFill>
                  <a:srgbClr val="17365D"/>
                </a:solidFill>
                <a:latin typeface="Aptos"/>
                <a:ea typeface="Aptos"/>
                <a:cs typeface="Aptos"/>
              </a:defRPr>
            </a:lvl9pPr>
          </a:lstStyle>
          <a:p>
            <a:pPr>
              <a:buNone/>
              <a:defRPr sz="2175" b="0">
                <a:solidFill>
                  <a:srgbClr val="17365D"/>
                </a:solidFill>
                <a:latin typeface="Aptos"/>
                <a:ea typeface="Aptos"/>
                <a:cs typeface="Aptos"/>
              </a:defRPr>
            </a:pPr>
            <a:r>
              <a:rPr sz="2175" b="0">
                <a:solidFill>
                  <a:srgbClr val="17365D"/>
                </a:solidFill>
                <a:latin typeface="Aptos"/>
                <a:ea typeface="Aptos"/>
                <a:cs typeface="Aptos"/>
              </a:rPr>
              <a:t>An expected total describes the long-run average across mornings.</a:t>
            </a:r>
          </a:p>
        </p:txBody>
      </p:sp>
    </p:spTree>
    <p:extLst>
      <p:ext uri="{BB962C8B-B14F-4D97-AF65-F5344CB8AC3E}">
        <p14:creationId xmlns:p14="http://schemas.microsoft.com/office/powerpoint/2010/main" val="745988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03052BE1-320F-4A64-B03C-D63BE2AD08CA}"/>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Average workload and capacity probability</a:t>
            </a:r>
          </a:p>
        </p:txBody>
      </p:sp>
      <p:sp>
        <p:nvSpPr>
          <p:cNvPr id="2" name="Straight Connector 1">
            <a:extLst>
              <a:ext uri="{FF2B5EF4-FFF2-40B4-BE49-F238E27FC236}">
                <a16:creationId xmlns:a16="http://schemas.microsoft.com/office/drawing/2014/main" id="{11363819-0D19-4C9D-AA50-901D672E54C9}"/>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6900D5E3-AE70-416E-B027-841AB9601C39}"/>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7B7D42A3-EFCD-4913-8C97-AF7D6BA061E4}"/>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7</a:t>
            </a:r>
          </a:p>
        </p:txBody>
      </p:sp>
      <p:sp>
        <p:nvSpPr>
          <p:cNvPr id="5" name="text-4">
            <a:extLst>
              <a:ext uri="{FF2B5EF4-FFF2-40B4-BE49-F238E27FC236}">
                <a16:creationId xmlns:a16="http://schemas.microsoft.com/office/drawing/2014/main" id="{6DF6578D-AAC4-4EAB-8110-2D36D4765D3E}"/>
              </a:ext>
            </a:extLst>
          </p:cNvPr>
          <p:cNvSpPr>
            <a:spLocks noGrp="1"/>
          </p:cNvSpPr>
          <p:nvPr/>
        </p:nvSpPr>
        <p:spPr>
          <a:xfrm>
            <a:off x="857250" y="1752600"/>
            <a:ext cx="10477500" cy="704850"/>
          </a:xfrm>
          <a:prstGeom prst="rect">
            <a:avLst/>
          </a:prstGeom>
          <a:noFill/>
          <a:ln w="0">
            <a:noFill/>
          </a:ln>
        </p:spPr>
        <p:txBody>
          <a:bodyPr wrap="square" lIns="0" tIns="0" rIns="0" bIns="0" anchor="t">
            <a:noAutofit/>
          </a:bodyPr>
          <a:lstStyle>
            <a:lvl1pPr>
              <a:buNone/>
              <a:defRPr sz="2475" b="0">
                <a:solidFill>
                  <a:srgbClr val="17365D"/>
                </a:solidFill>
                <a:latin typeface="Aptos"/>
                <a:ea typeface="Aptos"/>
                <a:cs typeface="Aptos"/>
              </a:defRPr>
            </a:lvl1pPr>
            <a:lvl2pPr>
              <a:buNone/>
              <a:defRPr sz="2475" b="0">
                <a:solidFill>
                  <a:srgbClr val="17365D"/>
                </a:solidFill>
                <a:latin typeface="Aptos"/>
                <a:ea typeface="Aptos"/>
                <a:cs typeface="Aptos"/>
              </a:defRPr>
            </a:lvl2pPr>
            <a:lvl3pPr>
              <a:buNone/>
              <a:defRPr sz="2475" b="0">
                <a:solidFill>
                  <a:srgbClr val="17365D"/>
                </a:solidFill>
                <a:latin typeface="Aptos"/>
                <a:ea typeface="Aptos"/>
                <a:cs typeface="Aptos"/>
              </a:defRPr>
            </a:lvl3pPr>
            <a:lvl4pPr>
              <a:buNone/>
              <a:defRPr sz="2475" b="0">
                <a:solidFill>
                  <a:srgbClr val="17365D"/>
                </a:solidFill>
                <a:latin typeface="Aptos"/>
                <a:ea typeface="Aptos"/>
                <a:cs typeface="Aptos"/>
              </a:defRPr>
            </a:lvl4pPr>
            <a:lvl5pPr>
              <a:buNone/>
              <a:defRPr sz="2475" b="0">
                <a:solidFill>
                  <a:srgbClr val="17365D"/>
                </a:solidFill>
                <a:latin typeface="Aptos"/>
                <a:ea typeface="Aptos"/>
                <a:cs typeface="Aptos"/>
              </a:defRPr>
            </a:lvl5pPr>
            <a:lvl6pPr>
              <a:buNone/>
              <a:defRPr sz="2475" b="0">
                <a:solidFill>
                  <a:srgbClr val="17365D"/>
                </a:solidFill>
                <a:latin typeface="Aptos"/>
                <a:ea typeface="Aptos"/>
                <a:cs typeface="Aptos"/>
              </a:defRPr>
            </a:lvl6pPr>
            <a:lvl7pPr>
              <a:buNone/>
              <a:defRPr sz="2475" b="0">
                <a:solidFill>
                  <a:srgbClr val="17365D"/>
                </a:solidFill>
                <a:latin typeface="Aptos"/>
                <a:ea typeface="Aptos"/>
                <a:cs typeface="Aptos"/>
              </a:defRPr>
            </a:lvl7pPr>
            <a:lvl8pPr>
              <a:buNone/>
              <a:defRPr sz="2475" b="0">
                <a:solidFill>
                  <a:srgbClr val="17365D"/>
                </a:solidFill>
                <a:latin typeface="Aptos"/>
                <a:ea typeface="Aptos"/>
                <a:cs typeface="Aptos"/>
              </a:defRPr>
            </a:lvl8pPr>
            <a:lvl9pPr>
              <a:buNone/>
              <a:defRPr sz="2475" b="0">
                <a:solidFill>
                  <a:srgbClr val="17365D"/>
                </a:solidFill>
                <a:latin typeface="Aptos"/>
                <a:ea typeface="Aptos"/>
                <a:cs typeface="Aptos"/>
              </a:defRPr>
            </a:lvl9pPr>
          </a:lstStyle>
          <a:p>
            <a:pPr>
              <a:buNone/>
              <a:defRPr sz="2475" b="0">
                <a:solidFill>
                  <a:srgbClr val="17365D"/>
                </a:solidFill>
                <a:latin typeface="Aptos"/>
                <a:ea typeface="Aptos"/>
                <a:cs typeface="Aptos"/>
              </a:defRPr>
            </a:pPr>
            <a:r>
              <a:rPr sz="2475" b="0">
                <a:solidFill>
                  <a:srgbClr val="17365D"/>
                </a:solidFill>
                <a:latin typeface="Aptos"/>
                <a:ea typeface="Aptos"/>
                <a:cs typeface="Aptos"/>
              </a:rPr>
              <a:t>Consider two possible mornings: 60 items and 120 items.</a:t>
            </a:r>
          </a:p>
        </p:txBody>
      </p:sp>
      <mc:AlternateContent xmlns:mc="http://schemas.openxmlformats.org/markup-compatibility/2006">
        <mc:Choice xmlns:a14="http://schemas.microsoft.com/office/drawing/2010/main" Requires="a14">
          <p:sp>
            <p:nvSpPr>
              <p:cNvPr id="6" name="EQ_004">
                <a:extLst>
                  <a:ext uri="{FF2B5EF4-FFF2-40B4-BE49-F238E27FC236}">
                    <a16:creationId xmlns:a16="http://schemas.microsoft.com/office/drawing/2014/main" id="{682F1795-7BF2-4EBC-BE97-88E32AFA232E}"/>
                  </a:ext>
                </a:extLst>
              </p:cNvPr>
              <p:cNvSpPr>
                <a:spLocks noGrp="1"/>
              </p:cNvSpPr>
              <p:nvPr/>
            </p:nvSpPr>
            <p:spPr>
              <a:xfrm>
                <a:off x="857250" y="2714625"/>
                <a:ext cx="10477500" cy="1047750"/>
              </a:xfrm>
              <a:prstGeom prst="rect">
                <a:avLst/>
              </a:prstGeom>
              <a:noFill/>
              <a:ln w="0">
                <a:noFill/>
              </a:ln>
            </p:spPr>
            <p:txBody>
              <a:bodyPr wrap="none" lIns="0" tIns="0" rIns="0" bIns="0" anchor="ctr">
                <a:noAutofit/>
              </a:bodyPr>
              <a:lstStyle>
                <a:lvl1pPr algn="l">
                  <a:buNone/>
                  <a:defRPr sz="3600">
                    <a:solidFill>
                      <a:srgbClr val="17365D"/>
                    </a:solidFill>
                    <a:latin typeface="Cambria Math"/>
                    <a:ea typeface="Cambria Math"/>
                    <a:cs typeface="Cambria Math"/>
                  </a:defRPr>
                </a:lvl1pPr>
                <a:lvl2pPr algn="l">
                  <a:buNone/>
                  <a:defRPr sz="3600">
                    <a:solidFill>
                      <a:srgbClr val="17365D"/>
                    </a:solidFill>
                    <a:latin typeface="Cambria Math"/>
                    <a:ea typeface="Cambria Math"/>
                    <a:cs typeface="Cambria Math"/>
                  </a:defRPr>
                </a:lvl2pPr>
                <a:lvl3pPr algn="l">
                  <a:buNone/>
                  <a:defRPr sz="3600">
                    <a:solidFill>
                      <a:srgbClr val="17365D"/>
                    </a:solidFill>
                    <a:latin typeface="Cambria Math"/>
                    <a:ea typeface="Cambria Math"/>
                    <a:cs typeface="Cambria Math"/>
                  </a:defRPr>
                </a:lvl3pPr>
                <a:lvl4pPr algn="l">
                  <a:buNone/>
                  <a:defRPr sz="3600">
                    <a:solidFill>
                      <a:srgbClr val="17365D"/>
                    </a:solidFill>
                    <a:latin typeface="Cambria Math"/>
                    <a:ea typeface="Cambria Math"/>
                    <a:cs typeface="Cambria Math"/>
                  </a:defRPr>
                </a:lvl4pPr>
                <a:lvl5pPr algn="l">
                  <a:buNone/>
                  <a:defRPr sz="3600">
                    <a:solidFill>
                      <a:srgbClr val="17365D"/>
                    </a:solidFill>
                    <a:latin typeface="Cambria Math"/>
                    <a:ea typeface="Cambria Math"/>
                    <a:cs typeface="Cambria Math"/>
                  </a:defRPr>
                </a:lvl5pPr>
                <a:lvl6pPr algn="l">
                  <a:buNone/>
                  <a:defRPr sz="3600">
                    <a:solidFill>
                      <a:srgbClr val="17365D"/>
                    </a:solidFill>
                    <a:latin typeface="Cambria Math"/>
                    <a:ea typeface="Cambria Math"/>
                    <a:cs typeface="Cambria Math"/>
                  </a:defRPr>
                </a:lvl6pPr>
                <a:lvl7pPr algn="l">
                  <a:buNone/>
                  <a:defRPr sz="3600">
                    <a:solidFill>
                      <a:srgbClr val="17365D"/>
                    </a:solidFill>
                    <a:latin typeface="Cambria Math"/>
                    <a:ea typeface="Cambria Math"/>
                    <a:cs typeface="Cambria Math"/>
                  </a:defRPr>
                </a:lvl7pPr>
                <a:lvl8pPr algn="l">
                  <a:buNone/>
                  <a:defRPr sz="3600">
                    <a:solidFill>
                      <a:srgbClr val="17365D"/>
                    </a:solidFill>
                    <a:latin typeface="Cambria Math"/>
                    <a:ea typeface="Cambria Math"/>
                    <a:cs typeface="Cambria Math"/>
                  </a:defRPr>
                </a:lvl8pPr>
                <a:lvl9pPr algn="l">
                  <a:buNone/>
                  <a:defRPr sz="3600">
                    <a:solidFill>
                      <a:srgbClr val="17365D"/>
                    </a:solidFill>
                    <a:latin typeface="Cambria Math"/>
                    <a:ea typeface="Cambria Math"/>
                    <a:cs typeface="Cambria Math"/>
                  </a:defRPr>
                </a:lvl9pPr>
              </a:lstStyle>
              <a:p>
                <a:pPr>
                  <a:buNone/>
                  <a:defRPr sz="3600">
                    <a:solidFill>
                      <a:srgbClr val="17365D"/>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60+120</m:t>
                          </m:r>
                        </m:num>
                        <m:den>
                          <m:r>
                            <a:rPr>
                              <a:latin typeface="Cambria Math" panose="02040503050406030204" pitchFamily="18" charset="0"/>
                            </a:rPr>
                            <m:t>2</m:t>
                          </m:r>
                        </m:den>
                      </m:f>
                      <m:r>
                        <a:rPr>
                          <a:latin typeface="Cambria Math" panose="02040503050406030204" pitchFamily="18" charset="0"/>
                        </a:rPr>
                        <m:t>=90</m:t>
                      </m:r>
                    </m:oMath>
                  </m:oMathPara>
                </a14:m>
                <a:endParaRPr/>
              </a:p>
            </p:txBody>
          </p:sp>
        </mc:Choice>
        <mc:Fallback>
          <p:sp>
            <p:nvSpPr>
              <p:cNvPr id="6" name="EQ_004">
                <a:extLst>
                  <a:ext uri="{FF2B5EF4-FFF2-40B4-BE49-F238E27FC236}">
                    <a16:creationId xmlns:a16="http://schemas.microsoft.com/office/drawing/2014/main" id="{682F1795-7BF2-4EBC-BE97-88E32AFA232E}"/>
                  </a:ext>
                </a:extLst>
              </p:cNvPr>
              <p:cNvSpPr>
                <a:spLocks noGrp="1" noRot="1" noChangeAspect="1" noMove="1" noResize="1" noEditPoints="1" noAdjustHandles="1" noChangeArrowheads="1" noChangeShapeType="1" noTextEdit="1"/>
              </p:cNvSpPr>
              <p:nvPr/>
            </p:nvSpPr>
            <p:spPr>
              <a:xfrm>
                <a:off x="857250" y="2714625"/>
                <a:ext cx="10477500" cy="1047750"/>
              </a:xfrm>
              <a:prstGeom prst="rect">
                <a:avLst/>
              </a:prstGeom>
              <a:blipFill>
                <a:blip r:embed="rId3"/>
                <a:stretch>
                  <a:fillRect/>
                </a:stretch>
              </a:blipFill>
              <a:ln w="0">
                <a:noFill/>
              </a:ln>
            </p:spPr>
            <p:txBody>
              <a:bodyPr/>
              <a:lstStyle/>
              <a:p>
                <a:r>
                  <a:rPr lang="en-GB">
                    <a:noFill/>
                  </a:rPr>
                  <a:t> </a:t>
                </a:r>
              </a:p>
            </p:txBody>
          </p:sp>
        </mc:Fallback>
      </mc:AlternateContent>
      <p:sp>
        <p:nvSpPr>
          <p:cNvPr id="7" name="text-6">
            <a:extLst>
              <a:ext uri="{FF2B5EF4-FFF2-40B4-BE49-F238E27FC236}">
                <a16:creationId xmlns:a16="http://schemas.microsoft.com/office/drawing/2014/main" id="{4B1D5AC8-7B6A-4AD6-B8EF-4C6F494DD7FE}"/>
              </a:ext>
            </a:extLst>
          </p:cNvPr>
          <p:cNvSpPr>
            <a:spLocks noGrp="1"/>
          </p:cNvSpPr>
          <p:nvPr/>
        </p:nvSpPr>
        <p:spPr>
          <a:xfrm>
            <a:off x="857250" y="4191000"/>
            <a:ext cx="10477500" cy="533400"/>
          </a:xfrm>
          <a:prstGeom prst="rect">
            <a:avLst/>
          </a:prstGeom>
          <a:noFill/>
          <a:ln w="0">
            <a:noFill/>
          </a:ln>
        </p:spPr>
        <p:txBody>
          <a:bodyPr wrap="square" lIns="0" tIns="0" rIns="0" bIns="0" anchor="t">
            <a:noAutofit/>
          </a:bodyPr>
          <a:lstStyle>
            <a:lvl1pPr>
              <a:buNone/>
              <a:defRPr sz="2475" b="1">
                <a:solidFill>
                  <a:srgbClr val="2D75A3"/>
                </a:solidFill>
                <a:latin typeface="Aptos"/>
                <a:ea typeface="Aptos"/>
                <a:cs typeface="Aptos"/>
              </a:defRPr>
            </a:lvl1pPr>
            <a:lvl2pPr>
              <a:buNone/>
              <a:defRPr sz="2475" b="1">
                <a:solidFill>
                  <a:srgbClr val="2D75A3"/>
                </a:solidFill>
                <a:latin typeface="Aptos"/>
                <a:ea typeface="Aptos"/>
                <a:cs typeface="Aptos"/>
              </a:defRPr>
            </a:lvl2pPr>
            <a:lvl3pPr>
              <a:buNone/>
              <a:defRPr sz="2475" b="1">
                <a:solidFill>
                  <a:srgbClr val="2D75A3"/>
                </a:solidFill>
                <a:latin typeface="Aptos"/>
                <a:ea typeface="Aptos"/>
                <a:cs typeface="Aptos"/>
              </a:defRPr>
            </a:lvl3pPr>
            <a:lvl4pPr>
              <a:buNone/>
              <a:defRPr sz="2475" b="1">
                <a:solidFill>
                  <a:srgbClr val="2D75A3"/>
                </a:solidFill>
                <a:latin typeface="Aptos"/>
                <a:ea typeface="Aptos"/>
                <a:cs typeface="Aptos"/>
              </a:defRPr>
            </a:lvl4pPr>
            <a:lvl5pPr>
              <a:buNone/>
              <a:defRPr sz="2475" b="1">
                <a:solidFill>
                  <a:srgbClr val="2D75A3"/>
                </a:solidFill>
                <a:latin typeface="Aptos"/>
                <a:ea typeface="Aptos"/>
                <a:cs typeface="Aptos"/>
              </a:defRPr>
            </a:lvl5pPr>
            <a:lvl6pPr>
              <a:buNone/>
              <a:defRPr sz="2475" b="1">
                <a:solidFill>
                  <a:srgbClr val="2D75A3"/>
                </a:solidFill>
                <a:latin typeface="Aptos"/>
                <a:ea typeface="Aptos"/>
                <a:cs typeface="Aptos"/>
              </a:defRPr>
            </a:lvl6pPr>
            <a:lvl7pPr>
              <a:buNone/>
              <a:defRPr sz="2475" b="1">
                <a:solidFill>
                  <a:srgbClr val="2D75A3"/>
                </a:solidFill>
                <a:latin typeface="Aptos"/>
                <a:ea typeface="Aptos"/>
                <a:cs typeface="Aptos"/>
              </a:defRPr>
            </a:lvl7pPr>
            <a:lvl8pPr>
              <a:buNone/>
              <a:defRPr sz="2475" b="1">
                <a:solidFill>
                  <a:srgbClr val="2D75A3"/>
                </a:solidFill>
                <a:latin typeface="Aptos"/>
                <a:ea typeface="Aptos"/>
                <a:cs typeface="Aptos"/>
              </a:defRPr>
            </a:lvl8pPr>
            <a:lvl9pPr>
              <a:buNone/>
              <a:defRPr sz="2475" b="1">
                <a:solidFill>
                  <a:srgbClr val="2D75A3"/>
                </a:solidFill>
                <a:latin typeface="Aptos"/>
                <a:ea typeface="Aptos"/>
                <a:cs typeface="Aptos"/>
              </a:defRPr>
            </a:lvl9pPr>
          </a:lstStyle>
          <a:p>
            <a:pPr>
              <a:buNone/>
              <a:defRPr sz="2475" b="1">
                <a:solidFill>
                  <a:srgbClr val="2D75A3"/>
                </a:solidFill>
                <a:latin typeface="Aptos"/>
                <a:ea typeface="Aptos"/>
                <a:cs typeface="Aptos"/>
              </a:defRPr>
            </a:pPr>
            <a:r>
              <a:rPr sz="2475" b="1">
                <a:solidFill>
                  <a:srgbClr val="2D75A3"/>
                </a:solidFill>
                <a:latin typeface="Aptos"/>
                <a:ea typeface="Aptos"/>
                <a:cs typeface="Aptos"/>
              </a:rPr>
              <a:t>Average workload: 90 items</a:t>
            </a:r>
          </a:p>
        </p:txBody>
      </p:sp>
      <p:sp>
        <p:nvSpPr>
          <p:cNvPr id="8" name="text-7">
            <a:extLst>
              <a:ext uri="{FF2B5EF4-FFF2-40B4-BE49-F238E27FC236}">
                <a16:creationId xmlns:a16="http://schemas.microsoft.com/office/drawing/2014/main" id="{61EB6E03-A686-41D9-93DB-8076956C9630}"/>
              </a:ext>
            </a:extLst>
          </p:cNvPr>
          <p:cNvSpPr>
            <a:spLocks noGrp="1"/>
          </p:cNvSpPr>
          <p:nvPr/>
        </p:nvSpPr>
        <p:spPr>
          <a:xfrm>
            <a:off x="857250" y="4981575"/>
            <a:ext cx="10477500" cy="666750"/>
          </a:xfrm>
          <a:prstGeom prst="rect">
            <a:avLst/>
          </a:prstGeom>
          <a:noFill/>
          <a:ln w="0">
            <a:noFill/>
          </a:ln>
        </p:spPr>
        <p:txBody>
          <a:bodyPr wrap="square" lIns="0" tIns="0" rIns="0" bIns="0" anchor="t">
            <a:noAutofit/>
          </a:bodyPr>
          <a:lstStyle>
            <a:lvl1pPr>
              <a:buNone/>
              <a:defRPr sz="2475" b="1">
                <a:solidFill>
                  <a:srgbClr val="C96B16"/>
                </a:solidFill>
                <a:latin typeface="Aptos"/>
                <a:ea typeface="Aptos"/>
                <a:cs typeface="Aptos"/>
              </a:defRPr>
            </a:lvl1pPr>
            <a:lvl2pPr>
              <a:buNone/>
              <a:defRPr sz="2475" b="1">
                <a:solidFill>
                  <a:srgbClr val="C96B16"/>
                </a:solidFill>
                <a:latin typeface="Aptos"/>
                <a:ea typeface="Aptos"/>
                <a:cs typeface="Aptos"/>
              </a:defRPr>
            </a:lvl2pPr>
            <a:lvl3pPr>
              <a:buNone/>
              <a:defRPr sz="2475" b="1">
                <a:solidFill>
                  <a:srgbClr val="C96B16"/>
                </a:solidFill>
                <a:latin typeface="Aptos"/>
                <a:ea typeface="Aptos"/>
                <a:cs typeface="Aptos"/>
              </a:defRPr>
            </a:lvl3pPr>
            <a:lvl4pPr>
              <a:buNone/>
              <a:defRPr sz="2475" b="1">
                <a:solidFill>
                  <a:srgbClr val="C96B16"/>
                </a:solidFill>
                <a:latin typeface="Aptos"/>
                <a:ea typeface="Aptos"/>
                <a:cs typeface="Aptos"/>
              </a:defRPr>
            </a:lvl4pPr>
            <a:lvl5pPr>
              <a:buNone/>
              <a:defRPr sz="2475" b="1">
                <a:solidFill>
                  <a:srgbClr val="C96B16"/>
                </a:solidFill>
                <a:latin typeface="Aptos"/>
                <a:ea typeface="Aptos"/>
                <a:cs typeface="Aptos"/>
              </a:defRPr>
            </a:lvl5pPr>
            <a:lvl6pPr>
              <a:buNone/>
              <a:defRPr sz="2475" b="1">
                <a:solidFill>
                  <a:srgbClr val="C96B16"/>
                </a:solidFill>
                <a:latin typeface="Aptos"/>
                <a:ea typeface="Aptos"/>
                <a:cs typeface="Aptos"/>
              </a:defRPr>
            </a:lvl6pPr>
            <a:lvl7pPr>
              <a:buNone/>
              <a:defRPr sz="2475" b="1">
                <a:solidFill>
                  <a:srgbClr val="C96B16"/>
                </a:solidFill>
                <a:latin typeface="Aptos"/>
                <a:ea typeface="Aptos"/>
                <a:cs typeface="Aptos"/>
              </a:defRPr>
            </a:lvl7pPr>
            <a:lvl8pPr>
              <a:buNone/>
              <a:defRPr sz="2475" b="1">
                <a:solidFill>
                  <a:srgbClr val="C96B16"/>
                </a:solidFill>
                <a:latin typeface="Aptos"/>
                <a:ea typeface="Aptos"/>
                <a:cs typeface="Aptos"/>
              </a:defRPr>
            </a:lvl8pPr>
            <a:lvl9pPr>
              <a:buNone/>
              <a:defRPr sz="2475" b="1">
                <a:solidFill>
                  <a:srgbClr val="C96B16"/>
                </a:solidFill>
                <a:latin typeface="Aptos"/>
                <a:ea typeface="Aptos"/>
                <a:cs typeface="Aptos"/>
              </a:defRPr>
            </a:lvl9pPr>
          </a:lstStyle>
          <a:p>
            <a:pPr>
              <a:buNone/>
              <a:defRPr sz="2475" b="1">
                <a:solidFill>
                  <a:srgbClr val="C96B16"/>
                </a:solidFill>
                <a:latin typeface="Aptos"/>
                <a:ea typeface="Aptos"/>
                <a:cs typeface="Aptos"/>
              </a:defRPr>
            </a:pPr>
            <a:r>
              <a:rPr sz="2475" b="1">
                <a:solidFill>
                  <a:srgbClr val="C96B16"/>
                </a:solidFill>
                <a:latin typeface="Aptos"/>
                <a:ea typeface="Aptos"/>
                <a:cs typeface="Aptos"/>
              </a:rPr>
              <a:t>One of the two mornings exceeds capacity.</a:t>
            </a:r>
          </a:p>
        </p:txBody>
      </p:sp>
      <p:sp>
        <p:nvSpPr>
          <p:cNvPr id="9" name="text-8">
            <a:extLst>
              <a:ext uri="{FF2B5EF4-FFF2-40B4-BE49-F238E27FC236}">
                <a16:creationId xmlns:a16="http://schemas.microsoft.com/office/drawing/2014/main" id="{4963630F-474E-46C4-8DC2-F87A69DD91B1}"/>
              </a:ext>
            </a:extLst>
          </p:cNvPr>
          <p:cNvSpPr>
            <a:spLocks noGrp="1"/>
          </p:cNvSpPr>
          <p:nvPr/>
        </p:nvSpPr>
        <p:spPr>
          <a:xfrm>
            <a:off x="857250" y="5867400"/>
            <a:ext cx="10477500" cy="381000"/>
          </a:xfrm>
          <a:prstGeom prst="rect">
            <a:avLst/>
          </a:prstGeom>
          <a:noFill/>
          <a:ln w="0">
            <a:noFill/>
          </a:ln>
        </p:spPr>
        <p:txBody>
          <a:bodyPr wrap="square" lIns="0" tIns="0" rIns="0" bIns="0" anchor="t">
            <a:noAutofit/>
          </a:bodyPr>
          <a:lstStyle>
            <a:lvl1pPr>
              <a:buNone/>
              <a:defRPr sz="1950" b="0">
                <a:solidFill>
                  <a:srgbClr val="17365D"/>
                </a:solidFill>
                <a:latin typeface="Aptos"/>
                <a:ea typeface="Aptos"/>
                <a:cs typeface="Aptos"/>
              </a:defRPr>
            </a:lvl1pPr>
            <a:lvl2pPr>
              <a:buNone/>
              <a:defRPr sz="1950" b="0">
                <a:solidFill>
                  <a:srgbClr val="17365D"/>
                </a:solidFill>
                <a:latin typeface="Aptos"/>
                <a:ea typeface="Aptos"/>
                <a:cs typeface="Aptos"/>
              </a:defRPr>
            </a:lvl2pPr>
            <a:lvl3pPr>
              <a:buNone/>
              <a:defRPr sz="1950" b="0">
                <a:solidFill>
                  <a:srgbClr val="17365D"/>
                </a:solidFill>
                <a:latin typeface="Aptos"/>
                <a:ea typeface="Aptos"/>
                <a:cs typeface="Aptos"/>
              </a:defRPr>
            </a:lvl3pPr>
            <a:lvl4pPr>
              <a:buNone/>
              <a:defRPr sz="1950" b="0">
                <a:solidFill>
                  <a:srgbClr val="17365D"/>
                </a:solidFill>
                <a:latin typeface="Aptos"/>
                <a:ea typeface="Aptos"/>
                <a:cs typeface="Aptos"/>
              </a:defRPr>
            </a:lvl4pPr>
            <a:lvl5pPr>
              <a:buNone/>
              <a:defRPr sz="1950" b="0">
                <a:solidFill>
                  <a:srgbClr val="17365D"/>
                </a:solidFill>
                <a:latin typeface="Aptos"/>
                <a:ea typeface="Aptos"/>
                <a:cs typeface="Aptos"/>
              </a:defRPr>
            </a:lvl5pPr>
            <a:lvl6pPr>
              <a:buNone/>
              <a:defRPr sz="1950" b="0">
                <a:solidFill>
                  <a:srgbClr val="17365D"/>
                </a:solidFill>
                <a:latin typeface="Aptos"/>
                <a:ea typeface="Aptos"/>
                <a:cs typeface="Aptos"/>
              </a:defRPr>
            </a:lvl6pPr>
            <a:lvl7pPr>
              <a:buNone/>
              <a:defRPr sz="1950" b="0">
                <a:solidFill>
                  <a:srgbClr val="17365D"/>
                </a:solidFill>
                <a:latin typeface="Aptos"/>
                <a:ea typeface="Aptos"/>
                <a:cs typeface="Aptos"/>
              </a:defRPr>
            </a:lvl7pPr>
            <a:lvl8pPr>
              <a:buNone/>
              <a:defRPr sz="1950" b="0">
                <a:solidFill>
                  <a:srgbClr val="17365D"/>
                </a:solidFill>
                <a:latin typeface="Aptos"/>
                <a:ea typeface="Aptos"/>
                <a:cs typeface="Aptos"/>
              </a:defRPr>
            </a:lvl8pPr>
            <a:lvl9pPr>
              <a:buNone/>
              <a:defRPr sz="1950" b="0">
                <a:solidFill>
                  <a:srgbClr val="17365D"/>
                </a:solidFill>
                <a:latin typeface="Aptos"/>
                <a:ea typeface="Aptos"/>
                <a:cs typeface="Aptos"/>
              </a:defRPr>
            </a:lvl9pPr>
          </a:lstStyle>
          <a:p>
            <a:pPr>
              <a:buNone/>
              <a:defRPr sz="1950" b="0">
                <a:solidFill>
                  <a:srgbClr val="17365D"/>
                </a:solidFill>
                <a:latin typeface="Aptos"/>
                <a:ea typeface="Aptos"/>
                <a:cs typeface="Aptos"/>
              </a:defRPr>
            </a:pPr>
            <a:r>
              <a:rPr sz="1950" b="0">
                <a:solidFill>
                  <a:srgbClr val="17365D"/>
                </a:solidFill>
                <a:latin typeface="Aptos"/>
                <a:ea typeface="Aptos"/>
                <a:cs typeface="Aptos"/>
              </a:rPr>
              <a:t>A quiet morning does not remove the overload on a busy morning.</a:t>
            </a:r>
          </a:p>
        </p:txBody>
      </p:sp>
    </p:spTree>
    <p:extLst>
      <p:ext uri="{BB962C8B-B14F-4D97-AF65-F5344CB8AC3E}">
        <p14:creationId xmlns:p14="http://schemas.microsoft.com/office/powerpoint/2010/main" val="381449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0C1D9AAE-056D-4515-B4F1-2F14EA3B2A40}"/>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Sample size n and simulation size N</a:t>
            </a:r>
          </a:p>
        </p:txBody>
      </p:sp>
      <p:sp>
        <p:nvSpPr>
          <p:cNvPr id="2" name="Straight Connector 1">
            <a:extLst>
              <a:ext uri="{FF2B5EF4-FFF2-40B4-BE49-F238E27FC236}">
                <a16:creationId xmlns:a16="http://schemas.microsoft.com/office/drawing/2014/main" id="{DB8576A1-F88C-4192-B61A-722E989BA64B}"/>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FE7279C5-E39A-409E-A38C-D0F48C2484A9}"/>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30702FB5-6A06-4062-8B30-67A2D0600699}"/>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8</a:t>
            </a:r>
          </a:p>
        </p:txBody>
      </p:sp>
      <p:graphicFrame>
        <p:nvGraphicFramePr>
          <p:cNvPr id="13" name="Table 12"/>
          <p:cNvGraphicFramePr/>
          <p:nvPr/>
        </p:nvGraphicFramePr>
        <p:xfrm>
          <a:off x="857250" y="2038350"/>
          <a:ext cx="10477500" cy="2609850"/>
        </p:xfrm>
        <a:graphic>
          <a:graphicData uri="http://schemas.openxmlformats.org/drawingml/2006/table">
            <a:tbl>
              <a:tblPr firstRow="1"/>
              <a:tblGrid>
                <a:gridCol w="1333500">
                  <a:extLst>
                    <a:ext uri="{9D8B030D-6E8A-4147-A177-3AD203B41FA5}">
                      <a16:colId xmlns:a16="http://schemas.microsoft.com/office/drawing/2014/main" val="20000"/>
                    </a:ext>
                  </a:extLst>
                </a:gridCol>
                <a:gridCol w="4333875">
                  <a:extLst>
                    <a:ext uri="{9D8B030D-6E8A-4147-A177-3AD203B41FA5}">
                      <a16:colId xmlns:a16="http://schemas.microsoft.com/office/drawing/2014/main" val="20001"/>
                    </a:ext>
                  </a:extLst>
                </a:gridCol>
                <a:gridCol w="4810125">
                  <a:extLst>
                    <a:ext uri="{9D8B030D-6E8A-4147-A177-3AD203B41FA5}">
                      <a16:colId xmlns:a16="http://schemas.microsoft.com/office/drawing/2014/main" val="20002"/>
                    </a:ext>
                  </a:extLst>
                </a:gridCol>
              </a:tblGrid>
              <a:tr h="869950">
                <a:tc>
                  <a:txBody>
                    <a:bodyPr/>
                    <a:lstStyle/>
                    <a:p>
                      <a:r>
                        <a:rPr sz="2175" b="1">
                          <a:solidFill>
                            <a:srgbClr val="FFFFFF"/>
                          </a:solidFill>
                          <a:latin typeface="Aptos"/>
                          <a:ea typeface="Aptos"/>
                          <a:cs typeface="Aptos"/>
                        </a:rPr>
                        <a:t>Symbol</a:t>
                      </a:r>
                    </a:p>
                  </a:txBody>
                  <a:tcPr anchor="ctr">
                    <a:lnL w="6191">
                      <a:solidFill>
                        <a:srgbClr val="DDE5EC"/>
                      </a:solidFill>
                      <a:prstDash val="soli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tc>
                  <a:txBody>
                    <a:bodyPr/>
                    <a:lstStyle/>
                    <a:p>
                      <a:r>
                        <a:rPr sz="2175" b="1">
                          <a:solidFill>
                            <a:srgbClr val="FFFFFF"/>
                          </a:solidFill>
                          <a:latin typeface="Aptos"/>
                          <a:ea typeface="Aptos"/>
                          <a:cs typeface="Aptos"/>
                        </a:rPr>
                        <a:t>Warehouse meaning</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tc>
                  <a:txBody>
                    <a:bodyPr/>
                    <a:lstStyle/>
                    <a:p>
                      <a:r>
                        <a:rPr sz="2175" b="1">
                          <a:solidFill>
                            <a:srgbClr val="FFFFFF"/>
                          </a:solidFill>
                          <a:latin typeface="Aptos"/>
                          <a:ea typeface="Aptos"/>
                          <a:cs typeface="Aptos"/>
                        </a:rPr>
                        <a:t>Effect of increasing it</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extLst>
                  <a:ext uri="{0D108BD9-81ED-4DB2-BD59-A6C34878D82A}">
                    <a16:rowId xmlns:a16="http://schemas.microsoft.com/office/drawing/2014/main" val="10000"/>
                  </a:ext>
                </a:extLst>
              </a:tr>
              <a:tr h="869950">
                <a:tc>
                  <a:txBody>
                    <a:bodyPr/>
                    <a:lstStyle/>
                    <a:p>
                      <a:r>
                        <a:rPr sz="2175" b="0">
                          <a:solidFill>
                            <a:srgbClr val="17365D"/>
                          </a:solidFill>
                          <a:latin typeface="Aptos"/>
                          <a:ea typeface="Aptos"/>
                          <a:cs typeface="Aptos"/>
                        </a:rPr>
                        <a:t>n</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75" b="0">
                          <a:solidFill>
                            <a:srgbClr val="17365D"/>
                          </a:solidFill>
                          <a:latin typeface="Aptos"/>
                          <a:ea typeface="Aptos"/>
                          <a:cs typeface="Aptos"/>
                        </a:rPr>
                        <a:t>Orders in each morning</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75" b="0">
                          <a:solidFill>
                            <a:srgbClr val="17365D"/>
                          </a:solidFill>
                          <a:latin typeface="Aptos"/>
                          <a:ea typeface="Aptos"/>
                          <a:cs typeface="Aptos"/>
                        </a:rPr>
                        <a:t>Changes the workload distribution</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1"/>
                  </a:ext>
                </a:extLst>
              </a:tr>
              <a:tr h="869950">
                <a:tc>
                  <a:txBody>
                    <a:bodyPr/>
                    <a:lstStyle/>
                    <a:p>
                      <a:r>
                        <a:rPr sz="2175" b="0">
                          <a:solidFill>
                            <a:srgbClr val="17365D"/>
                          </a:solidFill>
                          <a:latin typeface="Aptos"/>
                          <a:ea typeface="Aptos"/>
                          <a:cs typeface="Aptos"/>
                        </a:rPr>
                        <a:t>N</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75" b="0">
                          <a:solidFill>
                            <a:srgbClr val="17365D"/>
                          </a:solidFill>
                          <a:latin typeface="Aptos"/>
                          <a:ea typeface="Aptos"/>
                          <a:cs typeface="Aptos"/>
                        </a:rPr>
                        <a:t>Simulated mornings</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75" b="0">
                          <a:solidFill>
                            <a:srgbClr val="17365D"/>
                          </a:solidFill>
                          <a:latin typeface="Aptos"/>
                          <a:ea typeface="Aptos"/>
                          <a:cs typeface="Aptos"/>
                        </a:rPr>
                        <a:t>Improves Monte Carlo precision</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6" name="text-4">
            <a:extLst>
              <a:ext uri="{FF2B5EF4-FFF2-40B4-BE49-F238E27FC236}">
                <a16:creationId xmlns:a16="http://schemas.microsoft.com/office/drawing/2014/main" id="{6E8CE2F7-2A5E-429C-A89E-3478D64C6DDA}"/>
              </a:ext>
            </a:extLst>
          </p:cNvPr>
          <p:cNvSpPr>
            <a:spLocks noGrp="1"/>
          </p:cNvSpPr>
          <p:nvPr/>
        </p:nvSpPr>
        <p:spPr>
          <a:xfrm>
            <a:off x="857250" y="5257800"/>
            <a:ext cx="10477500" cy="647700"/>
          </a:xfrm>
          <a:prstGeom prst="rect">
            <a:avLst/>
          </a:prstGeom>
          <a:noFill/>
          <a:ln w="0">
            <a:noFill/>
          </a:ln>
        </p:spPr>
        <p:txBody>
          <a:bodyPr wrap="square" lIns="0" tIns="0" rIns="0" bIns="0" anchor="t">
            <a:noAutofit/>
          </a:bodyPr>
          <a:lstStyle>
            <a:lvl1pPr>
              <a:buNone/>
              <a:defRPr sz="2550" b="0">
                <a:solidFill>
                  <a:srgbClr val="2D75A3"/>
                </a:solidFill>
                <a:latin typeface="Aptos"/>
                <a:ea typeface="Aptos"/>
                <a:cs typeface="Aptos"/>
              </a:defRPr>
            </a:lvl1pPr>
            <a:lvl2pPr>
              <a:buNone/>
              <a:defRPr sz="2550" b="0">
                <a:solidFill>
                  <a:srgbClr val="2D75A3"/>
                </a:solidFill>
                <a:latin typeface="Aptos"/>
                <a:ea typeface="Aptos"/>
                <a:cs typeface="Aptos"/>
              </a:defRPr>
            </a:lvl2pPr>
            <a:lvl3pPr>
              <a:buNone/>
              <a:defRPr sz="2550" b="0">
                <a:solidFill>
                  <a:srgbClr val="2D75A3"/>
                </a:solidFill>
                <a:latin typeface="Aptos"/>
                <a:ea typeface="Aptos"/>
                <a:cs typeface="Aptos"/>
              </a:defRPr>
            </a:lvl3pPr>
            <a:lvl4pPr>
              <a:buNone/>
              <a:defRPr sz="2550" b="0">
                <a:solidFill>
                  <a:srgbClr val="2D75A3"/>
                </a:solidFill>
                <a:latin typeface="Aptos"/>
                <a:ea typeface="Aptos"/>
                <a:cs typeface="Aptos"/>
              </a:defRPr>
            </a:lvl4pPr>
            <a:lvl5pPr>
              <a:buNone/>
              <a:defRPr sz="2550" b="0">
                <a:solidFill>
                  <a:srgbClr val="2D75A3"/>
                </a:solidFill>
                <a:latin typeface="Aptos"/>
                <a:ea typeface="Aptos"/>
                <a:cs typeface="Aptos"/>
              </a:defRPr>
            </a:lvl5pPr>
            <a:lvl6pPr>
              <a:buNone/>
              <a:defRPr sz="2550" b="0">
                <a:solidFill>
                  <a:srgbClr val="2D75A3"/>
                </a:solidFill>
                <a:latin typeface="Aptos"/>
                <a:ea typeface="Aptos"/>
                <a:cs typeface="Aptos"/>
              </a:defRPr>
            </a:lvl6pPr>
            <a:lvl7pPr>
              <a:buNone/>
              <a:defRPr sz="2550" b="0">
                <a:solidFill>
                  <a:srgbClr val="2D75A3"/>
                </a:solidFill>
                <a:latin typeface="Aptos"/>
                <a:ea typeface="Aptos"/>
                <a:cs typeface="Aptos"/>
              </a:defRPr>
            </a:lvl7pPr>
            <a:lvl8pPr>
              <a:buNone/>
              <a:defRPr sz="2550" b="0">
                <a:solidFill>
                  <a:srgbClr val="2D75A3"/>
                </a:solidFill>
                <a:latin typeface="Aptos"/>
                <a:ea typeface="Aptos"/>
                <a:cs typeface="Aptos"/>
              </a:defRPr>
            </a:lvl8pPr>
            <a:lvl9pPr>
              <a:buNone/>
              <a:defRPr sz="2550" b="0">
                <a:solidFill>
                  <a:srgbClr val="2D75A3"/>
                </a:solidFill>
                <a:latin typeface="Aptos"/>
                <a:ea typeface="Aptos"/>
                <a:cs typeface="Aptos"/>
              </a:defRPr>
            </a:lvl9pPr>
          </a:lstStyle>
          <a:p>
            <a:pPr>
              <a:buNone/>
              <a:defRPr sz="2550" b="0">
                <a:solidFill>
                  <a:srgbClr val="2D75A3"/>
                </a:solidFill>
                <a:latin typeface="Aptos"/>
                <a:ea typeface="Aptos"/>
                <a:cs typeface="Aptos"/>
              </a:defRPr>
            </a:pPr>
            <a:r>
              <a:rPr sz="2550" b="0">
                <a:solidFill>
                  <a:srgbClr val="2D75A3"/>
                </a:solidFill>
                <a:latin typeface="Aptos"/>
                <a:ea typeface="Aptos"/>
                <a:cs typeface="Aptos"/>
              </a:rPr>
              <a:t>In the demonstration: n = 50 and N = 100,000.</a:t>
            </a:r>
          </a:p>
        </p:txBody>
      </p:sp>
    </p:spTree>
    <p:extLst>
      <p:ext uri="{BB962C8B-B14F-4D97-AF65-F5344CB8AC3E}">
        <p14:creationId xmlns:p14="http://schemas.microsoft.com/office/powerpoint/2010/main" val="947622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944BABDB-D753-4444-AD40-25D9131F6934}"/>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An independent random sample</a:t>
            </a:r>
          </a:p>
        </p:txBody>
      </p:sp>
      <p:sp>
        <p:nvSpPr>
          <p:cNvPr id="2" name="Straight Connector 1">
            <a:extLst>
              <a:ext uri="{FF2B5EF4-FFF2-40B4-BE49-F238E27FC236}">
                <a16:creationId xmlns:a16="http://schemas.microsoft.com/office/drawing/2014/main" id="{31CF76C1-1216-447F-B778-2288DFADB22A}"/>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EB12EC47-B4A3-4153-BD6D-9A50BC92CF88}"/>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D27291EB-D239-4E7A-B056-D8FEB45F9B56}"/>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9</a:t>
            </a:r>
          </a:p>
        </p:txBody>
      </p:sp>
      <p:sp>
        <p:nvSpPr>
          <p:cNvPr id="5" name="text-4">
            <a:extLst>
              <a:ext uri="{FF2B5EF4-FFF2-40B4-BE49-F238E27FC236}">
                <a16:creationId xmlns:a16="http://schemas.microsoft.com/office/drawing/2014/main" id="{39BDF54C-2E64-435F-8B96-DD11F457A45C}"/>
              </a:ext>
            </a:extLst>
          </p:cNvPr>
          <p:cNvSpPr>
            <a:spLocks noGrp="1"/>
          </p:cNvSpPr>
          <p:nvPr/>
        </p:nvSpPr>
        <p:spPr>
          <a:xfrm>
            <a:off x="857250" y="1676400"/>
            <a:ext cx="10477500" cy="619125"/>
          </a:xfrm>
          <a:prstGeom prst="rect">
            <a:avLst/>
          </a:prstGeom>
          <a:noFill/>
          <a:ln w="0">
            <a:noFill/>
          </a:ln>
        </p:spPr>
        <p:txBody>
          <a:bodyPr wrap="square" lIns="0" tIns="0" rIns="0" bIns="0" anchor="t">
            <a:noAutofit/>
          </a:bodyPr>
          <a:lstStyle>
            <a:lvl1pPr>
              <a:buNone/>
              <a:defRPr sz="2400" b="1">
                <a:solidFill>
                  <a:srgbClr val="2D75A3"/>
                </a:solidFill>
                <a:latin typeface="Aptos"/>
                <a:ea typeface="Aptos"/>
                <a:cs typeface="Aptos"/>
              </a:defRPr>
            </a:lvl1pPr>
            <a:lvl2pPr>
              <a:buNone/>
              <a:defRPr sz="2400" b="1">
                <a:solidFill>
                  <a:srgbClr val="2D75A3"/>
                </a:solidFill>
                <a:latin typeface="Aptos"/>
                <a:ea typeface="Aptos"/>
                <a:cs typeface="Aptos"/>
              </a:defRPr>
            </a:lvl2pPr>
            <a:lvl3pPr>
              <a:buNone/>
              <a:defRPr sz="2400" b="1">
                <a:solidFill>
                  <a:srgbClr val="2D75A3"/>
                </a:solidFill>
                <a:latin typeface="Aptos"/>
                <a:ea typeface="Aptos"/>
                <a:cs typeface="Aptos"/>
              </a:defRPr>
            </a:lvl3pPr>
            <a:lvl4pPr>
              <a:buNone/>
              <a:defRPr sz="2400" b="1">
                <a:solidFill>
                  <a:srgbClr val="2D75A3"/>
                </a:solidFill>
                <a:latin typeface="Aptos"/>
                <a:ea typeface="Aptos"/>
                <a:cs typeface="Aptos"/>
              </a:defRPr>
            </a:lvl4pPr>
            <a:lvl5pPr>
              <a:buNone/>
              <a:defRPr sz="2400" b="1">
                <a:solidFill>
                  <a:srgbClr val="2D75A3"/>
                </a:solidFill>
                <a:latin typeface="Aptos"/>
                <a:ea typeface="Aptos"/>
                <a:cs typeface="Aptos"/>
              </a:defRPr>
            </a:lvl5pPr>
            <a:lvl6pPr>
              <a:buNone/>
              <a:defRPr sz="2400" b="1">
                <a:solidFill>
                  <a:srgbClr val="2D75A3"/>
                </a:solidFill>
                <a:latin typeface="Aptos"/>
                <a:ea typeface="Aptos"/>
                <a:cs typeface="Aptos"/>
              </a:defRPr>
            </a:lvl6pPr>
            <a:lvl7pPr>
              <a:buNone/>
              <a:defRPr sz="2400" b="1">
                <a:solidFill>
                  <a:srgbClr val="2D75A3"/>
                </a:solidFill>
                <a:latin typeface="Aptos"/>
                <a:ea typeface="Aptos"/>
                <a:cs typeface="Aptos"/>
              </a:defRPr>
            </a:lvl7pPr>
            <a:lvl8pPr>
              <a:buNone/>
              <a:defRPr sz="2400" b="1">
                <a:solidFill>
                  <a:srgbClr val="2D75A3"/>
                </a:solidFill>
                <a:latin typeface="Aptos"/>
                <a:ea typeface="Aptos"/>
                <a:cs typeface="Aptos"/>
              </a:defRPr>
            </a:lvl8pPr>
            <a:lvl9pPr>
              <a:buNone/>
              <a:defRPr sz="2400" b="1">
                <a:solidFill>
                  <a:srgbClr val="2D75A3"/>
                </a:solidFill>
                <a:latin typeface="Aptos"/>
                <a:ea typeface="Aptos"/>
                <a:cs typeface="Aptos"/>
              </a:defRPr>
            </a:lvl9pPr>
          </a:lstStyle>
          <a:p>
            <a:pPr>
              <a:buNone/>
              <a:defRPr sz="2400" b="1">
                <a:solidFill>
                  <a:srgbClr val="2D75A3"/>
                </a:solidFill>
                <a:latin typeface="Aptos"/>
                <a:ea typeface="Aptos"/>
                <a:cs typeface="Aptos"/>
              </a:defRPr>
            </a:pPr>
            <a:r>
              <a:rPr sz="2400" b="1">
                <a:solidFill>
                  <a:srgbClr val="2D75A3"/>
                </a:solidFill>
                <a:latin typeface="Aptos"/>
                <a:ea typeface="Aptos"/>
                <a:cs typeface="Aptos"/>
              </a:rPr>
              <a:t>i.i.d. means independent and identically distributed.</a:t>
            </a:r>
          </a:p>
        </p:txBody>
      </p:sp>
      <p:sp>
        <p:nvSpPr>
          <p:cNvPr id="6" name="text-5">
            <a:extLst>
              <a:ext uri="{FF2B5EF4-FFF2-40B4-BE49-F238E27FC236}">
                <a16:creationId xmlns:a16="http://schemas.microsoft.com/office/drawing/2014/main" id="{84672702-4010-4862-BDCC-F26EA5404F87}"/>
              </a:ext>
            </a:extLst>
          </p:cNvPr>
          <p:cNvSpPr>
            <a:spLocks noGrp="1"/>
          </p:cNvSpPr>
          <p:nvPr/>
        </p:nvSpPr>
        <p:spPr>
          <a:xfrm>
            <a:off x="857250" y="2495550"/>
            <a:ext cx="10477500" cy="971550"/>
          </a:xfrm>
          <a:prstGeom prst="rect">
            <a:avLst/>
          </a:prstGeom>
          <a:noFill/>
          <a:ln w="0">
            <a:noFill/>
          </a:ln>
        </p:spPr>
        <p:txBody>
          <a:bodyPr wrap="square" lIns="0" tIns="0" rIns="0" bIns="0" anchor="t">
            <a:noAutofit/>
          </a:bodyPr>
          <a:lstStyle>
            <a:lvl1pPr>
              <a:buNone/>
              <a:defRPr sz="2250" b="0">
                <a:solidFill>
                  <a:srgbClr val="17365D"/>
                </a:solidFill>
                <a:latin typeface="Aptos"/>
                <a:ea typeface="Aptos"/>
                <a:cs typeface="Aptos"/>
              </a:defRPr>
            </a:lvl1pPr>
            <a:lvl2pPr>
              <a:buNone/>
              <a:defRPr sz="2250" b="0">
                <a:solidFill>
                  <a:srgbClr val="17365D"/>
                </a:solidFill>
                <a:latin typeface="Aptos"/>
                <a:ea typeface="Aptos"/>
                <a:cs typeface="Aptos"/>
              </a:defRPr>
            </a:lvl2pPr>
            <a:lvl3pPr>
              <a:buNone/>
              <a:defRPr sz="2250" b="0">
                <a:solidFill>
                  <a:srgbClr val="17365D"/>
                </a:solidFill>
                <a:latin typeface="Aptos"/>
                <a:ea typeface="Aptos"/>
                <a:cs typeface="Aptos"/>
              </a:defRPr>
            </a:lvl3pPr>
            <a:lvl4pPr>
              <a:buNone/>
              <a:defRPr sz="2250" b="0">
                <a:solidFill>
                  <a:srgbClr val="17365D"/>
                </a:solidFill>
                <a:latin typeface="Aptos"/>
                <a:ea typeface="Aptos"/>
                <a:cs typeface="Aptos"/>
              </a:defRPr>
            </a:lvl4pPr>
            <a:lvl5pPr>
              <a:buNone/>
              <a:defRPr sz="2250" b="0">
                <a:solidFill>
                  <a:srgbClr val="17365D"/>
                </a:solidFill>
                <a:latin typeface="Aptos"/>
                <a:ea typeface="Aptos"/>
                <a:cs typeface="Aptos"/>
              </a:defRPr>
            </a:lvl5pPr>
            <a:lvl6pPr>
              <a:buNone/>
              <a:defRPr sz="2250" b="0">
                <a:solidFill>
                  <a:srgbClr val="17365D"/>
                </a:solidFill>
                <a:latin typeface="Aptos"/>
                <a:ea typeface="Aptos"/>
                <a:cs typeface="Aptos"/>
              </a:defRPr>
            </a:lvl6pPr>
            <a:lvl7pPr>
              <a:buNone/>
              <a:defRPr sz="2250" b="0">
                <a:solidFill>
                  <a:srgbClr val="17365D"/>
                </a:solidFill>
                <a:latin typeface="Aptos"/>
                <a:ea typeface="Aptos"/>
                <a:cs typeface="Aptos"/>
              </a:defRPr>
            </a:lvl7pPr>
            <a:lvl8pPr>
              <a:buNone/>
              <a:defRPr sz="2250" b="0">
                <a:solidFill>
                  <a:srgbClr val="17365D"/>
                </a:solidFill>
                <a:latin typeface="Aptos"/>
                <a:ea typeface="Aptos"/>
                <a:cs typeface="Aptos"/>
              </a:defRPr>
            </a:lvl8pPr>
            <a:lvl9pPr>
              <a:buNone/>
              <a:defRPr sz="2250" b="0">
                <a:solidFill>
                  <a:srgbClr val="17365D"/>
                </a:solidFill>
                <a:latin typeface="Aptos"/>
                <a:ea typeface="Aptos"/>
                <a:cs typeface="Aptos"/>
              </a:defRPr>
            </a:lvl9pPr>
          </a:lstStyle>
          <a:p>
            <a:pPr>
              <a:buNone/>
              <a:defRPr sz="2250" b="0">
                <a:solidFill>
                  <a:srgbClr val="17365D"/>
                </a:solidFill>
                <a:latin typeface="Aptos"/>
                <a:ea typeface="Aptos"/>
                <a:cs typeface="Aptos"/>
              </a:defRPr>
            </a:pPr>
            <a:r>
              <a:rPr sz="2250" b="0">
                <a:solidFill>
                  <a:srgbClr val="17365D"/>
                </a:solidFill>
                <a:latin typeface="Aptos"/>
                <a:ea typeface="Aptos"/>
                <a:cs typeface="Aptos"/>
              </a:rPr>
              <a:t>Each observation follows the same probability model. Knowing one observation does not change the distribution of the others.</a:t>
            </a:r>
          </a:p>
        </p:txBody>
      </p:sp>
      <mc:AlternateContent xmlns:mc="http://schemas.openxmlformats.org/markup-compatibility/2006">
        <mc:Choice xmlns:a14="http://schemas.microsoft.com/office/drawing/2010/main" Requires="a14">
          <p:sp>
            <p:nvSpPr>
              <p:cNvPr id="7" name="EQ_005">
                <a:extLst>
                  <a:ext uri="{FF2B5EF4-FFF2-40B4-BE49-F238E27FC236}">
                    <a16:creationId xmlns:a16="http://schemas.microsoft.com/office/drawing/2014/main" id="{5277B328-DB60-434E-91C4-BF2A783A3C0B}"/>
                  </a:ext>
                </a:extLst>
              </p:cNvPr>
              <p:cNvSpPr>
                <a:spLocks noGrp="1"/>
              </p:cNvSpPr>
              <p:nvPr/>
            </p:nvSpPr>
            <p:spPr>
              <a:xfrm>
                <a:off x="857250" y="3733800"/>
                <a:ext cx="10477500" cy="1238250"/>
              </a:xfrm>
              <a:prstGeom prst="rect">
                <a:avLst/>
              </a:prstGeom>
              <a:noFill/>
              <a:ln w="0">
                <a:noFill/>
              </a:ln>
            </p:spPr>
            <p:txBody>
              <a:bodyPr wrap="none" lIns="0" tIns="0" rIns="0" bIns="0" anchor="ctr">
                <a:noAutofit/>
              </a:bodyPr>
              <a:lstStyle>
                <a:lvl1pPr algn="l">
                  <a:buNone/>
                  <a:defRPr sz="3400">
                    <a:solidFill>
                      <a:srgbClr val="17365D"/>
                    </a:solidFill>
                    <a:latin typeface="Cambria Math"/>
                    <a:ea typeface="Cambria Math"/>
                    <a:cs typeface="Cambria Math"/>
                  </a:defRPr>
                </a:lvl1pPr>
                <a:lvl2pPr algn="l">
                  <a:buNone/>
                  <a:defRPr sz="3400">
                    <a:solidFill>
                      <a:srgbClr val="17365D"/>
                    </a:solidFill>
                    <a:latin typeface="Cambria Math"/>
                    <a:ea typeface="Cambria Math"/>
                    <a:cs typeface="Cambria Math"/>
                  </a:defRPr>
                </a:lvl2pPr>
                <a:lvl3pPr algn="l">
                  <a:buNone/>
                  <a:defRPr sz="3400">
                    <a:solidFill>
                      <a:srgbClr val="17365D"/>
                    </a:solidFill>
                    <a:latin typeface="Cambria Math"/>
                    <a:ea typeface="Cambria Math"/>
                    <a:cs typeface="Cambria Math"/>
                  </a:defRPr>
                </a:lvl3pPr>
                <a:lvl4pPr algn="l">
                  <a:buNone/>
                  <a:defRPr sz="3400">
                    <a:solidFill>
                      <a:srgbClr val="17365D"/>
                    </a:solidFill>
                    <a:latin typeface="Cambria Math"/>
                    <a:ea typeface="Cambria Math"/>
                    <a:cs typeface="Cambria Math"/>
                  </a:defRPr>
                </a:lvl4pPr>
                <a:lvl5pPr algn="l">
                  <a:buNone/>
                  <a:defRPr sz="3400">
                    <a:solidFill>
                      <a:srgbClr val="17365D"/>
                    </a:solidFill>
                    <a:latin typeface="Cambria Math"/>
                    <a:ea typeface="Cambria Math"/>
                    <a:cs typeface="Cambria Math"/>
                  </a:defRPr>
                </a:lvl5pPr>
                <a:lvl6pPr algn="l">
                  <a:buNone/>
                  <a:defRPr sz="3400">
                    <a:solidFill>
                      <a:srgbClr val="17365D"/>
                    </a:solidFill>
                    <a:latin typeface="Cambria Math"/>
                    <a:ea typeface="Cambria Math"/>
                    <a:cs typeface="Cambria Math"/>
                  </a:defRPr>
                </a:lvl6pPr>
                <a:lvl7pPr algn="l">
                  <a:buNone/>
                  <a:defRPr sz="3400">
                    <a:solidFill>
                      <a:srgbClr val="17365D"/>
                    </a:solidFill>
                    <a:latin typeface="Cambria Math"/>
                    <a:ea typeface="Cambria Math"/>
                    <a:cs typeface="Cambria Math"/>
                  </a:defRPr>
                </a:lvl7pPr>
                <a:lvl8pPr algn="l">
                  <a:buNone/>
                  <a:defRPr sz="3400">
                    <a:solidFill>
                      <a:srgbClr val="17365D"/>
                    </a:solidFill>
                    <a:latin typeface="Cambria Math"/>
                    <a:ea typeface="Cambria Math"/>
                    <a:cs typeface="Cambria Math"/>
                  </a:defRPr>
                </a:lvl8pPr>
                <a:lvl9pPr algn="l">
                  <a:buNone/>
                  <a:defRPr sz="3400">
                    <a:solidFill>
                      <a:srgbClr val="17365D"/>
                    </a:solidFill>
                    <a:latin typeface="Cambria Math"/>
                    <a:ea typeface="Cambria Math"/>
                    <a:cs typeface="Cambria Math"/>
                  </a:defRPr>
                </a:lvl9pPr>
              </a:lstStyle>
              <a:p>
                <a:pPr>
                  <a:buNone/>
                  <a:defRPr sz="3400">
                    <a:solidFill>
                      <a:srgbClr val="17365D"/>
                    </a:solidFill>
                  </a:defRPr>
                </a:pPr>
                <a14:m>
                  <m:oMathPara xmlns:m="http://schemas.openxmlformats.org/officeDocument/2006/math">
                    <m:oMath>
                      <m:sSub>
                        <m:sSubPr>
                          <m:ctrlPr>
                            <a:rPr>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𝑋</m:t>
                              </m:r>
                            </m:e>
                          </m:acc>
                        </m:e>
                        <m:sub>
                          <m:r>
                            <a:rPr>
                              <a:latin typeface="Cambria Math" panose="02040503050406030204" pitchFamily="18" charset="0"/>
                            </a:rPr>
                            <m:t>𝑛</m:t>
                          </m:r>
                        </m:sub>
                      </m:sSub>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𝑛</m:t>
                          </m:r>
                        </m:den>
                      </m:f>
                      <m:nary>
                        <m:naryPr>
                          <m:chr m:val="∑"/>
                          <m:limLoc m:val="undOvr"/>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𝑛</m:t>
                          </m:r>
                        </m:sup>
                        <m:e>
                          <m:sSub>
                            <m:sSubPr>
                              <m:ctrlPr>
                                <a:rPr>
                                  <a:latin typeface="Cambria Math" panose="02040503050406030204" pitchFamily="18" charset="0"/>
                                </a:rPr>
                              </m:ctrlPr>
                            </m:sSubPr>
                            <m:e>
                              <m:r>
                                <a:rPr>
                                  <a:latin typeface="Cambria Math" panose="02040503050406030204" pitchFamily="18" charset="0"/>
                                </a:rPr>
                                <m:t>𝑋</m:t>
                              </m:r>
                            </m:e>
                            <m:sub>
                              <m:r>
                                <a:rPr>
                                  <a:latin typeface="Cambria Math" panose="02040503050406030204" pitchFamily="18" charset="0"/>
                                </a:rPr>
                                <m:t>𝑖</m:t>
                              </m:r>
                            </m:sub>
                          </m:sSub>
                        </m:e>
                      </m:nary>
                    </m:oMath>
                  </m:oMathPara>
                </a14:m>
                <a:endParaRPr/>
              </a:p>
            </p:txBody>
          </p:sp>
        </mc:Choice>
        <mc:Fallback>
          <p:sp>
            <p:nvSpPr>
              <p:cNvPr id="7" name="EQ_005">
                <a:extLst>
                  <a:ext uri="{FF2B5EF4-FFF2-40B4-BE49-F238E27FC236}">
                    <a16:creationId xmlns:a16="http://schemas.microsoft.com/office/drawing/2014/main" id="{5277B328-DB60-434E-91C4-BF2A783A3C0B}"/>
                  </a:ext>
                </a:extLst>
              </p:cNvPr>
              <p:cNvSpPr>
                <a:spLocks noGrp="1" noRot="1" noChangeAspect="1" noMove="1" noResize="1" noEditPoints="1" noAdjustHandles="1" noChangeArrowheads="1" noChangeShapeType="1" noTextEdit="1"/>
              </p:cNvSpPr>
              <p:nvPr/>
            </p:nvSpPr>
            <p:spPr>
              <a:xfrm>
                <a:off x="857250" y="3733800"/>
                <a:ext cx="10477500" cy="1238250"/>
              </a:xfrm>
              <a:prstGeom prst="rect">
                <a:avLst/>
              </a:prstGeom>
              <a:blipFill>
                <a:blip r:embed="rId3"/>
                <a:stretch>
                  <a:fillRect t="-2956" b="-6897"/>
                </a:stretch>
              </a:blipFill>
              <a:ln w="0">
                <a:noFill/>
              </a:ln>
            </p:spPr>
            <p:txBody>
              <a:bodyPr/>
              <a:lstStyle/>
              <a:p>
                <a:r>
                  <a:rPr lang="en-GB">
                    <a:noFill/>
                  </a:rPr>
                  <a:t> </a:t>
                </a:r>
              </a:p>
            </p:txBody>
          </p:sp>
        </mc:Fallback>
      </mc:AlternateContent>
      <p:sp>
        <p:nvSpPr>
          <p:cNvPr id="8" name="text-7">
            <a:extLst>
              <a:ext uri="{FF2B5EF4-FFF2-40B4-BE49-F238E27FC236}">
                <a16:creationId xmlns:a16="http://schemas.microsoft.com/office/drawing/2014/main" id="{8636EFF9-D278-46CF-A713-A40C07EEB702}"/>
              </a:ext>
            </a:extLst>
          </p:cNvPr>
          <p:cNvSpPr>
            <a:spLocks noGrp="1"/>
          </p:cNvSpPr>
          <p:nvPr/>
        </p:nvSpPr>
        <p:spPr>
          <a:xfrm>
            <a:off x="857250" y="5391150"/>
            <a:ext cx="10477500" cy="895350"/>
          </a:xfrm>
          <a:prstGeom prst="rect">
            <a:avLst/>
          </a:prstGeom>
          <a:noFill/>
          <a:ln w="0">
            <a:noFill/>
          </a:ln>
        </p:spPr>
        <p:txBody>
          <a:bodyPr wrap="square" lIns="0" tIns="0" rIns="0" bIns="0" anchor="t">
            <a:noAutofit/>
          </a:bodyPr>
          <a:lstStyle>
            <a:lvl1pPr>
              <a:buNone/>
              <a:defRPr sz="2250" b="0">
                <a:solidFill>
                  <a:srgbClr val="17365D"/>
                </a:solidFill>
                <a:latin typeface="Aptos"/>
                <a:ea typeface="Aptos"/>
                <a:cs typeface="Aptos"/>
              </a:defRPr>
            </a:lvl1pPr>
            <a:lvl2pPr>
              <a:buNone/>
              <a:defRPr sz="2250" b="0">
                <a:solidFill>
                  <a:srgbClr val="17365D"/>
                </a:solidFill>
                <a:latin typeface="Aptos"/>
                <a:ea typeface="Aptos"/>
                <a:cs typeface="Aptos"/>
              </a:defRPr>
            </a:lvl2pPr>
            <a:lvl3pPr>
              <a:buNone/>
              <a:defRPr sz="2250" b="0">
                <a:solidFill>
                  <a:srgbClr val="17365D"/>
                </a:solidFill>
                <a:latin typeface="Aptos"/>
                <a:ea typeface="Aptos"/>
                <a:cs typeface="Aptos"/>
              </a:defRPr>
            </a:lvl3pPr>
            <a:lvl4pPr>
              <a:buNone/>
              <a:defRPr sz="2250" b="0">
                <a:solidFill>
                  <a:srgbClr val="17365D"/>
                </a:solidFill>
                <a:latin typeface="Aptos"/>
                <a:ea typeface="Aptos"/>
                <a:cs typeface="Aptos"/>
              </a:defRPr>
            </a:lvl4pPr>
            <a:lvl5pPr>
              <a:buNone/>
              <a:defRPr sz="2250" b="0">
                <a:solidFill>
                  <a:srgbClr val="17365D"/>
                </a:solidFill>
                <a:latin typeface="Aptos"/>
                <a:ea typeface="Aptos"/>
                <a:cs typeface="Aptos"/>
              </a:defRPr>
            </a:lvl5pPr>
            <a:lvl6pPr>
              <a:buNone/>
              <a:defRPr sz="2250" b="0">
                <a:solidFill>
                  <a:srgbClr val="17365D"/>
                </a:solidFill>
                <a:latin typeface="Aptos"/>
                <a:ea typeface="Aptos"/>
                <a:cs typeface="Aptos"/>
              </a:defRPr>
            </a:lvl6pPr>
            <a:lvl7pPr>
              <a:buNone/>
              <a:defRPr sz="2250" b="0">
                <a:solidFill>
                  <a:srgbClr val="17365D"/>
                </a:solidFill>
                <a:latin typeface="Aptos"/>
                <a:ea typeface="Aptos"/>
                <a:cs typeface="Aptos"/>
              </a:defRPr>
            </a:lvl7pPr>
            <a:lvl8pPr>
              <a:buNone/>
              <a:defRPr sz="2250" b="0">
                <a:solidFill>
                  <a:srgbClr val="17365D"/>
                </a:solidFill>
                <a:latin typeface="Aptos"/>
                <a:ea typeface="Aptos"/>
                <a:cs typeface="Aptos"/>
              </a:defRPr>
            </a:lvl8pPr>
            <a:lvl9pPr>
              <a:buNone/>
              <a:defRPr sz="2250" b="0">
                <a:solidFill>
                  <a:srgbClr val="17365D"/>
                </a:solidFill>
                <a:latin typeface="Aptos"/>
                <a:ea typeface="Aptos"/>
                <a:cs typeface="Aptos"/>
              </a:defRPr>
            </a:lvl9pPr>
          </a:lstStyle>
          <a:p>
            <a:pPr>
              <a:buNone/>
              <a:defRPr sz="2250" b="0">
                <a:solidFill>
                  <a:srgbClr val="17365D"/>
                </a:solidFill>
                <a:latin typeface="Aptos"/>
                <a:ea typeface="Aptos"/>
                <a:cs typeface="Aptos"/>
              </a:defRPr>
            </a:pPr>
            <a:r>
              <a:rPr sz="2250" b="0">
                <a:solidFill>
                  <a:srgbClr val="17365D"/>
                </a:solidFill>
                <a:latin typeface="Aptos"/>
                <a:ea typeface="Aptos"/>
                <a:cs typeface="Aptos"/>
              </a:rPr>
              <a:t>A new sample gives a new mean. The distribution of these possible means is its sampling distribution.</a:t>
            </a:r>
          </a:p>
        </p:txBody>
      </p:sp>
    </p:spTree>
    <p:extLst>
      <p:ext uri="{BB962C8B-B14F-4D97-AF65-F5344CB8AC3E}">
        <p14:creationId xmlns:p14="http://schemas.microsoft.com/office/powerpoint/2010/main" val="605289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EEC19841-10E7-4095-9B71-7D4819C345B5}"/>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Mean and variance of a sample mean</a:t>
            </a:r>
          </a:p>
        </p:txBody>
      </p:sp>
      <p:sp>
        <p:nvSpPr>
          <p:cNvPr id="2" name="Straight Connector 1">
            <a:extLst>
              <a:ext uri="{FF2B5EF4-FFF2-40B4-BE49-F238E27FC236}">
                <a16:creationId xmlns:a16="http://schemas.microsoft.com/office/drawing/2014/main" id="{23302E7E-7185-48DA-9271-BC3F7AB61726}"/>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9C557B9C-F6C6-42DA-B8C3-9B5D76F9FE06}"/>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8B780013-D1BD-49BF-9F51-5FCA6AAE26C5}"/>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10</a:t>
            </a:r>
          </a:p>
        </p:txBody>
      </p:sp>
      <mc:AlternateContent xmlns:mc="http://schemas.openxmlformats.org/markup-compatibility/2006">
        <mc:Choice xmlns:a14="http://schemas.microsoft.com/office/drawing/2010/main" Requires="a14">
          <p:sp>
            <p:nvSpPr>
              <p:cNvPr id="5" name="EQ_006">
                <a:extLst>
                  <a:ext uri="{FF2B5EF4-FFF2-40B4-BE49-F238E27FC236}">
                    <a16:creationId xmlns:a16="http://schemas.microsoft.com/office/drawing/2014/main" id="{2DA642EE-CEC1-4C62-84F3-69981A5FBAC6}"/>
                  </a:ext>
                </a:extLst>
              </p:cNvPr>
              <p:cNvSpPr>
                <a:spLocks noGrp="1"/>
              </p:cNvSpPr>
              <p:nvPr/>
            </p:nvSpPr>
            <p:spPr>
              <a:xfrm>
                <a:off x="857250" y="1685925"/>
                <a:ext cx="10477500" cy="1047750"/>
              </a:xfrm>
              <a:prstGeom prst="rect">
                <a:avLst/>
              </a:prstGeom>
              <a:noFill/>
              <a:ln w="0">
                <a:noFill/>
              </a:ln>
            </p:spPr>
            <p:txBody>
              <a:bodyPr wrap="none" lIns="0" tIns="0" rIns="0" bIns="0" anchor="ctr">
                <a:noAutofit/>
              </a:bodyPr>
              <a:lstStyle>
                <a:lvl1pPr algn="l">
                  <a:buNone/>
                  <a:defRPr sz="2900">
                    <a:solidFill>
                      <a:srgbClr val="17365D"/>
                    </a:solidFill>
                    <a:latin typeface="Cambria Math"/>
                    <a:ea typeface="Cambria Math"/>
                    <a:cs typeface="Cambria Math"/>
                  </a:defRPr>
                </a:lvl1pPr>
                <a:lvl2pPr algn="l">
                  <a:buNone/>
                  <a:defRPr sz="2900">
                    <a:solidFill>
                      <a:srgbClr val="17365D"/>
                    </a:solidFill>
                    <a:latin typeface="Cambria Math"/>
                    <a:ea typeface="Cambria Math"/>
                    <a:cs typeface="Cambria Math"/>
                  </a:defRPr>
                </a:lvl2pPr>
                <a:lvl3pPr algn="l">
                  <a:buNone/>
                  <a:defRPr sz="2900">
                    <a:solidFill>
                      <a:srgbClr val="17365D"/>
                    </a:solidFill>
                    <a:latin typeface="Cambria Math"/>
                    <a:ea typeface="Cambria Math"/>
                    <a:cs typeface="Cambria Math"/>
                  </a:defRPr>
                </a:lvl3pPr>
                <a:lvl4pPr algn="l">
                  <a:buNone/>
                  <a:defRPr sz="2900">
                    <a:solidFill>
                      <a:srgbClr val="17365D"/>
                    </a:solidFill>
                    <a:latin typeface="Cambria Math"/>
                    <a:ea typeface="Cambria Math"/>
                    <a:cs typeface="Cambria Math"/>
                  </a:defRPr>
                </a:lvl4pPr>
                <a:lvl5pPr algn="l">
                  <a:buNone/>
                  <a:defRPr sz="2900">
                    <a:solidFill>
                      <a:srgbClr val="17365D"/>
                    </a:solidFill>
                    <a:latin typeface="Cambria Math"/>
                    <a:ea typeface="Cambria Math"/>
                    <a:cs typeface="Cambria Math"/>
                  </a:defRPr>
                </a:lvl5pPr>
                <a:lvl6pPr algn="l">
                  <a:buNone/>
                  <a:defRPr sz="2900">
                    <a:solidFill>
                      <a:srgbClr val="17365D"/>
                    </a:solidFill>
                    <a:latin typeface="Cambria Math"/>
                    <a:ea typeface="Cambria Math"/>
                    <a:cs typeface="Cambria Math"/>
                  </a:defRPr>
                </a:lvl6pPr>
                <a:lvl7pPr algn="l">
                  <a:buNone/>
                  <a:defRPr sz="2900">
                    <a:solidFill>
                      <a:srgbClr val="17365D"/>
                    </a:solidFill>
                    <a:latin typeface="Cambria Math"/>
                    <a:ea typeface="Cambria Math"/>
                    <a:cs typeface="Cambria Math"/>
                  </a:defRPr>
                </a:lvl7pPr>
                <a:lvl8pPr algn="l">
                  <a:buNone/>
                  <a:defRPr sz="2900">
                    <a:solidFill>
                      <a:srgbClr val="17365D"/>
                    </a:solidFill>
                    <a:latin typeface="Cambria Math"/>
                    <a:ea typeface="Cambria Math"/>
                    <a:cs typeface="Cambria Math"/>
                  </a:defRPr>
                </a:lvl8pPr>
                <a:lvl9pPr algn="l">
                  <a:buNone/>
                  <a:defRPr sz="2900">
                    <a:solidFill>
                      <a:srgbClr val="17365D"/>
                    </a:solidFill>
                    <a:latin typeface="Cambria Math"/>
                    <a:ea typeface="Cambria Math"/>
                    <a:cs typeface="Cambria Math"/>
                  </a:defRPr>
                </a:lvl9pPr>
              </a:lstStyle>
              <a:p>
                <a:pPr>
                  <a:buNone/>
                  <a:defRPr sz="2900">
                    <a:solidFill>
                      <a:srgbClr val="17365D"/>
                    </a:solidFill>
                  </a:defRPr>
                </a:pPr>
                <a14:m>
                  <m:oMathPara xmlns:m="http://schemas.openxmlformats.org/officeDocument/2006/math">
                    <m:oMath>
                      <m:r>
                        <a:rPr>
                          <a:latin typeface="Cambria Math" panose="02040503050406030204" pitchFamily="18" charset="0"/>
                        </a:rPr>
                        <m:t>𝐸</m:t>
                      </m:r>
                      <m:d>
                        <m:dPr>
                          <m:begChr m:val="["/>
                          <m:endChr m:val="]"/>
                          <m:ctrlPr>
                            <a:rPr i="1">
                              <a:latin typeface="Cambria Math" panose="02040503050406030204" pitchFamily="18" charset="0"/>
                            </a:rPr>
                          </m:ctrlPr>
                        </m:dPr>
                        <m:e>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𝑋</m:t>
                                  </m:r>
                                </m:e>
                              </m:acc>
                            </m:e>
                            <m:sub>
                              <m:r>
                                <a:rPr>
                                  <a:latin typeface="Cambria Math" panose="02040503050406030204" pitchFamily="18" charset="0"/>
                                </a:rPr>
                                <m:t>𝑛</m:t>
                              </m:r>
                            </m:sub>
                          </m:sSub>
                        </m:e>
                      </m:d>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𝑛</m:t>
                          </m:r>
                        </m:den>
                      </m:f>
                      <m:nary>
                        <m:naryPr>
                          <m:chr m:val="∑"/>
                          <m:limLoc m:val="undOvr"/>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𝑛</m:t>
                          </m:r>
                        </m:sup>
                        <m:e>
                          <m:r>
                            <a:rPr>
                              <a:latin typeface="Cambria Math" panose="02040503050406030204" pitchFamily="18" charset="0"/>
                            </a:rPr>
                            <m:t>𝐸</m:t>
                          </m:r>
                          <m:d>
                            <m:dPr>
                              <m:begChr m:val="["/>
                              <m:endChr m:val="]"/>
                              <m:ctrlPr>
                                <a:rPr i="1">
                                  <a:latin typeface="Cambria Math" panose="02040503050406030204" pitchFamily="18" charset="0"/>
                                </a:rPr>
                              </m:ctrlPr>
                            </m:dPr>
                            <m:e>
                              <m:sSub>
                                <m:sSubPr>
                                  <m:ctrlPr>
                                    <a:rPr>
                                      <a:latin typeface="Cambria Math" panose="02040503050406030204" pitchFamily="18" charset="0"/>
                                    </a:rPr>
                                  </m:ctrlPr>
                                </m:sSubPr>
                                <m:e>
                                  <m:r>
                                    <a:rPr>
                                      <a:latin typeface="Cambria Math" panose="02040503050406030204" pitchFamily="18" charset="0"/>
                                    </a:rPr>
                                    <m:t>𝑋</m:t>
                                  </m:r>
                                </m:e>
                                <m:sub>
                                  <m:r>
                                    <a:rPr>
                                      <a:latin typeface="Cambria Math" panose="02040503050406030204" pitchFamily="18" charset="0"/>
                                    </a:rPr>
                                    <m:t>𝑖</m:t>
                                  </m:r>
                                </m:sub>
                              </m:sSub>
                            </m:e>
                          </m:d>
                        </m:e>
                      </m:nary>
                      <m:r>
                        <a:rPr>
                          <a:latin typeface="Cambria Math" panose="02040503050406030204" pitchFamily="18" charset="0"/>
                        </a:rPr>
                        <m:t>=</m:t>
                      </m:r>
                      <m:r>
                        <a:rPr>
                          <a:latin typeface="Cambria Math" panose="02040503050406030204" pitchFamily="18" charset="0"/>
                        </a:rPr>
                        <m:t>𝜇</m:t>
                      </m:r>
                    </m:oMath>
                  </m:oMathPara>
                </a14:m>
                <a:endParaRPr/>
              </a:p>
            </p:txBody>
          </p:sp>
        </mc:Choice>
        <mc:Fallback>
          <p:sp>
            <p:nvSpPr>
              <p:cNvPr id="5" name="EQ_006">
                <a:extLst>
                  <a:ext uri="{FF2B5EF4-FFF2-40B4-BE49-F238E27FC236}">
                    <a16:creationId xmlns:a16="http://schemas.microsoft.com/office/drawing/2014/main" id="{2DA642EE-CEC1-4C62-84F3-69981A5FBAC6}"/>
                  </a:ext>
                </a:extLst>
              </p:cNvPr>
              <p:cNvSpPr>
                <a:spLocks noGrp="1" noRot="1" noChangeAspect="1" noMove="1" noResize="1" noEditPoints="1" noAdjustHandles="1" noChangeArrowheads="1" noChangeShapeType="1" noTextEdit="1"/>
              </p:cNvSpPr>
              <p:nvPr/>
            </p:nvSpPr>
            <p:spPr>
              <a:xfrm>
                <a:off x="857250" y="1685925"/>
                <a:ext cx="10477500" cy="1047750"/>
              </a:xfrm>
              <a:prstGeom prst="rect">
                <a:avLst/>
              </a:prstGeom>
              <a:blipFill>
                <a:blip r:embed="rId3"/>
                <a:stretch>
                  <a:fillRect t="-3509" b="-7602"/>
                </a:stretch>
              </a:blipFill>
              <a:ln w="0">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6" name="EQ_007">
                <a:extLst>
                  <a:ext uri="{FF2B5EF4-FFF2-40B4-BE49-F238E27FC236}">
                    <a16:creationId xmlns:a16="http://schemas.microsoft.com/office/drawing/2014/main" id="{3E50DACF-4AAA-4991-97CB-B5B2B4E42721}"/>
                  </a:ext>
                </a:extLst>
              </p:cNvPr>
              <p:cNvSpPr>
                <a:spLocks noGrp="1"/>
              </p:cNvSpPr>
              <p:nvPr/>
            </p:nvSpPr>
            <p:spPr>
              <a:xfrm>
                <a:off x="857250" y="3114675"/>
                <a:ext cx="10477500" cy="1238250"/>
              </a:xfrm>
              <a:prstGeom prst="rect">
                <a:avLst/>
              </a:prstGeom>
              <a:noFill/>
              <a:ln w="0">
                <a:noFill/>
              </a:ln>
            </p:spPr>
            <p:txBody>
              <a:bodyPr wrap="none" lIns="0" tIns="0" rIns="0" bIns="0" anchor="ctr">
                <a:noAutofit/>
              </a:bodyPr>
              <a:lstStyle>
                <a:lvl1pPr algn="l">
                  <a:buNone/>
                  <a:defRPr sz="2800">
                    <a:solidFill>
                      <a:srgbClr val="17365D"/>
                    </a:solidFill>
                    <a:latin typeface="Cambria Math"/>
                    <a:ea typeface="Cambria Math"/>
                    <a:cs typeface="Cambria Math"/>
                  </a:defRPr>
                </a:lvl1pPr>
                <a:lvl2pPr algn="l">
                  <a:buNone/>
                  <a:defRPr sz="2800">
                    <a:solidFill>
                      <a:srgbClr val="17365D"/>
                    </a:solidFill>
                    <a:latin typeface="Cambria Math"/>
                    <a:ea typeface="Cambria Math"/>
                    <a:cs typeface="Cambria Math"/>
                  </a:defRPr>
                </a:lvl2pPr>
                <a:lvl3pPr algn="l">
                  <a:buNone/>
                  <a:defRPr sz="2800">
                    <a:solidFill>
                      <a:srgbClr val="17365D"/>
                    </a:solidFill>
                    <a:latin typeface="Cambria Math"/>
                    <a:ea typeface="Cambria Math"/>
                    <a:cs typeface="Cambria Math"/>
                  </a:defRPr>
                </a:lvl3pPr>
                <a:lvl4pPr algn="l">
                  <a:buNone/>
                  <a:defRPr sz="2800">
                    <a:solidFill>
                      <a:srgbClr val="17365D"/>
                    </a:solidFill>
                    <a:latin typeface="Cambria Math"/>
                    <a:ea typeface="Cambria Math"/>
                    <a:cs typeface="Cambria Math"/>
                  </a:defRPr>
                </a:lvl4pPr>
                <a:lvl5pPr algn="l">
                  <a:buNone/>
                  <a:defRPr sz="2800">
                    <a:solidFill>
                      <a:srgbClr val="17365D"/>
                    </a:solidFill>
                    <a:latin typeface="Cambria Math"/>
                    <a:ea typeface="Cambria Math"/>
                    <a:cs typeface="Cambria Math"/>
                  </a:defRPr>
                </a:lvl5pPr>
                <a:lvl6pPr algn="l">
                  <a:buNone/>
                  <a:defRPr sz="2800">
                    <a:solidFill>
                      <a:srgbClr val="17365D"/>
                    </a:solidFill>
                    <a:latin typeface="Cambria Math"/>
                    <a:ea typeface="Cambria Math"/>
                    <a:cs typeface="Cambria Math"/>
                  </a:defRPr>
                </a:lvl6pPr>
                <a:lvl7pPr algn="l">
                  <a:buNone/>
                  <a:defRPr sz="2800">
                    <a:solidFill>
                      <a:srgbClr val="17365D"/>
                    </a:solidFill>
                    <a:latin typeface="Cambria Math"/>
                    <a:ea typeface="Cambria Math"/>
                    <a:cs typeface="Cambria Math"/>
                  </a:defRPr>
                </a:lvl7pPr>
                <a:lvl8pPr algn="l">
                  <a:buNone/>
                  <a:defRPr sz="2800">
                    <a:solidFill>
                      <a:srgbClr val="17365D"/>
                    </a:solidFill>
                    <a:latin typeface="Cambria Math"/>
                    <a:ea typeface="Cambria Math"/>
                    <a:cs typeface="Cambria Math"/>
                  </a:defRPr>
                </a:lvl8pPr>
                <a:lvl9pPr algn="l">
                  <a:buNone/>
                  <a:defRPr sz="2800">
                    <a:solidFill>
                      <a:srgbClr val="17365D"/>
                    </a:solidFill>
                    <a:latin typeface="Cambria Math"/>
                    <a:ea typeface="Cambria Math"/>
                    <a:cs typeface="Cambria Math"/>
                  </a:defRPr>
                </a:lvl9pPr>
              </a:lstStyle>
              <a:p>
                <a:pPr>
                  <a:buNone/>
                  <a:defRPr sz="2800">
                    <a:solidFill>
                      <a:srgbClr val="17365D"/>
                    </a:solidFill>
                  </a:defRPr>
                </a:pPr>
                <a14:m>
                  <m:oMathPara xmlns:m="http://schemas.openxmlformats.org/officeDocument/2006/math">
                    <m:oMath>
                      <m:r>
                        <a:rPr>
                          <a:latin typeface="Cambria Math" panose="02040503050406030204" pitchFamily="18" charset="0"/>
                        </a:rPr>
                        <m:t>𝑉𝑎𝑟</m:t>
                      </m:r>
                      <m:d>
                        <m:dPr>
                          <m:ctrlPr>
                            <a:rPr i="1">
                              <a:latin typeface="Cambria Math" panose="02040503050406030204" pitchFamily="18" charset="0"/>
                            </a:rPr>
                          </m:ctrlPr>
                        </m:dPr>
                        <m:e>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𝑋</m:t>
                                  </m:r>
                                </m:e>
                              </m:acc>
                            </m:e>
                            <m:sub>
                              <m:r>
                                <a:rPr>
                                  <a:latin typeface="Cambria Math" panose="02040503050406030204" pitchFamily="18" charset="0"/>
                                </a:rPr>
                                <m:t>𝑛</m:t>
                              </m:r>
                            </m:sub>
                          </m:sSub>
                        </m:e>
                      </m:d>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1</m:t>
                          </m:r>
                        </m:num>
                        <m:den>
                          <m:sSup>
                            <m:sSupPr>
                              <m:ctrlPr>
                                <a:rPr>
                                  <a:latin typeface="Cambria Math" panose="02040503050406030204" pitchFamily="18" charset="0"/>
                                </a:rPr>
                              </m:ctrlPr>
                            </m:sSupPr>
                            <m:e>
                              <m:r>
                                <a:rPr>
                                  <a:latin typeface="Cambria Math" panose="02040503050406030204" pitchFamily="18" charset="0"/>
                                </a:rPr>
                                <m:t>𝑛</m:t>
                              </m:r>
                            </m:e>
                            <m:sup>
                              <m:r>
                                <a:rPr>
                                  <a:latin typeface="Cambria Math" panose="02040503050406030204" pitchFamily="18" charset="0"/>
                                </a:rPr>
                                <m:t>2</m:t>
                              </m:r>
                            </m:sup>
                          </m:sSup>
                        </m:den>
                      </m:f>
                      <m:nary>
                        <m:naryPr>
                          <m:chr m:val="∑"/>
                          <m:limLoc m:val="undOvr"/>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𝑛</m:t>
                          </m:r>
                        </m:sup>
                        <m:e>
                          <m:r>
                            <a:rPr>
                              <a:latin typeface="Cambria Math" panose="02040503050406030204" pitchFamily="18" charset="0"/>
                            </a:rPr>
                            <m:t>𝑉𝑎𝑟</m:t>
                          </m:r>
                          <m:d>
                            <m:dPr>
                              <m:ctrlPr>
                                <a:rPr i="1">
                                  <a:latin typeface="Cambria Math" panose="02040503050406030204" pitchFamily="18" charset="0"/>
                                </a:rPr>
                              </m:ctrlPr>
                            </m:dPr>
                            <m:e>
                              <m:sSub>
                                <m:sSubPr>
                                  <m:ctrlPr>
                                    <a:rPr>
                                      <a:latin typeface="Cambria Math" panose="02040503050406030204" pitchFamily="18" charset="0"/>
                                    </a:rPr>
                                  </m:ctrlPr>
                                </m:sSubPr>
                                <m:e>
                                  <m:r>
                                    <a:rPr>
                                      <a:latin typeface="Cambria Math" panose="02040503050406030204" pitchFamily="18" charset="0"/>
                                    </a:rPr>
                                    <m:t>𝑋</m:t>
                                  </m:r>
                                </m:e>
                                <m:sub>
                                  <m:r>
                                    <a:rPr>
                                      <a:latin typeface="Cambria Math" panose="02040503050406030204" pitchFamily="18" charset="0"/>
                                    </a:rPr>
                                    <m:t>𝑖</m:t>
                                  </m:r>
                                </m:sub>
                              </m:sSub>
                            </m:e>
                          </m:d>
                        </m:e>
                      </m:nary>
                      <m:r>
                        <a:rPr>
                          <a:latin typeface="Cambria Math" panose="02040503050406030204" pitchFamily="18" charset="0"/>
                        </a:rPr>
                        <m:t>=</m:t>
                      </m:r>
                      <m:f>
                        <m:fPr>
                          <m:ctrlPr>
                            <a:rPr i="1">
                              <a:latin typeface="Cambria Math" panose="02040503050406030204" pitchFamily="18" charset="0"/>
                            </a:rPr>
                          </m:ctrlPr>
                        </m:fPr>
                        <m:num>
                          <m:sSup>
                            <m:sSupPr>
                              <m:ctrlPr>
                                <a:rPr>
                                  <a:latin typeface="Cambria Math" panose="02040503050406030204" pitchFamily="18" charset="0"/>
                                </a:rPr>
                              </m:ctrlPr>
                            </m:sSupPr>
                            <m:e>
                              <m:r>
                                <a:rPr>
                                  <a:latin typeface="Cambria Math" panose="02040503050406030204" pitchFamily="18" charset="0"/>
                                </a:rPr>
                                <m:t>𝜎</m:t>
                              </m:r>
                            </m:e>
                            <m:sup>
                              <m:r>
                                <a:rPr>
                                  <a:latin typeface="Cambria Math" panose="02040503050406030204" pitchFamily="18" charset="0"/>
                                </a:rPr>
                                <m:t>2</m:t>
                              </m:r>
                            </m:sup>
                          </m:sSup>
                        </m:num>
                        <m:den>
                          <m:r>
                            <a:rPr>
                              <a:latin typeface="Cambria Math" panose="02040503050406030204" pitchFamily="18" charset="0"/>
                            </a:rPr>
                            <m:t>𝑛</m:t>
                          </m:r>
                        </m:den>
                      </m:f>
                    </m:oMath>
                  </m:oMathPara>
                </a14:m>
                <a:endParaRPr/>
              </a:p>
            </p:txBody>
          </p:sp>
        </mc:Choice>
        <mc:Fallback>
          <p:sp>
            <p:nvSpPr>
              <p:cNvPr id="6" name="EQ_007">
                <a:extLst>
                  <a:ext uri="{FF2B5EF4-FFF2-40B4-BE49-F238E27FC236}">
                    <a16:creationId xmlns:a16="http://schemas.microsoft.com/office/drawing/2014/main" id="{3E50DACF-4AAA-4991-97CB-B5B2B4E42721}"/>
                  </a:ext>
                </a:extLst>
              </p:cNvPr>
              <p:cNvSpPr>
                <a:spLocks noGrp="1" noRot="1" noChangeAspect="1" noMove="1" noResize="1" noEditPoints="1" noAdjustHandles="1" noChangeArrowheads="1" noChangeShapeType="1" noTextEdit="1"/>
              </p:cNvSpPr>
              <p:nvPr/>
            </p:nvSpPr>
            <p:spPr>
              <a:xfrm>
                <a:off x="857250" y="3114675"/>
                <a:ext cx="10477500" cy="1238250"/>
              </a:xfrm>
              <a:prstGeom prst="rect">
                <a:avLst/>
              </a:prstGeom>
              <a:blipFill>
                <a:blip r:embed="rId4"/>
                <a:stretch>
                  <a:fillRect/>
                </a:stretch>
              </a:blipFill>
              <a:ln w="0">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7" name="EQ_008">
                <a:extLst>
                  <a:ext uri="{FF2B5EF4-FFF2-40B4-BE49-F238E27FC236}">
                    <a16:creationId xmlns:a16="http://schemas.microsoft.com/office/drawing/2014/main" id="{020ECDD2-D2FD-4928-9733-C6DB8CB088A7}"/>
                  </a:ext>
                </a:extLst>
              </p:cNvPr>
              <p:cNvSpPr>
                <a:spLocks noGrp="1"/>
              </p:cNvSpPr>
              <p:nvPr/>
            </p:nvSpPr>
            <p:spPr>
              <a:xfrm>
                <a:off x="857250" y="4781550"/>
                <a:ext cx="10477500" cy="876300"/>
              </a:xfrm>
              <a:prstGeom prst="rect">
                <a:avLst/>
              </a:prstGeom>
              <a:noFill/>
              <a:ln w="0">
                <a:noFill/>
              </a:ln>
            </p:spPr>
            <p:txBody>
              <a:bodyPr wrap="none" lIns="0" tIns="0" rIns="0" bIns="0" anchor="ctr">
                <a:noAutofit/>
              </a:bodyPr>
              <a:lstStyle>
                <a:lvl1pPr algn="l">
                  <a:buNone/>
                  <a:defRPr sz="3200">
                    <a:solidFill>
                      <a:srgbClr val="17365D"/>
                    </a:solidFill>
                    <a:latin typeface="Cambria Math"/>
                    <a:ea typeface="Cambria Math"/>
                    <a:cs typeface="Cambria Math"/>
                  </a:defRPr>
                </a:lvl1pPr>
                <a:lvl2pPr algn="l">
                  <a:buNone/>
                  <a:defRPr sz="3200">
                    <a:solidFill>
                      <a:srgbClr val="17365D"/>
                    </a:solidFill>
                    <a:latin typeface="Cambria Math"/>
                    <a:ea typeface="Cambria Math"/>
                    <a:cs typeface="Cambria Math"/>
                  </a:defRPr>
                </a:lvl2pPr>
                <a:lvl3pPr algn="l">
                  <a:buNone/>
                  <a:defRPr sz="3200">
                    <a:solidFill>
                      <a:srgbClr val="17365D"/>
                    </a:solidFill>
                    <a:latin typeface="Cambria Math"/>
                    <a:ea typeface="Cambria Math"/>
                    <a:cs typeface="Cambria Math"/>
                  </a:defRPr>
                </a:lvl3pPr>
                <a:lvl4pPr algn="l">
                  <a:buNone/>
                  <a:defRPr sz="3200">
                    <a:solidFill>
                      <a:srgbClr val="17365D"/>
                    </a:solidFill>
                    <a:latin typeface="Cambria Math"/>
                    <a:ea typeface="Cambria Math"/>
                    <a:cs typeface="Cambria Math"/>
                  </a:defRPr>
                </a:lvl4pPr>
                <a:lvl5pPr algn="l">
                  <a:buNone/>
                  <a:defRPr sz="3200">
                    <a:solidFill>
                      <a:srgbClr val="17365D"/>
                    </a:solidFill>
                    <a:latin typeface="Cambria Math"/>
                    <a:ea typeface="Cambria Math"/>
                    <a:cs typeface="Cambria Math"/>
                  </a:defRPr>
                </a:lvl5pPr>
                <a:lvl6pPr algn="l">
                  <a:buNone/>
                  <a:defRPr sz="3200">
                    <a:solidFill>
                      <a:srgbClr val="17365D"/>
                    </a:solidFill>
                    <a:latin typeface="Cambria Math"/>
                    <a:ea typeface="Cambria Math"/>
                    <a:cs typeface="Cambria Math"/>
                  </a:defRPr>
                </a:lvl6pPr>
                <a:lvl7pPr algn="l">
                  <a:buNone/>
                  <a:defRPr sz="3200">
                    <a:solidFill>
                      <a:srgbClr val="17365D"/>
                    </a:solidFill>
                    <a:latin typeface="Cambria Math"/>
                    <a:ea typeface="Cambria Math"/>
                    <a:cs typeface="Cambria Math"/>
                  </a:defRPr>
                </a:lvl7pPr>
                <a:lvl8pPr algn="l">
                  <a:buNone/>
                  <a:defRPr sz="3200">
                    <a:solidFill>
                      <a:srgbClr val="17365D"/>
                    </a:solidFill>
                    <a:latin typeface="Cambria Math"/>
                    <a:ea typeface="Cambria Math"/>
                    <a:cs typeface="Cambria Math"/>
                  </a:defRPr>
                </a:lvl8pPr>
                <a:lvl9pPr algn="l">
                  <a:buNone/>
                  <a:defRPr sz="3200">
                    <a:solidFill>
                      <a:srgbClr val="17365D"/>
                    </a:solidFill>
                    <a:latin typeface="Cambria Math"/>
                    <a:ea typeface="Cambria Math"/>
                    <a:cs typeface="Cambria Math"/>
                  </a:defRPr>
                </a:lvl9pPr>
              </a:lstStyle>
              <a:p>
                <a:pPr>
                  <a:buNone/>
                  <a:defRPr sz="3200">
                    <a:solidFill>
                      <a:srgbClr val="17365D"/>
                    </a:solidFill>
                  </a:defRPr>
                </a:pPr>
                <a14:m>
                  <m:oMathPara xmlns:m="http://schemas.openxmlformats.org/officeDocument/2006/math">
                    <m:oMath>
                      <m:r>
                        <a:rPr>
                          <a:latin typeface="Cambria Math" panose="02040503050406030204" pitchFamily="18" charset="0"/>
                        </a:rPr>
                        <m:t>𝑆𝐷</m:t>
                      </m:r>
                      <m:d>
                        <m:dPr>
                          <m:ctrlPr>
                            <a:rPr i="1">
                              <a:latin typeface="Cambria Math" panose="02040503050406030204" pitchFamily="18" charset="0"/>
                            </a:rPr>
                          </m:ctrlPr>
                        </m:dPr>
                        <m:e>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𝑋</m:t>
                                  </m:r>
                                </m:e>
                              </m:acc>
                            </m:e>
                            <m:sub>
                              <m:r>
                                <a:rPr>
                                  <a:latin typeface="Cambria Math" panose="02040503050406030204" pitchFamily="18" charset="0"/>
                                </a:rPr>
                                <m:t>𝑛</m:t>
                              </m:r>
                            </m:sub>
                          </m:sSub>
                        </m:e>
                      </m:d>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𝜎</m:t>
                          </m:r>
                        </m:num>
                        <m:den>
                          <m:rad>
                            <m:radPr>
                              <m:ctrlPr>
                                <a:rPr>
                                  <a:latin typeface="Cambria Math" panose="02040503050406030204" pitchFamily="18" charset="0"/>
                                </a:rPr>
                              </m:ctrlPr>
                            </m:radPr>
                            <m:e>
                              <m:r>
                                <a:rPr>
                                  <a:latin typeface="Cambria Math" panose="02040503050406030204" pitchFamily="18" charset="0"/>
                                </a:rPr>
                                <m:t>𝑛</m:t>
                              </m:r>
                            </m:e>
                          </m:rad>
                        </m:den>
                      </m:f>
                    </m:oMath>
                  </m:oMathPara>
                </a14:m>
                <a:endParaRPr/>
              </a:p>
            </p:txBody>
          </p:sp>
        </mc:Choice>
        <mc:Fallback>
          <p:sp>
            <p:nvSpPr>
              <p:cNvPr id="7" name="EQ_008">
                <a:extLst>
                  <a:ext uri="{FF2B5EF4-FFF2-40B4-BE49-F238E27FC236}">
                    <a16:creationId xmlns:a16="http://schemas.microsoft.com/office/drawing/2014/main" id="{020ECDD2-D2FD-4928-9733-C6DB8CB088A7}"/>
                  </a:ext>
                </a:extLst>
              </p:cNvPr>
              <p:cNvSpPr>
                <a:spLocks noGrp="1" noRot="1" noChangeAspect="1" noMove="1" noResize="1" noEditPoints="1" noAdjustHandles="1" noChangeArrowheads="1" noChangeShapeType="1" noTextEdit="1"/>
              </p:cNvSpPr>
              <p:nvPr/>
            </p:nvSpPr>
            <p:spPr>
              <a:xfrm>
                <a:off x="857250" y="4781550"/>
                <a:ext cx="10477500" cy="876300"/>
              </a:xfrm>
              <a:prstGeom prst="rect">
                <a:avLst/>
              </a:prstGeom>
              <a:blipFill>
                <a:blip r:embed="rId5"/>
                <a:stretch>
                  <a:fillRect b="-3472"/>
                </a:stretch>
              </a:blipFill>
              <a:ln w="0">
                <a:noFill/>
              </a:ln>
            </p:spPr>
            <p:txBody>
              <a:bodyPr/>
              <a:lstStyle/>
              <a:p>
                <a:r>
                  <a:rPr lang="en-GB">
                    <a:noFill/>
                  </a:rPr>
                  <a:t> </a:t>
                </a:r>
              </a:p>
            </p:txBody>
          </p:sp>
        </mc:Fallback>
      </mc:AlternateContent>
      <p:sp>
        <p:nvSpPr>
          <p:cNvPr id="8" name="text-7">
            <a:extLst>
              <a:ext uri="{FF2B5EF4-FFF2-40B4-BE49-F238E27FC236}">
                <a16:creationId xmlns:a16="http://schemas.microsoft.com/office/drawing/2014/main" id="{169000CB-A5F0-4D64-A539-C776FAA45BF8}"/>
              </a:ext>
            </a:extLst>
          </p:cNvPr>
          <p:cNvSpPr>
            <a:spLocks noGrp="1"/>
          </p:cNvSpPr>
          <p:nvPr/>
        </p:nvSpPr>
        <p:spPr>
          <a:xfrm>
            <a:off x="857250" y="5848350"/>
            <a:ext cx="10477500" cy="457200"/>
          </a:xfrm>
          <a:prstGeom prst="rect">
            <a:avLst/>
          </a:prstGeom>
          <a:noFill/>
          <a:ln w="0">
            <a:noFill/>
          </a:ln>
        </p:spPr>
        <p:txBody>
          <a:bodyPr wrap="square" lIns="0" tIns="0" rIns="0" bIns="0" anchor="t">
            <a:noAutofit/>
          </a:bodyPr>
          <a:lstStyle>
            <a:lvl1pPr>
              <a:buNone/>
              <a:defRPr sz="1950" b="0">
                <a:solidFill>
                  <a:srgbClr val="526171"/>
                </a:solidFill>
                <a:latin typeface="Aptos"/>
                <a:ea typeface="Aptos"/>
                <a:cs typeface="Aptos"/>
              </a:defRPr>
            </a:lvl1pPr>
            <a:lvl2pPr>
              <a:buNone/>
              <a:defRPr sz="1950" b="0">
                <a:solidFill>
                  <a:srgbClr val="526171"/>
                </a:solidFill>
                <a:latin typeface="Aptos"/>
                <a:ea typeface="Aptos"/>
                <a:cs typeface="Aptos"/>
              </a:defRPr>
            </a:lvl2pPr>
            <a:lvl3pPr>
              <a:buNone/>
              <a:defRPr sz="1950" b="0">
                <a:solidFill>
                  <a:srgbClr val="526171"/>
                </a:solidFill>
                <a:latin typeface="Aptos"/>
                <a:ea typeface="Aptos"/>
                <a:cs typeface="Aptos"/>
              </a:defRPr>
            </a:lvl3pPr>
            <a:lvl4pPr>
              <a:buNone/>
              <a:defRPr sz="1950" b="0">
                <a:solidFill>
                  <a:srgbClr val="526171"/>
                </a:solidFill>
                <a:latin typeface="Aptos"/>
                <a:ea typeface="Aptos"/>
                <a:cs typeface="Aptos"/>
              </a:defRPr>
            </a:lvl4pPr>
            <a:lvl5pPr>
              <a:buNone/>
              <a:defRPr sz="1950" b="0">
                <a:solidFill>
                  <a:srgbClr val="526171"/>
                </a:solidFill>
                <a:latin typeface="Aptos"/>
                <a:ea typeface="Aptos"/>
                <a:cs typeface="Aptos"/>
              </a:defRPr>
            </a:lvl5pPr>
            <a:lvl6pPr>
              <a:buNone/>
              <a:defRPr sz="1950" b="0">
                <a:solidFill>
                  <a:srgbClr val="526171"/>
                </a:solidFill>
                <a:latin typeface="Aptos"/>
                <a:ea typeface="Aptos"/>
                <a:cs typeface="Aptos"/>
              </a:defRPr>
            </a:lvl6pPr>
            <a:lvl7pPr>
              <a:buNone/>
              <a:defRPr sz="1950" b="0">
                <a:solidFill>
                  <a:srgbClr val="526171"/>
                </a:solidFill>
                <a:latin typeface="Aptos"/>
                <a:ea typeface="Aptos"/>
                <a:cs typeface="Aptos"/>
              </a:defRPr>
            </a:lvl7pPr>
            <a:lvl8pPr>
              <a:buNone/>
              <a:defRPr sz="1950" b="0">
                <a:solidFill>
                  <a:srgbClr val="526171"/>
                </a:solidFill>
                <a:latin typeface="Aptos"/>
                <a:ea typeface="Aptos"/>
                <a:cs typeface="Aptos"/>
              </a:defRPr>
            </a:lvl8pPr>
            <a:lvl9pPr>
              <a:buNone/>
              <a:defRPr sz="1950" b="0">
                <a:solidFill>
                  <a:srgbClr val="526171"/>
                </a:solidFill>
                <a:latin typeface="Aptos"/>
                <a:ea typeface="Aptos"/>
                <a:cs typeface="Aptos"/>
              </a:defRPr>
            </a:lvl9pPr>
          </a:lstStyle>
          <a:p>
            <a:pPr>
              <a:buNone/>
              <a:defRPr sz="1950" b="0">
                <a:solidFill>
                  <a:srgbClr val="526171"/>
                </a:solidFill>
                <a:latin typeface="Aptos"/>
                <a:ea typeface="Aptos"/>
                <a:cs typeface="Aptos"/>
              </a:defRPr>
            </a:pPr>
            <a:r>
              <a:rPr sz="1950" b="0">
                <a:solidFill>
                  <a:srgbClr val="526171"/>
                </a:solidFill>
                <a:latin typeface="Aptos"/>
                <a:ea typeface="Aptos"/>
                <a:cs typeface="Aptos"/>
              </a:rPr>
              <a:t>Here μ and σ² describe one observation. Independence removes covariance terms.</a:t>
            </a:r>
          </a:p>
        </p:txBody>
      </p:sp>
    </p:spTree>
    <p:extLst>
      <p:ext uri="{BB962C8B-B14F-4D97-AF65-F5344CB8AC3E}">
        <p14:creationId xmlns:p14="http://schemas.microsoft.com/office/powerpoint/2010/main" val="765770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0">
            <a:extLst>
              <a:ext uri="{FF2B5EF4-FFF2-40B4-BE49-F238E27FC236}">
                <a16:creationId xmlns:a16="http://schemas.microsoft.com/office/drawing/2014/main" id="{10898263-1B83-4AB1-909B-FE33E5F4DBCC}"/>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The sampling distribution changes with n</a:t>
            </a:r>
          </a:p>
        </p:txBody>
      </p:sp>
      <p:sp>
        <p:nvSpPr>
          <p:cNvPr id="2" name="Straight Connector 1">
            <a:extLst>
              <a:ext uri="{FF2B5EF4-FFF2-40B4-BE49-F238E27FC236}">
                <a16:creationId xmlns:a16="http://schemas.microsoft.com/office/drawing/2014/main" id="{6E190D03-51FD-4DC7-8DF9-9C87064B2D31}"/>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1EF14975-A81B-4627-99C0-60BB47158E60}"/>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0A473F86-0CFA-4AE1-BAD9-F4406D99ECD7}"/>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11</a:t>
            </a:r>
          </a:p>
        </p:txBody>
      </p:sp>
      <p:sp>
        <p:nvSpPr>
          <p:cNvPr id="5" name="text-4">
            <a:extLst>
              <a:ext uri="{FF2B5EF4-FFF2-40B4-BE49-F238E27FC236}">
                <a16:creationId xmlns:a16="http://schemas.microsoft.com/office/drawing/2014/main" id="{C5E0C5BE-47F5-49A1-BC3E-169C35F65E24}"/>
              </a:ext>
            </a:extLst>
          </p:cNvPr>
          <p:cNvSpPr>
            <a:spLocks noGrp="1"/>
          </p:cNvSpPr>
          <p:nvPr/>
        </p:nvSpPr>
        <p:spPr>
          <a:xfrm>
            <a:off x="742950" y="1609725"/>
            <a:ext cx="3429000" cy="400050"/>
          </a:xfrm>
          <a:prstGeom prst="rect">
            <a:avLst/>
          </a:prstGeom>
          <a:noFill/>
          <a:ln w="0">
            <a:noFill/>
          </a:ln>
        </p:spPr>
        <p:txBody>
          <a:bodyPr wrap="square" lIns="0" tIns="0" rIns="0" bIns="0" anchor="t">
            <a:noAutofit/>
          </a:bodyPr>
          <a:lstStyle>
            <a:lvl1pPr>
              <a:buNone/>
              <a:defRPr sz="2175" b="1">
                <a:solidFill>
                  <a:srgbClr val="17365D"/>
                </a:solidFill>
                <a:latin typeface="Aptos"/>
                <a:ea typeface="Aptos"/>
                <a:cs typeface="Aptos"/>
              </a:defRPr>
            </a:lvl1pPr>
            <a:lvl2pPr>
              <a:buNone/>
              <a:defRPr sz="2175" b="1">
                <a:solidFill>
                  <a:srgbClr val="17365D"/>
                </a:solidFill>
                <a:latin typeface="Aptos"/>
                <a:ea typeface="Aptos"/>
                <a:cs typeface="Aptos"/>
              </a:defRPr>
            </a:lvl2pPr>
            <a:lvl3pPr>
              <a:buNone/>
              <a:defRPr sz="2175" b="1">
                <a:solidFill>
                  <a:srgbClr val="17365D"/>
                </a:solidFill>
                <a:latin typeface="Aptos"/>
                <a:ea typeface="Aptos"/>
                <a:cs typeface="Aptos"/>
              </a:defRPr>
            </a:lvl3pPr>
            <a:lvl4pPr>
              <a:buNone/>
              <a:defRPr sz="2175" b="1">
                <a:solidFill>
                  <a:srgbClr val="17365D"/>
                </a:solidFill>
                <a:latin typeface="Aptos"/>
                <a:ea typeface="Aptos"/>
                <a:cs typeface="Aptos"/>
              </a:defRPr>
            </a:lvl4pPr>
            <a:lvl5pPr>
              <a:buNone/>
              <a:defRPr sz="2175" b="1">
                <a:solidFill>
                  <a:srgbClr val="17365D"/>
                </a:solidFill>
                <a:latin typeface="Aptos"/>
                <a:ea typeface="Aptos"/>
                <a:cs typeface="Aptos"/>
              </a:defRPr>
            </a:lvl5pPr>
            <a:lvl6pPr>
              <a:buNone/>
              <a:defRPr sz="2175" b="1">
                <a:solidFill>
                  <a:srgbClr val="17365D"/>
                </a:solidFill>
                <a:latin typeface="Aptos"/>
                <a:ea typeface="Aptos"/>
                <a:cs typeface="Aptos"/>
              </a:defRPr>
            </a:lvl6pPr>
            <a:lvl7pPr>
              <a:buNone/>
              <a:defRPr sz="2175" b="1">
                <a:solidFill>
                  <a:srgbClr val="17365D"/>
                </a:solidFill>
                <a:latin typeface="Aptos"/>
                <a:ea typeface="Aptos"/>
                <a:cs typeface="Aptos"/>
              </a:defRPr>
            </a:lvl7pPr>
            <a:lvl8pPr>
              <a:buNone/>
              <a:defRPr sz="2175" b="1">
                <a:solidFill>
                  <a:srgbClr val="17365D"/>
                </a:solidFill>
                <a:latin typeface="Aptos"/>
                <a:ea typeface="Aptos"/>
                <a:cs typeface="Aptos"/>
              </a:defRPr>
            </a:lvl8pPr>
            <a:lvl9pPr>
              <a:buNone/>
              <a:defRPr sz="2175" b="1">
                <a:solidFill>
                  <a:srgbClr val="17365D"/>
                </a:solidFill>
                <a:latin typeface="Aptos"/>
                <a:ea typeface="Aptos"/>
                <a:cs typeface="Aptos"/>
              </a:defRPr>
            </a:lvl9pPr>
          </a:lstStyle>
          <a:p>
            <a:pPr>
              <a:buNone/>
              <a:defRPr sz="2175" b="1">
                <a:solidFill>
                  <a:srgbClr val="17365D"/>
                </a:solidFill>
                <a:latin typeface="Aptos"/>
                <a:ea typeface="Aptos"/>
                <a:cs typeface="Aptos"/>
              </a:defRPr>
            </a:pPr>
            <a:r>
              <a:rPr sz="2175" b="1">
                <a:solidFill>
                  <a:srgbClr val="17365D"/>
                </a:solidFill>
                <a:latin typeface="Aptos"/>
                <a:ea typeface="Aptos"/>
                <a:cs typeface="Aptos"/>
              </a:rPr>
              <a:t>One observation</a:t>
            </a:r>
          </a:p>
        </p:txBody>
      </p:sp>
      <p:graphicFrame>
        <p:nvGraphicFramePr>
          <p:cNvPr id="21" name="Chart"/>
          <p:cNvGraphicFramePr/>
          <p:nvPr/>
        </p:nvGraphicFramePr>
        <p:xfrm>
          <a:off x="571500" y="2190750"/>
          <a:ext cx="3638550" cy="3000375"/>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5">
            <a:extLst>
              <a:ext uri="{FF2B5EF4-FFF2-40B4-BE49-F238E27FC236}">
                <a16:creationId xmlns:a16="http://schemas.microsoft.com/office/drawing/2014/main" id="{158A52C9-318C-4DAB-9BEB-89EFAF023CDF}"/>
              </a:ext>
            </a:extLst>
          </p:cNvPr>
          <p:cNvSpPr>
            <a:spLocks noGrp="1"/>
          </p:cNvSpPr>
          <p:nvPr/>
        </p:nvSpPr>
        <p:spPr>
          <a:xfrm>
            <a:off x="4476750" y="1609725"/>
            <a:ext cx="3429000" cy="400050"/>
          </a:xfrm>
          <a:prstGeom prst="rect">
            <a:avLst/>
          </a:prstGeom>
          <a:noFill/>
          <a:ln w="0">
            <a:noFill/>
          </a:ln>
        </p:spPr>
        <p:txBody>
          <a:bodyPr wrap="square" lIns="0" tIns="0" rIns="0" bIns="0" anchor="t">
            <a:noAutofit/>
          </a:bodyPr>
          <a:lstStyle>
            <a:lvl1pPr>
              <a:buNone/>
              <a:defRPr sz="2175" b="1">
                <a:solidFill>
                  <a:srgbClr val="17365D"/>
                </a:solidFill>
                <a:latin typeface="Aptos"/>
                <a:ea typeface="Aptos"/>
                <a:cs typeface="Aptos"/>
              </a:defRPr>
            </a:lvl1pPr>
            <a:lvl2pPr>
              <a:buNone/>
              <a:defRPr sz="2175" b="1">
                <a:solidFill>
                  <a:srgbClr val="17365D"/>
                </a:solidFill>
                <a:latin typeface="Aptos"/>
                <a:ea typeface="Aptos"/>
                <a:cs typeface="Aptos"/>
              </a:defRPr>
            </a:lvl2pPr>
            <a:lvl3pPr>
              <a:buNone/>
              <a:defRPr sz="2175" b="1">
                <a:solidFill>
                  <a:srgbClr val="17365D"/>
                </a:solidFill>
                <a:latin typeface="Aptos"/>
                <a:ea typeface="Aptos"/>
                <a:cs typeface="Aptos"/>
              </a:defRPr>
            </a:lvl3pPr>
            <a:lvl4pPr>
              <a:buNone/>
              <a:defRPr sz="2175" b="1">
                <a:solidFill>
                  <a:srgbClr val="17365D"/>
                </a:solidFill>
                <a:latin typeface="Aptos"/>
                <a:ea typeface="Aptos"/>
                <a:cs typeface="Aptos"/>
              </a:defRPr>
            </a:lvl4pPr>
            <a:lvl5pPr>
              <a:buNone/>
              <a:defRPr sz="2175" b="1">
                <a:solidFill>
                  <a:srgbClr val="17365D"/>
                </a:solidFill>
                <a:latin typeface="Aptos"/>
                <a:ea typeface="Aptos"/>
                <a:cs typeface="Aptos"/>
              </a:defRPr>
            </a:lvl5pPr>
            <a:lvl6pPr>
              <a:buNone/>
              <a:defRPr sz="2175" b="1">
                <a:solidFill>
                  <a:srgbClr val="17365D"/>
                </a:solidFill>
                <a:latin typeface="Aptos"/>
                <a:ea typeface="Aptos"/>
                <a:cs typeface="Aptos"/>
              </a:defRPr>
            </a:lvl6pPr>
            <a:lvl7pPr>
              <a:buNone/>
              <a:defRPr sz="2175" b="1">
                <a:solidFill>
                  <a:srgbClr val="17365D"/>
                </a:solidFill>
                <a:latin typeface="Aptos"/>
                <a:ea typeface="Aptos"/>
                <a:cs typeface="Aptos"/>
              </a:defRPr>
            </a:lvl7pPr>
            <a:lvl8pPr>
              <a:buNone/>
              <a:defRPr sz="2175" b="1">
                <a:solidFill>
                  <a:srgbClr val="17365D"/>
                </a:solidFill>
                <a:latin typeface="Aptos"/>
                <a:ea typeface="Aptos"/>
                <a:cs typeface="Aptos"/>
              </a:defRPr>
            </a:lvl8pPr>
            <a:lvl9pPr>
              <a:buNone/>
              <a:defRPr sz="2175" b="1">
                <a:solidFill>
                  <a:srgbClr val="17365D"/>
                </a:solidFill>
                <a:latin typeface="Aptos"/>
                <a:ea typeface="Aptos"/>
                <a:cs typeface="Aptos"/>
              </a:defRPr>
            </a:lvl9pPr>
          </a:lstStyle>
          <a:p>
            <a:pPr>
              <a:buNone/>
              <a:defRPr sz="2175" b="1">
                <a:solidFill>
                  <a:srgbClr val="17365D"/>
                </a:solidFill>
                <a:latin typeface="Aptos"/>
                <a:ea typeface="Aptos"/>
                <a:cs typeface="Aptos"/>
              </a:defRPr>
            </a:pPr>
            <a:r>
              <a:rPr sz="2175" b="1">
                <a:solidFill>
                  <a:srgbClr val="17365D"/>
                </a:solidFill>
                <a:latin typeface="Aptos"/>
                <a:ea typeface="Aptos"/>
                <a:cs typeface="Aptos"/>
              </a:rPr>
              <a:t>Mean of 10</a:t>
            </a:r>
          </a:p>
        </p:txBody>
      </p:sp>
      <p:graphicFrame>
        <p:nvGraphicFramePr>
          <p:cNvPr id="23" name="Chart"/>
          <p:cNvGraphicFramePr/>
          <p:nvPr/>
        </p:nvGraphicFramePr>
        <p:xfrm>
          <a:off x="4305300" y="2190750"/>
          <a:ext cx="3638550" cy="3000375"/>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6">
            <a:extLst>
              <a:ext uri="{FF2B5EF4-FFF2-40B4-BE49-F238E27FC236}">
                <a16:creationId xmlns:a16="http://schemas.microsoft.com/office/drawing/2014/main" id="{22526715-D52A-4486-B4DE-2C3D1D7E7B83}"/>
              </a:ext>
            </a:extLst>
          </p:cNvPr>
          <p:cNvSpPr>
            <a:spLocks noGrp="1"/>
          </p:cNvSpPr>
          <p:nvPr/>
        </p:nvSpPr>
        <p:spPr>
          <a:xfrm>
            <a:off x="8210550" y="1609725"/>
            <a:ext cx="3429000" cy="400050"/>
          </a:xfrm>
          <a:prstGeom prst="rect">
            <a:avLst/>
          </a:prstGeom>
          <a:noFill/>
          <a:ln w="0">
            <a:noFill/>
          </a:ln>
        </p:spPr>
        <p:txBody>
          <a:bodyPr wrap="square" lIns="0" tIns="0" rIns="0" bIns="0" anchor="t">
            <a:noAutofit/>
          </a:bodyPr>
          <a:lstStyle>
            <a:lvl1pPr>
              <a:buNone/>
              <a:defRPr sz="2175" b="1">
                <a:solidFill>
                  <a:srgbClr val="17365D"/>
                </a:solidFill>
                <a:latin typeface="Aptos"/>
                <a:ea typeface="Aptos"/>
                <a:cs typeface="Aptos"/>
              </a:defRPr>
            </a:lvl1pPr>
            <a:lvl2pPr>
              <a:buNone/>
              <a:defRPr sz="2175" b="1">
                <a:solidFill>
                  <a:srgbClr val="17365D"/>
                </a:solidFill>
                <a:latin typeface="Aptos"/>
                <a:ea typeface="Aptos"/>
                <a:cs typeface="Aptos"/>
              </a:defRPr>
            </a:lvl2pPr>
            <a:lvl3pPr>
              <a:buNone/>
              <a:defRPr sz="2175" b="1">
                <a:solidFill>
                  <a:srgbClr val="17365D"/>
                </a:solidFill>
                <a:latin typeface="Aptos"/>
                <a:ea typeface="Aptos"/>
                <a:cs typeface="Aptos"/>
              </a:defRPr>
            </a:lvl3pPr>
            <a:lvl4pPr>
              <a:buNone/>
              <a:defRPr sz="2175" b="1">
                <a:solidFill>
                  <a:srgbClr val="17365D"/>
                </a:solidFill>
                <a:latin typeface="Aptos"/>
                <a:ea typeface="Aptos"/>
                <a:cs typeface="Aptos"/>
              </a:defRPr>
            </a:lvl4pPr>
            <a:lvl5pPr>
              <a:buNone/>
              <a:defRPr sz="2175" b="1">
                <a:solidFill>
                  <a:srgbClr val="17365D"/>
                </a:solidFill>
                <a:latin typeface="Aptos"/>
                <a:ea typeface="Aptos"/>
                <a:cs typeface="Aptos"/>
              </a:defRPr>
            </a:lvl5pPr>
            <a:lvl6pPr>
              <a:buNone/>
              <a:defRPr sz="2175" b="1">
                <a:solidFill>
                  <a:srgbClr val="17365D"/>
                </a:solidFill>
                <a:latin typeface="Aptos"/>
                <a:ea typeface="Aptos"/>
                <a:cs typeface="Aptos"/>
              </a:defRPr>
            </a:lvl6pPr>
            <a:lvl7pPr>
              <a:buNone/>
              <a:defRPr sz="2175" b="1">
                <a:solidFill>
                  <a:srgbClr val="17365D"/>
                </a:solidFill>
                <a:latin typeface="Aptos"/>
                <a:ea typeface="Aptos"/>
                <a:cs typeface="Aptos"/>
              </a:defRPr>
            </a:lvl7pPr>
            <a:lvl8pPr>
              <a:buNone/>
              <a:defRPr sz="2175" b="1">
                <a:solidFill>
                  <a:srgbClr val="17365D"/>
                </a:solidFill>
                <a:latin typeface="Aptos"/>
                <a:ea typeface="Aptos"/>
                <a:cs typeface="Aptos"/>
              </a:defRPr>
            </a:lvl8pPr>
            <a:lvl9pPr>
              <a:buNone/>
              <a:defRPr sz="2175" b="1">
                <a:solidFill>
                  <a:srgbClr val="17365D"/>
                </a:solidFill>
                <a:latin typeface="Aptos"/>
                <a:ea typeface="Aptos"/>
                <a:cs typeface="Aptos"/>
              </a:defRPr>
            </a:lvl9pPr>
          </a:lstStyle>
          <a:p>
            <a:pPr>
              <a:buNone/>
              <a:defRPr sz="2175" b="1">
                <a:solidFill>
                  <a:srgbClr val="17365D"/>
                </a:solidFill>
                <a:latin typeface="Aptos"/>
                <a:ea typeface="Aptos"/>
                <a:cs typeface="Aptos"/>
              </a:defRPr>
            </a:pPr>
            <a:r>
              <a:rPr sz="2175" b="1">
                <a:solidFill>
                  <a:srgbClr val="17365D"/>
                </a:solidFill>
                <a:latin typeface="Aptos"/>
                <a:ea typeface="Aptos"/>
                <a:cs typeface="Aptos"/>
              </a:rPr>
              <a:t>Mean of 30</a:t>
            </a:r>
          </a:p>
        </p:txBody>
      </p:sp>
      <p:graphicFrame>
        <p:nvGraphicFramePr>
          <p:cNvPr id="25" name="Chart"/>
          <p:cNvGraphicFramePr/>
          <p:nvPr/>
        </p:nvGraphicFramePr>
        <p:xfrm>
          <a:off x="8039100" y="2190750"/>
          <a:ext cx="3638550" cy="3000375"/>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7">
            <a:extLst>
              <a:ext uri="{FF2B5EF4-FFF2-40B4-BE49-F238E27FC236}">
                <a16:creationId xmlns:a16="http://schemas.microsoft.com/office/drawing/2014/main" id="{827BFB45-3401-4994-91D0-18AB15BAD932}"/>
              </a:ext>
            </a:extLst>
          </p:cNvPr>
          <p:cNvSpPr>
            <a:spLocks noGrp="1"/>
          </p:cNvSpPr>
          <p:nvPr/>
        </p:nvSpPr>
        <p:spPr>
          <a:xfrm>
            <a:off x="857250" y="5505450"/>
            <a:ext cx="10477500" cy="800100"/>
          </a:xfrm>
          <a:prstGeom prst="rect">
            <a:avLst/>
          </a:prstGeom>
          <a:noFill/>
          <a:ln w="0">
            <a:noFill/>
          </a:ln>
        </p:spPr>
        <p:txBody>
          <a:bodyPr wrap="square" lIns="0" tIns="0" rIns="0" bIns="0" anchor="t">
            <a:noAutofit/>
          </a:bodyPr>
          <a:lstStyle>
            <a:lvl1pPr>
              <a:buNone/>
              <a:defRPr sz="2175" b="0">
                <a:solidFill>
                  <a:srgbClr val="2D75A3"/>
                </a:solidFill>
                <a:latin typeface="Aptos"/>
                <a:ea typeface="Aptos"/>
                <a:cs typeface="Aptos"/>
              </a:defRPr>
            </a:lvl1pPr>
            <a:lvl2pPr>
              <a:buNone/>
              <a:defRPr sz="2175" b="0">
                <a:solidFill>
                  <a:srgbClr val="2D75A3"/>
                </a:solidFill>
                <a:latin typeface="Aptos"/>
                <a:ea typeface="Aptos"/>
                <a:cs typeface="Aptos"/>
              </a:defRPr>
            </a:lvl2pPr>
            <a:lvl3pPr>
              <a:buNone/>
              <a:defRPr sz="2175" b="0">
                <a:solidFill>
                  <a:srgbClr val="2D75A3"/>
                </a:solidFill>
                <a:latin typeface="Aptos"/>
                <a:ea typeface="Aptos"/>
                <a:cs typeface="Aptos"/>
              </a:defRPr>
            </a:lvl3pPr>
            <a:lvl4pPr>
              <a:buNone/>
              <a:defRPr sz="2175" b="0">
                <a:solidFill>
                  <a:srgbClr val="2D75A3"/>
                </a:solidFill>
                <a:latin typeface="Aptos"/>
                <a:ea typeface="Aptos"/>
                <a:cs typeface="Aptos"/>
              </a:defRPr>
            </a:lvl4pPr>
            <a:lvl5pPr>
              <a:buNone/>
              <a:defRPr sz="2175" b="0">
                <a:solidFill>
                  <a:srgbClr val="2D75A3"/>
                </a:solidFill>
                <a:latin typeface="Aptos"/>
                <a:ea typeface="Aptos"/>
                <a:cs typeface="Aptos"/>
              </a:defRPr>
            </a:lvl5pPr>
            <a:lvl6pPr>
              <a:buNone/>
              <a:defRPr sz="2175" b="0">
                <a:solidFill>
                  <a:srgbClr val="2D75A3"/>
                </a:solidFill>
                <a:latin typeface="Aptos"/>
                <a:ea typeface="Aptos"/>
                <a:cs typeface="Aptos"/>
              </a:defRPr>
            </a:lvl6pPr>
            <a:lvl7pPr>
              <a:buNone/>
              <a:defRPr sz="2175" b="0">
                <a:solidFill>
                  <a:srgbClr val="2D75A3"/>
                </a:solidFill>
                <a:latin typeface="Aptos"/>
                <a:ea typeface="Aptos"/>
                <a:cs typeface="Aptos"/>
              </a:defRPr>
            </a:lvl7pPr>
            <a:lvl8pPr>
              <a:buNone/>
              <a:defRPr sz="2175" b="0">
                <a:solidFill>
                  <a:srgbClr val="2D75A3"/>
                </a:solidFill>
                <a:latin typeface="Aptos"/>
                <a:ea typeface="Aptos"/>
                <a:cs typeface="Aptos"/>
              </a:defRPr>
            </a:lvl8pPr>
            <a:lvl9pPr>
              <a:buNone/>
              <a:defRPr sz="2175" b="0">
                <a:solidFill>
                  <a:srgbClr val="2D75A3"/>
                </a:solidFill>
                <a:latin typeface="Aptos"/>
                <a:ea typeface="Aptos"/>
                <a:cs typeface="Aptos"/>
              </a:defRPr>
            </a:lvl9pPr>
          </a:lstStyle>
          <a:p>
            <a:pPr>
              <a:buNone/>
              <a:defRPr sz="2175" b="0">
                <a:solidFill>
                  <a:srgbClr val="2D75A3"/>
                </a:solidFill>
                <a:latin typeface="Aptos"/>
                <a:ea typeface="Aptos"/>
                <a:cs typeface="Aptos"/>
              </a:defRPr>
            </a:pPr>
            <a:r>
              <a:rPr sz="2175" b="0">
                <a:solidFill>
                  <a:srgbClr val="2D75A3"/>
                </a:solidFill>
                <a:latin typeface="Aptos"/>
                <a:ea typeface="Aptos"/>
                <a:cs typeface="Aptos"/>
              </a:rPr>
              <a:t>Each histogram records 6,000 independent sample means. Bar area shows the fraction of means in an interval.</a:t>
            </a:r>
          </a:p>
        </p:txBody>
      </p:sp>
      <p:sp>
        <p:nvSpPr>
          <p:cNvPr id="26" name="notebook-cue-slide-11">
            <a:extLst>
              <a:ext uri="{FF2B5EF4-FFF2-40B4-BE49-F238E27FC236}">
                <a16:creationId xmlns:a16="http://schemas.microsoft.com/office/drawing/2014/main" id="{CF374E0B-4671-4105-8902-D6B18324AB2C}"/>
              </a:ext>
            </a:extLst>
          </p:cNvPr>
          <p:cNvSpPr>
            <a:spLocks noGrp="1"/>
          </p:cNvSpPr>
          <p:nvPr/>
        </p:nvSpPr>
        <p:spPr>
          <a:xfrm>
            <a:off x="2952750" y="6429375"/>
            <a:ext cx="7620000" cy="295275"/>
          </a:xfrm>
          <a:prstGeom prst="rect">
            <a:avLst/>
          </a:prstGeom>
          <a:noFill/>
          <a:ln w="0">
            <a:noFill/>
          </a:ln>
        </p:spPr>
        <p:txBody>
          <a:bodyPr wrap="none" lIns="0" tIns="0" rIns="0" bIns="0" anchor="ctr">
            <a:noAutofit/>
          </a:bodyPr>
          <a:lstStyle>
            <a:defPPr algn="ctr">
              <a:defRPr sz="1650" b="1">
                <a:solidFill>
                  <a:srgbClr val="2F6F4E"/>
                </a:solidFill>
                <a:latin typeface="Aptos"/>
                <a:ea typeface="Aptos"/>
                <a:cs typeface="Aptos"/>
              </a:defRPr>
            </a:defPPr>
            <a:lvl1pPr algn="ctr">
              <a:defRPr sz="1650" b="1">
                <a:solidFill>
                  <a:srgbClr val="2F6F4E"/>
                </a:solidFill>
                <a:latin typeface="Aptos"/>
                <a:ea typeface="Aptos"/>
                <a:cs typeface="Aptos"/>
              </a:defRPr>
            </a:lvl1pPr>
            <a:lvl2pPr algn="ctr">
              <a:defRPr sz="1650" b="1">
                <a:solidFill>
                  <a:srgbClr val="2F6F4E"/>
                </a:solidFill>
                <a:latin typeface="Aptos"/>
                <a:ea typeface="Aptos"/>
                <a:cs typeface="Aptos"/>
              </a:defRPr>
            </a:lvl2pPr>
            <a:lvl3pPr algn="ctr">
              <a:defRPr sz="1650" b="1">
                <a:solidFill>
                  <a:srgbClr val="2F6F4E"/>
                </a:solidFill>
                <a:latin typeface="Aptos"/>
                <a:ea typeface="Aptos"/>
                <a:cs typeface="Aptos"/>
              </a:defRPr>
            </a:lvl3pPr>
            <a:lvl4pPr algn="ctr">
              <a:defRPr sz="1650" b="1">
                <a:solidFill>
                  <a:srgbClr val="2F6F4E"/>
                </a:solidFill>
                <a:latin typeface="Aptos"/>
                <a:ea typeface="Aptos"/>
                <a:cs typeface="Aptos"/>
              </a:defRPr>
            </a:lvl4pPr>
            <a:lvl5pPr algn="ctr">
              <a:defRPr sz="1650" b="1">
                <a:solidFill>
                  <a:srgbClr val="2F6F4E"/>
                </a:solidFill>
                <a:latin typeface="Aptos"/>
                <a:ea typeface="Aptos"/>
                <a:cs typeface="Aptos"/>
              </a:defRPr>
            </a:lvl5pPr>
            <a:lvl6pPr algn="ctr">
              <a:defRPr sz="1650" b="1">
                <a:solidFill>
                  <a:srgbClr val="2F6F4E"/>
                </a:solidFill>
                <a:latin typeface="Aptos"/>
                <a:ea typeface="Aptos"/>
                <a:cs typeface="Aptos"/>
              </a:defRPr>
            </a:lvl6pPr>
            <a:lvl7pPr algn="ctr">
              <a:defRPr sz="1650" b="1">
                <a:solidFill>
                  <a:srgbClr val="2F6F4E"/>
                </a:solidFill>
                <a:latin typeface="Aptos"/>
                <a:ea typeface="Aptos"/>
                <a:cs typeface="Aptos"/>
              </a:defRPr>
            </a:lvl7pPr>
            <a:lvl8pPr algn="ctr">
              <a:defRPr sz="1650" b="1">
                <a:solidFill>
                  <a:srgbClr val="2F6F4E"/>
                </a:solidFill>
                <a:latin typeface="Aptos"/>
                <a:ea typeface="Aptos"/>
                <a:cs typeface="Aptos"/>
              </a:defRPr>
            </a:lvl8pPr>
            <a:lvl9pPr algn="ctr">
              <a:defRPr sz="1650" b="1">
                <a:solidFill>
                  <a:srgbClr val="2F6F4E"/>
                </a:solidFill>
                <a:latin typeface="Aptos"/>
                <a:ea typeface="Aptos"/>
                <a:cs typeface="Aptos"/>
              </a:defRPr>
            </a:lvl9pPr>
          </a:lstStyle>
          <a:p>
            <a:pPr algn="ctr">
              <a:defRPr sz="1650" b="1">
                <a:solidFill>
                  <a:srgbClr val="2F6F4E"/>
                </a:solidFill>
                <a:latin typeface="Aptos"/>
                <a:ea typeface="Aptos"/>
                <a:cs typeface="Aptos"/>
              </a:defRPr>
            </a:pPr>
            <a:r>
              <a:rPr sz="1650" b="1">
                <a:solidFill>
                  <a:srgbClr val="2F6F4E"/>
                </a:solidFill>
                <a:latin typeface="Aptos"/>
                <a:ea typeface="Aptos"/>
                <a:cs typeface="Aptos"/>
              </a:rPr>
              <a:t>Notebook: Slide 11 (optional)</a:t>
            </a:r>
          </a:p>
        </p:txBody>
      </p:sp>
    </p:spTree>
    <p:extLst>
      <p:ext uri="{BB962C8B-B14F-4D97-AF65-F5344CB8AC3E}">
        <p14:creationId xmlns:p14="http://schemas.microsoft.com/office/powerpoint/2010/main" val="1505406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A7EA04D9-34AA-413E-85C8-AD14C6261AB4}"/>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A Monte Carlo estimator</a:t>
            </a:r>
          </a:p>
        </p:txBody>
      </p:sp>
      <p:sp>
        <p:nvSpPr>
          <p:cNvPr id="2" name="Straight Connector 1">
            <a:extLst>
              <a:ext uri="{FF2B5EF4-FFF2-40B4-BE49-F238E27FC236}">
                <a16:creationId xmlns:a16="http://schemas.microsoft.com/office/drawing/2014/main" id="{E598A762-AD1E-4C75-8E0E-2A9CA09FB469}"/>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A0A37E51-18DC-4FBE-A160-85B81C9C0F4B}"/>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09BFF175-582D-475C-8B96-8F3D1760CFBA}"/>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12</a:t>
            </a:r>
          </a:p>
        </p:txBody>
      </p:sp>
      <p:sp>
        <p:nvSpPr>
          <p:cNvPr id="5" name="text-4">
            <a:extLst>
              <a:ext uri="{FF2B5EF4-FFF2-40B4-BE49-F238E27FC236}">
                <a16:creationId xmlns:a16="http://schemas.microsoft.com/office/drawing/2014/main" id="{E4759FAA-B02B-4ADD-A070-2E4BA94E6B2B}"/>
              </a:ext>
            </a:extLst>
          </p:cNvPr>
          <p:cNvSpPr>
            <a:spLocks noGrp="1"/>
          </p:cNvSpPr>
          <p:nvPr/>
        </p:nvSpPr>
        <p:spPr>
          <a:xfrm>
            <a:off x="857250" y="1676400"/>
            <a:ext cx="10477500" cy="590550"/>
          </a:xfrm>
          <a:prstGeom prst="rect">
            <a:avLst/>
          </a:prstGeom>
          <a:noFill/>
          <a:ln w="0">
            <a:noFill/>
          </a:ln>
        </p:spPr>
        <p:txBody>
          <a:bodyPr wrap="square" lIns="0" tIns="0" rIns="0" bIns="0" anchor="t">
            <a:noAutofit/>
          </a:bodyPr>
          <a:lstStyle>
            <a:lvl1pPr>
              <a:buNone/>
              <a:defRPr sz="2400" b="0">
                <a:solidFill>
                  <a:srgbClr val="17365D"/>
                </a:solidFill>
                <a:latin typeface="Aptos"/>
                <a:ea typeface="Aptos"/>
                <a:cs typeface="Aptos"/>
              </a:defRPr>
            </a:lvl1pPr>
            <a:lvl2pPr>
              <a:buNone/>
              <a:defRPr sz="2400" b="0">
                <a:solidFill>
                  <a:srgbClr val="17365D"/>
                </a:solidFill>
                <a:latin typeface="Aptos"/>
                <a:ea typeface="Aptos"/>
                <a:cs typeface="Aptos"/>
              </a:defRPr>
            </a:lvl2pPr>
            <a:lvl3pPr>
              <a:buNone/>
              <a:defRPr sz="2400" b="0">
                <a:solidFill>
                  <a:srgbClr val="17365D"/>
                </a:solidFill>
                <a:latin typeface="Aptos"/>
                <a:ea typeface="Aptos"/>
                <a:cs typeface="Aptos"/>
              </a:defRPr>
            </a:lvl3pPr>
            <a:lvl4pPr>
              <a:buNone/>
              <a:defRPr sz="2400" b="0">
                <a:solidFill>
                  <a:srgbClr val="17365D"/>
                </a:solidFill>
                <a:latin typeface="Aptos"/>
                <a:ea typeface="Aptos"/>
                <a:cs typeface="Aptos"/>
              </a:defRPr>
            </a:lvl4pPr>
            <a:lvl5pPr>
              <a:buNone/>
              <a:defRPr sz="2400" b="0">
                <a:solidFill>
                  <a:srgbClr val="17365D"/>
                </a:solidFill>
                <a:latin typeface="Aptos"/>
                <a:ea typeface="Aptos"/>
                <a:cs typeface="Aptos"/>
              </a:defRPr>
            </a:lvl5pPr>
            <a:lvl6pPr>
              <a:buNone/>
              <a:defRPr sz="2400" b="0">
                <a:solidFill>
                  <a:srgbClr val="17365D"/>
                </a:solidFill>
                <a:latin typeface="Aptos"/>
                <a:ea typeface="Aptos"/>
                <a:cs typeface="Aptos"/>
              </a:defRPr>
            </a:lvl6pPr>
            <a:lvl7pPr>
              <a:buNone/>
              <a:defRPr sz="2400" b="0">
                <a:solidFill>
                  <a:srgbClr val="17365D"/>
                </a:solidFill>
                <a:latin typeface="Aptos"/>
                <a:ea typeface="Aptos"/>
                <a:cs typeface="Aptos"/>
              </a:defRPr>
            </a:lvl7pPr>
            <a:lvl8pPr>
              <a:buNone/>
              <a:defRPr sz="2400" b="0">
                <a:solidFill>
                  <a:srgbClr val="17365D"/>
                </a:solidFill>
                <a:latin typeface="Aptos"/>
                <a:ea typeface="Aptos"/>
                <a:cs typeface="Aptos"/>
              </a:defRPr>
            </a:lvl8pPr>
            <a:lvl9pPr>
              <a:buNone/>
              <a:defRPr sz="2400" b="0">
                <a:solidFill>
                  <a:srgbClr val="17365D"/>
                </a:solidFill>
                <a:latin typeface="Aptos"/>
                <a:ea typeface="Aptos"/>
                <a:cs typeface="Aptos"/>
              </a:defRPr>
            </a:lvl9pPr>
          </a:lstStyle>
          <a:p>
            <a:pPr>
              <a:buNone/>
              <a:defRPr sz="2400" b="0">
                <a:solidFill>
                  <a:srgbClr val="17365D"/>
                </a:solidFill>
                <a:latin typeface="Aptos"/>
                <a:ea typeface="Aptos"/>
                <a:cs typeface="Aptos"/>
              </a:defRPr>
            </a:pPr>
            <a:r>
              <a:rPr sz="2400" b="0">
                <a:solidFill>
                  <a:srgbClr val="17365D"/>
                </a:solidFill>
                <a:latin typeface="Aptos"/>
                <a:ea typeface="Aptos"/>
                <a:cs typeface="Aptos"/>
              </a:rPr>
              <a:t>Y is the output recorded from one complete trial.</a:t>
            </a:r>
          </a:p>
        </p:txBody>
      </p:sp>
      <mc:AlternateContent xmlns:mc="http://schemas.openxmlformats.org/markup-compatibility/2006">
        <mc:Choice xmlns:a14="http://schemas.microsoft.com/office/drawing/2010/main" Requires="a14">
          <p:sp>
            <p:nvSpPr>
              <p:cNvPr id="6" name="EQ_009">
                <a:extLst>
                  <a:ext uri="{FF2B5EF4-FFF2-40B4-BE49-F238E27FC236}">
                    <a16:creationId xmlns:a16="http://schemas.microsoft.com/office/drawing/2014/main" id="{0C9C8B37-54E1-4B73-AB82-05DA36A078A9}"/>
                  </a:ext>
                </a:extLst>
              </p:cNvPr>
              <p:cNvSpPr>
                <a:spLocks noGrp="1"/>
              </p:cNvSpPr>
              <p:nvPr/>
            </p:nvSpPr>
            <p:spPr>
              <a:xfrm>
                <a:off x="857250" y="2419350"/>
                <a:ext cx="10477500" cy="857250"/>
              </a:xfrm>
              <a:prstGeom prst="rect">
                <a:avLst/>
              </a:prstGeom>
              <a:noFill/>
              <a:ln w="0">
                <a:noFill/>
              </a:ln>
            </p:spPr>
            <p:txBody>
              <a:bodyPr wrap="none" lIns="0" tIns="0" rIns="0" bIns="0" anchor="ctr">
                <a:noAutofit/>
              </a:bodyPr>
              <a:lstStyle>
                <a:lvl1pPr algn="l">
                  <a:buNone/>
                  <a:defRPr sz="3400">
                    <a:solidFill>
                      <a:srgbClr val="17365D"/>
                    </a:solidFill>
                    <a:latin typeface="Cambria Math"/>
                    <a:ea typeface="Cambria Math"/>
                    <a:cs typeface="Cambria Math"/>
                  </a:defRPr>
                </a:lvl1pPr>
                <a:lvl2pPr algn="l">
                  <a:buNone/>
                  <a:defRPr sz="3400">
                    <a:solidFill>
                      <a:srgbClr val="17365D"/>
                    </a:solidFill>
                    <a:latin typeface="Cambria Math"/>
                    <a:ea typeface="Cambria Math"/>
                    <a:cs typeface="Cambria Math"/>
                  </a:defRPr>
                </a:lvl2pPr>
                <a:lvl3pPr algn="l">
                  <a:buNone/>
                  <a:defRPr sz="3400">
                    <a:solidFill>
                      <a:srgbClr val="17365D"/>
                    </a:solidFill>
                    <a:latin typeface="Cambria Math"/>
                    <a:ea typeface="Cambria Math"/>
                    <a:cs typeface="Cambria Math"/>
                  </a:defRPr>
                </a:lvl3pPr>
                <a:lvl4pPr algn="l">
                  <a:buNone/>
                  <a:defRPr sz="3400">
                    <a:solidFill>
                      <a:srgbClr val="17365D"/>
                    </a:solidFill>
                    <a:latin typeface="Cambria Math"/>
                    <a:ea typeface="Cambria Math"/>
                    <a:cs typeface="Cambria Math"/>
                  </a:defRPr>
                </a:lvl4pPr>
                <a:lvl5pPr algn="l">
                  <a:buNone/>
                  <a:defRPr sz="3400">
                    <a:solidFill>
                      <a:srgbClr val="17365D"/>
                    </a:solidFill>
                    <a:latin typeface="Cambria Math"/>
                    <a:ea typeface="Cambria Math"/>
                    <a:cs typeface="Cambria Math"/>
                  </a:defRPr>
                </a:lvl5pPr>
                <a:lvl6pPr algn="l">
                  <a:buNone/>
                  <a:defRPr sz="3400">
                    <a:solidFill>
                      <a:srgbClr val="17365D"/>
                    </a:solidFill>
                    <a:latin typeface="Cambria Math"/>
                    <a:ea typeface="Cambria Math"/>
                    <a:cs typeface="Cambria Math"/>
                  </a:defRPr>
                </a:lvl6pPr>
                <a:lvl7pPr algn="l">
                  <a:buNone/>
                  <a:defRPr sz="3400">
                    <a:solidFill>
                      <a:srgbClr val="17365D"/>
                    </a:solidFill>
                    <a:latin typeface="Cambria Math"/>
                    <a:ea typeface="Cambria Math"/>
                    <a:cs typeface="Cambria Math"/>
                  </a:defRPr>
                </a:lvl7pPr>
                <a:lvl8pPr algn="l">
                  <a:buNone/>
                  <a:defRPr sz="3400">
                    <a:solidFill>
                      <a:srgbClr val="17365D"/>
                    </a:solidFill>
                    <a:latin typeface="Cambria Math"/>
                    <a:ea typeface="Cambria Math"/>
                    <a:cs typeface="Cambria Math"/>
                  </a:defRPr>
                </a:lvl8pPr>
                <a:lvl9pPr algn="l">
                  <a:buNone/>
                  <a:defRPr sz="3400">
                    <a:solidFill>
                      <a:srgbClr val="17365D"/>
                    </a:solidFill>
                    <a:latin typeface="Cambria Math"/>
                    <a:ea typeface="Cambria Math"/>
                    <a:cs typeface="Cambria Math"/>
                  </a:defRPr>
                </a:lvl9pPr>
              </a:lstStyle>
              <a:p>
                <a:pPr>
                  <a:buNone/>
                  <a:defRPr sz="3400">
                    <a:solidFill>
                      <a:srgbClr val="17365D"/>
                    </a:solidFill>
                  </a:defRPr>
                </a:pPr>
                <a14:m>
                  <m:oMathPara xmlns:m="http://schemas.openxmlformats.org/officeDocument/2006/math">
                    <m:oMath>
                      <m:r>
                        <a:rPr>
                          <a:latin typeface="Cambria Math" panose="02040503050406030204" pitchFamily="18" charset="0"/>
                        </a:rPr>
                        <m:t>𝜃</m:t>
                      </m:r>
                      <m:r>
                        <a:rPr>
                          <a:latin typeface="Cambria Math" panose="02040503050406030204" pitchFamily="18" charset="0"/>
                        </a:rPr>
                        <m:t>=</m:t>
                      </m:r>
                      <m:r>
                        <a:rPr>
                          <a:latin typeface="Cambria Math" panose="02040503050406030204" pitchFamily="18" charset="0"/>
                        </a:rPr>
                        <m:t>𝐸</m:t>
                      </m:r>
                      <m:d>
                        <m:dPr>
                          <m:begChr m:val="["/>
                          <m:endChr m:val="]"/>
                          <m:ctrlPr>
                            <a:rPr>
                              <a:latin typeface="Cambria Math" panose="02040503050406030204" pitchFamily="18" charset="0"/>
                            </a:rPr>
                          </m:ctrlPr>
                        </m:dPr>
                        <m:e>
                          <m:r>
                            <a:rPr>
                              <a:latin typeface="Cambria Math" panose="02040503050406030204" pitchFamily="18" charset="0"/>
                            </a:rPr>
                            <m:t>𝑌</m:t>
                          </m:r>
                        </m:e>
                      </m:d>
                    </m:oMath>
                  </m:oMathPara>
                </a14:m>
                <a:endParaRPr/>
              </a:p>
            </p:txBody>
          </p:sp>
        </mc:Choice>
        <mc:Fallback>
          <p:sp>
            <p:nvSpPr>
              <p:cNvPr id="6" name="EQ_009">
                <a:extLst>
                  <a:ext uri="{FF2B5EF4-FFF2-40B4-BE49-F238E27FC236}">
                    <a16:creationId xmlns:a16="http://schemas.microsoft.com/office/drawing/2014/main" id="{0C9C8B37-54E1-4B73-AB82-05DA36A078A9}"/>
                  </a:ext>
                </a:extLst>
              </p:cNvPr>
              <p:cNvSpPr>
                <a:spLocks noGrp="1" noRot="1" noChangeAspect="1" noMove="1" noResize="1" noEditPoints="1" noAdjustHandles="1" noChangeArrowheads="1" noChangeShapeType="1" noTextEdit="1"/>
              </p:cNvSpPr>
              <p:nvPr/>
            </p:nvSpPr>
            <p:spPr>
              <a:xfrm>
                <a:off x="857250" y="2419350"/>
                <a:ext cx="10477500" cy="857250"/>
              </a:xfrm>
              <a:prstGeom prst="rect">
                <a:avLst/>
              </a:prstGeom>
              <a:blipFill>
                <a:blip r:embed="rId3"/>
                <a:stretch>
                  <a:fillRect/>
                </a:stretch>
              </a:blipFill>
              <a:ln w="0">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7" name="EQ_010">
                <a:extLst>
                  <a:ext uri="{FF2B5EF4-FFF2-40B4-BE49-F238E27FC236}">
                    <a16:creationId xmlns:a16="http://schemas.microsoft.com/office/drawing/2014/main" id="{081585D8-C540-4615-866B-3A15DA374AD9}"/>
                  </a:ext>
                </a:extLst>
              </p:cNvPr>
              <p:cNvSpPr>
                <a:spLocks noGrp="1"/>
              </p:cNvSpPr>
              <p:nvPr/>
            </p:nvSpPr>
            <p:spPr>
              <a:xfrm>
                <a:off x="857250" y="3514725"/>
                <a:ext cx="10477500" cy="1238250"/>
              </a:xfrm>
              <a:prstGeom prst="rect">
                <a:avLst/>
              </a:prstGeom>
              <a:noFill/>
              <a:ln w="0">
                <a:noFill/>
              </a:ln>
            </p:spPr>
            <p:txBody>
              <a:bodyPr wrap="none" lIns="0" tIns="0" rIns="0" bIns="0" anchor="ctr">
                <a:noAutofit/>
              </a:bodyPr>
              <a:lstStyle>
                <a:lvl1pPr algn="l">
                  <a:buNone/>
                  <a:defRPr sz="3600">
                    <a:solidFill>
                      <a:srgbClr val="17365D"/>
                    </a:solidFill>
                    <a:latin typeface="Cambria Math"/>
                    <a:ea typeface="Cambria Math"/>
                    <a:cs typeface="Cambria Math"/>
                  </a:defRPr>
                </a:lvl1pPr>
                <a:lvl2pPr algn="l">
                  <a:buNone/>
                  <a:defRPr sz="3600">
                    <a:solidFill>
                      <a:srgbClr val="17365D"/>
                    </a:solidFill>
                    <a:latin typeface="Cambria Math"/>
                    <a:ea typeface="Cambria Math"/>
                    <a:cs typeface="Cambria Math"/>
                  </a:defRPr>
                </a:lvl2pPr>
                <a:lvl3pPr algn="l">
                  <a:buNone/>
                  <a:defRPr sz="3600">
                    <a:solidFill>
                      <a:srgbClr val="17365D"/>
                    </a:solidFill>
                    <a:latin typeface="Cambria Math"/>
                    <a:ea typeface="Cambria Math"/>
                    <a:cs typeface="Cambria Math"/>
                  </a:defRPr>
                </a:lvl3pPr>
                <a:lvl4pPr algn="l">
                  <a:buNone/>
                  <a:defRPr sz="3600">
                    <a:solidFill>
                      <a:srgbClr val="17365D"/>
                    </a:solidFill>
                    <a:latin typeface="Cambria Math"/>
                    <a:ea typeface="Cambria Math"/>
                    <a:cs typeface="Cambria Math"/>
                  </a:defRPr>
                </a:lvl4pPr>
                <a:lvl5pPr algn="l">
                  <a:buNone/>
                  <a:defRPr sz="3600">
                    <a:solidFill>
                      <a:srgbClr val="17365D"/>
                    </a:solidFill>
                    <a:latin typeface="Cambria Math"/>
                    <a:ea typeface="Cambria Math"/>
                    <a:cs typeface="Cambria Math"/>
                  </a:defRPr>
                </a:lvl5pPr>
                <a:lvl6pPr algn="l">
                  <a:buNone/>
                  <a:defRPr sz="3600">
                    <a:solidFill>
                      <a:srgbClr val="17365D"/>
                    </a:solidFill>
                    <a:latin typeface="Cambria Math"/>
                    <a:ea typeface="Cambria Math"/>
                    <a:cs typeface="Cambria Math"/>
                  </a:defRPr>
                </a:lvl6pPr>
                <a:lvl7pPr algn="l">
                  <a:buNone/>
                  <a:defRPr sz="3600">
                    <a:solidFill>
                      <a:srgbClr val="17365D"/>
                    </a:solidFill>
                    <a:latin typeface="Cambria Math"/>
                    <a:ea typeface="Cambria Math"/>
                    <a:cs typeface="Cambria Math"/>
                  </a:defRPr>
                </a:lvl7pPr>
                <a:lvl8pPr algn="l">
                  <a:buNone/>
                  <a:defRPr sz="3600">
                    <a:solidFill>
                      <a:srgbClr val="17365D"/>
                    </a:solidFill>
                    <a:latin typeface="Cambria Math"/>
                    <a:ea typeface="Cambria Math"/>
                    <a:cs typeface="Cambria Math"/>
                  </a:defRPr>
                </a:lvl8pPr>
                <a:lvl9pPr algn="l">
                  <a:buNone/>
                  <a:defRPr sz="3600">
                    <a:solidFill>
                      <a:srgbClr val="17365D"/>
                    </a:solidFill>
                    <a:latin typeface="Cambria Math"/>
                    <a:ea typeface="Cambria Math"/>
                    <a:cs typeface="Cambria Math"/>
                  </a:defRPr>
                </a:lvl9pPr>
              </a:lstStyle>
              <a:p>
                <a:pPr>
                  <a:buNone/>
                  <a:defRPr sz="3600">
                    <a:solidFill>
                      <a:srgbClr val="17365D"/>
                    </a:solidFill>
                  </a:defRPr>
                </a:pPr>
                <a14:m>
                  <m:oMathPara xmlns:m="http://schemas.openxmlformats.org/officeDocument/2006/math">
                    <m:oMath>
                      <m:sSub>
                        <m:sSubPr>
                          <m:ctrlPr>
                            <a:rPr>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𝜃</m:t>
                              </m:r>
                            </m:e>
                          </m:acc>
                        </m:e>
                        <m:sub>
                          <m:r>
                            <a:rPr>
                              <a:latin typeface="Cambria Math" panose="02040503050406030204" pitchFamily="18" charset="0"/>
                            </a:rPr>
                            <m:t>𝑁</m:t>
                          </m:r>
                        </m:sub>
                      </m:sSub>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𝑁</m:t>
                          </m:r>
                        </m:den>
                      </m:f>
                      <m:nary>
                        <m:naryPr>
                          <m:chr m:val="∑"/>
                          <m:limLoc m:val="undOvr"/>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𝑁</m:t>
                          </m:r>
                        </m:sup>
                        <m:e>
                          <m:sSub>
                            <m:sSubPr>
                              <m:ctrlPr>
                                <a:rPr>
                                  <a:latin typeface="Cambria Math" panose="02040503050406030204" pitchFamily="18" charset="0"/>
                                </a:rPr>
                              </m:ctrlPr>
                            </m:sSubPr>
                            <m:e>
                              <m:r>
                                <a:rPr>
                                  <a:latin typeface="Cambria Math" panose="02040503050406030204" pitchFamily="18" charset="0"/>
                                </a:rPr>
                                <m:t>𝑌</m:t>
                              </m:r>
                            </m:e>
                            <m:sub>
                              <m:r>
                                <a:rPr>
                                  <a:latin typeface="Cambria Math" panose="02040503050406030204" pitchFamily="18" charset="0"/>
                                </a:rPr>
                                <m:t>𝑖</m:t>
                              </m:r>
                            </m:sub>
                          </m:sSub>
                        </m:e>
                      </m:nary>
                    </m:oMath>
                  </m:oMathPara>
                </a14:m>
                <a:endParaRPr/>
              </a:p>
            </p:txBody>
          </p:sp>
        </mc:Choice>
        <mc:Fallback>
          <p:sp>
            <p:nvSpPr>
              <p:cNvPr id="7" name="EQ_010">
                <a:extLst>
                  <a:ext uri="{FF2B5EF4-FFF2-40B4-BE49-F238E27FC236}">
                    <a16:creationId xmlns:a16="http://schemas.microsoft.com/office/drawing/2014/main" id="{081585D8-C540-4615-866B-3A15DA374AD9}"/>
                  </a:ext>
                </a:extLst>
              </p:cNvPr>
              <p:cNvSpPr>
                <a:spLocks noGrp="1" noRot="1" noChangeAspect="1" noMove="1" noResize="1" noEditPoints="1" noAdjustHandles="1" noChangeArrowheads="1" noChangeShapeType="1" noTextEdit="1"/>
              </p:cNvSpPr>
              <p:nvPr/>
            </p:nvSpPr>
            <p:spPr>
              <a:xfrm>
                <a:off x="857250" y="3514725"/>
                <a:ext cx="10477500" cy="1238250"/>
              </a:xfrm>
              <a:prstGeom prst="rect">
                <a:avLst/>
              </a:prstGeom>
              <a:blipFill>
                <a:blip r:embed="rId4"/>
                <a:stretch>
                  <a:fillRect t="-7882" b="-12315"/>
                </a:stretch>
              </a:blipFill>
              <a:ln w="0">
                <a:noFill/>
              </a:ln>
            </p:spPr>
            <p:txBody>
              <a:bodyPr/>
              <a:lstStyle/>
              <a:p>
                <a:r>
                  <a:rPr lang="en-GB">
                    <a:noFill/>
                  </a:rPr>
                  <a:t> </a:t>
                </a:r>
              </a:p>
            </p:txBody>
          </p:sp>
        </mc:Fallback>
      </mc:AlternateContent>
      <p:sp>
        <p:nvSpPr>
          <p:cNvPr id="8" name="text-7">
            <a:extLst>
              <a:ext uri="{FF2B5EF4-FFF2-40B4-BE49-F238E27FC236}">
                <a16:creationId xmlns:a16="http://schemas.microsoft.com/office/drawing/2014/main" id="{FD744BB6-6FC1-4399-B944-2C99E058FD25}"/>
              </a:ext>
            </a:extLst>
          </p:cNvPr>
          <p:cNvSpPr>
            <a:spLocks noGrp="1"/>
          </p:cNvSpPr>
          <p:nvPr/>
        </p:nvSpPr>
        <p:spPr>
          <a:xfrm>
            <a:off x="857250" y="5248275"/>
            <a:ext cx="10477500" cy="990600"/>
          </a:xfrm>
          <a:prstGeom prst="rect">
            <a:avLst/>
          </a:prstGeom>
          <a:noFill/>
          <a:ln w="0">
            <a:noFill/>
          </a:ln>
        </p:spPr>
        <p:txBody>
          <a:bodyPr wrap="square" lIns="0" tIns="0" rIns="0" bIns="0" anchor="t">
            <a:noAutofit/>
          </a:bodyPr>
          <a:lstStyle>
            <a:lvl1pPr>
              <a:buNone/>
              <a:defRPr sz="2250" b="0">
                <a:solidFill>
                  <a:srgbClr val="17365D"/>
                </a:solidFill>
                <a:latin typeface="Aptos"/>
                <a:ea typeface="Aptos"/>
                <a:cs typeface="Aptos"/>
              </a:defRPr>
            </a:lvl1pPr>
            <a:lvl2pPr>
              <a:buNone/>
              <a:defRPr sz="2250" b="0">
                <a:solidFill>
                  <a:srgbClr val="17365D"/>
                </a:solidFill>
                <a:latin typeface="Aptos"/>
                <a:ea typeface="Aptos"/>
                <a:cs typeface="Aptos"/>
              </a:defRPr>
            </a:lvl2pPr>
            <a:lvl3pPr>
              <a:buNone/>
              <a:defRPr sz="2250" b="0">
                <a:solidFill>
                  <a:srgbClr val="17365D"/>
                </a:solidFill>
                <a:latin typeface="Aptos"/>
                <a:ea typeface="Aptos"/>
                <a:cs typeface="Aptos"/>
              </a:defRPr>
            </a:lvl3pPr>
            <a:lvl4pPr>
              <a:buNone/>
              <a:defRPr sz="2250" b="0">
                <a:solidFill>
                  <a:srgbClr val="17365D"/>
                </a:solidFill>
                <a:latin typeface="Aptos"/>
                <a:ea typeface="Aptos"/>
                <a:cs typeface="Aptos"/>
              </a:defRPr>
            </a:lvl4pPr>
            <a:lvl5pPr>
              <a:buNone/>
              <a:defRPr sz="2250" b="0">
                <a:solidFill>
                  <a:srgbClr val="17365D"/>
                </a:solidFill>
                <a:latin typeface="Aptos"/>
                <a:ea typeface="Aptos"/>
                <a:cs typeface="Aptos"/>
              </a:defRPr>
            </a:lvl5pPr>
            <a:lvl6pPr>
              <a:buNone/>
              <a:defRPr sz="2250" b="0">
                <a:solidFill>
                  <a:srgbClr val="17365D"/>
                </a:solidFill>
                <a:latin typeface="Aptos"/>
                <a:ea typeface="Aptos"/>
                <a:cs typeface="Aptos"/>
              </a:defRPr>
            </a:lvl6pPr>
            <a:lvl7pPr>
              <a:buNone/>
              <a:defRPr sz="2250" b="0">
                <a:solidFill>
                  <a:srgbClr val="17365D"/>
                </a:solidFill>
                <a:latin typeface="Aptos"/>
                <a:ea typeface="Aptos"/>
                <a:cs typeface="Aptos"/>
              </a:defRPr>
            </a:lvl7pPr>
            <a:lvl8pPr>
              <a:buNone/>
              <a:defRPr sz="2250" b="0">
                <a:solidFill>
                  <a:srgbClr val="17365D"/>
                </a:solidFill>
                <a:latin typeface="Aptos"/>
                <a:ea typeface="Aptos"/>
                <a:cs typeface="Aptos"/>
              </a:defRPr>
            </a:lvl8pPr>
            <a:lvl9pPr>
              <a:buNone/>
              <a:defRPr sz="2250" b="0">
                <a:solidFill>
                  <a:srgbClr val="17365D"/>
                </a:solidFill>
                <a:latin typeface="Aptos"/>
                <a:ea typeface="Aptos"/>
                <a:cs typeface="Aptos"/>
              </a:defRPr>
            </a:lvl9pPr>
          </a:lstStyle>
          <a:p>
            <a:pPr>
              <a:buNone/>
              <a:defRPr sz="2250" b="0">
                <a:solidFill>
                  <a:srgbClr val="17365D"/>
                </a:solidFill>
                <a:latin typeface="Aptos"/>
                <a:ea typeface="Aptos"/>
                <a:cs typeface="Aptos"/>
              </a:defRPr>
            </a:pPr>
            <a:r>
              <a:rPr sz="2250" b="0">
                <a:solidFill>
                  <a:srgbClr val="17365D"/>
                </a:solidFill>
                <a:latin typeface="Aptos"/>
                <a:ea typeface="Aptos"/>
                <a:cs typeface="Aptos"/>
              </a:rPr>
              <a:t>θ is the fixed quantity we want. A hat marks an estimate. The subscript N records how many trials we average.</a:t>
            </a:r>
          </a:p>
        </p:txBody>
      </p:sp>
    </p:spTree>
    <p:extLst>
      <p:ext uri="{BB962C8B-B14F-4D97-AF65-F5344CB8AC3E}">
        <p14:creationId xmlns:p14="http://schemas.microsoft.com/office/powerpoint/2010/main" val="1062007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97D700D2-0891-40B3-A134-2252E65E9C72}"/>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A probability is the mean of an indicator</a:t>
            </a:r>
          </a:p>
        </p:txBody>
      </p:sp>
      <p:sp>
        <p:nvSpPr>
          <p:cNvPr id="2" name="Straight Connector 1">
            <a:extLst>
              <a:ext uri="{FF2B5EF4-FFF2-40B4-BE49-F238E27FC236}">
                <a16:creationId xmlns:a16="http://schemas.microsoft.com/office/drawing/2014/main" id="{C85F6C03-E46A-4A83-B304-420221FD2815}"/>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342A768B-017D-4D8E-A217-0667B30A0496}"/>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B888FCCE-0AC3-4CB4-BE60-A06BB93437C2}"/>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13</a:t>
            </a:r>
          </a:p>
        </p:txBody>
      </p:sp>
      <p:sp>
        <p:nvSpPr>
          <p:cNvPr id="5" name="text-4">
            <a:extLst>
              <a:ext uri="{FF2B5EF4-FFF2-40B4-BE49-F238E27FC236}">
                <a16:creationId xmlns:a16="http://schemas.microsoft.com/office/drawing/2014/main" id="{49D4573A-4569-453C-AD7E-7166DDAC461F}"/>
              </a:ext>
            </a:extLst>
          </p:cNvPr>
          <p:cNvSpPr>
            <a:spLocks noGrp="1"/>
          </p:cNvSpPr>
          <p:nvPr/>
        </p:nvSpPr>
        <p:spPr>
          <a:xfrm>
            <a:off x="857250" y="1647825"/>
            <a:ext cx="10477500" cy="742950"/>
          </a:xfrm>
          <a:prstGeom prst="rect">
            <a:avLst/>
          </a:prstGeom>
          <a:noFill/>
          <a:ln w="0">
            <a:noFill/>
          </a:ln>
        </p:spPr>
        <p:txBody>
          <a:bodyPr wrap="square" lIns="0" tIns="0" rIns="0" bIns="0" anchor="t">
            <a:noAutofit/>
          </a:bodyPr>
          <a:lstStyle>
            <a:lvl1pPr>
              <a:buNone/>
              <a:defRPr sz="2325" b="0">
                <a:solidFill>
                  <a:srgbClr val="17365D"/>
                </a:solidFill>
                <a:latin typeface="Aptos"/>
                <a:ea typeface="Aptos"/>
                <a:cs typeface="Aptos"/>
              </a:defRPr>
            </a:lvl1pPr>
            <a:lvl2pPr>
              <a:buNone/>
              <a:defRPr sz="2325" b="0">
                <a:solidFill>
                  <a:srgbClr val="17365D"/>
                </a:solidFill>
                <a:latin typeface="Aptos"/>
                <a:ea typeface="Aptos"/>
                <a:cs typeface="Aptos"/>
              </a:defRPr>
            </a:lvl2pPr>
            <a:lvl3pPr>
              <a:buNone/>
              <a:defRPr sz="2325" b="0">
                <a:solidFill>
                  <a:srgbClr val="17365D"/>
                </a:solidFill>
                <a:latin typeface="Aptos"/>
                <a:ea typeface="Aptos"/>
                <a:cs typeface="Aptos"/>
              </a:defRPr>
            </a:lvl3pPr>
            <a:lvl4pPr>
              <a:buNone/>
              <a:defRPr sz="2325" b="0">
                <a:solidFill>
                  <a:srgbClr val="17365D"/>
                </a:solidFill>
                <a:latin typeface="Aptos"/>
                <a:ea typeface="Aptos"/>
                <a:cs typeface="Aptos"/>
              </a:defRPr>
            </a:lvl4pPr>
            <a:lvl5pPr>
              <a:buNone/>
              <a:defRPr sz="2325" b="0">
                <a:solidFill>
                  <a:srgbClr val="17365D"/>
                </a:solidFill>
                <a:latin typeface="Aptos"/>
                <a:ea typeface="Aptos"/>
                <a:cs typeface="Aptos"/>
              </a:defRPr>
            </a:lvl5pPr>
            <a:lvl6pPr>
              <a:buNone/>
              <a:defRPr sz="2325" b="0">
                <a:solidFill>
                  <a:srgbClr val="17365D"/>
                </a:solidFill>
                <a:latin typeface="Aptos"/>
                <a:ea typeface="Aptos"/>
                <a:cs typeface="Aptos"/>
              </a:defRPr>
            </a:lvl6pPr>
            <a:lvl7pPr>
              <a:buNone/>
              <a:defRPr sz="2325" b="0">
                <a:solidFill>
                  <a:srgbClr val="17365D"/>
                </a:solidFill>
                <a:latin typeface="Aptos"/>
                <a:ea typeface="Aptos"/>
                <a:cs typeface="Aptos"/>
              </a:defRPr>
            </a:lvl7pPr>
            <a:lvl8pPr>
              <a:buNone/>
              <a:defRPr sz="2325" b="0">
                <a:solidFill>
                  <a:srgbClr val="17365D"/>
                </a:solidFill>
                <a:latin typeface="Aptos"/>
                <a:ea typeface="Aptos"/>
                <a:cs typeface="Aptos"/>
              </a:defRPr>
            </a:lvl8pPr>
            <a:lvl9pPr>
              <a:buNone/>
              <a:defRPr sz="2325" b="0">
                <a:solidFill>
                  <a:srgbClr val="17365D"/>
                </a:solidFill>
                <a:latin typeface="Aptos"/>
                <a:ea typeface="Aptos"/>
                <a:cs typeface="Aptos"/>
              </a:defRPr>
            </a:lvl9pPr>
          </a:lstStyle>
          <a:p>
            <a:pPr>
              <a:buNone/>
              <a:defRPr sz="2325" b="0">
                <a:solidFill>
                  <a:srgbClr val="17365D"/>
                </a:solidFill>
                <a:latin typeface="Aptos"/>
                <a:ea typeface="Aptos"/>
                <a:cs typeface="Aptos"/>
              </a:defRPr>
            </a:pPr>
            <a:r>
              <a:rPr sz="2325" b="0">
                <a:solidFill>
                  <a:srgbClr val="17365D"/>
                </a:solidFill>
                <a:latin typeface="Aptos"/>
                <a:ea typeface="Aptos"/>
                <a:cs typeface="Aptos"/>
              </a:rPr>
              <a:t>Record Yᵢ = 1 when the event occurs, and Yᵢ = 0 otherwise.</a:t>
            </a:r>
          </a:p>
        </p:txBody>
      </p:sp>
      <mc:AlternateContent xmlns:mc="http://schemas.openxmlformats.org/markup-compatibility/2006">
        <mc:Choice xmlns:a14="http://schemas.microsoft.com/office/drawing/2010/main" Requires="a14">
          <p:sp>
            <p:nvSpPr>
              <p:cNvPr id="6" name="EQ_011">
                <a:extLst>
                  <a:ext uri="{FF2B5EF4-FFF2-40B4-BE49-F238E27FC236}">
                    <a16:creationId xmlns:a16="http://schemas.microsoft.com/office/drawing/2014/main" id="{C5493E9A-6510-445F-B571-F65EE18DBB68}"/>
                  </a:ext>
                </a:extLst>
              </p:cNvPr>
              <p:cNvSpPr>
                <a:spLocks noGrp="1"/>
              </p:cNvSpPr>
              <p:nvPr/>
            </p:nvSpPr>
            <p:spPr>
              <a:xfrm>
                <a:off x="857250" y="2743200"/>
                <a:ext cx="10477500" cy="952500"/>
              </a:xfrm>
              <a:prstGeom prst="rect">
                <a:avLst/>
              </a:prstGeom>
              <a:noFill/>
              <a:ln w="0">
                <a:noFill/>
              </a:ln>
            </p:spPr>
            <p:txBody>
              <a:bodyPr wrap="none" lIns="0" tIns="0" rIns="0" bIns="0" anchor="ctr">
                <a:noAutofit/>
              </a:bodyPr>
              <a:lstStyle>
                <a:lvl1pPr algn="l">
                  <a:buNone/>
                  <a:defRPr sz="3200">
                    <a:solidFill>
                      <a:srgbClr val="17365D"/>
                    </a:solidFill>
                    <a:latin typeface="Cambria Math"/>
                    <a:ea typeface="Cambria Math"/>
                    <a:cs typeface="Cambria Math"/>
                  </a:defRPr>
                </a:lvl1pPr>
                <a:lvl2pPr algn="l">
                  <a:buNone/>
                  <a:defRPr sz="3200">
                    <a:solidFill>
                      <a:srgbClr val="17365D"/>
                    </a:solidFill>
                    <a:latin typeface="Cambria Math"/>
                    <a:ea typeface="Cambria Math"/>
                    <a:cs typeface="Cambria Math"/>
                  </a:defRPr>
                </a:lvl2pPr>
                <a:lvl3pPr algn="l">
                  <a:buNone/>
                  <a:defRPr sz="3200">
                    <a:solidFill>
                      <a:srgbClr val="17365D"/>
                    </a:solidFill>
                    <a:latin typeface="Cambria Math"/>
                    <a:ea typeface="Cambria Math"/>
                    <a:cs typeface="Cambria Math"/>
                  </a:defRPr>
                </a:lvl3pPr>
                <a:lvl4pPr algn="l">
                  <a:buNone/>
                  <a:defRPr sz="3200">
                    <a:solidFill>
                      <a:srgbClr val="17365D"/>
                    </a:solidFill>
                    <a:latin typeface="Cambria Math"/>
                    <a:ea typeface="Cambria Math"/>
                    <a:cs typeface="Cambria Math"/>
                  </a:defRPr>
                </a:lvl4pPr>
                <a:lvl5pPr algn="l">
                  <a:buNone/>
                  <a:defRPr sz="3200">
                    <a:solidFill>
                      <a:srgbClr val="17365D"/>
                    </a:solidFill>
                    <a:latin typeface="Cambria Math"/>
                    <a:ea typeface="Cambria Math"/>
                    <a:cs typeface="Cambria Math"/>
                  </a:defRPr>
                </a:lvl5pPr>
                <a:lvl6pPr algn="l">
                  <a:buNone/>
                  <a:defRPr sz="3200">
                    <a:solidFill>
                      <a:srgbClr val="17365D"/>
                    </a:solidFill>
                    <a:latin typeface="Cambria Math"/>
                    <a:ea typeface="Cambria Math"/>
                    <a:cs typeface="Cambria Math"/>
                  </a:defRPr>
                </a:lvl6pPr>
                <a:lvl7pPr algn="l">
                  <a:buNone/>
                  <a:defRPr sz="3200">
                    <a:solidFill>
                      <a:srgbClr val="17365D"/>
                    </a:solidFill>
                    <a:latin typeface="Cambria Math"/>
                    <a:ea typeface="Cambria Math"/>
                    <a:cs typeface="Cambria Math"/>
                  </a:defRPr>
                </a:lvl7pPr>
                <a:lvl8pPr algn="l">
                  <a:buNone/>
                  <a:defRPr sz="3200">
                    <a:solidFill>
                      <a:srgbClr val="17365D"/>
                    </a:solidFill>
                    <a:latin typeface="Cambria Math"/>
                    <a:ea typeface="Cambria Math"/>
                    <a:cs typeface="Cambria Math"/>
                  </a:defRPr>
                </a:lvl8pPr>
                <a:lvl9pPr algn="l">
                  <a:buNone/>
                  <a:defRPr sz="3200">
                    <a:solidFill>
                      <a:srgbClr val="17365D"/>
                    </a:solidFill>
                    <a:latin typeface="Cambria Math"/>
                    <a:ea typeface="Cambria Math"/>
                    <a:cs typeface="Cambria Math"/>
                  </a:defRPr>
                </a:lvl9pPr>
              </a:lstStyle>
              <a:p>
                <a:pPr>
                  <a:buNone/>
                  <a:defRPr sz="3200">
                    <a:solidFill>
                      <a:srgbClr val="17365D"/>
                    </a:solidFill>
                  </a:defRPr>
                </a:pPr>
                <a14:m>
                  <m:oMathPara xmlns:m="http://schemas.openxmlformats.org/officeDocument/2006/math">
                    <m:oMath>
                      <m:r>
                        <a:rPr>
                          <a:latin typeface="Cambria Math" panose="02040503050406030204" pitchFamily="18" charset="0"/>
                        </a:rPr>
                        <m:t>𝐸</m:t>
                      </m:r>
                      <m:d>
                        <m:dPr>
                          <m:begChr m:val="["/>
                          <m:endChr m:val="]"/>
                          <m:ctrlPr>
                            <a:rPr>
                              <a:latin typeface="Cambria Math" panose="02040503050406030204" pitchFamily="18" charset="0"/>
                            </a:rPr>
                          </m:ctrlPr>
                        </m:dPr>
                        <m:e>
                          <m:r>
                            <a:rPr>
                              <a:latin typeface="Cambria Math" panose="02040503050406030204" pitchFamily="18" charset="0"/>
                            </a:rPr>
                            <m:t>𝑌</m:t>
                          </m:r>
                        </m:e>
                      </m:d>
                      <m:r>
                        <a:rPr>
                          <a:latin typeface="Cambria Math" panose="02040503050406030204" pitchFamily="18" charset="0"/>
                        </a:rPr>
                        <m:t>=1·</m:t>
                      </m:r>
                      <m:r>
                        <a:rPr>
                          <a:latin typeface="Cambria Math" panose="02040503050406030204" pitchFamily="18" charset="0"/>
                        </a:rPr>
                        <m:t>𝑝</m:t>
                      </m:r>
                      <m:r>
                        <a:rPr>
                          <a:latin typeface="Cambria Math" panose="02040503050406030204" pitchFamily="18" charset="0"/>
                        </a:rPr>
                        <m:t>+0·</m:t>
                      </m:r>
                      <m:d>
                        <m:dPr>
                          <m:ctrlPr>
                            <a:rPr>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𝑝</m:t>
                          </m:r>
                        </m:e>
                      </m:d>
                      <m:r>
                        <a:rPr>
                          <a:latin typeface="Cambria Math" panose="02040503050406030204" pitchFamily="18" charset="0"/>
                        </a:rPr>
                        <m:t>=</m:t>
                      </m:r>
                      <m:r>
                        <a:rPr>
                          <a:latin typeface="Cambria Math" panose="02040503050406030204" pitchFamily="18" charset="0"/>
                        </a:rPr>
                        <m:t>𝑝</m:t>
                      </m:r>
                    </m:oMath>
                  </m:oMathPara>
                </a14:m>
                <a:endParaRPr/>
              </a:p>
            </p:txBody>
          </p:sp>
        </mc:Choice>
        <mc:Fallback>
          <p:sp>
            <p:nvSpPr>
              <p:cNvPr id="6" name="EQ_011">
                <a:extLst>
                  <a:ext uri="{FF2B5EF4-FFF2-40B4-BE49-F238E27FC236}">
                    <a16:creationId xmlns:a16="http://schemas.microsoft.com/office/drawing/2014/main" id="{C5493E9A-6510-445F-B571-F65EE18DBB68}"/>
                  </a:ext>
                </a:extLst>
              </p:cNvPr>
              <p:cNvSpPr>
                <a:spLocks noGrp="1" noRot="1" noChangeAspect="1" noMove="1" noResize="1" noEditPoints="1" noAdjustHandles="1" noChangeArrowheads="1" noChangeShapeType="1" noTextEdit="1"/>
              </p:cNvSpPr>
              <p:nvPr/>
            </p:nvSpPr>
            <p:spPr>
              <a:xfrm>
                <a:off x="857250" y="2743200"/>
                <a:ext cx="10477500" cy="952500"/>
              </a:xfrm>
              <a:prstGeom prst="rect">
                <a:avLst/>
              </a:prstGeom>
              <a:blipFill>
                <a:blip r:embed="rId3"/>
                <a:stretch>
                  <a:fillRect/>
                </a:stretch>
              </a:blipFill>
              <a:ln w="0">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7" name="EQ_012">
                <a:extLst>
                  <a:ext uri="{FF2B5EF4-FFF2-40B4-BE49-F238E27FC236}">
                    <a16:creationId xmlns:a16="http://schemas.microsoft.com/office/drawing/2014/main" id="{144AE851-BBB9-48A7-86EE-A8A66ED27061}"/>
                  </a:ext>
                </a:extLst>
              </p:cNvPr>
              <p:cNvSpPr>
                <a:spLocks noGrp="1"/>
              </p:cNvSpPr>
              <p:nvPr/>
            </p:nvSpPr>
            <p:spPr>
              <a:xfrm>
                <a:off x="857250" y="4048125"/>
                <a:ext cx="10477500" cy="1143000"/>
              </a:xfrm>
              <a:prstGeom prst="rect">
                <a:avLst/>
              </a:prstGeom>
              <a:noFill/>
              <a:ln w="0">
                <a:noFill/>
              </a:ln>
            </p:spPr>
            <p:txBody>
              <a:bodyPr wrap="none" lIns="0" tIns="0" rIns="0" bIns="0" anchor="ctr">
                <a:noAutofit/>
              </a:bodyPr>
              <a:lstStyle>
                <a:lvl1pPr algn="l">
                  <a:buNone/>
                  <a:defRPr sz="3400">
                    <a:solidFill>
                      <a:srgbClr val="17365D"/>
                    </a:solidFill>
                    <a:latin typeface="Cambria Math"/>
                    <a:ea typeface="Cambria Math"/>
                    <a:cs typeface="Cambria Math"/>
                  </a:defRPr>
                </a:lvl1pPr>
                <a:lvl2pPr algn="l">
                  <a:buNone/>
                  <a:defRPr sz="3400">
                    <a:solidFill>
                      <a:srgbClr val="17365D"/>
                    </a:solidFill>
                    <a:latin typeface="Cambria Math"/>
                    <a:ea typeface="Cambria Math"/>
                    <a:cs typeface="Cambria Math"/>
                  </a:defRPr>
                </a:lvl2pPr>
                <a:lvl3pPr algn="l">
                  <a:buNone/>
                  <a:defRPr sz="3400">
                    <a:solidFill>
                      <a:srgbClr val="17365D"/>
                    </a:solidFill>
                    <a:latin typeface="Cambria Math"/>
                    <a:ea typeface="Cambria Math"/>
                    <a:cs typeface="Cambria Math"/>
                  </a:defRPr>
                </a:lvl3pPr>
                <a:lvl4pPr algn="l">
                  <a:buNone/>
                  <a:defRPr sz="3400">
                    <a:solidFill>
                      <a:srgbClr val="17365D"/>
                    </a:solidFill>
                    <a:latin typeface="Cambria Math"/>
                    <a:ea typeface="Cambria Math"/>
                    <a:cs typeface="Cambria Math"/>
                  </a:defRPr>
                </a:lvl4pPr>
                <a:lvl5pPr algn="l">
                  <a:buNone/>
                  <a:defRPr sz="3400">
                    <a:solidFill>
                      <a:srgbClr val="17365D"/>
                    </a:solidFill>
                    <a:latin typeface="Cambria Math"/>
                    <a:ea typeface="Cambria Math"/>
                    <a:cs typeface="Cambria Math"/>
                  </a:defRPr>
                </a:lvl5pPr>
                <a:lvl6pPr algn="l">
                  <a:buNone/>
                  <a:defRPr sz="3400">
                    <a:solidFill>
                      <a:srgbClr val="17365D"/>
                    </a:solidFill>
                    <a:latin typeface="Cambria Math"/>
                    <a:ea typeface="Cambria Math"/>
                    <a:cs typeface="Cambria Math"/>
                  </a:defRPr>
                </a:lvl6pPr>
                <a:lvl7pPr algn="l">
                  <a:buNone/>
                  <a:defRPr sz="3400">
                    <a:solidFill>
                      <a:srgbClr val="17365D"/>
                    </a:solidFill>
                    <a:latin typeface="Cambria Math"/>
                    <a:ea typeface="Cambria Math"/>
                    <a:cs typeface="Cambria Math"/>
                  </a:defRPr>
                </a:lvl7pPr>
                <a:lvl8pPr algn="l">
                  <a:buNone/>
                  <a:defRPr sz="3400">
                    <a:solidFill>
                      <a:srgbClr val="17365D"/>
                    </a:solidFill>
                    <a:latin typeface="Cambria Math"/>
                    <a:ea typeface="Cambria Math"/>
                    <a:cs typeface="Cambria Math"/>
                  </a:defRPr>
                </a:lvl8pPr>
                <a:lvl9pPr algn="l">
                  <a:buNone/>
                  <a:defRPr sz="3400">
                    <a:solidFill>
                      <a:srgbClr val="17365D"/>
                    </a:solidFill>
                    <a:latin typeface="Cambria Math"/>
                    <a:ea typeface="Cambria Math"/>
                    <a:cs typeface="Cambria Math"/>
                  </a:defRPr>
                </a:lvl9pPr>
              </a:lstStyle>
              <a:p>
                <a:pPr>
                  <a:buNone/>
                  <a:defRPr sz="3400">
                    <a:solidFill>
                      <a:srgbClr val="17365D"/>
                    </a:solidFill>
                  </a:defRPr>
                </a:pPr>
                <a14:m>
                  <m:oMathPara xmlns:m="http://schemas.openxmlformats.org/officeDocument/2006/math">
                    <m:oMath>
                      <m:sSub>
                        <m:sSubPr>
                          <m:ctrlPr>
                            <a:rPr>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𝑝</m:t>
                              </m:r>
                            </m:e>
                          </m:acc>
                        </m:e>
                        <m:sub>
                          <m:r>
                            <a:rPr>
                              <a:latin typeface="Cambria Math" panose="02040503050406030204" pitchFamily="18" charset="0"/>
                            </a:rPr>
                            <m:t>𝑁</m:t>
                          </m:r>
                        </m:sub>
                      </m:sSub>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𝑁</m:t>
                          </m:r>
                        </m:den>
                      </m:f>
                      <m:nary>
                        <m:naryPr>
                          <m:chr m:val="∑"/>
                          <m:limLoc m:val="undOvr"/>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𝑁</m:t>
                          </m:r>
                        </m:sup>
                        <m:e>
                          <m:sSub>
                            <m:sSubPr>
                              <m:ctrlPr>
                                <a:rPr>
                                  <a:latin typeface="Cambria Math" panose="02040503050406030204" pitchFamily="18" charset="0"/>
                                </a:rPr>
                              </m:ctrlPr>
                            </m:sSubPr>
                            <m:e>
                              <m:r>
                                <a:rPr>
                                  <a:latin typeface="Cambria Math" panose="02040503050406030204" pitchFamily="18" charset="0"/>
                                </a:rPr>
                                <m:t>𝑌</m:t>
                              </m:r>
                            </m:e>
                            <m:sub>
                              <m:r>
                                <a:rPr>
                                  <a:latin typeface="Cambria Math" panose="02040503050406030204" pitchFamily="18" charset="0"/>
                                </a:rPr>
                                <m:t>𝑖</m:t>
                              </m:r>
                            </m:sub>
                          </m:sSub>
                        </m:e>
                      </m:nary>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𝐾</m:t>
                          </m:r>
                        </m:num>
                        <m:den>
                          <m:r>
                            <a:rPr>
                              <a:latin typeface="Cambria Math" panose="02040503050406030204" pitchFamily="18" charset="0"/>
                            </a:rPr>
                            <m:t>𝑁</m:t>
                          </m:r>
                        </m:den>
                      </m:f>
                    </m:oMath>
                  </m:oMathPara>
                </a14:m>
                <a:endParaRPr/>
              </a:p>
            </p:txBody>
          </p:sp>
        </mc:Choice>
        <mc:Fallback>
          <p:sp>
            <p:nvSpPr>
              <p:cNvPr id="7" name="EQ_012">
                <a:extLst>
                  <a:ext uri="{FF2B5EF4-FFF2-40B4-BE49-F238E27FC236}">
                    <a16:creationId xmlns:a16="http://schemas.microsoft.com/office/drawing/2014/main" id="{144AE851-BBB9-48A7-86EE-A8A66ED27061}"/>
                  </a:ext>
                </a:extLst>
              </p:cNvPr>
              <p:cNvSpPr>
                <a:spLocks noGrp="1" noRot="1" noChangeAspect="1" noMove="1" noResize="1" noEditPoints="1" noAdjustHandles="1" noChangeArrowheads="1" noChangeShapeType="1" noTextEdit="1"/>
              </p:cNvSpPr>
              <p:nvPr/>
            </p:nvSpPr>
            <p:spPr>
              <a:xfrm>
                <a:off x="857250" y="4048125"/>
                <a:ext cx="10477500" cy="1143000"/>
              </a:xfrm>
              <a:prstGeom prst="rect">
                <a:avLst/>
              </a:prstGeom>
              <a:blipFill>
                <a:blip r:embed="rId4"/>
                <a:stretch>
                  <a:fillRect t="-9043" b="-13298"/>
                </a:stretch>
              </a:blipFill>
              <a:ln w="0">
                <a:noFill/>
              </a:ln>
            </p:spPr>
            <p:txBody>
              <a:bodyPr/>
              <a:lstStyle/>
              <a:p>
                <a:r>
                  <a:rPr lang="en-GB">
                    <a:noFill/>
                  </a:rPr>
                  <a:t> </a:t>
                </a:r>
              </a:p>
            </p:txBody>
          </p:sp>
        </mc:Fallback>
      </mc:AlternateContent>
      <p:sp>
        <p:nvSpPr>
          <p:cNvPr id="8" name="text-7">
            <a:extLst>
              <a:ext uri="{FF2B5EF4-FFF2-40B4-BE49-F238E27FC236}">
                <a16:creationId xmlns:a16="http://schemas.microsoft.com/office/drawing/2014/main" id="{AB4EDCE7-2459-40EF-B7E9-6D370D3631B6}"/>
              </a:ext>
            </a:extLst>
          </p:cNvPr>
          <p:cNvSpPr>
            <a:spLocks noGrp="1"/>
          </p:cNvSpPr>
          <p:nvPr/>
        </p:nvSpPr>
        <p:spPr>
          <a:xfrm>
            <a:off x="857250" y="5629275"/>
            <a:ext cx="10477500" cy="552450"/>
          </a:xfrm>
          <a:prstGeom prst="rect">
            <a:avLst/>
          </a:prstGeom>
          <a:noFill/>
          <a:ln w="0">
            <a:noFill/>
          </a:ln>
        </p:spPr>
        <p:txBody>
          <a:bodyPr wrap="square" lIns="0" tIns="0" rIns="0" bIns="0" anchor="t">
            <a:noAutofit/>
          </a:bodyPr>
          <a:lstStyle>
            <a:lvl1pPr>
              <a:buNone/>
              <a:defRPr sz="2400" b="0">
                <a:solidFill>
                  <a:srgbClr val="2D75A3"/>
                </a:solidFill>
                <a:latin typeface="Aptos"/>
                <a:ea typeface="Aptos"/>
                <a:cs typeface="Aptos"/>
              </a:defRPr>
            </a:lvl1pPr>
            <a:lvl2pPr>
              <a:buNone/>
              <a:defRPr sz="2400" b="0">
                <a:solidFill>
                  <a:srgbClr val="2D75A3"/>
                </a:solidFill>
                <a:latin typeface="Aptos"/>
                <a:ea typeface="Aptos"/>
                <a:cs typeface="Aptos"/>
              </a:defRPr>
            </a:lvl2pPr>
            <a:lvl3pPr>
              <a:buNone/>
              <a:defRPr sz="2400" b="0">
                <a:solidFill>
                  <a:srgbClr val="2D75A3"/>
                </a:solidFill>
                <a:latin typeface="Aptos"/>
                <a:ea typeface="Aptos"/>
                <a:cs typeface="Aptos"/>
              </a:defRPr>
            </a:lvl3pPr>
            <a:lvl4pPr>
              <a:buNone/>
              <a:defRPr sz="2400" b="0">
                <a:solidFill>
                  <a:srgbClr val="2D75A3"/>
                </a:solidFill>
                <a:latin typeface="Aptos"/>
                <a:ea typeface="Aptos"/>
                <a:cs typeface="Aptos"/>
              </a:defRPr>
            </a:lvl4pPr>
            <a:lvl5pPr>
              <a:buNone/>
              <a:defRPr sz="2400" b="0">
                <a:solidFill>
                  <a:srgbClr val="2D75A3"/>
                </a:solidFill>
                <a:latin typeface="Aptos"/>
                <a:ea typeface="Aptos"/>
                <a:cs typeface="Aptos"/>
              </a:defRPr>
            </a:lvl5pPr>
            <a:lvl6pPr>
              <a:buNone/>
              <a:defRPr sz="2400" b="0">
                <a:solidFill>
                  <a:srgbClr val="2D75A3"/>
                </a:solidFill>
                <a:latin typeface="Aptos"/>
                <a:ea typeface="Aptos"/>
                <a:cs typeface="Aptos"/>
              </a:defRPr>
            </a:lvl6pPr>
            <a:lvl7pPr>
              <a:buNone/>
              <a:defRPr sz="2400" b="0">
                <a:solidFill>
                  <a:srgbClr val="2D75A3"/>
                </a:solidFill>
                <a:latin typeface="Aptos"/>
                <a:ea typeface="Aptos"/>
                <a:cs typeface="Aptos"/>
              </a:defRPr>
            </a:lvl7pPr>
            <a:lvl8pPr>
              <a:buNone/>
              <a:defRPr sz="2400" b="0">
                <a:solidFill>
                  <a:srgbClr val="2D75A3"/>
                </a:solidFill>
                <a:latin typeface="Aptos"/>
                <a:ea typeface="Aptos"/>
                <a:cs typeface="Aptos"/>
              </a:defRPr>
            </a:lvl8pPr>
            <a:lvl9pPr>
              <a:buNone/>
              <a:defRPr sz="2400" b="0">
                <a:solidFill>
                  <a:srgbClr val="2D75A3"/>
                </a:solidFill>
                <a:latin typeface="Aptos"/>
                <a:ea typeface="Aptos"/>
                <a:cs typeface="Aptos"/>
              </a:defRPr>
            </a:lvl9pPr>
          </a:lstStyle>
          <a:p>
            <a:pPr>
              <a:buNone/>
              <a:defRPr sz="2400" b="0">
                <a:solidFill>
                  <a:srgbClr val="2D75A3"/>
                </a:solidFill>
                <a:latin typeface="Aptos"/>
                <a:ea typeface="Aptos"/>
                <a:cs typeface="Aptos"/>
              </a:defRPr>
            </a:pPr>
            <a:r>
              <a:rPr sz="2400" b="0">
                <a:solidFill>
                  <a:srgbClr val="2D75A3"/>
                </a:solidFill>
                <a:latin typeface="Aptos"/>
                <a:ea typeface="Aptos"/>
                <a:cs typeface="Aptos"/>
              </a:rPr>
              <a:t>K counts successful trials. N counts all trials.</a:t>
            </a:r>
          </a:p>
        </p:txBody>
      </p:sp>
    </p:spTree>
    <p:extLst>
      <p:ext uri="{BB962C8B-B14F-4D97-AF65-F5344CB8AC3E}">
        <p14:creationId xmlns:p14="http://schemas.microsoft.com/office/powerpoint/2010/main" val="1209208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FB15314D-05F1-432F-93BC-EA1B03B39894}"/>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The warehouse simulation in Python</a:t>
            </a:r>
          </a:p>
        </p:txBody>
      </p:sp>
      <p:sp>
        <p:nvSpPr>
          <p:cNvPr id="2" name="Straight Connector 1">
            <a:extLst>
              <a:ext uri="{FF2B5EF4-FFF2-40B4-BE49-F238E27FC236}">
                <a16:creationId xmlns:a16="http://schemas.microsoft.com/office/drawing/2014/main" id="{9A101298-A798-4056-B9B2-9D3DD8362616}"/>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94EE05B0-16ED-4D46-A68E-65986408954A}"/>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C028DF1C-9441-4E77-86AF-41BE8921F160}"/>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14</a:t>
            </a:r>
          </a:p>
        </p:txBody>
      </p:sp>
      <p:sp>
        <p:nvSpPr>
          <p:cNvPr id="5" name="text-4">
            <a:extLst>
              <a:ext uri="{FF2B5EF4-FFF2-40B4-BE49-F238E27FC236}">
                <a16:creationId xmlns:a16="http://schemas.microsoft.com/office/drawing/2014/main" id="{9F7A8AD3-E04B-4E2C-8F31-80CD74D34446}"/>
              </a:ext>
            </a:extLst>
          </p:cNvPr>
          <p:cNvSpPr>
            <a:spLocks noGrp="1"/>
          </p:cNvSpPr>
          <p:nvPr/>
        </p:nvSpPr>
        <p:spPr>
          <a:xfrm>
            <a:off x="857250" y="1628775"/>
            <a:ext cx="10668000" cy="3905250"/>
          </a:xfrm>
          <a:prstGeom prst="rect">
            <a:avLst/>
          </a:prstGeom>
          <a:noFill/>
          <a:ln w="0">
            <a:noFill/>
          </a:ln>
        </p:spPr>
        <p:txBody>
          <a:bodyPr wrap="none" lIns="0" tIns="0" rIns="0" bIns="0" anchor="t">
            <a:noAutofit/>
          </a:bodyPr>
          <a:lstStyle>
            <a:lvl1pPr>
              <a:buNone/>
              <a:defRPr sz="1875" b="0">
                <a:solidFill>
                  <a:srgbClr val="17365D"/>
                </a:solidFill>
                <a:latin typeface="Consolas"/>
                <a:ea typeface="Consolas"/>
                <a:cs typeface="Consolas"/>
              </a:defRPr>
            </a:lvl1pPr>
            <a:lvl2pPr>
              <a:buNone/>
              <a:defRPr sz="1875" b="0">
                <a:solidFill>
                  <a:srgbClr val="17365D"/>
                </a:solidFill>
                <a:latin typeface="Consolas"/>
                <a:ea typeface="Consolas"/>
                <a:cs typeface="Consolas"/>
              </a:defRPr>
            </a:lvl2pPr>
            <a:lvl3pPr>
              <a:buNone/>
              <a:defRPr sz="1875" b="0">
                <a:solidFill>
                  <a:srgbClr val="17365D"/>
                </a:solidFill>
                <a:latin typeface="Consolas"/>
                <a:ea typeface="Consolas"/>
                <a:cs typeface="Consolas"/>
              </a:defRPr>
            </a:lvl3pPr>
            <a:lvl4pPr>
              <a:buNone/>
              <a:defRPr sz="1875" b="0">
                <a:solidFill>
                  <a:srgbClr val="17365D"/>
                </a:solidFill>
                <a:latin typeface="Consolas"/>
                <a:ea typeface="Consolas"/>
                <a:cs typeface="Consolas"/>
              </a:defRPr>
            </a:lvl4pPr>
            <a:lvl5pPr>
              <a:buNone/>
              <a:defRPr sz="1875" b="0">
                <a:solidFill>
                  <a:srgbClr val="17365D"/>
                </a:solidFill>
                <a:latin typeface="Consolas"/>
                <a:ea typeface="Consolas"/>
                <a:cs typeface="Consolas"/>
              </a:defRPr>
            </a:lvl5pPr>
            <a:lvl6pPr>
              <a:buNone/>
              <a:defRPr sz="1875" b="0">
                <a:solidFill>
                  <a:srgbClr val="17365D"/>
                </a:solidFill>
                <a:latin typeface="Consolas"/>
                <a:ea typeface="Consolas"/>
                <a:cs typeface="Consolas"/>
              </a:defRPr>
            </a:lvl6pPr>
            <a:lvl7pPr>
              <a:buNone/>
              <a:defRPr sz="1875" b="0">
                <a:solidFill>
                  <a:srgbClr val="17365D"/>
                </a:solidFill>
                <a:latin typeface="Consolas"/>
                <a:ea typeface="Consolas"/>
                <a:cs typeface="Consolas"/>
              </a:defRPr>
            </a:lvl7pPr>
            <a:lvl8pPr>
              <a:buNone/>
              <a:defRPr sz="1875" b="0">
                <a:solidFill>
                  <a:srgbClr val="17365D"/>
                </a:solidFill>
                <a:latin typeface="Consolas"/>
                <a:ea typeface="Consolas"/>
                <a:cs typeface="Consolas"/>
              </a:defRPr>
            </a:lvl8pPr>
            <a:lvl9pPr>
              <a:buNone/>
              <a:defRPr sz="1875" b="0">
                <a:solidFill>
                  <a:srgbClr val="17365D"/>
                </a:solidFill>
                <a:latin typeface="Consolas"/>
                <a:ea typeface="Consolas"/>
                <a:cs typeface="Consolas"/>
              </a:defRPr>
            </a:lvl9pPr>
          </a:lstStyle>
          <a:p>
            <a:pPr>
              <a:buNone/>
              <a:defRPr sz="1875" b="0">
                <a:solidFill>
                  <a:srgbClr val="17365D"/>
                </a:solidFill>
                <a:latin typeface="Consolas"/>
                <a:ea typeface="Consolas"/>
                <a:cs typeface="Consolas"/>
              </a:defRPr>
            </a:pPr>
            <a:r>
              <a:rPr sz="1875" b="0">
                <a:solidFill>
                  <a:srgbClr val="17365D"/>
                </a:solidFill>
                <a:latin typeface="Consolas"/>
                <a:ea typeface="Consolas"/>
                <a:cs typeface="Consolas"/>
              </a:rPr>
              <a:t>import numpy as np</a:t>
            </a:r>
          </a:p>
          <a:p>
            <a:pPr>
              <a:buNone/>
              <a:defRPr sz="1875" b="0">
                <a:solidFill>
                  <a:srgbClr val="17365D"/>
                </a:solidFill>
                <a:latin typeface="Consolas"/>
                <a:ea typeface="Consolas"/>
                <a:cs typeface="Consolas"/>
              </a:defRPr>
            </a:pPr>
            <a:r>
              <a:rPr sz="1875" b="0">
                <a:solidFill>
                  <a:srgbClr val="17365D"/>
                </a:solidFill>
                <a:latin typeface="Consolas"/>
                <a:ea typeface="Consolas"/>
                <a:cs typeface="Consolas"/>
              </a:rPr>
              <a:t>rng = np.random.default_rng(6)</a:t>
            </a:r>
          </a:p>
          <a:p>
            <a:pPr>
              <a:buNone/>
              <a:defRPr sz="1875" b="0">
                <a:solidFill>
                  <a:srgbClr val="17365D"/>
                </a:solidFill>
                <a:latin typeface="Consolas"/>
                <a:ea typeface="Consolas"/>
                <a:cs typeface="Consolas"/>
              </a:defRPr>
            </a:pPr>
            <a:r>
              <a:rPr sz="1875" b="0">
                <a:solidFill>
                  <a:srgbClr val="17365D"/>
                </a:solidFill>
                <a:latin typeface="Consolas"/>
                <a:ea typeface="Consolas"/>
                <a:cs typeface="Consolas"/>
              </a:rPr>
              <a:t>n, N = 50, 100_000</a:t>
            </a:r>
          </a:p>
          <a:p>
            <a:endParaRPr sz="1875" b="0">
              <a:solidFill>
                <a:srgbClr val="17365D"/>
              </a:solidFill>
              <a:latin typeface="Consolas"/>
              <a:ea typeface="Consolas"/>
              <a:cs typeface="Consolas"/>
            </a:endParaRPr>
          </a:p>
          <a:p>
            <a:pPr>
              <a:buNone/>
              <a:defRPr sz="1875" b="0">
                <a:solidFill>
                  <a:srgbClr val="17365D"/>
                </a:solidFill>
                <a:latin typeface="Consolas"/>
                <a:ea typeface="Consolas"/>
                <a:cs typeface="Consolas"/>
              </a:defRPr>
            </a:pPr>
            <a:r>
              <a:rPr sz="1875" b="0">
                <a:solidFill>
                  <a:srgbClr val="17365D"/>
                </a:solidFill>
                <a:latin typeface="Consolas"/>
                <a:ea typeface="Consolas"/>
                <a:cs typeface="Consolas"/>
              </a:rPr>
              <a:t>orders = rng.choice([1, 2, 6],</a:t>
            </a:r>
          </a:p>
          <a:p>
            <a:pPr>
              <a:buNone/>
              <a:defRPr sz="1875" b="0">
                <a:solidFill>
                  <a:srgbClr val="17365D"/>
                </a:solidFill>
                <a:latin typeface="Consolas"/>
                <a:ea typeface="Consolas"/>
                <a:cs typeface="Consolas"/>
              </a:defRPr>
            </a:pPr>
            <a:r>
              <a:rPr sz="1875" b="0">
                <a:solidFill>
                  <a:srgbClr val="17365D"/>
                </a:solidFill>
                <a:latin typeface="Consolas"/>
                <a:ea typeface="Consolas"/>
                <a:cs typeface="Consolas"/>
              </a:rPr>
              <a:t>    size=(N, n), p=[0.60, 0.30, 0.10])</a:t>
            </a:r>
          </a:p>
          <a:p>
            <a:pPr>
              <a:buNone/>
              <a:defRPr sz="1875" b="0">
                <a:solidFill>
                  <a:srgbClr val="17365D"/>
                </a:solidFill>
                <a:latin typeface="Consolas"/>
                <a:ea typeface="Consolas"/>
                <a:cs typeface="Consolas"/>
              </a:defRPr>
            </a:pPr>
            <a:r>
              <a:rPr sz="1875" b="0">
                <a:solidFill>
                  <a:srgbClr val="17365D"/>
                </a:solidFill>
                <a:latin typeface="Consolas"/>
                <a:ea typeface="Consolas"/>
                <a:cs typeface="Consolas"/>
              </a:rPr>
              <a:t>totals = orders.sum(axis=1)</a:t>
            </a:r>
          </a:p>
          <a:p>
            <a:endParaRPr sz="1875" b="0">
              <a:solidFill>
                <a:srgbClr val="17365D"/>
              </a:solidFill>
              <a:latin typeface="Consolas"/>
              <a:ea typeface="Consolas"/>
              <a:cs typeface="Consolas"/>
            </a:endParaRPr>
          </a:p>
          <a:p>
            <a:pPr>
              <a:buNone/>
              <a:defRPr sz="1875" b="0">
                <a:solidFill>
                  <a:srgbClr val="17365D"/>
                </a:solidFill>
                <a:latin typeface="Consolas"/>
                <a:ea typeface="Consolas"/>
                <a:cs typeface="Consolas"/>
              </a:defRPr>
            </a:pPr>
            <a:r>
              <a:rPr sz="1875" b="0">
                <a:solidFill>
                  <a:srgbClr val="17365D"/>
                </a:solidFill>
                <a:latin typeface="Consolas"/>
                <a:ea typeface="Consolas"/>
                <a:cs typeface="Consolas"/>
              </a:rPr>
              <a:t>average_workload = totals.mean()</a:t>
            </a:r>
          </a:p>
          <a:p>
            <a:pPr>
              <a:buNone/>
              <a:defRPr sz="1875" b="0">
                <a:solidFill>
                  <a:srgbClr val="17365D"/>
                </a:solidFill>
                <a:latin typeface="Consolas"/>
                <a:ea typeface="Consolas"/>
                <a:cs typeface="Consolas"/>
              </a:defRPr>
            </a:pPr>
            <a:r>
              <a:rPr sz="1875" b="0">
                <a:solidFill>
                  <a:srgbClr val="17365D"/>
                </a:solidFill>
                <a:latin typeface="Consolas"/>
                <a:ea typeface="Consolas"/>
                <a:cs typeface="Consolas"/>
              </a:rPr>
              <a:t>probability_of_fitting = (totals &lt;= 110).mean()</a:t>
            </a:r>
          </a:p>
        </p:txBody>
      </p:sp>
      <p:sp>
        <p:nvSpPr>
          <p:cNvPr id="6" name="text-5">
            <a:extLst>
              <a:ext uri="{FF2B5EF4-FFF2-40B4-BE49-F238E27FC236}">
                <a16:creationId xmlns:a16="http://schemas.microsoft.com/office/drawing/2014/main" id="{065665CC-17C2-44AD-B009-BF496EA53B99}"/>
              </a:ext>
            </a:extLst>
          </p:cNvPr>
          <p:cNvSpPr>
            <a:spLocks noGrp="1"/>
          </p:cNvSpPr>
          <p:nvPr/>
        </p:nvSpPr>
        <p:spPr>
          <a:xfrm>
            <a:off x="857250" y="5638800"/>
            <a:ext cx="10477500" cy="695325"/>
          </a:xfrm>
          <a:prstGeom prst="rect">
            <a:avLst/>
          </a:prstGeom>
          <a:noFill/>
          <a:ln w="0">
            <a:noFill/>
          </a:ln>
        </p:spPr>
        <p:txBody>
          <a:bodyPr wrap="square" lIns="0" tIns="0" rIns="0" bIns="0" anchor="t">
            <a:noAutofit/>
          </a:bodyPr>
          <a:lstStyle>
            <a:lvl1pPr>
              <a:buNone/>
              <a:defRPr sz="1950" b="0">
                <a:solidFill>
                  <a:srgbClr val="2D75A3"/>
                </a:solidFill>
                <a:latin typeface="Aptos"/>
                <a:ea typeface="Aptos"/>
                <a:cs typeface="Aptos"/>
              </a:defRPr>
            </a:lvl1pPr>
            <a:lvl2pPr>
              <a:buNone/>
              <a:defRPr sz="1950" b="0">
                <a:solidFill>
                  <a:srgbClr val="2D75A3"/>
                </a:solidFill>
                <a:latin typeface="Aptos"/>
                <a:ea typeface="Aptos"/>
                <a:cs typeface="Aptos"/>
              </a:defRPr>
            </a:lvl2pPr>
            <a:lvl3pPr>
              <a:buNone/>
              <a:defRPr sz="1950" b="0">
                <a:solidFill>
                  <a:srgbClr val="2D75A3"/>
                </a:solidFill>
                <a:latin typeface="Aptos"/>
                <a:ea typeface="Aptos"/>
                <a:cs typeface="Aptos"/>
              </a:defRPr>
            </a:lvl3pPr>
            <a:lvl4pPr>
              <a:buNone/>
              <a:defRPr sz="1950" b="0">
                <a:solidFill>
                  <a:srgbClr val="2D75A3"/>
                </a:solidFill>
                <a:latin typeface="Aptos"/>
                <a:ea typeface="Aptos"/>
                <a:cs typeface="Aptos"/>
              </a:defRPr>
            </a:lvl4pPr>
            <a:lvl5pPr>
              <a:buNone/>
              <a:defRPr sz="1950" b="0">
                <a:solidFill>
                  <a:srgbClr val="2D75A3"/>
                </a:solidFill>
                <a:latin typeface="Aptos"/>
                <a:ea typeface="Aptos"/>
                <a:cs typeface="Aptos"/>
              </a:defRPr>
            </a:lvl5pPr>
            <a:lvl6pPr>
              <a:buNone/>
              <a:defRPr sz="1950" b="0">
                <a:solidFill>
                  <a:srgbClr val="2D75A3"/>
                </a:solidFill>
                <a:latin typeface="Aptos"/>
                <a:ea typeface="Aptos"/>
                <a:cs typeface="Aptos"/>
              </a:defRPr>
            </a:lvl6pPr>
            <a:lvl7pPr>
              <a:buNone/>
              <a:defRPr sz="1950" b="0">
                <a:solidFill>
                  <a:srgbClr val="2D75A3"/>
                </a:solidFill>
                <a:latin typeface="Aptos"/>
                <a:ea typeface="Aptos"/>
                <a:cs typeface="Aptos"/>
              </a:defRPr>
            </a:lvl7pPr>
            <a:lvl8pPr>
              <a:buNone/>
              <a:defRPr sz="1950" b="0">
                <a:solidFill>
                  <a:srgbClr val="2D75A3"/>
                </a:solidFill>
                <a:latin typeface="Aptos"/>
                <a:ea typeface="Aptos"/>
                <a:cs typeface="Aptos"/>
              </a:defRPr>
            </a:lvl8pPr>
            <a:lvl9pPr>
              <a:buNone/>
              <a:defRPr sz="1950" b="0">
                <a:solidFill>
                  <a:srgbClr val="2D75A3"/>
                </a:solidFill>
                <a:latin typeface="Aptos"/>
                <a:ea typeface="Aptos"/>
                <a:cs typeface="Aptos"/>
              </a:defRPr>
            </a:lvl9pPr>
          </a:lstStyle>
          <a:p>
            <a:pPr>
              <a:buNone/>
              <a:defRPr sz="1950" b="0">
                <a:solidFill>
                  <a:srgbClr val="2D75A3"/>
                </a:solidFill>
                <a:latin typeface="Aptos"/>
                <a:ea typeface="Aptos"/>
                <a:cs typeface="Aptos"/>
              </a:defRPr>
            </a:pPr>
            <a:r>
              <a:rPr sz="1950" b="0">
                <a:solidFill>
                  <a:srgbClr val="2D75A3"/>
                </a:solidFill>
                <a:latin typeface="Aptos"/>
                <a:ea typeface="Aptos"/>
                <a:cs typeface="Aptos"/>
              </a:rPr>
              <a:t>sum(axis=1): add across each morning.</a:t>
            </a:r>
          </a:p>
          <a:p>
            <a:pPr>
              <a:buNone/>
              <a:defRPr sz="1950" b="0">
                <a:solidFill>
                  <a:srgbClr val="2D75A3"/>
                </a:solidFill>
                <a:latin typeface="Aptos"/>
                <a:ea typeface="Aptos"/>
                <a:cs typeface="Aptos"/>
              </a:defRPr>
            </a:pPr>
            <a:r>
              <a:rPr sz="1950" b="0">
                <a:solidFill>
                  <a:srgbClr val="2D75A3"/>
                </a:solidFill>
                <a:latin typeface="Aptos"/>
                <a:ea typeface="Aptos"/>
                <a:cs typeface="Aptos"/>
              </a:rPr>
              <a:t>mean() of True/False: fraction True, using True = 1 and False = 0.</a:t>
            </a:r>
          </a:p>
        </p:txBody>
      </p:sp>
      <p:sp>
        <p:nvSpPr>
          <p:cNvPr id="8" name="notebook-cue-slide-14">
            <a:extLst>
              <a:ext uri="{FF2B5EF4-FFF2-40B4-BE49-F238E27FC236}">
                <a16:creationId xmlns:a16="http://schemas.microsoft.com/office/drawing/2014/main" id="{4ED21614-DBC0-4B0A-B443-926A8E471B5B}"/>
              </a:ext>
            </a:extLst>
          </p:cNvPr>
          <p:cNvSpPr>
            <a:spLocks noGrp="1"/>
          </p:cNvSpPr>
          <p:nvPr/>
        </p:nvSpPr>
        <p:spPr>
          <a:xfrm>
            <a:off x="2952750" y="6429375"/>
            <a:ext cx="7620000" cy="295275"/>
          </a:xfrm>
          <a:prstGeom prst="rect">
            <a:avLst/>
          </a:prstGeom>
          <a:noFill/>
          <a:ln w="0">
            <a:noFill/>
          </a:ln>
        </p:spPr>
        <p:txBody>
          <a:bodyPr wrap="none" lIns="0" tIns="0" rIns="0" bIns="0" anchor="ctr">
            <a:noAutofit/>
          </a:bodyPr>
          <a:lstStyle>
            <a:defPPr algn="ctr">
              <a:defRPr sz="1650" b="1">
                <a:solidFill>
                  <a:srgbClr val="2F6F4E"/>
                </a:solidFill>
                <a:latin typeface="Aptos"/>
                <a:ea typeface="Aptos"/>
                <a:cs typeface="Aptos"/>
              </a:defRPr>
            </a:defPPr>
            <a:lvl1pPr algn="ctr">
              <a:defRPr sz="1650" b="1">
                <a:solidFill>
                  <a:srgbClr val="2F6F4E"/>
                </a:solidFill>
                <a:latin typeface="Aptos"/>
                <a:ea typeface="Aptos"/>
                <a:cs typeface="Aptos"/>
              </a:defRPr>
            </a:lvl1pPr>
            <a:lvl2pPr algn="ctr">
              <a:defRPr sz="1650" b="1">
                <a:solidFill>
                  <a:srgbClr val="2F6F4E"/>
                </a:solidFill>
                <a:latin typeface="Aptos"/>
                <a:ea typeface="Aptos"/>
                <a:cs typeface="Aptos"/>
              </a:defRPr>
            </a:lvl2pPr>
            <a:lvl3pPr algn="ctr">
              <a:defRPr sz="1650" b="1">
                <a:solidFill>
                  <a:srgbClr val="2F6F4E"/>
                </a:solidFill>
                <a:latin typeface="Aptos"/>
                <a:ea typeface="Aptos"/>
                <a:cs typeface="Aptos"/>
              </a:defRPr>
            </a:lvl3pPr>
            <a:lvl4pPr algn="ctr">
              <a:defRPr sz="1650" b="1">
                <a:solidFill>
                  <a:srgbClr val="2F6F4E"/>
                </a:solidFill>
                <a:latin typeface="Aptos"/>
                <a:ea typeface="Aptos"/>
                <a:cs typeface="Aptos"/>
              </a:defRPr>
            </a:lvl4pPr>
            <a:lvl5pPr algn="ctr">
              <a:defRPr sz="1650" b="1">
                <a:solidFill>
                  <a:srgbClr val="2F6F4E"/>
                </a:solidFill>
                <a:latin typeface="Aptos"/>
                <a:ea typeface="Aptos"/>
                <a:cs typeface="Aptos"/>
              </a:defRPr>
            </a:lvl5pPr>
            <a:lvl6pPr algn="ctr">
              <a:defRPr sz="1650" b="1">
                <a:solidFill>
                  <a:srgbClr val="2F6F4E"/>
                </a:solidFill>
                <a:latin typeface="Aptos"/>
                <a:ea typeface="Aptos"/>
                <a:cs typeface="Aptos"/>
              </a:defRPr>
            </a:lvl6pPr>
            <a:lvl7pPr algn="ctr">
              <a:defRPr sz="1650" b="1">
                <a:solidFill>
                  <a:srgbClr val="2F6F4E"/>
                </a:solidFill>
                <a:latin typeface="Aptos"/>
                <a:ea typeface="Aptos"/>
                <a:cs typeface="Aptos"/>
              </a:defRPr>
            </a:lvl7pPr>
            <a:lvl8pPr algn="ctr">
              <a:defRPr sz="1650" b="1">
                <a:solidFill>
                  <a:srgbClr val="2F6F4E"/>
                </a:solidFill>
                <a:latin typeface="Aptos"/>
                <a:ea typeface="Aptos"/>
                <a:cs typeface="Aptos"/>
              </a:defRPr>
            </a:lvl8pPr>
            <a:lvl9pPr algn="ctr">
              <a:defRPr sz="1650" b="1">
                <a:solidFill>
                  <a:srgbClr val="2F6F4E"/>
                </a:solidFill>
                <a:latin typeface="Aptos"/>
                <a:ea typeface="Aptos"/>
                <a:cs typeface="Aptos"/>
              </a:defRPr>
            </a:lvl9pPr>
          </a:lstStyle>
          <a:p>
            <a:pPr algn="ctr">
              <a:defRPr sz="1650" b="1">
                <a:solidFill>
                  <a:srgbClr val="2F6F4E"/>
                </a:solidFill>
                <a:latin typeface="Aptos"/>
                <a:ea typeface="Aptos"/>
                <a:cs typeface="Aptos"/>
              </a:defRPr>
            </a:pPr>
            <a:r>
              <a:rPr sz="1650" b="1">
                <a:solidFill>
                  <a:srgbClr val="2F6F4E"/>
                </a:solidFill>
                <a:latin typeface="Aptos"/>
                <a:ea typeface="Aptos"/>
                <a:cs typeface="Aptos"/>
              </a:rPr>
              <a:t>Notebook: Slide 14</a:t>
            </a:r>
          </a:p>
        </p:txBody>
      </p:sp>
    </p:spTree>
    <p:extLst>
      <p:ext uri="{BB962C8B-B14F-4D97-AF65-F5344CB8AC3E}">
        <p14:creationId xmlns:p14="http://schemas.microsoft.com/office/powerpoint/2010/main" val="2078953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35A8E457-1892-404A-9024-33E3054968BD}"/>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Results from the warehouse simulation</a:t>
            </a:r>
          </a:p>
        </p:txBody>
      </p:sp>
      <p:sp>
        <p:nvSpPr>
          <p:cNvPr id="2" name="Straight Connector 1">
            <a:extLst>
              <a:ext uri="{FF2B5EF4-FFF2-40B4-BE49-F238E27FC236}">
                <a16:creationId xmlns:a16="http://schemas.microsoft.com/office/drawing/2014/main" id="{2B65D3A2-B553-4436-8793-D5F2BBD162E4}"/>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B7C9C260-B203-4AA4-8C21-8C4224EBB184}"/>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01721DD2-984F-4C8F-95AC-CCADD4AEFFA0}"/>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15</a:t>
            </a:r>
          </a:p>
        </p:txBody>
      </p:sp>
      <p:graphicFrame>
        <p:nvGraphicFramePr>
          <p:cNvPr id="14" name="Table 13"/>
          <p:cNvGraphicFramePr/>
          <p:nvPr/>
        </p:nvGraphicFramePr>
        <p:xfrm>
          <a:off x="857250" y="1771650"/>
          <a:ext cx="10477500" cy="3143250"/>
        </p:xfrm>
        <a:graphic>
          <a:graphicData uri="http://schemas.openxmlformats.org/drawingml/2006/table">
            <a:tbl>
              <a:tblPr firstRow="1"/>
              <a:tblGrid>
                <a:gridCol w="314325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3714750">
                  <a:extLst>
                    <a:ext uri="{9D8B030D-6E8A-4147-A177-3AD203B41FA5}">
                      <a16:colId xmlns:a16="http://schemas.microsoft.com/office/drawing/2014/main" val="20002"/>
                    </a:ext>
                  </a:extLst>
                </a:gridCol>
              </a:tblGrid>
              <a:tr h="628650">
                <a:tc>
                  <a:txBody>
                    <a:bodyPr/>
                    <a:lstStyle/>
                    <a:p>
                      <a:r>
                        <a:rPr sz="2250" b="1">
                          <a:solidFill>
                            <a:srgbClr val="FFFFFF"/>
                          </a:solidFill>
                          <a:latin typeface="Aptos"/>
                          <a:ea typeface="Aptos"/>
                          <a:cs typeface="Aptos"/>
                        </a:rPr>
                        <a:t>Mornings N</a:t>
                      </a:r>
                    </a:p>
                  </a:txBody>
                  <a:tcPr anchor="ctr">
                    <a:lnL w="6191">
                      <a:solidFill>
                        <a:srgbClr val="DDE5EC"/>
                      </a:solidFill>
                      <a:prstDash val="soli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tc>
                  <a:txBody>
                    <a:bodyPr/>
                    <a:lstStyle/>
                    <a:p>
                      <a:r>
                        <a:rPr sz="2250" b="1">
                          <a:solidFill>
                            <a:srgbClr val="FFFFFF"/>
                          </a:solidFill>
                          <a:latin typeface="Aptos"/>
                          <a:ea typeface="Aptos"/>
                          <a:cs typeface="Aptos"/>
                        </a:rPr>
                        <a:t>Average items</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tc>
                  <a:txBody>
                    <a:bodyPr/>
                    <a:lstStyle/>
                    <a:p>
                      <a:r>
                        <a:rPr sz="2250" b="1">
                          <a:solidFill>
                            <a:srgbClr val="FFFFFF"/>
                          </a:solidFill>
                          <a:latin typeface="Aptos"/>
                          <a:ea typeface="Aptos"/>
                          <a:cs typeface="Aptos"/>
                        </a:rPr>
                        <a:t>Within capacity</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extLst>
                  <a:ext uri="{0D108BD9-81ED-4DB2-BD59-A6C34878D82A}">
                    <a16:rowId xmlns:a16="http://schemas.microsoft.com/office/drawing/2014/main" val="10000"/>
                  </a:ext>
                </a:extLst>
              </a:tr>
              <a:tr h="628650">
                <a:tc>
                  <a:txBody>
                    <a:bodyPr/>
                    <a:lstStyle/>
                    <a:p>
                      <a:r>
                        <a:rPr sz="2250" b="0">
                          <a:solidFill>
                            <a:srgbClr val="17365D"/>
                          </a:solidFill>
                          <a:latin typeface="Aptos"/>
                          <a:ea typeface="Aptos"/>
                          <a:cs typeface="Aptos"/>
                        </a:rPr>
                        <a:t>100</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250" b="0">
                          <a:solidFill>
                            <a:srgbClr val="17365D"/>
                          </a:solidFill>
                          <a:latin typeface="Aptos"/>
                          <a:ea typeface="Aptos"/>
                          <a:cs typeface="Aptos"/>
                        </a:rPr>
                        <a:t>88.97</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250" b="0">
                          <a:solidFill>
                            <a:srgbClr val="17365D"/>
                          </a:solidFill>
                          <a:latin typeface="Aptos"/>
                          <a:ea typeface="Aptos"/>
                          <a:cs typeface="Aptos"/>
                        </a:rPr>
                        <a:t>97.00%</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1"/>
                  </a:ext>
                </a:extLst>
              </a:tr>
              <a:tr h="628650">
                <a:tc>
                  <a:txBody>
                    <a:bodyPr/>
                    <a:lstStyle/>
                    <a:p>
                      <a:r>
                        <a:rPr sz="2250" b="0">
                          <a:solidFill>
                            <a:srgbClr val="17365D"/>
                          </a:solidFill>
                          <a:latin typeface="Aptos"/>
                          <a:ea typeface="Aptos"/>
                          <a:cs typeface="Aptos"/>
                        </a:rPr>
                        <a:t>1,000</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250" b="0">
                          <a:solidFill>
                            <a:srgbClr val="17365D"/>
                          </a:solidFill>
                          <a:latin typeface="Aptos"/>
                          <a:ea typeface="Aptos"/>
                          <a:cs typeface="Aptos"/>
                        </a:rPr>
                        <a:t>89.61</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250" b="0">
                          <a:solidFill>
                            <a:srgbClr val="17365D"/>
                          </a:solidFill>
                          <a:latin typeface="Aptos"/>
                          <a:ea typeface="Aptos"/>
                          <a:cs typeface="Aptos"/>
                        </a:rPr>
                        <a:t>97.80%</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2"/>
                  </a:ext>
                </a:extLst>
              </a:tr>
              <a:tr h="628650">
                <a:tc>
                  <a:txBody>
                    <a:bodyPr/>
                    <a:lstStyle/>
                    <a:p>
                      <a:r>
                        <a:rPr sz="2250" b="0">
                          <a:solidFill>
                            <a:srgbClr val="17365D"/>
                          </a:solidFill>
                          <a:latin typeface="Aptos"/>
                          <a:ea typeface="Aptos"/>
                          <a:cs typeface="Aptos"/>
                        </a:rPr>
                        <a:t>10,000</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250" b="0">
                          <a:solidFill>
                            <a:srgbClr val="17365D"/>
                          </a:solidFill>
                          <a:latin typeface="Aptos"/>
                          <a:ea typeface="Aptos"/>
                          <a:cs typeface="Aptos"/>
                        </a:rPr>
                        <a:t>90.09</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250" b="0">
                          <a:solidFill>
                            <a:srgbClr val="17365D"/>
                          </a:solidFill>
                          <a:latin typeface="Aptos"/>
                          <a:ea typeface="Aptos"/>
                          <a:cs typeface="Aptos"/>
                        </a:rPr>
                        <a:t>96.86%</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3"/>
                  </a:ext>
                </a:extLst>
              </a:tr>
              <a:tr h="628650">
                <a:tc>
                  <a:txBody>
                    <a:bodyPr/>
                    <a:lstStyle/>
                    <a:p>
                      <a:r>
                        <a:rPr sz="2250" b="0">
                          <a:solidFill>
                            <a:srgbClr val="17365D"/>
                          </a:solidFill>
                          <a:latin typeface="Aptos"/>
                          <a:ea typeface="Aptos"/>
                          <a:cs typeface="Aptos"/>
                        </a:rPr>
                        <a:t>100,000</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250" b="0">
                          <a:solidFill>
                            <a:srgbClr val="17365D"/>
                          </a:solidFill>
                          <a:latin typeface="Aptos"/>
                          <a:ea typeface="Aptos"/>
                          <a:cs typeface="Aptos"/>
                        </a:rPr>
                        <a:t>89.98</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250" b="0">
                          <a:solidFill>
                            <a:srgbClr val="17365D"/>
                          </a:solidFill>
                          <a:latin typeface="Aptos"/>
                          <a:ea typeface="Aptos"/>
                          <a:cs typeface="Aptos"/>
                        </a:rPr>
                        <a:t>96.82%</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6" name="text-4">
            <a:extLst>
              <a:ext uri="{FF2B5EF4-FFF2-40B4-BE49-F238E27FC236}">
                <a16:creationId xmlns:a16="http://schemas.microsoft.com/office/drawing/2014/main" id="{2D7A2794-E5B3-445F-AF75-413A6E622654}"/>
              </a:ext>
            </a:extLst>
          </p:cNvPr>
          <p:cNvSpPr>
            <a:spLocks noGrp="1"/>
          </p:cNvSpPr>
          <p:nvPr/>
        </p:nvSpPr>
        <p:spPr>
          <a:xfrm>
            <a:off x="857250" y="5257800"/>
            <a:ext cx="10477500" cy="457200"/>
          </a:xfrm>
          <a:prstGeom prst="rect">
            <a:avLst/>
          </a:prstGeom>
          <a:noFill/>
          <a:ln w="0">
            <a:noFill/>
          </a:ln>
        </p:spPr>
        <p:txBody>
          <a:bodyPr wrap="square" lIns="0" tIns="0" rIns="0" bIns="0" anchor="t">
            <a:noAutofit/>
          </a:bodyPr>
          <a:lstStyle>
            <a:lvl1pPr>
              <a:buNone/>
              <a:defRPr sz="2325" b="0">
                <a:solidFill>
                  <a:srgbClr val="2D75A3"/>
                </a:solidFill>
                <a:latin typeface="Aptos"/>
                <a:ea typeface="Aptos"/>
                <a:cs typeface="Aptos"/>
              </a:defRPr>
            </a:lvl1pPr>
            <a:lvl2pPr>
              <a:buNone/>
              <a:defRPr sz="2325" b="0">
                <a:solidFill>
                  <a:srgbClr val="2D75A3"/>
                </a:solidFill>
                <a:latin typeface="Aptos"/>
                <a:ea typeface="Aptos"/>
                <a:cs typeface="Aptos"/>
              </a:defRPr>
            </a:lvl2pPr>
            <a:lvl3pPr>
              <a:buNone/>
              <a:defRPr sz="2325" b="0">
                <a:solidFill>
                  <a:srgbClr val="2D75A3"/>
                </a:solidFill>
                <a:latin typeface="Aptos"/>
                <a:ea typeface="Aptos"/>
                <a:cs typeface="Aptos"/>
              </a:defRPr>
            </a:lvl3pPr>
            <a:lvl4pPr>
              <a:buNone/>
              <a:defRPr sz="2325" b="0">
                <a:solidFill>
                  <a:srgbClr val="2D75A3"/>
                </a:solidFill>
                <a:latin typeface="Aptos"/>
                <a:ea typeface="Aptos"/>
                <a:cs typeface="Aptos"/>
              </a:defRPr>
            </a:lvl4pPr>
            <a:lvl5pPr>
              <a:buNone/>
              <a:defRPr sz="2325" b="0">
                <a:solidFill>
                  <a:srgbClr val="2D75A3"/>
                </a:solidFill>
                <a:latin typeface="Aptos"/>
                <a:ea typeface="Aptos"/>
                <a:cs typeface="Aptos"/>
              </a:defRPr>
            </a:lvl5pPr>
            <a:lvl6pPr>
              <a:buNone/>
              <a:defRPr sz="2325" b="0">
                <a:solidFill>
                  <a:srgbClr val="2D75A3"/>
                </a:solidFill>
                <a:latin typeface="Aptos"/>
                <a:ea typeface="Aptos"/>
                <a:cs typeface="Aptos"/>
              </a:defRPr>
            </a:lvl6pPr>
            <a:lvl7pPr>
              <a:buNone/>
              <a:defRPr sz="2325" b="0">
                <a:solidFill>
                  <a:srgbClr val="2D75A3"/>
                </a:solidFill>
                <a:latin typeface="Aptos"/>
                <a:ea typeface="Aptos"/>
                <a:cs typeface="Aptos"/>
              </a:defRPr>
            </a:lvl7pPr>
            <a:lvl8pPr>
              <a:buNone/>
              <a:defRPr sz="2325" b="0">
                <a:solidFill>
                  <a:srgbClr val="2D75A3"/>
                </a:solidFill>
                <a:latin typeface="Aptos"/>
                <a:ea typeface="Aptos"/>
                <a:cs typeface="Aptos"/>
              </a:defRPr>
            </a:lvl8pPr>
            <a:lvl9pPr>
              <a:buNone/>
              <a:defRPr sz="2325" b="0">
                <a:solidFill>
                  <a:srgbClr val="2D75A3"/>
                </a:solidFill>
                <a:latin typeface="Aptos"/>
                <a:ea typeface="Aptos"/>
                <a:cs typeface="Aptos"/>
              </a:defRPr>
            </a:lvl9pPr>
          </a:lstStyle>
          <a:p>
            <a:pPr>
              <a:buNone/>
              <a:defRPr sz="2325" b="0">
                <a:solidFill>
                  <a:srgbClr val="2D75A3"/>
                </a:solidFill>
                <a:latin typeface="Aptos"/>
                <a:ea typeface="Aptos"/>
                <a:cs typeface="Aptos"/>
              </a:defRPr>
            </a:pPr>
            <a:r>
              <a:rPr sz="2325" b="0">
                <a:solidFill>
                  <a:srgbClr val="2D75A3"/>
                </a:solidFill>
                <a:latin typeface="Aptos"/>
                <a:ea typeface="Aptos"/>
                <a:cs typeface="Aptos"/>
              </a:rPr>
              <a:t>The largest run gives an average close to 90 items.</a:t>
            </a:r>
          </a:p>
        </p:txBody>
      </p:sp>
      <p:sp>
        <p:nvSpPr>
          <p:cNvPr id="7" name="text-5">
            <a:extLst>
              <a:ext uri="{FF2B5EF4-FFF2-40B4-BE49-F238E27FC236}">
                <a16:creationId xmlns:a16="http://schemas.microsoft.com/office/drawing/2014/main" id="{D1CCF1BF-35FD-4D0B-9482-C9E46875B640}"/>
              </a:ext>
            </a:extLst>
          </p:cNvPr>
          <p:cNvSpPr>
            <a:spLocks noGrp="1"/>
          </p:cNvSpPr>
          <p:nvPr/>
        </p:nvSpPr>
        <p:spPr>
          <a:xfrm>
            <a:off x="857250" y="5819775"/>
            <a:ext cx="10477500" cy="457200"/>
          </a:xfrm>
          <a:prstGeom prst="rect">
            <a:avLst/>
          </a:prstGeom>
          <a:noFill/>
          <a:ln w="0">
            <a:noFill/>
          </a:ln>
        </p:spPr>
        <p:txBody>
          <a:bodyPr wrap="square" lIns="0" tIns="0" rIns="0" bIns="0" anchor="t">
            <a:noAutofit/>
          </a:bodyPr>
          <a:lstStyle>
            <a:lvl1pPr>
              <a:buNone/>
              <a:defRPr sz="2325" b="0">
                <a:solidFill>
                  <a:srgbClr val="2F6F4E"/>
                </a:solidFill>
                <a:latin typeface="Aptos"/>
                <a:ea typeface="Aptos"/>
                <a:cs typeface="Aptos"/>
              </a:defRPr>
            </a:lvl1pPr>
            <a:lvl2pPr>
              <a:buNone/>
              <a:defRPr sz="2325" b="0">
                <a:solidFill>
                  <a:srgbClr val="2F6F4E"/>
                </a:solidFill>
                <a:latin typeface="Aptos"/>
                <a:ea typeface="Aptos"/>
                <a:cs typeface="Aptos"/>
              </a:defRPr>
            </a:lvl2pPr>
            <a:lvl3pPr>
              <a:buNone/>
              <a:defRPr sz="2325" b="0">
                <a:solidFill>
                  <a:srgbClr val="2F6F4E"/>
                </a:solidFill>
                <a:latin typeface="Aptos"/>
                <a:ea typeface="Aptos"/>
                <a:cs typeface="Aptos"/>
              </a:defRPr>
            </a:lvl3pPr>
            <a:lvl4pPr>
              <a:buNone/>
              <a:defRPr sz="2325" b="0">
                <a:solidFill>
                  <a:srgbClr val="2F6F4E"/>
                </a:solidFill>
                <a:latin typeface="Aptos"/>
                <a:ea typeface="Aptos"/>
                <a:cs typeface="Aptos"/>
              </a:defRPr>
            </a:lvl4pPr>
            <a:lvl5pPr>
              <a:buNone/>
              <a:defRPr sz="2325" b="0">
                <a:solidFill>
                  <a:srgbClr val="2F6F4E"/>
                </a:solidFill>
                <a:latin typeface="Aptos"/>
                <a:ea typeface="Aptos"/>
                <a:cs typeface="Aptos"/>
              </a:defRPr>
            </a:lvl5pPr>
            <a:lvl6pPr>
              <a:buNone/>
              <a:defRPr sz="2325" b="0">
                <a:solidFill>
                  <a:srgbClr val="2F6F4E"/>
                </a:solidFill>
                <a:latin typeface="Aptos"/>
                <a:ea typeface="Aptos"/>
                <a:cs typeface="Aptos"/>
              </a:defRPr>
            </a:lvl6pPr>
            <a:lvl7pPr>
              <a:buNone/>
              <a:defRPr sz="2325" b="0">
                <a:solidFill>
                  <a:srgbClr val="2F6F4E"/>
                </a:solidFill>
                <a:latin typeface="Aptos"/>
                <a:ea typeface="Aptos"/>
                <a:cs typeface="Aptos"/>
              </a:defRPr>
            </a:lvl7pPr>
            <a:lvl8pPr>
              <a:buNone/>
              <a:defRPr sz="2325" b="0">
                <a:solidFill>
                  <a:srgbClr val="2F6F4E"/>
                </a:solidFill>
                <a:latin typeface="Aptos"/>
                <a:ea typeface="Aptos"/>
                <a:cs typeface="Aptos"/>
              </a:defRPr>
            </a:lvl8pPr>
            <a:lvl9pPr>
              <a:buNone/>
              <a:defRPr sz="2325" b="0">
                <a:solidFill>
                  <a:srgbClr val="2F6F4E"/>
                </a:solidFill>
                <a:latin typeface="Aptos"/>
                <a:ea typeface="Aptos"/>
                <a:cs typeface="Aptos"/>
              </a:defRPr>
            </a:lvl9pPr>
          </a:lstStyle>
          <a:p>
            <a:pPr>
              <a:buNone/>
              <a:defRPr sz="2325" b="0">
                <a:solidFill>
                  <a:srgbClr val="2F6F4E"/>
                </a:solidFill>
                <a:latin typeface="Aptos"/>
                <a:ea typeface="Aptos"/>
                <a:cs typeface="Aptos"/>
              </a:defRPr>
            </a:pPr>
            <a:r>
              <a:rPr sz="2325" b="0">
                <a:solidFill>
                  <a:srgbClr val="2F6F4E"/>
                </a:solidFill>
                <a:latin typeface="Aptos"/>
                <a:ea typeface="Aptos"/>
                <a:cs typeface="Aptos"/>
              </a:rPr>
              <a:t>About 96.8% of its mornings fit within capacity.</a:t>
            </a:r>
          </a:p>
        </p:txBody>
      </p:sp>
      <p:sp>
        <p:nvSpPr>
          <p:cNvPr id="15" name="notebook-cue-slide-15">
            <a:extLst>
              <a:ext uri="{FF2B5EF4-FFF2-40B4-BE49-F238E27FC236}">
                <a16:creationId xmlns:a16="http://schemas.microsoft.com/office/drawing/2014/main" id="{9CEB6300-F25F-4E8F-93DC-8AF9FBBEB2E9}"/>
              </a:ext>
            </a:extLst>
          </p:cNvPr>
          <p:cNvSpPr>
            <a:spLocks noGrp="1"/>
          </p:cNvSpPr>
          <p:nvPr/>
        </p:nvSpPr>
        <p:spPr>
          <a:xfrm>
            <a:off x="2952750" y="6429375"/>
            <a:ext cx="7620000" cy="295275"/>
          </a:xfrm>
          <a:prstGeom prst="rect">
            <a:avLst/>
          </a:prstGeom>
          <a:noFill/>
          <a:ln w="0">
            <a:noFill/>
          </a:ln>
        </p:spPr>
        <p:txBody>
          <a:bodyPr wrap="none" lIns="0" tIns="0" rIns="0" bIns="0" anchor="ctr">
            <a:noAutofit/>
          </a:bodyPr>
          <a:lstStyle>
            <a:defPPr algn="ctr">
              <a:defRPr sz="1650" b="1">
                <a:solidFill>
                  <a:srgbClr val="2F6F4E"/>
                </a:solidFill>
                <a:latin typeface="Aptos"/>
                <a:ea typeface="Aptos"/>
                <a:cs typeface="Aptos"/>
              </a:defRPr>
            </a:defPPr>
            <a:lvl1pPr algn="ctr">
              <a:defRPr sz="1650" b="1">
                <a:solidFill>
                  <a:srgbClr val="2F6F4E"/>
                </a:solidFill>
                <a:latin typeface="Aptos"/>
                <a:ea typeface="Aptos"/>
                <a:cs typeface="Aptos"/>
              </a:defRPr>
            </a:lvl1pPr>
            <a:lvl2pPr algn="ctr">
              <a:defRPr sz="1650" b="1">
                <a:solidFill>
                  <a:srgbClr val="2F6F4E"/>
                </a:solidFill>
                <a:latin typeface="Aptos"/>
                <a:ea typeface="Aptos"/>
                <a:cs typeface="Aptos"/>
              </a:defRPr>
            </a:lvl2pPr>
            <a:lvl3pPr algn="ctr">
              <a:defRPr sz="1650" b="1">
                <a:solidFill>
                  <a:srgbClr val="2F6F4E"/>
                </a:solidFill>
                <a:latin typeface="Aptos"/>
                <a:ea typeface="Aptos"/>
                <a:cs typeface="Aptos"/>
              </a:defRPr>
            </a:lvl3pPr>
            <a:lvl4pPr algn="ctr">
              <a:defRPr sz="1650" b="1">
                <a:solidFill>
                  <a:srgbClr val="2F6F4E"/>
                </a:solidFill>
                <a:latin typeface="Aptos"/>
                <a:ea typeface="Aptos"/>
                <a:cs typeface="Aptos"/>
              </a:defRPr>
            </a:lvl4pPr>
            <a:lvl5pPr algn="ctr">
              <a:defRPr sz="1650" b="1">
                <a:solidFill>
                  <a:srgbClr val="2F6F4E"/>
                </a:solidFill>
                <a:latin typeface="Aptos"/>
                <a:ea typeface="Aptos"/>
                <a:cs typeface="Aptos"/>
              </a:defRPr>
            </a:lvl5pPr>
            <a:lvl6pPr algn="ctr">
              <a:defRPr sz="1650" b="1">
                <a:solidFill>
                  <a:srgbClr val="2F6F4E"/>
                </a:solidFill>
                <a:latin typeface="Aptos"/>
                <a:ea typeface="Aptos"/>
                <a:cs typeface="Aptos"/>
              </a:defRPr>
            </a:lvl6pPr>
            <a:lvl7pPr algn="ctr">
              <a:defRPr sz="1650" b="1">
                <a:solidFill>
                  <a:srgbClr val="2F6F4E"/>
                </a:solidFill>
                <a:latin typeface="Aptos"/>
                <a:ea typeface="Aptos"/>
                <a:cs typeface="Aptos"/>
              </a:defRPr>
            </a:lvl7pPr>
            <a:lvl8pPr algn="ctr">
              <a:defRPr sz="1650" b="1">
                <a:solidFill>
                  <a:srgbClr val="2F6F4E"/>
                </a:solidFill>
                <a:latin typeface="Aptos"/>
                <a:ea typeface="Aptos"/>
                <a:cs typeface="Aptos"/>
              </a:defRPr>
            </a:lvl8pPr>
            <a:lvl9pPr algn="ctr">
              <a:defRPr sz="1650" b="1">
                <a:solidFill>
                  <a:srgbClr val="2F6F4E"/>
                </a:solidFill>
                <a:latin typeface="Aptos"/>
                <a:ea typeface="Aptos"/>
                <a:cs typeface="Aptos"/>
              </a:defRPr>
            </a:lvl9pPr>
          </a:lstStyle>
          <a:p>
            <a:pPr algn="ctr">
              <a:defRPr sz="1650" b="1">
                <a:solidFill>
                  <a:srgbClr val="2F6F4E"/>
                </a:solidFill>
                <a:latin typeface="Aptos"/>
                <a:ea typeface="Aptos"/>
                <a:cs typeface="Aptos"/>
              </a:defRPr>
            </a:pPr>
            <a:r>
              <a:rPr sz="1650" b="1">
                <a:solidFill>
                  <a:srgbClr val="2F6F4E"/>
                </a:solidFill>
                <a:latin typeface="Aptos"/>
                <a:ea typeface="Aptos"/>
                <a:cs typeface="Aptos"/>
              </a:rPr>
              <a:t>Notebook: Slide 15</a:t>
            </a:r>
          </a:p>
        </p:txBody>
      </p:sp>
    </p:spTree>
    <p:extLst>
      <p:ext uri="{BB962C8B-B14F-4D97-AF65-F5344CB8AC3E}">
        <p14:creationId xmlns:p14="http://schemas.microsoft.com/office/powerpoint/2010/main" val="1713147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6682E764-5819-49BE-B5C5-DEE82BC3EFBC}"/>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A seed makes a run reproducible</a:t>
            </a:r>
          </a:p>
        </p:txBody>
      </p:sp>
      <p:sp>
        <p:nvSpPr>
          <p:cNvPr id="2" name="Straight Connector 1">
            <a:extLst>
              <a:ext uri="{FF2B5EF4-FFF2-40B4-BE49-F238E27FC236}">
                <a16:creationId xmlns:a16="http://schemas.microsoft.com/office/drawing/2014/main" id="{C9F304D5-F34E-4705-9E45-E250E925AD44}"/>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7ED6E3CE-D98A-4660-AFCB-ADC80F19ABD4}"/>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5243EDD1-431F-4AC5-80A3-C496A47DA013}"/>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16</a:t>
            </a:r>
          </a:p>
        </p:txBody>
      </p:sp>
      <p:sp>
        <p:nvSpPr>
          <p:cNvPr id="5" name="text-4">
            <a:extLst>
              <a:ext uri="{FF2B5EF4-FFF2-40B4-BE49-F238E27FC236}">
                <a16:creationId xmlns:a16="http://schemas.microsoft.com/office/drawing/2014/main" id="{8945E268-406D-4FA2-9A7E-1D66E6CAB2BD}"/>
              </a:ext>
            </a:extLst>
          </p:cNvPr>
          <p:cNvSpPr>
            <a:spLocks noGrp="1"/>
          </p:cNvSpPr>
          <p:nvPr/>
        </p:nvSpPr>
        <p:spPr>
          <a:xfrm>
            <a:off x="857250" y="1847850"/>
            <a:ext cx="10477500" cy="457200"/>
          </a:xfrm>
          <a:prstGeom prst="rect">
            <a:avLst/>
          </a:prstGeom>
          <a:noFill/>
          <a:ln w="0">
            <a:noFill/>
          </a:ln>
        </p:spPr>
        <p:txBody>
          <a:bodyPr wrap="square" lIns="0" tIns="0" rIns="0" bIns="0" anchor="t">
            <a:noAutofit/>
          </a:bodyPr>
          <a:lstStyle>
            <a:lvl1pPr>
              <a:buNone/>
              <a:defRPr sz="2550" b="1">
                <a:solidFill>
                  <a:srgbClr val="2D75A3"/>
                </a:solidFill>
                <a:latin typeface="Aptos"/>
                <a:ea typeface="Aptos"/>
                <a:cs typeface="Aptos"/>
              </a:defRPr>
            </a:lvl1pPr>
            <a:lvl2pPr>
              <a:buNone/>
              <a:defRPr sz="2550" b="1">
                <a:solidFill>
                  <a:srgbClr val="2D75A3"/>
                </a:solidFill>
                <a:latin typeface="Aptos"/>
                <a:ea typeface="Aptos"/>
                <a:cs typeface="Aptos"/>
              </a:defRPr>
            </a:lvl2pPr>
            <a:lvl3pPr>
              <a:buNone/>
              <a:defRPr sz="2550" b="1">
                <a:solidFill>
                  <a:srgbClr val="2D75A3"/>
                </a:solidFill>
                <a:latin typeface="Aptos"/>
                <a:ea typeface="Aptos"/>
                <a:cs typeface="Aptos"/>
              </a:defRPr>
            </a:lvl3pPr>
            <a:lvl4pPr>
              <a:buNone/>
              <a:defRPr sz="2550" b="1">
                <a:solidFill>
                  <a:srgbClr val="2D75A3"/>
                </a:solidFill>
                <a:latin typeface="Aptos"/>
                <a:ea typeface="Aptos"/>
                <a:cs typeface="Aptos"/>
              </a:defRPr>
            </a:lvl4pPr>
            <a:lvl5pPr>
              <a:buNone/>
              <a:defRPr sz="2550" b="1">
                <a:solidFill>
                  <a:srgbClr val="2D75A3"/>
                </a:solidFill>
                <a:latin typeface="Aptos"/>
                <a:ea typeface="Aptos"/>
                <a:cs typeface="Aptos"/>
              </a:defRPr>
            </a:lvl5pPr>
            <a:lvl6pPr>
              <a:buNone/>
              <a:defRPr sz="2550" b="1">
                <a:solidFill>
                  <a:srgbClr val="2D75A3"/>
                </a:solidFill>
                <a:latin typeface="Aptos"/>
                <a:ea typeface="Aptos"/>
                <a:cs typeface="Aptos"/>
              </a:defRPr>
            </a:lvl6pPr>
            <a:lvl7pPr>
              <a:buNone/>
              <a:defRPr sz="2550" b="1">
                <a:solidFill>
                  <a:srgbClr val="2D75A3"/>
                </a:solidFill>
                <a:latin typeface="Aptos"/>
                <a:ea typeface="Aptos"/>
                <a:cs typeface="Aptos"/>
              </a:defRPr>
            </a:lvl7pPr>
            <a:lvl8pPr>
              <a:buNone/>
              <a:defRPr sz="2550" b="1">
                <a:solidFill>
                  <a:srgbClr val="2D75A3"/>
                </a:solidFill>
                <a:latin typeface="Aptos"/>
                <a:ea typeface="Aptos"/>
                <a:cs typeface="Aptos"/>
              </a:defRPr>
            </a:lvl8pPr>
            <a:lvl9pPr>
              <a:buNone/>
              <a:defRPr sz="2550" b="1">
                <a:solidFill>
                  <a:srgbClr val="2D75A3"/>
                </a:solidFill>
                <a:latin typeface="Aptos"/>
                <a:ea typeface="Aptos"/>
                <a:cs typeface="Aptos"/>
              </a:defRPr>
            </a:lvl9pPr>
          </a:lstStyle>
          <a:p>
            <a:pPr>
              <a:buNone/>
              <a:defRPr sz="2550" b="1">
                <a:solidFill>
                  <a:srgbClr val="2D75A3"/>
                </a:solidFill>
                <a:latin typeface="Aptos"/>
                <a:ea typeface="Aptos"/>
                <a:cs typeface="Aptos"/>
              </a:defRPr>
            </a:pPr>
            <a:r>
              <a:rPr sz="2550" b="1">
                <a:solidFill>
                  <a:srgbClr val="2D75A3"/>
                </a:solidFill>
                <a:latin typeface="Aptos"/>
                <a:ea typeface="Aptos"/>
                <a:cs typeface="Aptos"/>
              </a:rPr>
              <a:t>Fixed seed</a:t>
            </a:r>
          </a:p>
        </p:txBody>
      </p:sp>
      <p:sp>
        <p:nvSpPr>
          <p:cNvPr id="6" name="text-5">
            <a:extLst>
              <a:ext uri="{FF2B5EF4-FFF2-40B4-BE49-F238E27FC236}">
                <a16:creationId xmlns:a16="http://schemas.microsoft.com/office/drawing/2014/main" id="{48245F90-3774-4B90-AC1A-0B3859FB27FB}"/>
              </a:ext>
            </a:extLst>
          </p:cNvPr>
          <p:cNvSpPr>
            <a:spLocks noGrp="1"/>
          </p:cNvSpPr>
          <p:nvPr/>
        </p:nvSpPr>
        <p:spPr>
          <a:xfrm>
            <a:off x="857250" y="2400300"/>
            <a:ext cx="10477500" cy="742950"/>
          </a:xfrm>
          <a:prstGeom prst="rect">
            <a:avLst/>
          </a:prstGeom>
          <a:noFill/>
          <a:ln w="0">
            <a:noFill/>
          </a:ln>
        </p:spPr>
        <p:txBody>
          <a:bodyPr wrap="square" lIns="0" tIns="0" rIns="0" bIns="0" anchor="t">
            <a:noAutofit/>
          </a:bodyPr>
          <a:lstStyle>
            <a:lvl1pPr>
              <a:buNone/>
              <a:defRPr sz="2325" b="0">
                <a:solidFill>
                  <a:srgbClr val="17365D"/>
                </a:solidFill>
                <a:latin typeface="Aptos"/>
                <a:ea typeface="Aptos"/>
                <a:cs typeface="Aptos"/>
              </a:defRPr>
            </a:lvl1pPr>
            <a:lvl2pPr>
              <a:buNone/>
              <a:defRPr sz="2325" b="0">
                <a:solidFill>
                  <a:srgbClr val="17365D"/>
                </a:solidFill>
                <a:latin typeface="Aptos"/>
                <a:ea typeface="Aptos"/>
                <a:cs typeface="Aptos"/>
              </a:defRPr>
            </a:lvl2pPr>
            <a:lvl3pPr>
              <a:buNone/>
              <a:defRPr sz="2325" b="0">
                <a:solidFill>
                  <a:srgbClr val="17365D"/>
                </a:solidFill>
                <a:latin typeface="Aptos"/>
                <a:ea typeface="Aptos"/>
                <a:cs typeface="Aptos"/>
              </a:defRPr>
            </a:lvl3pPr>
            <a:lvl4pPr>
              <a:buNone/>
              <a:defRPr sz="2325" b="0">
                <a:solidFill>
                  <a:srgbClr val="17365D"/>
                </a:solidFill>
                <a:latin typeface="Aptos"/>
                <a:ea typeface="Aptos"/>
                <a:cs typeface="Aptos"/>
              </a:defRPr>
            </a:lvl4pPr>
            <a:lvl5pPr>
              <a:buNone/>
              <a:defRPr sz="2325" b="0">
                <a:solidFill>
                  <a:srgbClr val="17365D"/>
                </a:solidFill>
                <a:latin typeface="Aptos"/>
                <a:ea typeface="Aptos"/>
                <a:cs typeface="Aptos"/>
              </a:defRPr>
            </a:lvl5pPr>
            <a:lvl6pPr>
              <a:buNone/>
              <a:defRPr sz="2325" b="0">
                <a:solidFill>
                  <a:srgbClr val="17365D"/>
                </a:solidFill>
                <a:latin typeface="Aptos"/>
                <a:ea typeface="Aptos"/>
                <a:cs typeface="Aptos"/>
              </a:defRPr>
            </a:lvl6pPr>
            <a:lvl7pPr>
              <a:buNone/>
              <a:defRPr sz="2325" b="0">
                <a:solidFill>
                  <a:srgbClr val="17365D"/>
                </a:solidFill>
                <a:latin typeface="Aptos"/>
                <a:ea typeface="Aptos"/>
                <a:cs typeface="Aptos"/>
              </a:defRPr>
            </a:lvl7pPr>
            <a:lvl8pPr>
              <a:buNone/>
              <a:defRPr sz="2325" b="0">
                <a:solidFill>
                  <a:srgbClr val="17365D"/>
                </a:solidFill>
                <a:latin typeface="Aptos"/>
                <a:ea typeface="Aptos"/>
                <a:cs typeface="Aptos"/>
              </a:defRPr>
            </a:lvl8pPr>
            <a:lvl9pPr>
              <a:buNone/>
              <a:defRPr sz="2325" b="0">
                <a:solidFill>
                  <a:srgbClr val="17365D"/>
                </a:solidFill>
                <a:latin typeface="Aptos"/>
                <a:ea typeface="Aptos"/>
                <a:cs typeface="Aptos"/>
              </a:defRPr>
            </a:lvl9pPr>
          </a:lstStyle>
          <a:p>
            <a:pPr>
              <a:buNone/>
              <a:defRPr sz="2325" b="0">
                <a:solidFill>
                  <a:srgbClr val="17365D"/>
                </a:solidFill>
                <a:latin typeface="Aptos"/>
                <a:ea typeface="Aptos"/>
                <a:cs typeface="Aptos"/>
              </a:defRPr>
            </a:pPr>
            <a:r>
              <a:rPr sz="2325" b="0">
                <a:solidFill>
                  <a:srgbClr val="17365D"/>
                </a:solidFill>
                <a:latin typeface="Aptos"/>
                <a:ea typeface="Aptos"/>
                <a:cs typeface="Aptos"/>
              </a:rPr>
              <a:t>The generator repeats the same sequence of artificial orders.</a:t>
            </a:r>
          </a:p>
        </p:txBody>
      </p:sp>
      <p:sp>
        <p:nvSpPr>
          <p:cNvPr id="7" name="text-6">
            <a:extLst>
              <a:ext uri="{FF2B5EF4-FFF2-40B4-BE49-F238E27FC236}">
                <a16:creationId xmlns:a16="http://schemas.microsoft.com/office/drawing/2014/main" id="{1B5C006D-1CF3-4FE3-8EC5-1AD5FCC1D5EF}"/>
              </a:ext>
            </a:extLst>
          </p:cNvPr>
          <p:cNvSpPr>
            <a:spLocks noGrp="1"/>
          </p:cNvSpPr>
          <p:nvPr/>
        </p:nvSpPr>
        <p:spPr>
          <a:xfrm>
            <a:off x="857250" y="3514725"/>
            <a:ext cx="10477500" cy="457200"/>
          </a:xfrm>
          <a:prstGeom prst="rect">
            <a:avLst/>
          </a:prstGeom>
          <a:noFill/>
          <a:ln w="0">
            <a:noFill/>
          </a:ln>
        </p:spPr>
        <p:txBody>
          <a:bodyPr wrap="square" lIns="0" tIns="0" rIns="0" bIns="0" anchor="t">
            <a:noAutofit/>
          </a:bodyPr>
          <a:lstStyle>
            <a:lvl1pPr>
              <a:buNone/>
              <a:defRPr sz="2550" b="1">
                <a:solidFill>
                  <a:srgbClr val="2D75A3"/>
                </a:solidFill>
                <a:latin typeface="Aptos"/>
                <a:ea typeface="Aptos"/>
                <a:cs typeface="Aptos"/>
              </a:defRPr>
            </a:lvl1pPr>
            <a:lvl2pPr>
              <a:buNone/>
              <a:defRPr sz="2550" b="1">
                <a:solidFill>
                  <a:srgbClr val="2D75A3"/>
                </a:solidFill>
                <a:latin typeface="Aptos"/>
                <a:ea typeface="Aptos"/>
                <a:cs typeface="Aptos"/>
              </a:defRPr>
            </a:lvl2pPr>
            <a:lvl3pPr>
              <a:buNone/>
              <a:defRPr sz="2550" b="1">
                <a:solidFill>
                  <a:srgbClr val="2D75A3"/>
                </a:solidFill>
                <a:latin typeface="Aptos"/>
                <a:ea typeface="Aptos"/>
                <a:cs typeface="Aptos"/>
              </a:defRPr>
            </a:lvl3pPr>
            <a:lvl4pPr>
              <a:buNone/>
              <a:defRPr sz="2550" b="1">
                <a:solidFill>
                  <a:srgbClr val="2D75A3"/>
                </a:solidFill>
                <a:latin typeface="Aptos"/>
                <a:ea typeface="Aptos"/>
                <a:cs typeface="Aptos"/>
              </a:defRPr>
            </a:lvl4pPr>
            <a:lvl5pPr>
              <a:buNone/>
              <a:defRPr sz="2550" b="1">
                <a:solidFill>
                  <a:srgbClr val="2D75A3"/>
                </a:solidFill>
                <a:latin typeface="Aptos"/>
                <a:ea typeface="Aptos"/>
                <a:cs typeface="Aptos"/>
              </a:defRPr>
            </a:lvl5pPr>
            <a:lvl6pPr>
              <a:buNone/>
              <a:defRPr sz="2550" b="1">
                <a:solidFill>
                  <a:srgbClr val="2D75A3"/>
                </a:solidFill>
                <a:latin typeface="Aptos"/>
                <a:ea typeface="Aptos"/>
                <a:cs typeface="Aptos"/>
              </a:defRPr>
            </a:lvl6pPr>
            <a:lvl7pPr>
              <a:buNone/>
              <a:defRPr sz="2550" b="1">
                <a:solidFill>
                  <a:srgbClr val="2D75A3"/>
                </a:solidFill>
                <a:latin typeface="Aptos"/>
                <a:ea typeface="Aptos"/>
                <a:cs typeface="Aptos"/>
              </a:defRPr>
            </a:lvl7pPr>
            <a:lvl8pPr>
              <a:buNone/>
              <a:defRPr sz="2550" b="1">
                <a:solidFill>
                  <a:srgbClr val="2D75A3"/>
                </a:solidFill>
                <a:latin typeface="Aptos"/>
                <a:ea typeface="Aptos"/>
                <a:cs typeface="Aptos"/>
              </a:defRPr>
            </a:lvl8pPr>
            <a:lvl9pPr>
              <a:buNone/>
              <a:defRPr sz="2550" b="1">
                <a:solidFill>
                  <a:srgbClr val="2D75A3"/>
                </a:solidFill>
                <a:latin typeface="Aptos"/>
                <a:ea typeface="Aptos"/>
                <a:cs typeface="Aptos"/>
              </a:defRPr>
            </a:lvl9pPr>
          </a:lstStyle>
          <a:p>
            <a:pPr>
              <a:buNone/>
              <a:defRPr sz="2550" b="1">
                <a:solidFill>
                  <a:srgbClr val="2D75A3"/>
                </a:solidFill>
                <a:latin typeface="Aptos"/>
                <a:ea typeface="Aptos"/>
                <a:cs typeface="Aptos"/>
              </a:defRPr>
            </a:pPr>
            <a:r>
              <a:rPr sz="2550" b="1">
                <a:solidFill>
                  <a:srgbClr val="2D75A3"/>
                </a:solidFill>
                <a:latin typeface="Aptos"/>
                <a:ea typeface="Aptos"/>
                <a:cs typeface="Aptos"/>
              </a:rPr>
              <a:t>Fresh seed</a:t>
            </a:r>
          </a:p>
        </p:txBody>
      </p:sp>
      <p:sp>
        <p:nvSpPr>
          <p:cNvPr id="8" name="text-7">
            <a:extLst>
              <a:ext uri="{FF2B5EF4-FFF2-40B4-BE49-F238E27FC236}">
                <a16:creationId xmlns:a16="http://schemas.microsoft.com/office/drawing/2014/main" id="{D84D6EDA-CC5E-4809-B6E5-F7C801BCEAFC}"/>
              </a:ext>
            </a:extLst>
          </p:cNvPr>
          <p:cNvSpPr>
            <a:spLocks noGrp="1"/>
          </p:cNvSpPr>
          <p:nvPr/>
        </p:nvSpPr>
        <p:spPr>
          <a:xfrm>
            <a:off x="857250" y="4067175"/>
            <a:ext cx="10477500" cy="857250"/>
          </a:xfrm>
          <a:prstGeom prst="rect">
            <a:avLst/>
          </a:prstGeom>
          <a:noFill/>
          <a:ln w="0">
            <a:noFill/>
          </a:ln>
        </p:spPr>
        <p:txBody>
          <a:bodyPr wrap="square" lIns="0" tIns="0" rIns="0" bIns="0" anchor="t">
            <a:noAutofit/>
          </a:bodyPr>
          <a:lstStyle>
            <a:lvl1pPr>
              <a:buNone/>
              <a:defRPr sz="2325" b="0">
                <a:solidFill>
                  <a:srgbClr val="17365D"/>
                </a:solidFill>
                <a:latin typeface="Aptos"/>
                <a:ea typeface="Aptos"/>
                <a:cs typeface="Aptos"/>
              </a:defRPr>
            </a:lvl1pPr>
            <a:lvl2pPr>
              <a:buNone/>
              <a:defRPr sz="2325" b="0">
                <a:solidFill>
                  <a:srgbClr val="17365D"/>
                </a:solidFill>
                <a:latin typeface="Aptos"/>
                <a:ea typeface="Aptos"/>
                <a:cs typeface="Aptos"/>
              </a:defRPr>
            </a:lvl2pPr>
            <a:lvl3pPr>
              <a:buNone/>
              <a:defRPr sz="2325" b="0">
                <a:solidFill>
                  <a:srgbClr val="17365D"/>
                </a:solidFill>
                <a:latin typeface="Aptos"/>
                <a:ea typeface="Aptos"/>
                <a:cs typeface="Aptos"/>
              </a:defRPr>
            </a:lvl3pPr>
            <a:lvl4pPr>
              <a:buNone/>
              <a:defRPr sz="2325" b="0">
                <a:solidFill>
                  <a:srgbClr val="17365D"/>
                </a:solidFill>
                <a:latin typeface="Aptos"/>
                <a:ea typeface="Aptos"/>
                <a:cs typeface="Aptos"/>
              </a:defRPr>
            </a:lvl4pPr>
            <a:lvl5pPr>
              <a:buNone/>
              <a:defRPr sz="2325" b="0">
                <a:solidFill>
                  <a:srgbClr val="17365D"/>
                </a:solidFill>
                <a:latin typeface="Aptos"/>
                <a:ea typeface="Aptos"/>
                <a:cs typeface="Aptos"/>
              </a:defRPr>
            </a:lvl5pPr>
            <a:lvl6pPr>
              <a:buNone/>
              <a:defRPr sz="2325" b="0">
                <a:solidFill>
                  <a:srgbClr val="17365D"/>
                </a:solidFill>
                <a:latin typeface="Aptos"/>
                <a:ea typeface="Aptos"/>
                <a:cs typeface="Aptos"/>
              </a:defRPr>
            </a:lvl6pPr>
            <a:lvl7pPr>
              <a:buNone/>
              <a:defRPr sz="2325" b="0">
                <a:solidFill>
                  <a:srgbClr val="17365D"/>
                </a:solidFill>
                <a:latin typeface="Aptos"/>
                <a:ea typeface="Aptos"/>
                <a:cs typeface="Aptos"/>
              </a:defRPr>
            </a:lvl7pPr>
            <a:lvl8pPr>
              <a:buNone/>
              <a:defRPr sz="2325" b="0">
                <a:solidFill>
                  <a:srgbClr val="17365D"/>
                </a:solidFill>
                <a:latin typeface="Aptos"/>
                <a:ea typeface="Aptos"/>
                <a:cs typeface="Aptos"/>
              </a:defRPr>
            </a:lvl8pPr>
            <a:lvl9pPr>
              <a:buNone/>
              <a:defRPr sz="2325" b="0">
                <a:solidFill>
                  <a:srgbClr val="17365D"/>
                </a:solidFill>
                <a:latin typeface="Aptos"/>
                <a:ea typeface="Aptos"/>
                <a:cs typeface="Aptos"/>
              </a:defRPr>
            </a:lvl9pPr>
          </a:lstStyle>
          <a:p>
            <a:pPr>
              <a:buNone/>
              <a:defRPr sz="2325" b="0">
                <a:solidFill>
                  <a:srgbClr val="17365D"/>
                </a:solidFill>
                <a:latin typeface="Aptos"/>
                <a:ea typeface="Aptos"/>
                <a:cs typeface="Aptos"/>
              </a:defRPr>
            </a:pPr>
            <a:r>
              <a:rPr sz="2325" b="0">
                <a:solidFill>
                  <a:srgbClr val="17365D"/>
                </a:solidFill>
                <a:latin typeface="Aptos"/>
                <a:ea typeface="Aptos"/>
                <a:cs typeface="Aptos"/>
              </a:rPr>
              <a:t>The orders change. The model and its target probability stay the same.</a:t>
            </a:r>
          </a:p>
        </p:txBody>
      </p:sp>
      <p:sp>
        <p:nvSpPr>
          <p:cNvPr id="9" name="text-8">
            <a:extLst>
              <a:ext uri="{FF2B5EF4-FFF2-40B4-BE49-F238E27FC236}">
                <a16:creationId xmlns:a16="http://schemas.microsoft.com/office/drawing/2014/main" id="{D88B6F06-456B-41FA-A738-A9B48AEB37F9}"/>
              </a:ext>
            </a:extLst>
          </p:cNvPr>
          <p:cNvSpPr>
            <a:spLocks noGrp="1"/>
          </p:cNvSpPr>
          <p:nvPr/>
        </p:nvSpPr>
        <p:spPr>
          <a:xfrm>
            <a:off x="857250" y="5524500"/>
            <a:ext cx="10477500" cy="714375"/>
          </a:xfrm>
          <a:prstGeom prst="rect">
            <a:avLst/>
          </a:prstGeom>
          <a:noFill/>
          <a:ln w="0">
            <a:noFill/>
          </a:ln>
        </p:spPr>
        <p:txBody>
          <a:bodyPr wrap="square" lIns="0" tIns="0" rIns="0" bIns="0" anchor="t">
            <a:noAutofit/>
          </a:bodyPr>
          <a:lstStyle>
            <a:lvl1pPr>
              <a:buNone/>
              <a:defRPr sz="2325" b="0">
                <a:solidFill>
                  <a:srgbClr val="17365D"/>
                </a:solidFill>
                <a:latin typeface="Aptos"/>
                <a:ea typeface="Aptos"/>
                <a:cs typeface="Aptos"/>
              </a:defRPr>
            </a:lvl1pPr>
            <a:lvl2pPr>
              <a:buNone/>
              <a:defRPr sz="2325" b="0">
                <a:solidFill>
                  <a:srgbClr val="17365D"/>
                </a:solidFill>
                <a:latin typeface="Aptos"/>
                <a:ea typeface="Aptos"/>
                <a:cs typeface="Aptos"/>
              </a:defRPr>
            </a:lvl2pPr>
            <a:lvl3pPr>
              <a:buNone/>
              <a:defRPr sz="2325" b="0">
                <a:solidFill>
                  <a:srgbClr val="17365D"/>
                </a:solidFill>
                <a:latin typeface="Aptos"/>
                <a:ea typeface="Aptos"/>
                <a:cs typeface="Aptos"/>
              </a:defRPr>
            </a:lvl3pPr>
            <a:lvl4pPr>
              <a:buNone/>
              <a:defRPr sz="2325" b="0">
                <a:solidFill>
                  <a:srgbClr val="17365D"/>
                </a:solidFill>
                <a:latin typeface="Aptos"/>
                <a:ea typeface="Aptos"/>
                <a:cs typeface="Aptos"/>
              </a:defRPr>
            </a:lvl4pPr>
            <a:lvl5pPr>
              <a:buNone/>
              <a:defRPr sz="2325" b="0">
                <a:solidFill>
                  <a:srgbClr val="17365D"/>
                </a:solidFill>
                <a:latin typeface="Aptos"/>
                <a:ea typeface="Aptos"/>
                <a:cs typeface="Aptos"/>
              </a:defRPr>
            </a:lvl5pPr>
            <a:lvl6pPr>
              <a:buNone/>
              <a:defRPr sz="2325" b="0">
                <a:solidFill>
                  <a:srgbClr val="17365D"/>
                </a:solidFill>
                <a:latin typeface="Aptos"/>
                <a:ea typeface="Aptos"/>
                <a:cs typeface="Aptos"/>
              </a:defRPr>
            </a:lvl6pPr>
            <a:lvl7pPr>
              <a:buNone/>
              <a:defRPr sz="2325" b="0">
                <a:solidFill>
                  <a:srgbClr val="17365D"/>
                </a:solidFill>
                <a:latin typeface="Aptos"/>
                <a:ea typeface="Aptos"/>
                <a:cs typeface="Aptos"/>
              </a:defRPr>
            </a:lvl7pPr>
            <a:lvl8pPr>
              <a:buNone/>
              <a:defRPr sz="2325" b="0">
                <a:solidFill>
                  <a:srgbClr val="17365D"/>
                </a:solidFill>
                <a:latin typeface="Aptos"/>
                <a:ea typeface="Aptos"/>
                <a:cs typeface="Aptos"/>
              </a:defRPr>
            </a:lvl8pPr>
            <a:lvl9pPr>
              <a:buNone/>
              <a:defRPr sz="2325" b="0">
                <a:solidFill>
                  <a:srgbClr val="17365D"/>
                </a:solidFill>
                <a:latin typeface="Aptos"/>
                <a:ea typeface="Aptos"/>
                <a:cs typeface="Aptos"/>
              </a:defRPr>
            </a:lvl9pPr>
          </a:lstStyle>
          <a:p>
            <a:pPr>
              <a:buNone/>
              <a:defRPr sz="2325" b="0">
                <a:solidFill>
                  <a:srgbClr val="17365D"/>
                </a:solidFill>
                <a:latin typeface="Aptos"/>
                <a:ea typeface="Aptos"/>
                <a:cs typeface="Aptos"/>
              </a:defRPr>
            </a:pPr>
            <a:r>
              <a:rPr sz="2325" b="0">
                <a:solidFill>
                  <a:srgbClr val="17365D"/>
                </a:solidFill>
                <a:latin typeface="Aptos"/>
                <a:ea typeface="Aptos"/>
                <a:cs typeface="Aptos"/>
              </a:rPr>
              <a:t>More independent mornings usually mean smaller differences between runs.</a:t>
            </a:r>
          </a:p>
        </p:txBody>
      </p:sp>
      <p:sp>
        <p:nvSpPr>
          <p:cNvPr id="11" name="notebook-cue-slide-16">
            <a:extLst>
              <a:ext uri="{FF2B5EF4-FFF2-40B4-BE49-F238E27FC236}">
                <a16:creationId xmlns:a16="http://schemas.microsoft.com/office/drawing/2014/main" id="{196F0C70-1D60-46E9-B940-89E3F89558F8}"/>
              </a:ext>
            </a:extLst>
          </p:cNvPr>
          <p:cNvSpPr>
            <a:spLocks noGrp="1"/>
          </p:cNvSpPr>
          <p:nvPr/>
        </p:nvSpPr>
        <p:spPr>
          <a:xfrm>
            <a:off x="2952750" y="6429375"/>
            <a:ext cx="7620000" cy="295275"/>
          </a:xfrm>
          <a:prstGeom prst="rect">
            <a:avLst/>
          </a:prstGeom>
          <a:noFill/>
          <a:ln w="0">
            <a:noFill/>
          </a:ln>
        </p:spPr>
        <p:txBody>
          <a:bodyPr wrap="none" lIns="0" tIns="0" rIns="0" bIns="0" anchor="ctr">
            <a:noAutofit/>
          </a:bodyPr>
          <a:lstStyle>
            <a:defPPr algn="ctr">
              <a:defRPr sz="1650" b="1">
                <a:solidFill>
                  <a:srgbClr val="2F6F4E"/>
                </a:solidFill>
                <a:latin typeface="Aptos"/>
                <a:ea typeface="Aptos"/>
                <a:cs typeface="Aptos"/>
              </a:defRPr>
            </a:defPPr>
            <a:lvl1pPr algn="ctr">
              <a:defRPr sz="1650" b="1">
                <a:solidFill>
                  <a:srgbClr val="2F6F4E"/>
                </a:solidFill>
                <a:latin typeface="Aptos"/>
                <a:ea typeface="Aptos"/>
                <a:cs typeface="Aptos"/>
              </a:defRPr>
            </a:lvl1pPr>
            <a:lvl2pPr algn="ctr">
              <a:defRPr sz="1650" b="1">
                <a:solidFill>
                  <a:srgbClr val="2F6F4E"/>
                </a:solidFill>
                <a:latin typeface="Aptos"/>
                <a:ea typeface="Aptos"/>
                <a:cs typeface="Aptos"/>
              </a:defRPr>
            </a:lvl2pPr>
            <a:lvl3pPr algn="ctr">
              <a:defRPr sz="1650" b="1">
                <a:solidFill>
                  <a:srgbClr val="2F6F4E"/>
                </a:solidFill>
                <a:latin typeface="Aptos"/>
                <a:ea typeface="Aptos"/>
                <a:cs typeface="Aptos"/>
              </a:defRPr>
            </a:lvl3pPr>
            <a:lvl4pPr algn="ctr">
              <a:defRPr sz="1650" b="1">
                <a:solidFill>
                  <a:srgbClr val="2F6F4E"/>
                </a:solidFill>
                <a:latin typeface="Aptos"/>
                <a:ea typeface="Aptos"/>
                <a:cs typeface="Aptos"/>
              </a:defRPr>
            </a:lvl4pPr>
            <a:lvl5pPr algn="ctr">
              <a:defRPr sz="1650" b="1">
                <a:solidFill>
                  <a:srgbClr val="2F6F4E"/>
                </a:solidFill>
                <a:latin typeface="Aptos"/>
                <a:ea typeface="Aptos"/>
                <a:cs typeface="Aptos"/>
              </a:defRPr>
            </a:lvl5pPr>
            <a:lvl6pPr algn="ctr">
              <a:defRPr sz="1650" b="1">
                <a:solidFill>
                  <a:srgbClr val="2F6F4E"/>
                </a:solidFill>
                <a:latin typeface="Aptos"/>
                <a:ea typeface="Aptos"/>
                <a:cs typeface="Aptos"/>
              </a:defRPr>
            </a:lvl6pPr>
            <a:lvl7pPr algn="ctr">
              <a:defRPr sz="1650" b="1">
                <a:solidFill>
                  <a:srgbClr val="2F6F4E"/>
                </a:solidFill>
                <a:latin typeface="Aptos"/>
                <a:ea typeface="Aptos"/>
                <a:cs typeface="Aptos"/>
              </a:defRPr>
            </a:lvl7pPr>
            <a:lvl8pPr algn="ctr">
              <a:defRPr sz="1650" b="1">
                <a:solidFill>
                  <a:srgbClr val="2F6F4E"/>
                </a:solidFill>
                <a:latin typeface="Aptos"/>
                <a:ea typeface="Aptos"/>
                <a:cs typeface="Aptos"/>
              </a:defRPr>
            </a:lvl8pPr>
            <a:lvl9pPr algn="ctr">
              <a:defRPr sz="1650" b="1">
                <a:solidFill>
                  <a:srgbClr val="2F6F4E"/>
                </a:solidFill>
                <a:latin typeface="Aptos"/>
                <a:ea typeface="Aptos"/>
                <a:cs typeface="Aptos"/>
              </a:defRPr>
            </a:lvl9pPr>
          </a:lstStyle>
          <a:p>
            <a:pPr algn="ctr">
              <a:defRPr sz="1650" b="1">
                <a:solidFill>
                  <a:srgbClr val="2F6F4E"/>
                </a:solidFill>
                <a:latin typeface="Aptos"/>
                <a:ea typeface="Aptos"/>
                <a:cs typeface="Aptos"/>
              </a:defRPr>
            </a:pPr>
            <a:r>
              <a:rPr sz="1650" b="1">
                <a:solidFill>
                  <a:srgbClr val="2F6F4E"/>
                </a:solidFill>
                <a:latin typeface="Aptos"/>
                <a:ea typeface="Aptos"/>
                <a:cs typeface="Aptos"/>
              </a:rPr>
              <a:t>Notebook: Slide 14 (change the seed)</a:t>
            </a:r>
          </a:p>
        </p:txBody>
      </p:sp>
    </p:spTree>
    <p:extLst>
      <p:ext uri="{BB962C8B-B14F-4D97-AF65-F5344CB8AC3E}">
        <p14:creationId xmlns:p14="http://schemas.microsoft.com/office/powerpoint/2010/main" val="276347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C487A072-00AD-4991-AB51-62AE89629BD2}"/>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The law of large numbers</a:t>
            </a:r>
          </a:p>
        </p:txBody>
      </p:sp>
      <p:sp>
        <p:nvSpPr>
          <p:cNvPr id="2" name="Straight Connector 1">
            <a:extLst>
              <a:ext uri="{FF2B5EF4-FFF2-40B4-BE49-F238E27FC236}">
                <a16:creationId xmlns:a16="http://schemas.microsoft.com/office/drawing/2014/main" id="{2F08A165-D684-4DBC-9A3D-32C722B177FF}"/>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D85F7D1F-8B9B-4EEA-9861-E3DF80C2B1C3}"/>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41EFF18A-3B76-400C-8F6A-F68D12C1B154}"/>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17</a:t>
            </a:r>
          </a:p>
        </p:txBody>
      </p:sp>
      <p:sp>
        <p:nvSpPr>
          <p:cNvPr id="5" name="text-4">
            <a:extLst>
              <a:ext uri="{FF2B5EF4-FFF2-40B4-BE49-F238E27FC236}">
                <a16:creationId xmlns:a16="http://schemas.microsoft.com/office/drawing/2014/main" id="{DFD45D7F-55DB-485C-AB62-C8D40E6A5DBF}"/>
              </a:ext>
            </a:extLst>
          </p:cNvPr>
          <p:cNvSpPr>
            <a:spLocks noGrp="1"/>
          </p:cNvSpPr>
          <p:nvPr/>
        </p:nvSpPr>
        <p:spPr>
          <a:xfrm>
            <a:off x="857250" y="1714500"/>
            <a:ext cx="10477500" cy="952500"/>
          </a:xfrm>
          <a:prstGeom prst="rect">
            <a:avLst/>
          </a:prstGeom>
          <a:noFill/>
          <a:ln w="0">
            <a:noFill/>
          </a:ln>
        </p:spPr>
        <p:txBody>
          <a:bodyPr wrap="square" lIns="0" tIns="0" rIns="0" bIns="0" anchor="t">
            <a:noAutofit/>
          </a:bodyPr>
          <a:lstStyle>
            <a:lvl1pPr>
              <a:buNone/>
              <a:defRPr sz="2550" b="0">
                <a:solidFill>
                  <a:srgbClr val="17365D"/>
                </a:solidFill>
                <a:latin typeface="Aptos"/>
                <a:ea typeface="Aptos"/>
                <a:cs typeface="Aptos"/>
              </a:defRPr>
            </a:lvl1pPr>
            <a:lvl2pPr>
              <a:buNone/>
              <a:defRPr sz="2550" b="0">
                <a:solidFill>
                  <a:srgbClr val="17365D"/>
                </a:solidFill>
                <a:latin typeface="Aptos"/>
                <a:ea typeface="Aptos"/>
                <a:cs typeface="Aptos"/>
              </a:defRPr>
            </a:lvl2pPr>
            <a:lvl3pPr>
              <a:buNone/>
              <a:defRPr sz="2550" b="0">
                <a:solidFill>
                  <a:srgbClr val="17365D"/>
                </a:solidFill>
                <a:latin typeface="Aptos"/>
                <a:ea typeface="Aptos"/>
                <a:cs typeface="Aptos"/>
              </a:defRPr>
            </a:lvl3pPr>
            <a:lvl4pPr>
              <a:buNone/>
              <a:defRPr sz="2550" b="0">
                <a:solidFill>
                  <a:srgbClr val="17365D"/>
                </a:solidFill>
                <a:latin typeface="Aptos"/>
                <a:ea typeface="Aptos"/>
                <a:cs typeface="Aptos"/>
              </a:defRPr>
            </a:lvl4pPr>
            <a:lvl5pPr>
              <a:buNone/>
              <a:defRPr sz="2550" b="0">
                <a:solidFill>
                  <a:srgbClr val="17365D"/>
                </a:solidFill>
                <a:latin typeface="Aptos"/>
                <a:ea typeface="Aptos"/>
                <a:cs typeface="Aptos"/>
              </a:defRPr>
            </a:lvl5pPr>
            <a:lvl6pPr>
              <a:buNone/>
              <a:defRPr sz="2550" b="0">
                <a:solidFill>
                  <a:srgbClr val="17365D"/>
                </a:solidFill>
                <a:latin typeface="Aptos"/>
                <a:ea typeface="Aptos"/>
                <a:cs typeface="Aptos"/>
              </a:defRPr>
            </a:lvl6pPr>
            <a:lvl7pPr>
              <a:buNone/>
              <a:defRPr sz="2550" b="0">
                <a:solidFill>
                  <a:srgbClr val="17365D"/>
                </a:solidFill>
                <a:latin typeface="Aptos"/>
                <a:ea typeface="Aptos"/>
                <a:cs typeface="Aptos"/>
              </a:defRPr>
            </a:lvl7pPr>
            <a:lvl8pPr>
              <a:buNone/>
              <a:defRPr sz="2550" b="0">
                <a:solidFill>
                  <a:srgbClr val="17365D"/>
                </a:solidFill>
                <a:latin typeface="Aptos"/>
                <a:ea typeface="Aptos"/>
                <a:cs typeface="Aptos"/>
              </a:defRPr>
            </a:lvl8pPr>
            <a:lvl9pPr>
              <a:buNone/>
              <a:defRPr sz="2550" b="0">
                <a:solidFill>
                  <a:srgbClr val="17365D"/>
                </a:solidFill>
                <a:latin typeface="Aptos"/>
                <a:ea typeface="Aptos"/>
                <a:cs typeface="Aptos"/>
              </a:defRPr>
            </a:lvl9pPr>
          </a:lstStyle>
          <a:p>
            <a:pPr>
              <a:buNone/>
              <a:defRPr sz="2550" b="0">
                <a:solidFill>
                  <a:srgbClr val="17365D"/>
                </a:solidFill>
                <a:latin typeface="Aptos"/>
                <a:ea typeface="Aptos"/>
                <a:cs typeface="Aptos"/>
              </a:defRPr>
            </a:pPr>
            <a:r>
              <a:rPr sz="2550" b="0">
                <a:solidFill>
                  <a:srgbClr val="17365D"/>
                </a:solidFill>
                <a:latin typeface="Aptos"/>
                <a:ea typeface="Aptos"/>
                <a:cs typeface="Aptos"/>
              </a:rPr>
              <a:t>As we average more independent trials, large errors become less likely.</a:t>
            </a:r>
          </a:p>
        </p:txBody>
      </p:sp>
      <mc:AlternateContent xmlns:mc="http://schemas.openxmlformats.org/markup-compatibility/2006">
        <mc:Choice xmlns:a14="http://schemas.microsoft.com/office/drawing/2010/main" Requires="a14">
          <p:sp>
            <p:nvSpPr>
              <p:cNvPr id="6" name="EQ_019">
                <a:extLst>
                  <a:ext uri="{FF2B5EF4-FFF2-40B4-BE49-F238E27FC236}">
                    <a16:creationId xmlns:a16="http://schemas.microsoft.com/office/drawing/2014/main" id="{E93E5839-F739-4E64-9ED0-9F2A322C311A}"/>
                  </a:ext>
                </a:extLst>
              </p:cNvPr>
              <p:cNvSpPr>
                <a:spLocks noGrp="1"/>
              </p:cNvSpPr>
              <p:nvPr/>
            </p:nvSpPr>
            <p:spPr>
              <a:xfrm>
                <a:off x="857250" y="3000375"/>
                <a:ext cx="10477500" cy="1000125"/>
              </a:xfrm>
              <a:prstGeom prst="rect">
                <a:avLst/>
              </a:prstGeom>
              <a:noFill/>
              <a:ln w="0">
                <a:noFill/>
              </a:ln>
            </p:spPr>
            <p:txBody>
              <a:bodyPr wrap="none" lIns="0" tIns="0" rIns="0" bIns="0" anchor="ctr">
                <a:noAutofit/>
              </a:bodyPr>
              <a:lstStyle>
                <a:lvl1pPr algn="l">
                  <a:buNone/>
                  <a:defRPr sz="3200">
                    <a:solidFill>
                      <a:srgbClr val="17365D"/>
                    </a:solidFill>
                    <a:latin typeface="Cambria Math"/>
                    <a:ea typeface="Cambria Math"/>
                    <a:cs typeface="Cambria Math"/>
                  </a:defRPr>
                </a:lvl1pPr>
                <a:lvl2pPr algn="l">
                  <a:buNone/>
                  <a:defRPr sz="3200">
                    <a:solidFill>
                      <a:srgbClr val="17365D"/>
                    </a:solidFill>
                    <a:latin typeface="Cambria Math"/>
                    <a:ea typeface="Cambria Math"/>
                    <a:cs typeface="Cambria Math"/>
                  </a:defRPr>
                </a:lvl2pPr>
                <a:lvl3pPr algn="l">
                  <a:buNone/>
                  <a:defRPr sz="3200">
                    <a:solidFill>
                      <a:srgbClr val="17365D"/>
                    </a:solidFill>
                    <a:latin typeface="Cambria Math"/>
                    <a:ea typeface="Cambria Math"/>
                    <a:cs typeface="Cambria Math"/>
                  </a:defRPr>
                </a:lvl3pPr>
                <a:lvl4pPr algn="l">
                  <a:buNone/>
                  <a:defRPr sz="3200">
                    <a:solidFill>
                      <a:srgbClr val="17365D"/>
                    </a:solidFill>
                    <a:latin typeface="Cambria Math"/>
                    <a:ea typeface="Cambria Math"/>
                    <a:cs typeface="Cambria Math"/>
                  </a:defRPr>
                </a:lvl4pPr>
                <a:lvl5pPr algn="l">
                  <a:buNone/>
                  <a:defRPr sz="3200">
                    <a:solidFill>
                      <a:srgbClr val="17365D"/>
                    </a:solidFill>
                    <a:latin typeface="Cambria Math"/>
                    <a:ea typeface="Cambria Math"/>
                    <a:cs typeface="Cambria Math"/>
                  </a:defRPr>
                </a:lvl5pPr>
                <a:lvl6pPr algn="l">
                  <a:buNone/>
                  <a:defRPr sz="3200">
                    <a:solidFill>
                      <a:srgbClr val="17365D"/>
                    </a:solidFill>
                    <a:latin typeface="Cambria Math"/>
                    <a:ea typeface="Cambria Math"/>
                    <a:cs typeface="Cambria Math"/>
                  </a:defRPr>
                </a:lvl6pPr>
                <a:lvl7pPr algn="l">
                  <a:buNone/>
                  <a:defRPr sz="3200">
                    <a:solidFill>
                      <a:srgbClr val="17365D"/>
                    </a:solidFill>
                    <a:latin typeface="Cambria Math"/>
                    <a:ea typeface="Cambria Math"/>
                    <a:cs typeface="Cambria Math"/>
                  </a:defRPr>
                </a:lvl7pPr>
                <a:lvl8pPr algn="l">
                  <a:buNone/>
                  <a:defRPr sz="3200">
                    <a:solidFill>
                      <a:srgbClr val="17365D"/>
                    </a:solidFill>
                    <a:latin typeface="Cambria Math"/>
                    <a:ea typeface="Cambria Math"/>
                    <a:cs typeface="Cambria Math"/>
                  </a:defRPr>
                </a:lvl8pPr>
                <a:lvl9pPr algn="l">
                  <a:buNone/>
                  <a:defRPr sz="3200">
                    <a:solidFill>
                      <a:srgbClr val="17365D"/>
                    </a:solidFill>
                    <a:latin typeface="Cambria Math"/>
                    <a:ea typeface="Cambria Math"/>
                    <a:cs typeface="Cambria Math"/>
                  </a:defRPr>
                </a:lvl9pPr>
              </a:lstStyle>
              <a:p>
                <a:pPr>
                  <a:buNone/>
                  <a:defRPr sz="3200">
                    <a:solidFill>
                      <a:srgbClr val="17365D"/>
                    </a:solidFill>
                  </a:defRPr>
                </a:pPr>
                <a14:m>
                  <m:oMathPara xmlns:m="http://schemas.openxmlformats.org/officeDocument/2006/math">
                    <m:oMath>
                      <m:sSub>
                        <m:sSubPr>
                          <m:ctrlPr>
                            <a:rPr>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𝜃</m:t>
                              </m:r>
                            </m:e>
                          </m:acc>
                        </m:e>
                        <m:sub>
                          <m:r>
                            <a:rPr>
                              <a:latin typeface="Cambria Math" panose="02040503050406030204" pitchFamily="18" charset="0"/>
                            </a:rPr>
                            <m:t>𝑁</m:t>
                          </m:r>
                        </m:sub>
                      </m:sSub>
                      <m:r>
                        <a:rPr>
                          <a:latin typeface="Cambria Math" panose="02040503050406030204" pitchFamily="18" charset="0"/>
                        </a:rPr>
                        <m:t>→</m:t>
                      </m:r>
                      <m:r>
                        <a:rPr>
                          <a:latin typeface="Cambria Math" panose="02040503050406030204" pitchFamily="18" charset="0"/>
                        </a:rPr>
                        <m:t>𝜃</m:t>
                      </m:r>
                      <m:r>
                        <a:rPr>
                          <a:latin typeface="Cambria Math" panose="02040503050406030204" pitchFamily="18" charset="0"/>
                        </a:rPr>
                        <m:t>   </m:t>
                      </m:r>
                      <m:r>
                        <a:rPr>
                          <a:latin typeface="Cambria Math" panose="02040503050406030204" pitchFamily="18" charset="0"/>
                        </a:rPr>
                        <m:t>𝑖𝑛</m:t>
                      </m:r>
                      <m:r>
                        <a:rPr>
                          <a:latin typeface="Cambria Math" panose="02040503050406030204" pitchFamily="18" charset="0"/>
                        </a:rPr>
                        <m:t> </m:t>
                      </m:r>
                      <m:r>
                        <a:rPr>
                          <a:latin typeface="Cambria Math" panose="02040503050406030204" pitchFamily="18" charset="0"/>
                        </a:rPr>
                        <m:t>𝑝𝑟𝑜𝑏𝑎𝑏𝑖𝑙𝑖𝑡𝑦</m:t>
                      </m:r>
                      <m:r>
                        <a:rPr>
                          <a:latin typeface="Cambria Math" panose="02040503050406030204" pitchFamily="18" charset="0"/>
                        </a:rPr>
                        <m:t> </m:t>
                      </m:r>
                      <m:r>
                        <a:rPr>
                          <a:latin typeface="Cambria Math" panose="02040503050406030204" pitchFamily="18" charset="0"/>
                        </a:rPr>
                        <m:t>𝑎𝑠</m:t>
                      </m:r>
                      <m:r>
                        <a:rPr>
                          <a:latin typeface="Cambria Math" panose="02040503050406030204" pitchFamily="18" charset="0"/>
                        </a:rPr>
                        <m:t>   </m:t>
                      </m:r>
                      <m:r>
                        <a:rPr>
                          <a:latin typeface="Cambria Math" panose="02040503050406030204" pitchFamily="18" charset="0"/>
                        </a:rPr>
                        <m:t>𝑁</m:t>
                      </m:r>
                      <m:r>
                        <a:rPr>
                          <a:latin typeface="Cambria Math" panose="02040503050406030204" pitchFamily="18" charset="0"/>
                        </a:rPr>
                        <m:t>→∞</m:t>
                      </m:r>
                    </m:oMath>
                  </m:oMathPara>
                </a14:m>
                <a:endParaRPr/>
              </a:p>
            </p:txBody>
          </p:sp>
        </mc:Choice>
        <mc:Fallback>
          <p:sp>
            <p:nvSpPr>
              <p:cNvPr id="6" name="EQ_019">
                <a:extLst>
                  <a:ext uri="{FF2B5EF4-FFF2-40B4-BE49-F238E27FC236}">
                    <a16:creationId xmlns:a16="http://schemas.microsoft.com/office/drawing/2014/main" id="{E93E5839-F739-4E64-9ED0-9F2A322C311A}"/>
                  </a:ext>
                </a:extLst>
              </p:cNvPr>
              <p:cNvSpPr>
                <a:spLocks noGrp="1" noRot="1" noChangeAspect="1" noMove="1" noResize="1" noEditPoints="1" noAdjustHandles="1" noChangeArrowheads="1" noChangeShapeType="1" noTextEdit="1"/>
              </p:cNvSpPr>
              <p:nvPr/>
            </p:nvSpPr>
            <p:spPr>
              <a:xfrm>
                <a:off x="857250" y="3000375"/>
                <a:ext cx="10477500" cy="1000125"/>
              </a:xfrm>
              <a:prstGeom prst="rect">
                <a:avLst/>
              </a:prstGeom>
              <a:blipFill>
                <a:blip r:embed="rId3"/>
                <a:stretch>
                  <a:fillRect/>
                </a:stretch>
              </a:blipFill>
              <a:ln w="0">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7" name="EQ_020">
                <a:extLst>
                  <a:ext uri="{FF2B5EF4-FFF2-40B4-BE49-F238E27FC236}">
                    <a16:creationId xmlns:a16="http://schemas.microsoft.com/office/drawing/2014/main" id="{74F666DD-8B64-48AC-96F9-1B39F9866360}"/>
                  </a:ext>
                </a:extLst>
              </p:cNvPr>
              <p:cNvSpPr>
                <a:spLocks noGrp="1"/>
              </p:cNvSpPr>
              <p:nvPr/>
            </p:nvSpPr>
            <p:spPr>
              <a:xfrm>
                <a:off x="857250" y="4267200"/>
                <a:ext cx="10477500" cy="1047750"/>
              </a:xfrm>
              <a:prstGeom prst="rect">
                <a:avLst/>
              </a:prstGeom>
              <a:noFill/>
              <a:ln w="0">
                <a:noFill/>
              </a:ln>
            </p:spPr>
            <p:txBody>
              <a:bodyPr wrap="none" lIns="0" tIns="0" rIns="0" bIns="0" anchor="ctr">
                <a:noAutofit/>
              </a:bodyPr>
              <a:lstStyle>
                <a:lvl1pPr algn="l">
                  <a:buNone/>
                  <a:defRPr sz="2800">
                    <a:solidFill>
                      <a:srgbClr val="17365D"/>
                    </a:solidFill>
                    <a:latin typeface="Cambria Math"/>
                    <a:ea typeface="Cambria Math"/>
                    <a:cs typeface="Cambria Math"/>
                  </a:defRPr>
                </a:lvl1pPr>
                <a:lvl2pPr algn="l">
                  <a:buNone/>
                  <a:defRPr sz="2800">
                    <a:solidFill>
                      <a:srgbClr val="17365D"/>
                    </a:solidFill>
                    <a:latin typeface="Cambria Math"/>
                    <a:ea typeface="Cambria Math"/>
                    <a:cs typeface="Cambria Math"/>
                  </a:defRPr>
                </a:lvl2pPr>
                <a:lvl3pPr algn="l">
                  <a:buNone/>
                  <a:defRPr sz="2800">
                    <a:solidFill>
                      <a:srgbClr val="17365D"/>
                    </a:solidFill>
                    <a:latin typeface="Cambria Math"/>
                    <a:ea typeface="Cambria Math"/>
                    <a:cs typeface="Cambria Math"/>
                  </a:defRPr>
                </a:lvl3pPr>
                <a:lvl4pPr algn="l">
                  <a:buNone/>
                  <a:defRPr sz="2800">
                    <a:solidFill>
                      <a:srgbClr val="17365D"/>
                    </a:solidFill>
                    <a:latin typeface="Cambria Math"/>
                    <a:ea typeface="Cambria Math"/>
                    <a:cs typeface="Cambria Math"/>
                  </a:defRPr>
                </a:lvl4pPr>
                <a:lvl5pPr algn="l">
                  <a:buNone/>
                  <a:defRPr sz="2800">
                    <a:solidFill>
                      <a:srgbClr val="17365D"/>
                    </a:solidFill>
                    <a:latin typeface="Cambria Math"/>
                    <a:ea typeface="Cambria Math"/>
                    <a:cs typeface="Cambria Math"/>
                  </a:defRPr>
                </a:lvl5pPr>
                <a:lvl6pPr algn="l">
                  <a:buNone/>
                  <a:defRPr sz="2800">
                    <a:solidFill>
                      <a:srgbClr val="17365D"/>
                    </a:solidFill>
                    <a:latin typeface="Cambria Math"/>
                    <a:ea typeface="Cambria Math"/>
                    <a:cs typeface="Cambria Math"/>
                  </a:defRPr>
                </a:lvl6pPr>
                <a:lvl7pPr algn="l">
                  <a:buNone/>
                  <a:defRPr sz="2800">
                    <a:solidFill>
                      <a:srgbClr val="17365D"/>
                    </a:solidFill>
                    <a:latin typeface="Cambria Math"/>
                    <a:ea typeface="Cambria Math"/>
                    <a:cs typeface="Cambria Math"/>
                  </a:defRPr>
                </a:lvl7pPr>
                <a:lvl8pPr algn="l">
                  <a:buNone/>
                  <a:defRPr sz="2800">
                    <a:solidFill>
                      <a:srgbClr val="17365D"/>
                    </a:solidFill>
                    <a:latin typeface="Cambria Math"/>
                    <a:ea typeface="Cambria Math"/>
                    <a:cs typeface="Cambria Math"/>
                  </a:defRPr>
                </a:lvl8pPr>
                <a:lvl9pPr algn="l">
                  <a:buNone/>
                  <a:defRPr sz="2800">
                    <a:solidFill>
                      <a:srgbClr val="17365D"/>
                    </a:solidFill>
                    <a:latin typeface="Cambria Math"/>
                    <a:ea typeface="Cambria Math"/>
                    <a:cs typeface="Cambria Math"/>
                  </a:defRPr>
                </a:lvl9pPr>
              </a:lstStyle>
              <a:p>
                <a:pPr>
                  <a:buNone/>
                  <a:defRPr sz="2800">
                    <a:solidFill>
                      <a:srgbClr val="17365D"/>
                    </a:solidFill>
                  </a:defRPr>
                </a:pPr>
                <a14:m>
                  <m:oMathPara xmlns:m="http://schemas.openxmlformats.org/officeDocument/2006/math">
                    <m:oMath>
                      <m:r>
                        <a:rPr>
                          <a:latin typeface="Cambria Math" panose="02040503050406030204" pitchFamily="18" charset="0"/>
                        </a:rPr>
                        <m:t>𝑃</m:t>
                      </m:r>
                      <m:d>
                        <m:dPr>
                          <m:ctrlPr>
                            <a:rPr>
                              <a:latin typeface="Cambria Math" panose="02040503050406030204" pitchFamily="18" charset="0"/>
                            </a:rPr>
                          </m:ctrlPr>
                        </m:dPr>
                        <m:e>
                          <m:r>
                            <a:rPr>
                              <a:latin typeface="Cambria Math" panose="02040503050406030204" pitchFamily="18" charset="0"/>
                            </a:rPr>
                            <m:t>|</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𝜃</m:t>
                                  </m:r>
                                </m:e>
                              </m:acc>
                            </m:e>
                            <m:sub>
                              <m:r>
                                <a:rPr>
                                  <a:latin typeface="Cambria Math" panose="02040503050406030204" pitchFamily="18" charset="0"/>
                                </a:rPr>
                                <m:t>𝑁</m:t>
                              </m:r>
                            </m:sub>
                          </m:sSub>
                          <m:r>
                            <a:rPr>
                              <a:latin typeface="Cambria Math" panose="02040503050406030204" pitchFamily="18" charset="0"/>
                            </a:rPr>
                            <m:t>−</m:t>
                          </m:r>
                          <m:r>
                            <a:rPr>
                              <a:latin typeface="Cambria Math" panose="02040503050406030204" pitchFamily="18" charset="0"/>
                            </a:rPr>
                            <m:t>𝜃</m:t>
                          </m:r>
                          <m:r>
                            <a:rPr>
                              <a:latin typeface="Cambria Math" panose="02040503050406030204" pitchFamily="18" charset="0"/>
                            </a:rPr>
                            <m:t>|&gt;</m:t>
                          </m:r>
                          <m:r>
                            <a:rPr>
                              <a:latin typeface="Cambria Math" panose="02040503050406030204" pitchFamily="18" charset="0"/>
                            </a:rPr>
                            <m:t>𝜀</m:t>
                          </m:r>
                        </m:e>
                      </m:d>
                      <m:r>
                        <a:rPr>
                          <a:latin typeface="Cambria Math" panose="02040503050406030204" pitchFamily="18" charset="0"/>
                        </a:rPr>
                        <m:t>→0   </m:t>
                      </m:r>
                      <m:r>
                        <a:rPr>
                          <a:latin typeface="Cambria Math" panose="02040503050406030204" pitchFamily="18" charset="0"/>
                        </a:rPr>
                        <m:t>𝑓𝑜𝑟</m:t>
                      </m:r>
                      <m:r>
                        <a:rPr>
                          <a:latin typeface="Cambria Math" panose="02040503050406030204" pitchFamily="18" charset="0"/>
                        </a:rPr>
                        <m:t> </m:t>
                      </m:r>
                      <m:r>
                        <a:rPr>
                          <a:latin typeface="Cambria Math" panose="02040503050406030204" pitchFamily="18" charset="0"/>
                        </a:rPr>
                        <m:t>𝑒𝑣𝑒𝑟𝑦</m:t>
                      </m:r>
                      <m:r>
                        <a:rPr>
                          <a:latin typeface="Cambria Math" panose="02040503050406030204" pitchFamily="18" charset="0"/>
                        </a:rPr>
                        <m:t> </m:t>
                      </m:r>
                      <m:r>
                        <a:rPr>
                          <a:latin typeface="Cambria Math" panose="02040503050406030204" pitchFamily="18" charset="0"/>
                        </a:rPr>
                        <m:t>𝜀</m:t>
                      </m:r>
                      <m:r>
                        <a:rPr>
                          <a:latin typeface="Cambria Math" panose="02040503050406030204" pitchFamily="18" charset="0"/>
                        </a:rPr>
                        <m:t> &gt; 0</m:t>
                      </m:r>
                    </m:oMath>
                  </m:oMathPara>
                </a14:m>
                <a:endParaRPr/>
              </a:p>
            </p:txBody>
          </p:sp>
        </mc:Choice>
        <mc:Fallback>
          <p:sp>
            <p:nvSpPr>
              <p:cNvPr id="7" name="EQ_020">
                <a:extLst>
                  <a:ext uri="{FF2B5EF4-FFF2-40B4-BE49-F238E27FC236}">
                    <a16:creationId xmlns:a16="http://schemas.microsoft.com/office/drawing/2014/main" id="{74F666DD-8B64-48AC-96F9-1B39F9866360}"/>
                  </a:ext>
                </a:extLst>
              </p:cNvPr>
              <p:cNvSpPr>
                <a:spLocks noGrp="1" noRot="1" noChangeAspect="1" noMove="1" noResize="1" noEditPoints="1" noAdjustHandles="1" noChangeArrowheads="1" noChangeShapeType="1" noTextEdit="1"/>
              </p:cNvSpPr>
              <p:nvPr/>
            </p:nvSpPr>
            <p:spPr>
              <a:xfrm>
                <a:off x="857250" y="4267200"/>
                <a:ext cx="10477500" cy="1047750"/>
              </a:xfrm>
              <a:prstGeom prst="rect">
                <a:avLst/>
              </a:prstGeom>
              <a:blipFill>
                <a:blip r:embed="rId4"/>
                <a:stretch>
                  <a:fillRect/>
                </a:stretch>
              </a:blipFill>
              <a:ln w="0">
                <a:noFill/>
              </a:ln>
            </p:spPr>
            <p:txBody>
              <a:bodyPr/>
              <a:lstStyle/>
              <a:p>
                <a:r>
                  <a:rPr lang="en-GB">
                    <a:noFill/>
                  </a:rPr>
                  <a:t> </a:t>
                </a:r>
              </a:p>
            </p:txBody>
          </p:sp>
        </mc:Fallback>
      </mc:AlternateContent>
      <p:sp>
        <p:nvSpPr>
          <p:cNvPr id="8" name="text-7">
            <a:extLst>
              <a:ext uri="{FF2B5EF4-FFF2-40B4-BE49-F238E27FC236}">
                <a16:creationId xmlns:a16="http://schemas.microsoft.com/office/drawing/2014/main" id="{09BFF81C-8BF2-4D47-AB0E-2A506FFB3ACA}"/>
              </a:ext>
            </a:extLst>
          </p:cNvPr>
          <p:cNvSpPr>
            <a:spLocks noGrp="1"/>
          </p:cNvSpPr>
          <p:nvPr/>
        </p:nvSpPr>
        <p:spPr>
          <a:xfrm>
            <a:off x="857250" y="5676900"/>
            <a:ext cx="10477500" cy="647700"/>
          </a:xfrm>
          <a:prstGeom prst="rect">
            <a:avLst/>
          </a:prstGeom>
          <a:noFill/>
          <a:ln w="0">
            <a:noFill/>
          </a:ln>
        </p:spPr>
        <p:txBody>
          <a:bodyPr wrap="square" lIns="0" tIns="0" rIns="0" bIns="0" anchor="t">
            <a:noAutofit/>
          </a:bodyPr>
          <a:lstStyle>
            <a:lvl1pPr>
              <a:buNone/>
              <a:defRPr sz="1950" b="0">
                <a:solidFill>
                  <a:srgbClr val="526171"/>
                </a:solidFill>
                <a:latin typeface="Aptos"/>
                <a:ea typeface="Aptos"/>
                <a:cs typeface="Aptos"/>
              </a:defRPr>
            </a:lvl1pPr>
            <a:lvl2pPr>
              <a:buNone/>
              <a:defRPr sz="1950" b="0">
                <a:solidFill>
                  <a:srgbClr val="526171"/>
                </a:solidFill>
                <a:latin typeface="Aptos"/>
                <a:ea typeface="Aptos"/>
                <a:cs typeface="Aptos"/>
              </a:defRPr>
            </a:lvl2pPr>
            <a:lvl3pPr>
              <a:buNone/>
              <a:defRPr sz="1950" b="0">
                <a:solidFill>
                  <a:srgbClr val="526171"/>
                </a:solidFill>
                <a:latin typeface="Aptos"/>
                <a:ea typeface="Aptos"/>
                <a:cs typeface="Aptos"/>
              </a:defRPr>
            </a:lvl3pPr>
            <a:lvl4pPr>
              <a:buNone/>
              <a:defRPr sz="1950" b="0">
                <a:solidFill>
                  <a:srgbClr val="526171"/>
                </a:solidFill>
                <a:latin typeface="Aptos"/>
                <a:ea typeface="Aptos"/>
                <a:cs typeface="Aptos"/>
              </a:defRPr>
            </a:lvl4pPr>
            <a:lvl5pPr>
              <a:buNone/>
              <a:defRPr sz="1950" b="0">
                <a:solidFill>
                  <a:srgbClr val="526171"/>
                </a:solidFill>
                <a:latin typeface="Aptos"/>
                <a:ea typeface="Aptos"/>
                <a:cs typeface="Aptos"/>
              </a:defRPr>
            </a:lvl5pPr>
            <a:lvl6pPr>
              <a:buNone/>
              <a:defRPr sz="1950" b="0">
                <a:solidFill>
                  <a:srgbClr val="526171"/>
                </a:solidFill>
                <a:latin typeface="Aptos"/>
                <a:ea typeface="Aptos"/>
                <a:cs typeface="Aptos"/>
              </a:defRPr>
            </a:lvl6pPr>
            <a:lvl7pPr>
              <a:buNone/>
              <a:defRPr sz="1950" b="0">
                <a:solidFill>
                  <a:srgbClr val="526171"/>
                </a:solidFill>
                <a:latin typeface="Aptos"/>
                <a:ea typeface="Aptos"/>
                <a:cs typeface="Aptos"/>
              </a:defRPr>
            </a:lvl7pPr>
            <a:lvl8pPr>
              <a:buNone/>
              <a:defRPr sz="1950" b="0">
                <a:solidFill>
                  <a:srgbClr val="526171"/>
                </a:solidFill>
                <a:latin typeface="Aptos"/>
                <a:ea typeface="Aptos"/>
                <a:cs typeface="Aptos"/>
              </a:defRPr>
            </a:lvl8pPr>
            <a:lvl9pPr>
              <a:buNone/>
              <a:defRPr sz="1950" b="0">
                <a:solidFill>
                  <a:srgbClr val="526171"/>
                </a:solidFill>
                <a:latin typeface="Aptos"/>
                <a:ea typeface="Aptos"/>
                <a:cs typeface="Aptos"/>
              </a:defRPr>
            </a:lvl9pPr>
          </a:lstStyle>
          <a:p>
            <a:pPr>
              <a:buNone/>
              <a:defRPr sz="1950" b="0">
                <a:solidFill>
                  <a:srgbClr val="526171"/>
                </a:solidFill>
                <a:latin typeface="Aptos"/>
                <a:ea typeface="Aptos"/>
                <a:cs typeface="Aptos"/>
              </a:defRPr>
            </a:pPr>
            <a:r>
              <a:rPr sz="1950" b="0">
                <a:solidFill>
                  <a:srgbClr val="526171"/>
                </a:solidFill>
                <a:latin typeface="Aptos"/>
                <a:ea typeface="Aptos"/>
                <a:cs typeface="Aptos"/>
              </a:rPr>
              <a:t>ε is any positive error tolerance. Assume i.i.d. outputs with E[|Y|] &lt; ∞, meaning a finite expected absolute size.</a:t>
            </a:r>
          </a:p>
        </p:txBody>
      </p:sp>
    </p:spTree>
    <p:extLst>
      <p:ext uri="{BB962C8B-B14F-4D97-AF65-F5344CB8AC3E}">
        <p14:creationId xmlns:p14="http://schemas.microsoft.com/office/powerpoint/2010/main" val="10321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C3E9D547-FEEB-432E-A8D9-BA35A0F3F4E5}"/>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One growing simulation</a:t>
            </a:r>
          </a:p>
        </p:txBody>
      </p:sp>
      <p:sp>
        <p:nvSpPr>
          <p:cNvPr id="2" name="Straight Connector 1">
            <a:extLst>
              <a:ext uri="{FF2B5EF4-FFF2-40B4-BE49-F238E27FC236}">
                <a16:creationId xmlns:a16="http://schemas.microsoft.com/office/drawing/2014/main" id="{82696561-7652-45BB-A988-FF828019C228}"/>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7059F21F-CE7B-40A4-BE07-D5CEDFFAF2EE}"/>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FD1BB183-BD57-4764-B24F-D8252DBA5CD5}"/>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18</a:t>
            </a:r>
          </a:p>
        </p:txBody>
      </p:sp>
      <p:sp>
        <p:nvSpPr>
          <p:cNvPr id="5" name="text-4">
            <a:extLst>
              <a:ext uri="{FF2B5EF4-FFF2-40B4-BE49-F238E27FC236}">
                <a16:creationId xmlns:a16="http://schemas.microsoft.com/office/drawing/2014/main" id="{4698B27F-B332-42ED-A9EA-332735C5C9E9}"/>
              </a:ext>
            </a:extLst>
          </p:cNvPr>
          <p:cNvSpPr>
            <a:spLocks noGrp="1"/>
          </p:cNvSpPr>
          <p:nvPr/>
        </p:nvSpPr>
        <p:spPr>
          <a:xfrm>
            <a:off x="857250" y="1628775"/>
            <a:ext cx="5048250" cy="438150"/>
          </a:xfrm>
          <a:prstGeom prst="rect">
            <a:avLst/>
          </a:prstGeom>
          <a:noFill/>
          <a:ln w="0">
            <a:noFill/>
          </a:ln>
        </p:spPr>
        <p:txBody>
          <a:bodyPr wrap="square" lIns="0" tIns="0" rIns="0" bIns="0" anchor="t">
            <a:noAutofit/>
          </a:bodyPr>
          <a:lstStyle>
            <a:lvl1pPr>
              <a:buNone/>
              <a:defRPr sz="2325" b="1">
                <a:solidFill>
                  <a:srgbClr val="2D75A3"/>
                </a:solidFill>
                <a:latin typeface="Aptos"/>
                <a:ea typeface="Aptos"/>
                <a:cs typeface="Aptos"/>
              </a:defRPr>
            </a:lvl1pPr>
            <a:lvl2pPr>
              <a:buNone/>
              <a:defRPr sz="2325" b="1">
                <a:solidFill>
                  <a:srgbClr val="2D75A3"/>
                </a:solidFill>
                <a:latin typeface="Aptos"/>
                <a:ea typeface="Aptos"/>
                <a:cs typeface="Aptos"/>
              </a:defRPr>
            </a:lvl2pPr>
            <a:lvl3pPr>
              <a:buNone/>
              <a:defRPr sz="2325" b="1">
                <a:solidFill>
                  <a:srgbClr val="2D75A3"/>
                </a:solidFill>
                <a:latin typeface="Aptos"/>
                <a:ea typeface="Aptos"/>
                <a:cs typeface="Aptos"/>
              </a:defRPr>
            </a:lvl3pPr>
            <a:lvl4pPr>
              <a:buNone/>
              <a:defRPr sz="2325" b="1">
                <a:solidFill>
                  <a:srgbClr val="2D75A3"/>
                </a:solidFill>
                <a:latin typeface="Aptos"/>
                <a:ea typeface="Aptos"/>
                <a:cs typeface="Aptos"/>
              </a:defRPr>
            </a:lvl4pPr>
            <a:lvl5pPr>
              <a:buNone/>
              <a:defRPr sz="2325" b="1">
                <a:solidFill>
                  <a:srgbClr val="2D75A3"/>
                </a:solidFill>
                <a:latin typeface="Aptos"/>
                <a:ea typeface="Aptos"/>
                <a:cs typeface="Aptos"/>
              </a:defRPr>
            </a:lvl5pPr>
            <a:lvl6pPr>
              <a:buNone/>
              <a:defRPr sz="2325" b="1">
                <a:solidFill>
                  <a:srgbClr val="2D75A3"/>
                </a:solidFill>
                <a:latin typeface="Aptos"/>
                <a:ea typeface="Aptos"/>
                <a:cs typeface="Aptos"/>
              </a:defRPr>
            </a:lvl6pPr>
            <a:lvl7pPr>
              <a:buNone/>
              <a:defRPr sz="2325" b="1">
                <a:solidFill>
                  <a:srgbClr val="2D75A3"/>
                </a:solidFill>
                <a:latin typeface="Aptos"/>
                <a:ea typeface="Aptos"/>
                <a:cs typeface="Aptos"/>
              </a:defRPr>
            </a:lvl7pPr>
            <a:lvl8pPr>
              <a:buNone/>
              <a:defRPr sz="2325" b="1">
                <a:solidFill>
                  <a:srgbClr val="2D75A3"/>
                </a:solidFill>
                <a:latin typeface="Aptos"/>
                <a:ea typeface="Aptos"/>
                <a:cs typeface="Aptos"/>
              </a:defRPr>
            </a:lvl8pPr>
            <a:lvl9pPr>
              <a:buNone/>
              <a:defRPr sz="2325" b="1">
                <a:solidFill>
                  <a:srgbClr val="2D75A3"/>
                </a:solidFill>
                <a:latin typeface="Aptos"/>
                <a:ea typeface="Aptos"/>
                <a:cs typeface="Aptos"/>
              </a:defRPr>
            </a:lvl9pPr>
          </a:lstStyle>
          <a:p>
            <a:pPr>
              <a:buNone/>
              <a:defRPr sz="2325" b="1">
                <a:solidFill>
                  <a:srgbClr val="2D75A3"/>
                </a:solidFill>
                <a:latin typeface="Aptos"/>
                <a:ea typeface="Aptos"/>
                <a:cs typeface="Aptos"/>
              </a:defRPr>
            </a:pPr>
            <a:r>
              <a:rPr sz="2325" b="1">
                <a:solidFill>
                  <a:srgbClr val="2D75A3"/>
                </a:solidFill>
                <a:latin typeface="Aptos"/>
                <a:ea typeface="Aptos"/>
                <a:cs typeface="Aptos"/>
              </a:rPr>
              <a:t>Average workload</a:t>
            </a:r>
          </a:p>
        </p:txBody>
      </p:sp>
      <p:sp>
        <p:nvSpPr>
          <p:cNvPr id="6" name="text-5">
            <a:extLst>
              <a:ext uri="{FF2B5EF4-FFF2-40B4-BE49-F238E27FC236}">
                <a16:creationId xmlns:a16="http://schemas.microsoft.com/office/drawing/2014/main" id="{539EDC72-EEAD-44C0-AEB8-D37D58BC00EB}"/>
              </a:ext>
            </a:extLst>
          </p:cNvPr>
          <p:cNvSpPr>
            <a:spLocks noGrp="1"/>
          </p:cNvSpPr>
          <p:nvPr/>
        </p:nvSpPr>
        <p:spPr>
          <a:xfrm>
            <a:off x="6286500" y="1628775"/>
            <a:ext cx="5048250" cy="438150"/>
          </a:xfrm>
          <a:prstGeom prst="rect">
            <a:avLst/>
          </a:prstGeom>
          <a:noFill/>
          <a:ln w="0">
            <a:noFill/>
          </a:ln>
        </p:spPr>
        <p:txBody>
          <a:bodyPr wrap="square" lIns="0" tIns="0" rIns="0" bIns="0" anchor="t">
            <a:noAutofit/>
          </a:bodyPr>
          <a:lstStyle>
            <a:lvl1pPr>
              <a:buNone/>
              <a:defRPr sz="2325" b="1">
                <a:solidFill>
                  <a:srgbClr val="2F6F4E"/>
                </a:solidFill>
                <a:latin typeface="Aptos"/>
                <a:ea typeface="Aptos"/>
                <a:cs typeface="Aptos"/>
              </a:defRPr>
            </a:lvl1pPr>
            <a:lvl2pPr>
              <a:buNone/>
              <a:defRPr sz="2325" b="1">
                <a:solidFill>
                  <a:srgbClr val="2F6F4E"/>
                </a:solidFill>
                <a:latin typeface="Aptos"/>
                <a:ea typeface="Aptos"/>
                <a:cs typeface="Aptos"/>
              </a:defRPr>
            </a:lvl2pPr>
            <a:lvl3pPr>
              <a:buNone/>
              <a:defRPr sz="2325" b="1">
                <a:solidFill>
                  <a:srgbClr val="2F6F4E"/>
                </a:solidFill>
                <a:latin typeface="Aptos"/>
                <a:ea typeface="Aptos"/>
                <a:cs typeface="Aptos"/>
              </a:defRPr>
            </a:lvl3pPr>
            <a:lvl4pPr>
              <a:buNone/>
              <a:defRPr sz="2325" b="1">
                <a:solidFill>
                  <a:srgbClr val="2F6F4E"/>
                </a:solidFill>
                <a:latin typeface="Aptos"/>
                <a:ea typeface="Aptos"/>
                <a:cs typeface="Aptos"/>
              </a:defRPr>
            </a:lvl4pPr>
            <a:lvl5pPr>
              <a:buNone/>
              <a:defRPr sz="2325" b="1">
                <a:solidFill>
                  <a:srgbClr val="2F6F4E"/>
                </a:solidFill>
                <a:latin typeface="Aptos"/>
                <a:ea typeface="Aptos"/>
                <a:cs typeface="Aptos"/>
              </a:defRPr>
            </a:lvl5pPr>
            <a:lvl6pPr>
              <a:buNone/>
              <a:defRPr sz="2325" b="1">
                <a:solidFill>
                  <a:srgbClr val="2F6F4E"/>
                </a:solidFill>
                <a:latin typeface="Aptos"/>
                <a:ea typeface="Aptos"/>
                <a:cs typeface="Aptos"/>
              </a:defRPr>
            </a:lvl6pPr>
            <a:lvl7pPr>
              <a:buNone/>
              <a:defRPr sz="2325" b="1">
                <a:solidFill>
                  <a:srgbClr val="2F6F4E"/>
                </a:solidFill>
                <a:latin typeface="Aptos"/>
                <a:ea typeface="Aptos"/>
                <a:cs typeface="Aptos"/>
              </a:defRPr>
            </a:lvl7pPr>
            <a:lvl8pPr>
              <a:buNone/>
              <a:defRPr sz="2325" b="1">
                <a:solidFill>
                  <a:srgbClr val="2F6F4E"/>
                </a:solidFill>
                <a:latin typeface="Aptos"/>
                <a:ea typeface="Aptos"/>
                <a:cs typeface="Aptos"/>
              </a:defRPr>
            </a:lvl8pPr>
            <a:lvl9pPr>
              <a:buNone/>
              <a:defRPr sz="2325" b="1">
                <a:solidFill>
                  <a:srgbClr val="2F6F4E"/>
                </a:solidFill>
                <a:latin typeface="Aptos"/>
                <a:ea typeface="Aptos"/>
                <a:cs typeface="Aptos"/>
              </a:defRPr>
            </a:lvl9pPr>
          </a:lstStyle>
          <a:p>
            <a:pPr>
              <a:buNone/>
              <a:defRPr sz="2325" b="1">
                <a:solidFill>
                  <a:srgbClr val="2F6F4E"/>
                </a:solidFill>
                <a:latin typeface="Aptos"/>
                <a:ea typeface="Aptos"/>
                <a:cs typeface="Aptos"/>
              </a:defRPr>
            </a:pPr>
            <a:r>
              <a:rPr sz="2325" b="1">
                <a:solidFill>
                  <a:srgbClr val="2F6F4E"/>
                </a:solidFill>
                <a:latin typeface="Aptos"/>
                <a:ea typeface="Aptos"/>
                <a:cs typeface="Aptos"/>
              </a:rPr>
              <a:t>Fraction within capacity</a:t>
            </a:r>
          </a:p>
        </p:txBody>
      </p:sp>
      <p:graphicFrame>
        <p:nvGraphicFramePr>
          <p:cNvPr id="19" name="Chart"/>
          <p:cNvGraphicFramePr/>
          <p:nvPr/>
        </p:nvGraphicFramePr>
        <p:xfrm>
          <a:off x="666750" y="2257425"/>
          <a:ext cx="5286375" cy="29241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Chart"/>
          <p:cNvGraphicFramePr/>
          <p:nvPr/>
        </p:nvGraphicFramePr>
        <p:xfrm>
          <a:off x="6096000" y="2257425"/>
          <a:ext cx="5286375" cy="2924175"/>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6">
            <a:extLst>
              <a:ext uri="{FF2B5EF4-FFF2-40B4-BE49-F238E27FC236}">
                <a16:creationId xmlns:a16="http://schemas.microsoft.com/office/drawing/2014/main" id="{DCCDD87D-8E66-4A33-BF86-A7EC8ACEA787}"/>
              </a:ext>
            </a:extLst>
          </p:cNvPr>
          <p:cNvSpPr>
            <a:spLocks noGrp="1"/>
          </p:cNvSpPr>
          <p:nvPr/>
        </p:nvSpPr>
        <p:spPr>
          <a:xfrm>
            <a:off x="857250" y="5562600"/>
            <a:ext cx="10477500" cy="714375"/>
          </a:xfrm>
          <a:prstGeom prst="rect">
            <a:avLst/>
          </a:prstGeom>
          <a:noFill/>
          <a:ln w="0">
            <a:noFill/>
          </a:ln>
        </p:spPr>
        <p:txBody>
          <a:bodyPr wrap="square" lIns="0" tIns="0" rIns="0" bIns="0" anchor="t">
            <a:noAutofit/>
          </a:bodyPr>
          <a:lstStyle>
            <a:lvl1pPr>
              <a:buNone/>
              <a:defRPr sz="2250" b="0">
                <a:solidFill>
                  <a:srgbClr val="17365D"/>
                </a:solidFill>
                <a:latin typeface="Aptos"/>
                <a:ea typeface="Aptos"/>
                <a:cs typeface="Aptos"/>
              </a:defRPr>
            </a:lvl1pPr>
            <a:lvl2pPr>
              <a:buNone/>
              <a:defRPr sz="2250" b="0">
                <a:solidFill>
                  <a:srgbClr val="17365D"/>
                </a:solidFill>
                <a:latin typeface="Aptos"/>
                <a:ea typeface="Aptos"/>
                <a:cs typeface="Aptos"/>
              </a:defRPr>
            </a:lvl2pPr>
            <a:lvl3pPr>
              <a:buNone/>
              <a:defRPr sz="2250" b="0">
                <a:solidFill>
                  <a:srgbClr val="17365D"/>
                </a:solidFill>
                <a:latin typeface="Aptos"/>
                <a:ea typeface="Aptos"/>
                <a:cs typeface="Aptos"/>
              </a:defRPr>
            </a:lvl3pPr>
            <a:lvl4pPr>
              <a:buNone/>
              <a:defRPr sz="2250" b="0">
                <a:solidFill>
                  <a:srgbClr val="17365D"/>
                </a:solidFill>
                <a:latin typeface="Aptos"/>
                <a:ea typeface="Aptos"/>
                <a:cs typeface="Aptos"/>
              </a:defRPr>
            </a:lvl4pPr>
            <a:lvl5pPr>
              <a:buNone/>
              <a:defRPr sz="2250" b="0">
                <a:solidFill>
                  <a:srgbClr val="17365D"/>
                </a:solidFill>
                <a:latin typeface="Aptos"/>
                <a:ea typeface="Aptos"/>
                <a:cs typeface="Aptos"/>
              </a:defRPr>
            </a:lvl5pPr>
            <a:lvl6pPr>
              <a:buNone/>
              <a:defRPr sz="2250" b="0">
                <a:solidFill>
                  <a:srgbClr val="17365D"/>
                </a:solidFill>
                <a:latin typeface="Aptos"/>
                <a:ea typeface="Aptos"/>
                <a:cs typeface="Aptos"/>
              </a:defRPr>
            </a:lvl6pPr>
            <a:lvl7pPr>
              <a:buNone/>
              <a:defRPr sz="2250" b="0">
                <a:solidFill>
                  <a:srgbClr val="17365D"/>
                </a:solidFill>
                <a:latin typeface="Aptos"/>
                <a:ea typeface="Aptos"/>
                <a:cs typeface="Aptos"/>
              </a:defRPr>
            </a:lvl7pPr>
            <a:lvl8pPr>
              <a:buNone/>
              <a:defRPr sz="2250" b="0">
                <a:solidFill>
                  <a:srgbClr val="17365D"/>
                </a:solidFill>
                <a:latin typeface="Aptos"/>
                <a:ea typeface="Aptos"/>
                <a:cs typeface="Aptos"/>
              </a:defRPr>
            </a:lvl8pPr>
            <a:lvl9pPr>
              <a:buNone/>
              <a:defRPr sz="2250" b="0">
                <a:solidFill>
                  <a:srgbClr val="17365D"/>
                </a:solidFill>
                <a:latin typeface="Aptos"/>
                <a:ea typeface="Aptos"/>
                <a:cs typeface="Aptos"/>
              </a:defRPr>
            </a:lvl9pPr>
          </a:lstStyle>
          <a:p>
            <a:pPr>
              <a:buNone/>
              <a:defRPr sz="2250" b="0">
                <a:solidFill>
                  <a:srgbClr val="17365D"/>
                </a:solidFill>
                <a:latin typeface="Aptos"/>
                <a:ea typeface="Aptos"/>
                <a:cs typeface="Aptos"/>
              </a:defRPr>
            </a:pPr>
            <a:r>
              <a:rPr sz="2250" b="0">
                <a:solidFill>
                  <a:srgbClr val="17365D"/>
                </a:solidFill>
                <a:latin typeface="Aptos"/>
                <a:ea typeface="Aptos"/>
                <a:cs typeface="Aptos"/>
              </a:rPr>
              <a:t>Orange lines show the fixed targets. The estimates fluctuate around them.</a:t>
            </a:r>
          </a:p>
        </p:txBody>
      </p:sp>
      <p:sp>
        <p:nvSpPr>
          <p:cNvPr id="21" name="notebook-cue-slide-18">
            <a:extLst>
              <a:ext uri="{FF2B5EF4-FFF2-40B4-BE49-F238E27FC236}">
                <a16:creationId xmlns:a16="http://schemas.microsoft.com/office/drawing/2014/main" id="{C63570CF-0623-40D2-AFE5-A30BE1A270F5}"/>
              </a:ext>
            </a:extLst>
          </p:cNvPr>
          <p:cNvSpPr>
            <a:spLocks noGrp="1"/>
          </p:cNvSpPr>
          <p:nvPr/>
        </p:nvSpPr>
        <p:spPr>
          <a:xfrm>
            <a:off x="2952750" y="6429375"/>
            <a:ext cx="7620000" cy="295275"/>
          </a:xfrm>
          <a:prstGeom prst="rect">
            <a:avLst/>
          </a:prstGeom>
          <a:noFill/>
          <a:ln w="0">
            <a:noFill/>
          </a:ln>
        </p:spPr>
        <p:txBody>
          <a:bodyPr wrap="none" lIns="0" tIns="0" rIns="0" bIns="0" anchor="ctr">
            <a:noAutofit/>
          </a:bodyPr>
          <a:lstStyle>
            <a:defPPr algn="ctr">
              <a:defRPr sz="1650" b="1">
                <a:solidFill>
                  <a:srgbClr val="2F6F4E"/>
                </a:solidFill>
                <a:latin typeface="Aptos"/>
                <a:ea typeface="Aptos"/>
                <a:cs typeface="Aptos"/>
              </a:defRPr>
            </a:defPPr>
            <a:lvl1pPr algn="ctr">
              <a:defRPr sz="1650" b="1">
                <a:solidFill>
                  <a:srgbClr val="2F6F4E"/>
                </a:solidFill>
                <a:latin typeface="Aptos"/>
                <a:ea typeface="Aptos"/>
                <a:cs typeface="Aptos"/>
              </a:defRPr>
            </a:lvl1pPr>
            <a:lvl2pPr algn="ctr">
              <a:defRPr sz="1650" b="1">
                <a:solidFill>
                  <a:srgbClr val="2F6F4E"/>
                </a:solidFill>
                <a:latin typeface="Aptos"/>
                <a:ea typeface="Aptos"/>
                <a:cs typeface="Aptos"/>
              </a:defRPr>
            </a:lvl2pPr>
            <a:lvl3pPr algn="ctr">
              <a:defRPr sz="1650" b="1">
                <a:solidFill>
                  <a:srgbClr val="2F6F4E"/>
                </a:solidFill>
                <a:latin typeface="Aptos"/>
                <a:ea typeface="Aptos"/>
                <a:cs typeface="Aptos"/>
              </a:defRPr>
            </a:lvl3pPr>
            <a:lvl4pPr algn="ctr">
              <a:defRPr sz="1650" b="1">
                <a:solidFill>
                  <a:srgbClr val="2F6F4E"/>
                </a:solidFill>
                <a:latin typeface="Aptos"/>
                <a:ea typeface="Aptos"/>
                <a:cs typeface="Aptos"/>
              </a:defRPr>
            </a:lvl4pPr>
            <a:lvl5pPr algn="ctr">
              <a:defRPr sz="1650" b="1">
                <a:solidFill>
                  <a:srgbClr val="2F6F4E"/>
                </a:solidFill>
                <a:latin typeface="Aptos"/>
                <a:ea typeface="Aptos"/>
                <a:cs typeface="Aptos"/>
              </a:defRPr>
            </a:lvl5pPr>
            <a:lvl6pPr algn="ctr">
              <a:defRPr sz="1650" b="1">
                <a:solidFill>
                  <a:srgbClr val="2F6F4E"/>
                </a:solidFill>
                <a:latin typeface="Aptos"/>
                <a:ea typeface="Aptos"/>
                <a:cs typeface="Aptos"/>
              </a:defRPr>
            </a:lvl6pPr>
            <a:lvl7pPr algn="ctr">
              <a:defRPr sz="1650" b="1">
                <a:solidFill>
                  <a:srgbClr val="2F6F4E"/>
                </a:solidFill>
                <a:latin typeface="Aptos"/>
                <a:ea typeface="Aptos"/>
                <a:cs typeface="Aptos"/>
              </a:defRPr>
            </a:lvl7pPr>
            <a:lvl8pPr algn="ctr">
              <a:defRPr sz="1650" b="1">
                <a:solidFill>
                  <a:srgbClr val="2F6F4E"/>
                </a:solidFill>
                <a:latin typeface="Aptos"/>
                <a:ea typeface="Aptos"/>
                <a:cs typeface="Aptos"/>
              </a:defRPr>
            </a:lvl8pPr>
            <a:lvl9pPr algn="ctr">
              <a:defRPr sz="1650" b="1">
                <a:solidFill>
                  <a:srgbClr val="2F6F4E"/>
                </a:solidFill>
                <a:latin typeface="Aptos"/>
                <a:ea typeface="Aptos"/>
                <a:cs typeface="Aptos"/>
              </a:defRPr>
            </a:lvl9pPr>
          </a:lstStyle>
          <a:p>
            <a:pPr algn="ctr">
              <a:defRPr sz="1650" b="1">
                <a:solidFill>
                  <a:srgbClr val="2F6F4E"/>
                </a:solidFill>
                <a:latin typeface="Aptos"/>
                <a:ea typeface="Aptos"/>
                <a:cs typeface="Aptos"/>
              </a:defRPr>
            </a:pPr>
            <a:r>
              <a:rPr sz="1650" b="1">
                <a:solidFill>
                  <a:srgbClr val="2F6F4E"/>
                </a:solidFill>
                <a:latin typeface="Aptos"/>
                <a:ea typeface="Aptos"/>
                <a:cs typeface="Aptos"/>
              </a:rPr>
              <a:t>Notebook: Slide 18</a:t>
            </a:r>
          </a:p>
        </p:txBody>
      </p:sp>
    </p:spTree>
    <p:extLst>
      <p:ext uri="{BB962C8B-B14F-4D97-AF65-F5344CB8AC3E}">
        <p14:creationId xmlns:p14="http://schemas.microsoft.com/office/powerpoint/2010/main" val="18116585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D9E20DA8-5898-4EA1-938A-F5F9E4BB76CA}"/>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The central limit theorem</a:t>
            </a:r>
          </a:p>
        </p:txBody>
      </p:sp>
      <p:sp>
        <p:nvSpPr>
          <p:cNvPr id="2" name="Straight Connector 1">
            <a:extLst>
              <a:ext uri="{FF2B5EF4-FFF2-40B4-BE49-F238E27FC236}">
                <a16:creationId xmlns:a16="http://schemas.microsoft.com/office/drawing/2014/main" id="{50CC5005-EDAC-42A1-A170-CE625958DCBE}"/>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F11C0864-CDF1-4B3F-AA40-5E1C1C2A06E7}"/>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AEFFC5A7-EEAA-4CC8-8C05-259DCE7B8E2C}"/>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19</a:t>
            </a:r>
          </a:p>
        </p:txBody>
      </p:sp>
      <p:sp>
        <p:nvSpPr>
          <p:cNvPr id="5" name="text-4">
            <a:extLst>
              <a:ext uri="{FF2B5EF4-FFF2-40B4-BE49-F238E27FC236}">
                <a16:creationId xmlns:a16="http://schemas.microsoft.com/office/drawing/2014/main" id="{4315326B-1E3B-4009-834E-B2549E7C2738}"/>
              </a:ext>
            </a:extLst>
          </p:cNvPr>
          <p:cNvSpPr>
            <a:spLocks noGrp="1"/>
          </p:cNvSpPr>
          <p:nvPr/>
        </p:nvSpPr>
        <p:spPr>
          <a:xfrm>
            <a:off x="857250" y="1581150"/>
            <a:ext cx="10477500" cy="990600"/>
          </a:xfrm>
          <a:prstGeom prst="rect">
            <a:avLst/>
          </a:prstGeom>
          <a:noFill/>
          <a:ln w="0">
            <a:noFill/>
          </a:ln>
        </p:spPr>
        <p:txBody>
          <a:bodyPr wrap="square" lIns="0" tIns="0" rIns="0" bIns="0" anchor="t">
            <a:noAutofit/>
          </a:bodyPr>
          <a:lstStyle>
            <a:lvl1pPr>
              <a:buNone/>
              <a:defRPr sz="2250" b="0">
                <a:solidFill>
                  <a:srgbClr val="17365D"/>
                </a:solidFill>
                <a:latin typeface="Aptos"/>
                <a:ea typeface="Aptos"/>
                <a:cs typeface="Aptos"/>
              </a:defRPr>
            </a:lvl1pPr>
            <a:lvl2pPr>
              <a:buNone/>
              <a:defRPr sz="2250" b="0">
                <a:solidFill>
                  <a:srgbClr val="17365D"/>
                </a:solidFill>
                <a:latin typeface="Aptos"/>
                <a:ea typeface="Aptos"/>
                <a:cs typeface="Aptos"/>
              </a:defRPr>
            </a:lvl2pPr>
            <a:lvl3pPr>
              <a:buNone/>
              <a:defRPr sz="2250" b="0">
                <a:solidFill>
                  <a:srgbClr val="17365D"/>
                </a:solidFill>
                <a:latin typeface="Aptos"/>
                <a:ea typeface="Aptos"/>
                <a:cs typeface="Aptos"/>
              </a:defRPr>
            </a:lvl3pPr>
            <a:lvl4pPr>
              <a:buNone/>
              <a:defRPr sz="2250" b="0">
                <a:solidFill>
                  <a:srgbClr val="17365D"/>
                </a:solidFill>
                <a:latin typeface="Aptos"/>
                <a:ea typeface="Aptos"/>
                <a:cs typeface="Aptos"/>
              </a:defRPr>
            </a:lvl4pPr>
            <a:lvl5pPr>
              <a:buNone/>
              <a:defRPr sz="2250" b="0">
                <a:solidFill>
                  <a:srgbClr val="17365D"/>
                </a:solidFill>
                <a:latin typeface="Aptos"/>
                <a:ea typeface="Aptos"/>
                <a:cs typeface="Aptos"/>
              </a:defRPr>
            </a:lvl5pPr>
            <a:lvl6pPr>
              <a:buNone/>
              <a:defRPr sz="2250" b="0">
                <a:solidFill>
                  <a:srgbClr val="17365D"/>
                </a:solidFill>
                <a:latin typeface="Aptos"/>
                <a:ea typeface="Aptos"/>
                <a:cs typeface="Aptos"/>
              </a:defRPr>
            </a:lvl6pPr>
            <a:lvl7pPr>
              <a:buNone/>
              <a:defRPr sz="2250" b="0">
                <a:solidFill>
                  <a:srgbClr val="17365D"/>
                </a:solidFill>
                <a:latin typeface="Aptos"/>
                <a:ea typeface="Aptos"/>
                <a:cs typeface="Aptos"/>
              </a:defRPr>
            </a:lvl7pPr>
            <a:lvl8pPr>
              <a:buNone/>
              <a:defRPr sz="2250" b="0">
                <a:solidFill>
                  <a:srgbClr val="17365D"/>
                </a:solidFill>
                <a:latin typeface="Aptos"/>
                <a:ea typeface="Aptos"/>
                <a:cs typeface="Aptos"/>
              </a:defRPr>
            </a:lvl8pPr>
            <a:lvl9pPr>
              <a:buNone/>
              <a:defRPr sz="2250" b="0">
                <a:solidFill>
                  <a:srgbClr val="17365D"/>
                </a:solidFill>
                <a:latin typeface="Aptos"/>
                <a:ea typeface="Aptos"/>
                <a:cs typeface="Aptos"/>
              </a:defRPr>
            </a:lvl9pPr>
          </a:lstStyle>
          <a:p>
            <a:pPr>
              <a:buNone/>
              <a:defRPr sz="2250" b="0">
                <a:solidFill>
                  <a:srgbClr val="17365D"/>
                </a:solidFill>
                <a:latin typeface="Aptos"/>
                <a:ea typeface="Aptos"/>
                <a:cs typeface="Aptos"/>
              </a:defRPr>
            </a:pPr>
            <a:r>
              <a:rPr sz="2250" b="0">
                <a:solidFill>
                  <a:srgbClr val="17365D"/>
                </a:solidFill>
                <a:latin typeface="Aptos"/>
                <a:ea typeface="Aptos"/>
                <a:cs typeface="Aptos"/>
              </a:rPr>
              <a:t>Across repeated samples, subtract the mean μ and divide by the spread σ/√n. The resulting distribution approaches a standard normal.</a:t>
            </a:r>
          </a:p>
        </p:txBody>
      </p:sp>
      <mc:AlternateContent xmlns:mc="http://schemas.openxmlformats.org/markup-compatibility/2006">
        <mc:Choice xmlns:a14="http://schemas.microsoft.com/office/drawing/2010/main" Requires="a14">
          <p:sp>
            <p:nvSpPr>
              <p:cNvPr id="6" name="EQ_021">
                <a:extLst>
                  <a:ext uri="{FF2B5EF4-FFF2-40B4-BE49-F238E27FC236}">
                    <a16:creationId xmlns:a16="http://schemas.microsoft.com/office/drawing/2014/main" id="{999741A2-48C6-4658-9A28-119F5F1F96FD}"/>
                  </a:ext>
                </a:extLst>
              </p:cNvPr>
              <p:cNvSpPr>
                <a:spLocks noGrp="1"/>
              </p:cNvSpPr>
              <p:nvPr/>
            </p:nvSpPr>
            <p:spPr>
              <a:xfrm>
                <a:off x="857250" y="2857500"/>
                <a:ext cx="10477500" cy="1381125"/>
              </a:xfrm>
              <a:prstGeom prst="rect">
                <a:avLst/>
              </a:prstGeom>
              <a:noFill/>
              <a:ln w="0">
                <a:noFill/>
              </a:ln>
            </p:spPr>
            <p:txBody>
              <a:bodyPr wrap="none" lIns="0" tIns="0" rIns="0" bIns="0" anchor="ctr">
                <a:noAutofit/>
              </a:bodyPr>
              <a:lstStyle>
                <a:lvl1pPr algn="l">
                  <a:buNone/>
                  <a:defRPr sz="3200">
                    <a:solidFill>
                      <a:srgbClr val="17365D"/>
                    </a:solidFill>
                    <a:latin typeface="Cambria Math"/>
                    <a:ea typeface="Cambria Math"/>
                    <a:cs typeface="Cambria Math"/>
                  </a:defRPr>
                </a:lvl1pPr>
                <a:lvl2pPr algn="l">
                  <a:buNone/>
                  <a:defRPr sz="3200">
                    <a:solidFill>
                      <a:srgbClr val="17365D"/>
                    </a:solidFill>
                    <a:latin typeface="Cambria Math"/>
                    <a:ea typeface="Cambria Math"/>
                    <a:cs typeface="Cambria Math"/>
                  </a:defRPr>
                </a:lvl2pPr>
                <a:lvl3pPr algn="l">
                  <a:buNone/>
                  <a:defRPr sz="3200">
                    <a:solidFill>
                      <a:srgbClr val="17365D"/>
                    </a:solidFill>
                    <a:latin typeface="Cambria Math"/>
                    <a:ea typeface="Cambria Math"/>
                    <a:cs typeface="Cambria Math"/>
                  </a:defRPr>
                </a:lvl3pPr>
                <a:lvl4pPr algn="l">
                  <a:buNone/>
                  <a:defRPr sz="3200">
                    <a:solidFill>
                      <a:srgbClr val="17365D"/>
                    </a:solidFill>
                    <a:latin typeface="Cambria Math"/>
                    <a:ea typeface="Cambria Math"/>
                    <a:cs typeface="Cambria Math"/>
                  </a:defRPr>
                </a:lvl4pPr>
                <a:lvl5pPr algn="l">
                  <a:buNone/>
                  <a:defRPr sz="3200">
                    <a:solidFill>
                      <a:srgbClr val="17365D"/>
                    </a:solidFill>
                    <a:latin typeface="Cambria Math"/>
                    <a:ea typeface="Cambria Math"/>
                    <a:cs typeface="Cambria Math"/>
                  </a:defRPr>
                </a:lvl5pPr>
                <a:lvl6pPr algn="l">
                  <a:buNone/>
                  <a:defRPr sz="3200">
                    <a:solidFill>
                      <a:srgbClr val="17365D"/>
                    </a:solidFill>
                    <a:latin typeface="Cambria Math"/>
                    <a:ea typeface="Cambria Math"/>
                    <a:cs typeface="Cambria Math"/>
                  </a:defRPr>
                </a:lvl6pPr>
                <a:lvl7pPr algn="l">
                  <a:buNone/>
                  <a:defRPr sz="3200">
                    <a:solidFill>
                      <a:srgbClr val="17365D"/>
                    </a:solidFill>
                    <a:latin typeface="Cambria Math"/>
                    <a:ea typeface="Cambria Math"/>
                    <a:cs typeface="Cambria Math"/>
                  </a:defRPr>
                </a:lvl7pPr>
                <a:lvl8pPr algn="l">
                  <a:buNone/>
                  <a:defRPr sz="3200">
                    <a:solidFill>
                      <a:srgbClr val="17365D"/>
                    </a:solidFill>
                    <a:latin typeface="Cambria Math"/>
                    <a:ea typeface="Cambria Math"/>
                    <a:cs typeface="Cambria Math"/>
                  </a:defRPr>
                </a:lvl8pPr>
                <a:lvl9pPr algn="l">
                  <a:buNone/>
                  <a:defRPr sz="3200">
                    <a:solidFill>
                      <a:srgbClr val="17365D"/>
                    </a:solidFill>
                    <a:latin typeface="Cambria Math"/>
                    <a:ea typeface="Cambria Math"/>
                    <a:cs typeface="Cambria Math"/>
                  </a:defRPr>
                </a:lvl9pPr>
              </a:lstStyle>
              <a:p>
                <a:pPr>
                  <a:buNone/>
                  <a:defRPr sz="3200">
                    <a:solidFill>
                      <a:srgbClr val="17365D"/>
                    </a:solidFill>
                  </a:defRPr>
                </a:pPr>
                <a14:m>
                  <m:oMathPara xmlns:m="http://schemas.openxmlformats.org/officeDocument/2006/math">
                    <m:oMath>
                      <m:f>
                        <m:fPr>
                          <m:ctrlPr>
                            <a:rPr>
                              <a:latin typeface="Cambria Math" panose="02040503050406030204" pitchFamily="18" charset="0"/>
                            </a:rPr>
                          </m:ctrlPr>
                        </m:fPr>
                        <m:num>
                          <m:sSub>
                            <m:sSubPr>
                              <m:ctrlPr>
                                <a:rPr>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𝑋</m:t>
                                  </m:r>
                                </m:e>
                              </m:acc>
                            </m:e>
                            <m:sub>
                              <m:r>
                                <a:rPr>
                                  <a:latin typeface="Cambria Math" panose="02040503050406030204" pitchFamily="18" charset="0"/>
                                </a:rPr>
                                <m:t>𝑛</m:t>
                              </m:r>
                            </m:sub>
                          </m:sSub>
                          <m:r>
                            <a:rPr>
                              <a:latin typeface="Cambria Math" panose="02040503050406030204" pitchFamily="18" charset="0"/>
                            </a:rPr>
                            <m:t>−</m:t>
                          </m:r>
                          <m:r>
                            <a:rPr>
                              <a:latin typeface="Cambria Math" panose="02040503050406030204" pitchFamily="18" charset="0"/>
                            </a:rPr>
                            <m:t>𝜇</m:t>
                          </m:r>
                        </m:num>
                        <m:den>
                          <m:f>
                            <m:fPr>
                              <m:ctrlPr>
                                <a:rPr>
                                  <a:latin typeface="Cambria Math" panose="02040503050406030204" pitchFamily="18" charset="0"/>
                                </a:rPr>
                              </m:ctrlPr>
                            </m:fPr>
                            <m:num>
                              <m:r>
                                <a:rPr>
                                  <a:latin typeface="Cambria Math" panose="02040503050406030204" pitchFamily="18" charset="0"/>
                                </a:rPr>
                                <m:t>𝜎</m:t>
                              </m:r>
                            </m:num>
                            <m:den>
                              <m:rad>
                                <m:radPr>
                                  <m:ctrlPr>
                                    <a:rPr>
                                      <a:latin typeface="Cambria Math" panose="02040503050406030204" pitchFamily="18" charset="0"/>
                                    </a:rPr>
                                  </m:ctrlPr>
                                </m:radPr>
                                <m:e>
                                  <m:r>
                                    <a:rPr>
                                      <a:latin typeface="Cambria Math" panose="02040503050406030204" pitchFamily="18" charset="0"/>
                                    </a:rPr>
                                    <m:t>𝑛</m:t>
                                  </m:r>
                                </m:e>
                              </m:rad>
                            </m:den>
                          </m:f>
                        </m:den>
                      </m:f>
                      <m:r>
                        <a:rPr>
                          <a:latin typeface="Cambria Math" panose="02040503050406030204" pitchFamily="18" charset="0"/>
                        </a:rPr>
                        <m:t>→</m:t>
                      </m:r>
                      <m:r>
                        <a:rPr>
                          <a:latin typeface="Cambria Math" panose="02040503050406030204" pitchFamily="18" charset="0"/>
                        </a:rPr>
                        <m:t>𝑁</m:t>
                      </m:r>
                      <m:d>
                        <m:dPr>
                          <m:ctrlPr>
                            <a:rPr>
                              <a:latin typeface="Cambria Math" panose="02040503050406030204" pitchFamily="18" charset="0"/>
                            </a:rPr>
                          </m:ctrlPr>
                        </m:dPr>
                        <m:e>
                          <m:r>
                            <a:rPr>
                              <a:latin typeface="Cambria Math" panose="02040503050406030204" pitchFamily="18" charset="0"/>
                            </a:rPr>
                            <m:t>0,1</m:t>
                          </m:r>
                        </m:e>
                      </m:d>
                      <m:r>
                        <a:rPr>
                          <a:latin typeface="Cambria Math" panose="02040503050406030204" pitchFamily="18" charset="0"/>
                        </a:rPr>
                        <m:t>   </m:t>
                      </m:r>
                      <m:r>
                        <a:rPr>
                          <a:latin typeface="Cambria Math" panose="02040503050406030204" pitchFamily="18" charset="0"/>
                        </a:rPr>
                        <m:t>𝑖𝑛</m:t>
                      </m:r>
                      <m:r>
                        <a:rPr>
                          <a:latin typeface="Cambria Math" panose="02040503050406030204" pitchFamily="18" charset="0"/>
                        </a:rPr>
                        <m:t> </m:t>
                      </m:r>
                      <m:r>
                        <a:rPr>
                          <a:latin typeface="Cambria Math" panose="02040503050406030204" pitchFamily="18" charset="0"/>
                        </a:rPr>
                        <m:t>𝑑𝑖𝑠𝑡𝑟𝑖𝑏𝑢𝑡𝑖𝑜𝑛</m:t>
                      </m:r>
                    </m:oMath>
                  </m:oMathPara>
                </a14:m>
                <a:endParaRPr/>
              </a:p>
            </p:txBody>
          </p:sp>
        </mc:Choice>
        <mc:Fallback>
          <p:sp>
            <p:nvSpPr>
              <p:cNvPr id="6" name="EQ_021">
                <a:extLst>
                  <a:ext uri="{FF2B5EF4-FFF2-40B4-BE49-F238E27FC236}">
                    <a16:creationId xmlns:a16="http://schemas.microsoft.com/office/drawing/2014/main" id="{999741A2-48C6-4658-9A28-119F5F1F96FD}"/>
                  </a:ext>
                </a:extLst>
              </p:cNvPr>
              <p:cNvSpPr>
                <a:spLocks noGrp="1" noRot="1" noChangeAspect="1" noMove="1" noResize="1" noEditPoints="1" noAdjustHandles="1" noChangeArrowheads="1" noChangeShapeType="1" noTextEdit="1"/>
              </p:cNvSpPr>
              <p:nvPr/>
            </p:nvSpPr>
            <p:spPr>
              <a:xfrm>
                <a:off x="857250" y="2857500"/>
                <a:ext cx="10477500" cy="1381125"/>
              </a:xfrm>
              <a:prstGeom prst="rect">
                <a:avLst/>
              </a:prstGeom>
              <a:blipFill>
                <a:blip r:embed="rId3"/>
                <a:stretch>
                  <a:fillRect b="-1770"/>
                </a:stretch>
              </a:blipFill>
              <a:ln w="0">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7" name="EQ_022">
                <a:extLst>
                  <a:ext uri="{FF2B5EF4-FFF2-40B4-BE49-F238E27FC236}">
                    <a16:creationId xmlns:a16="http://schemas.microsoft.com/office/drawing/2014/main" id="{1AC9ADD1-1B16-4FFF-81E1-A12E647DB5D6}"/>
                  </a:ext>
                </a:extLst>
              </p:cNvPr>
              <p:cNvSpPr>
                <a:spLocks noGrp="1"/>
              </p:cNvSpPr>
              <p:nvPr/>
            </p:nvSpPr>
            <p:spPr>
              <a:xfrm>
                <a:off x="857250" y="4457700"/>
                <a:ext cx="10477500" cy="952500"/>
              </a:xfrm>
              <a:prstGeom prst="rect">
                <a:avLst/>
              </a:prstGeom>
              <a:noFill/>
              <a:ln w="0">
                <a:noFill/>
              </a:ln>
            </p:spPr>
            <p:txBody>
              <a:bodyPr wrap="none" lIns="0" tIns="0" rIns="0" bIns="0" anchor="ctr">
                <a:noAutofit/>
              </a:bodyPr>
              <a:lstStyle>
                <a:lvl1pPr algn="l">
                  <a:buNone/>
                  <a:defRPr sz="3200">
                    <a:solidFill>
                      <a:srgbClr val="17365D"/>
                    </a:solidFill>
                    <a:latin typeface="Cambria Math"/>
                    <a:ea typeface="Cambria Math"/>
                    <a:cs typeface="Cambria Math"/>
                  </a:defRPr>
                </a:lvl1pPr>
                <a:lvl2pPr algn="l">
                  <a:buNone/>
                  <a:defRPr sz="3200">
                    <a:solidFill>
                      <a:srgbClr val="17365D"/>
                    </a:solidFill>
                    <a:latin typeface="Cambria Math"/>
                    <a:ea typeface="Cambria Math"/>
                    <a:cs typeface="Cambria Math"/>
                  </a:defRPr>
                </a:lvl2pPr>
                <a:lvl3pPr algn="l">
                  <a:buNone/>
                  <a:defRPr sz="3200">
                    <a:solidFill>
                      <a:srgbClr val="17365D"/>
                    </a:solidFill>
                    <a:latin typeface="Cambria Math"/>
                    <a:ea typeface="Cambria Math"/>
                    <a:cs typeface="Cambria Math"/>
                  </a:defRPr>
                </a:lvl3pPr>
                <a:lvl4pPr algn="l">
                  <a:buNone/>
                  <a:defRPr sz="3200">
                    <a:solidFill>
                      <a:srgbClr val="17365D"/>
                    </a:solidFill>
                    <a:latin typeface="Cambria Math"/>
                    <a:ea typeface="Cambria Math"/>
                    <a:cs typeface="Cambria Math"/>
                  </a:defRPr>
                </a:lvl4pPr>
                <a:lvl5pPr algn="l">
                  <a:buNone/>
                  <a:defRPr sz="3200">
                    <a:solidFill>
                      <a:srgbClr val="17365D"/>
                    </a:solidFill>
                    <a:latin typeface="Cambria Math"/>
                    <a:ea typeface="Cambria Math"/>
                    <a:cs typeface="Cambria Math"/>
                  </a:defRPr>
                </a:lvl5pPr>
                <a:lvl6pPr algn="l">
                  <a:buNone/>
                  <a:defRPr sz="3200">
                    <a:solidFill>
                      <a:srgbClr val="17365D"/>
                    </a:solidFill>
                    <a:latin typeface="Cambria Math"/>
                    <a:ea typeface="Cambria Math"/>
                    <a:cs typeface="Cambria Math"/>
                  </a:defRPr>
                </a:lvl6pPr>
                <a:lvl7pPr algn="l">
                  <a:buNone/>
                  <a:defRPr sz="3200">
                    <a:solidFill>
                      <a:srgbClr val="17365D"/>
                    </a:solidFill>
                    <a:latin typeface="Cambria Math"/>
                    <a:ea typeface="Cambria Math"/>
                    <a:cs typeface="Cambria Math"/>
                  </a:defRPr>
                </a:lvl7pPr>
                <a:lvl8pPr algn="l">
                  <a:buNone/>
                  <a:defRPr sz="3200">
                    <a:solidFill>
                      <a:srgbClr val="17365D"/>
                    </a:solidFill>
                    <a:latin typeface="Cambria Math"/>
                    <a:ea typeface="Cambria Math"/>
                    <a:cs typeface="Cambria Math"/>
                  </a:defRPr>
                </a:lvl8pPr>
                <a:lvl9pPr algn="l">
                  <a:buNone/>
                  <a:defRPr sz="3200">
                    <a:solidFill>
                      <a:srgbClr val="17365D"/>
                    </a:solidFill>
                    <a:latin typeface="Cambria Math"/>
                    <a:ea typeface="Cambria Math"/>
                    <a:cs typeface="Cambria Math"/>
                  </a:defRPr>
                </a:lvl9pPr>
              </a:lstStyle>
              <a:p>
                <a:pPr>
                  <a:buNone/>
                  <a:defRPr sz="3200">
                    <a:solidFill>
                      <a:srgbClr val="17365D"/>
                    </a:solidFill>
                  </a:defRPr>
                </a:pPr>
                <a14:m>
                  <m:oMathPara xmlns:m="http://schemas.openxmlformats.org/officeDocument/2006/math">
                    <m:oMath>
                      <m:sSub>
                        <m:sSubPr>
                          <m:ctrlPr>
                            <a:rPr>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𝑋</m:t>
                              </m:r>
                            </m:e>
                          </m:acc>
                        </m:e>
                        <m:sub>
                          <m:r>
                            <a:rPr>
                              <a:latin typeface="Cambria Math" panose="02040503050406030204" pitchFamily="18" charset="0"/>
                            </a:rPr>
                            <m:t>𝑛</m:t>
                          </m:r>
                        </m:sub>
                      </m:sSub>
                      <m:r>
                        <a:rPr>
                          <a:latin typeface="Cambria Math" panose="02040503050406030204" pitchFamily="18" charset="0"/>
                        </a:rPr>
                        <m:t>≈</m:t>
                      </m:r>
                      <m:r>
                        <a:rPr>
                          <a:latin typeface="Cambria Math" panose="02040503050406030204" pitchFamily="18" charset="0"/>
                        </a:rPr>
                        <m:t>𝑁</m:t>
                      </m:r>
                      <m:d>
                        <m:dPr>
                          <m:ctrlPr>
                            <a:rPr>
                              <a:latin typeface="Cambria Math" panose="02040503050406030204" pitchFamily="18" charset="0"/>
                            </a:rPr>
                          </m:ctrlPr>
                        </m:dPr>
                        <m:e>
                          <m:r>
                            <a:rPr>
                              <a:latin typeface="Cambria Math" panose="02040503050406030204" pitchFamily="18" charset="0"/>
                            </a:rPr>
                            <m:t>𝜇</m:t>
                          </m:r>
                          <m:r>
                            <a:rPr>
                              <a:latin typeface="Cambria Math" panose="02040503050406030204" pitchFamily="18" charset="0"/>
                            </a:rPr>
                            <m:t>,</m:t>
                          </m:r>
                          <m:f>
                            <m:fPr>
                              <m:ctrlPr>
                                <a:rPr i="1">
                                  <a:latin typeface="Cambria Math" panose="02040503050406030204" pitchFamily="18" charset="0"/>
                                </a:rPr>
                              </m:ctrlPr>
                            </m:fPr>
                            <m:num>
                              <m:sSup>
                                <m:sSupPr>
                                  <m:ctrlPr>
                                    <a:rPr>
                                      <a:latin typeface="Cambria Math" panose="02040503050406030204" pitchFamily="18" charset="0"/>
                                    </a:rPr>
                                  </m:ctrlPr>
                                </m:sSupPr>
                                <m:e>
                                  <m:r>
                                    <a:rPr>
                                      <a:latin typeface="Cambria Math" panose="02040503050406030204" pitchFamily="18" charset="0"/>
                                    </a:rPr>
                                    <m:t>𝜎</m:t>
                                  </m:r>
                                </m:e>
                                <m:sup>
                                  <m:r>
                                    <a:rPr>
                                      <a:latin typeface="Cambria Math" panose="02040503050406030204" pitchFamily="18" charset="0"/>
                                    </a:rPr>
                                    <m:t>2</m:t>
                                  </m:r>
                                </m:sup>
                              </m:sSup>
                            </m:num>
                            <m:den>
                              <m:r>
                                <a:rPr>
                                  <a:latin typeface="Cambria Math" panose="02040503050406030204" pitchFamily="18" charset="0"/>
                                </a:rPr>
                                <m:t>𝑛</m:t>
                              </m:r>
                            </m:den>
                          </m:f>
                        </m:e>
                      </m:d>
                    </m:oMath>
                  </m:oMathPara>
                </a14:m>
                <a:endParaRPr/>
              </a:p>
            </p:txBody>
          </p:sp>
        </mc:Choice>
        <mc:Fallback>
          <p:sp>
            <p:nvSpPr>
              <p:cNvPr id="7" name="EQ_022">
                <a:extLst>
                  <a:ext uri="{FF2B5EF4-FFF2-40B4-BE49-F238E27FC236}">
                    <a16:creationId xmlns:a16="http://schemas.microsoft.com/office/drawing/2014/main" id="{1AC9ADD1-1B16-4FFF-81E1-A12E647DB5D6}"/>
                  </a:ext>
                </a:extLst>
              </p:cNvPr>
              <p:cNvSpPr>
                <a:spLocks noGrp="1" noRot="1" noChangeAspect="1" noMove="1" noResize="1" noEditPoints="1" noAdjustHandles="1" noChangeArrowheads="1" noChangeShapeType="1" noTextEdit="1"/>
              </p:cNvSpPr>
              <p:nvPr/>
            </p:nvSpPr>
            <p:spPr>
              <a:xfrm>
                <a:off x="857250" y="4457700"/>
                <a:ext cx="10477500" cy="952500"/>
              </a:xfrm>
              <a:prstGeom prst="rect">
                <a:avLst/>
              </a:prstGeom>
              <a:blipFill>
                <a:blip r:embed="rId4"/>
                <a:stretch>
                  <a:fillRect b="-1274"/>
                </a:stretch>
              </a:blipFill>
              <a:ln w="0">
                <a:noFill/>
              </a:ln>
            </p:spPr>
            <p:txBody>
              <a:bodyPr/>
              <a:lstStyle/>
              <a:p>
                <a:r>
                  <a:rPr lang="en-GB">
                    <a:noFill/>
                  </a:rPr>
                  <a:t> </a:t>
                </a:r>
              </a:p>
            </p:txBody>
          </p:sp>
        </mc:Fallback>
      </mc:AlternateContent>
      <p:sp>
        <p:nvSpPr>
          <p:cNvPr id="8" name="text-7">
            <a:extLst>
              <a:ext uri="{FF2B5EF4-FFF2-40B4-BE49-F238E27FC236}">
                <a16:creationId xmlns:a16="http://schemas.microsoft.com/office/drawing/2014/main" id="{A4850724-9835-4C8E-9275-5E11B21A6B37}"/>
              </a:ext>
            </a:extLst>
          </p:cNvPr>
          <p:cNvSpPr>
            <a:spLocks noGrp="1"/>
          </p:cNvSpPr>
          <p:nvPr/>
        </p:nvSpPr>
        <p:spPr>
          <a:xfrm>
            <a:off x="857250" y="5715000"/>
            <a:ext cx="10477500" cy="609600"/>
          </a:xfrm>
          <a:prstGeom prst="rect">
            <a:avLst/>
          </a:prstGeom>
          <a:noFill/>
          <a:ln w="0">
            <a:noFill/>
          </a:ln>
        </p:spPr>
        <p:txBody>
          <a:bodyPr wrap="square" lIns="0" tIns="0" rIns="0" bIns="0" anchor="t">
            <a:noAutofit/>
          </a:bodyPr>
          <a:lstStyle>
            <a:lvl1pPr>
              <a:buNone/>
              <a:defRPr sz="2025" b="0">
                <a:solidFill>
                  <a:srgbClr val="526171"/>
                </a:solidFill>
                <a:latin typeface="Aptos"/>
                <a:ea typeface="Aptos"/>
                <a:cs typeface="Aptos"/>
              </a:defRPr>
            </a:lvl1pPr>
            <a:lvl2pPr>
              <a:buNone/>
              <a:defRPr sz="2025" b="0">
                <a:solidFill>
                  <a:srgbClr val="526171"/>
                </a:solidFill>
                <a:latin typeface="Aptos"/>
                <a:ea typeface="Aptos"/>
                <a:cs typeface="Aptos"/>
              </a:defRPr>
            </a:lvl2pPr>
            <a:lvl3pPr>
              <a:buNone/>
              <a:defRPr sz="2025" b="0">
                <a:solidFill>
                  <a:srgbClr val="526171"/>
                </a:solidFill>
                <a:latin typeface="Aptos"/>
                <a:ea typeface="Aptos"/>
                <a:cs typeface="Aptos"/>
              </a:defRPr>
            </a:lvl3pPr>
            <a:lvl4pPr>
              <a:buNone/>
              <a:defRPr sz="2025" b="0">
                <a:solidFill>
                  <a:srgbClr val="526171"/>
                </a:solidFill>
                <a:latin typeface="Aptos"/>
                <a:ea typeface="Aptos"/>
                <a:cs typeface="Aptos"/>
              </a:defRPr>
            </a:lvl4pPr>
            <a:lvl5pPr>
              <a:buNone/>
              <a:defRPr sz="2025" b="0">
                <a:solidFill>
                  <a:srgbClr val="526171"/>
                </a:solidFill>
                <a:latin typeface="Aptos"/>
                <a:ea typeface="Aptos"/>
                <a:cs typeface="Aptos"/>
              </a:defRPr>
            </a:lvl5pPr>
            <a:lvl6pPr>
              <a:buNone/>
              <a:defRPr sz="2025" b="0">
                <a:solidFill>
                  <a:srgbClr val="526171"/>
                </a:solidFill>
                <a:latin typeface="Aptos"/>
                <a:ea typeface="Aptos"/>
                <a:cs typeface="Aptos"/>
              </a:defRPr>
            </a:lvl6pPr>
            <a:lvl7pPr>
              <a:buNone/>
              <a:defRPr sz="2025" b="0">
                <a:solidFill>
                  <a:srgbClr val="526171"/>
                </a:solidFill>
                <a:latin typeface="Aptos"/>
                <a:ea typeface="Aptos"/>
                <a:cs typeface="Aptos"/>
              </a:defRPr>
            </a:lvl7pPr>
            <a:lvl8pPr>
              <a:buNone/>
              <a:defRPr sz="2025" b="0">
                <a:solidFill>
                  <a:srgbClr val="526171"/>
                </a:solidFill>
                <a:latin typeface="Aptos"/>
                <a:ea typeface="Aptos"/>
                <a:cs typeface="Aptos"/>
              </a:defRPr>
            </a:lvl8pPr>
            <a:lvl9pPr>
              <a:buNone/>
              <a:defRPr sz="2025" b="0">
                <a:solidFill>
                  <a:srgbClr val="526171"/>
                </a:solidFill>
                <a:latin typeface="Aptos"/>
                <a:ea typeface="Aptos"/>
                <a:cs typeface="Aptos"/>
              </a:defRPr>
            </a:lvl9pPr>
          </a:lstStyle>
          <a:p>
            <a:pPr>
              <a:buNone/>
              <a:defRPr sz="2025" b="0">
                <a:solidFill>
                  <a:srgbClr val="526171"/>
                </a:solidFill>
                <a:latin typeface="Aptos"/>
                <a:ea typeface="Aptos"/>
                <a:cs typeface="Aptos"/>
              </a:defRPr>
            </a:pPr>
            <a:r>
              <a:rPr sz="2025" b="0">
                <a:solidFill>
                  <a:srgbClr val="526171"/>
                </a:solidFill>
                <a:latin typeface="Aptos"/>
                <a:ea typeface="Aptos"/>
                <a:cs typeface="Aptos"/>
              </a:rPr>
              <a:t>Assume i.i.d. observations and 0 &lt; σ² &lt; ∞. In N(μ, σ²/n), the second parameter is the variance.</a:t>
            </a:r>
          </a:p>
        </p:txBody>
      </p:sp>
    </p:spTree>
    <p:extLst>
      <p:ext uri="{BB962C8B-B14F-4D97-AF65-F5344CB8AC3E}">
        <p14:creationId xmlns:p14="http://schemas.microsoft.com/office/powerpoint/2010/main" val="20907013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03A93DA7-98C9-423F-B1AE-2FE719464039}"/>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The shape of standardised sample means</a:t>
            </a:r>
          </a:p>
        </p:txBody>
      </p:sp>
      <p:sp>
        <p:nvSpPr>
          <p:cNvPr id="2" name="Straight Connector 1">
            <a:extLst>
              <a:ext uri="{FF2B5EF4-FFF2-40B4-BE49-F238E27FC236}">
                <a16:creationId xmlns:a16="http://schemas.microsoft.com/office/drawing/2014/main" id="{82B25A63-6034-481C-B2C1-6CCDFE4AB65D}"/>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DDD96195-8122-480C-9B9A-CDA3DFEC43C5}"/>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500C8701-77E4-4E6E-BF16-1A76B2320B4B}"/>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20</a:t>
            </a:r>
          </a:p>
        </p:txBody>
      </p:sp>
      <p:sp>
        <p:nvSpPr>
          <p:cNvPr id="5" name="text-4">
            <a:extLst>
              <a:ext uri="{FF2B5EF4-FFF2-40B4-BE49-F238E27FC236}">
                <a16:creationId xmlns:a16="http://schemas.microsoft.com/office/drawing/2014/main" id="{81BB40CC-AA3E-4D59-BE30-5B72201C0A4E}"/>
              </a:ext>
            </a:extLst>
          </p:cNvPr>
          <p:cNvSpPr>
            <a:spLocks noGrp="1"/>
          </p:cNvSpPr>
          <p:nvPr/>
        </p:nvSpPr>
        <p:spPr>
          <a:xfrm>
            <a:off x="857250" y="1600200"/>
            <a:ext cx="5048250" cy="457200"/>
          </a:xfrm>
          <a:prstGeom prst="rect">
            <a:avLst/>
          </a:prstGeom>
          <a:noFill/>
          <a:ln w="0">
            <a:noFill/>
          </a:ln>
        </p:spPr>
        <p:txBody>
          <a:bodyPr wrap="square" lIns="0" tIns="0" rIns="0" bIns="0" anchor="t">
            <a:noAutofit/>
          </a:bodyPr>
          <a:lstStyle>
            <a:lvl1pPr>
              <a:buNone/>
              <a:defRPr sz="2325" b="1">
                <a:solidFill>
                  <a:srgbClr val="17365D"/>
                </a:solidFill>
                <a:latin typeface="Aptos"/>
                <a:ea typeface="Aptos"/>
                <a:cs typeface="Aptos"/>
              </a:defRPr>
            </a:lvl1pPr>
            <a:lvl2pPr>
              <a:buNone/>
              <a:defRPr sz="2325" b="1">
                <a:solidFill>
                  <a:srgbClr val="17365D"/>
                </a:solidFill>
                <a:latin typeface="Aptos"/>
                <a:ea typeface="Aptos"/>
                <a:cs typeface="Aptos"/>
              </a:defRPr>
            </a:lvl2pPr>
            <a:lvl3pPr>
              <a:buNone/>
              <a:defRPr sz="2325" b="1">
                <a:solidFill>
                  <a:srgbClr val="17365D"/>
                </a:solidFill>
                <a:latin typeface="Aptos"/>
                <a:ea typeface="Aptos"/>
                <a:cs typeface="Aptos"/>
              </a:defRPr>
            </a:lvl3pPr>
            <a:lvl4pPr>
              <a:buNone/>
              <a:defRPr sz="2325" b="1">
                <a:solidFill>
                  <a:srgbClr val="17365D"/>
                </a:solidFill>
                <a:latin typeface="Aptos"/>
                <a:ea typeface="Aptos"/>
                <a:cs typeface="Aptos"/>
              </a:defRPr>
            </a:lvl4pPr>
            <a:lvl5pPr>
              <a:buNone/>
              <a:defRPr sz="2325" b="1">
                <a:solidFill>
                  <a:srgbClr val="17365D"/>
                </a:solidFill>
                <a:latin typeface="Aptos"/>
                <a:ea typeface="Aptos"/>
                <a:cs typeface="Aptos"/>
              </a:defRPr>
            </a:lvl5pPr>
            <a:lvl6pPr>
              <a:buNone/>
              <a:defRPr sz="2325" b="1">
                <a:solidFill>
                  <a:srgbClr val="17365D"/>
                </a:solidFill>
                <a:latin typeface="Aptos"/>
                <a:ea typeface="Aptos"/>
                <a:cs typeface="Aptos"/>
              </a:defRPr>
            </a:lvl6pPr>
            <a:lvl7pPr>
              <a:buNone/>
              <a:defRPr sz="2325" b="1">
                <a:solidFill>
                  <a:srgbClr val="17365D"/>
                </a:solidFill>
                <a:latin typeface="Aptos"/>
                <a:ea typeface="Aptos"/>
                <a:cs typeface="Aptos"/>
              </a:defRPr>
            </a:lvl7pPr>
            <a:lvl8pPr>
              <a:buNone/>
              <a:defRPr sz="2325" b="1">
                <a:solidFill>
                  <a:srgbClr val="17365D"/>
                </a:solidFill>
                <a:latin typeface="Aptos"/>
                <a:ea typeface="Aptos"/>
                <a:cs typeface="Aptos"/>
              </a:defRPr>
            </a:lvl8pPr>
            <a:lvl9pPr>
              <a:buNone/>
              <a:defRPr sz="2325" b="1">
                <a:solidFill>
                  <a:srgbClr val="17365D"/>
                </a:solidFill>
                <a:latin typeface="Aptos"/>
                <a:ea typeface="Aptos"/>
                <a:cs typeface="Aptos"/>
              </a:defRPr>
            </a:lvl9pPr>
          </a:lstStyle>
          <a:p>
            <a:pPr>
              <a:buNone/>
              <a:defRPr sz="2325" b="1">
                <a:solidFill>
                  <a:srgbClr val="17365D"/>
                </a:solidFill>
                <a:latin typeface="Aptos"/>
                <a:ea typeface="Aptos"/>
                <a:cs typeface="Aptos"/>
              </a:defRPr>
            </a:pPr>
            <a:r>
              <a:rPr sz="2325" b="1">
                <a:solidFill>
                  <a:srgbClr val="17365D"/>
                </a:solidFill>
                <a:latin typeface="Aptos"/>
                <a:ea typeface="Aptos"/>
                <a:cs typeface="Aptos"/>
              </a:rPr>
              <a:t>Sample size n = 2</a:t>
            </a:r>
          </a:p>
        </p:txBody>
      </p:sp>
      <p:graphicFrame>
        <p:nvGraphicFramePr>
          <p:cNvPr id="18" name="Chart"/>
          <p:cNvGraphicFramePr/>
          <p:nvPr/>
        </p:nvGraphicFramePr>
        <p:xfrm>
          <a:off x="666750" y="2247900"/>
          <a:ext cx="5286375" cy="3000375"/>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5">
            <a:extLst>
              <a:ext uri="{FF2B5EF4-FFF2-40B4-BE49-F238E27FC236}">
                <a16:creationId xmlns:a16="http://schemas.microsoft.com/office/drawing/2014/main" id="{5E53E9A7-9989-4F6F-BF3B-BDDD997EDFDD}"/>
              </a:ext>
            </a:extLst>
          </p:cNvPr>
          <p:cNvSpPr>
            <a:spLocks noGrp="1"/>
          </p:cNvSpPr>
          <p:nvPr/>
        </p:nvSpPr>
        <p:spPr>
          <a:xfrm>
            <a:off x="6286500" y="1600200"/>
            <a:ext cx="5048250" cy="457200"/>
          </a:xfrm>
          <a:prstGeom prst="rect">
            <a:avLst/>
          </a:prstGeom>
          <a:noFill/>
          <a:ln w="0">
            <a:noFill/>
          </a:ln>
        </p:spPr>
        <p:txBody>
          <a:bodyPr wrap="square" lIns="0" tIns="0" rIns="0" bIns="0" anchor="t">
            <a:noAutofit/>
          </a:bodyPr>
          <a:lstStyle>
            <a:lvl1pPr>
              <a:buNone/>
              <a:defRPr sz="2325" b="1">
                <a:solidFill>
                  <a:srgbClr val="17365D"/>
                </a:solidFill>
                <a:latin typeface="Aptos"/>
                <a:ea typeface="Aptos"/>
                <a:cs typeface="Aptos"/>
              </a:defRPr>
            </a:lvl1pPr>
            <a:lvl2pPr>
              <a:buNone/>
              <a:defRPr sz="2325" b="1">
                <a:solidFill>
                  <a:srgbClr val="17365D"/>
                </a:solidFill>
                <a:latin typeface="Aptos"/>
                <a:ea typeface="Aptos"/>
                <a:cs typeface="Aptos"/>
              </a:defRPr>
            </a:lvl2pPr>
            <a:lvl3pPr>
              <a:buNone/>
              <a:defRPr sz="2325" b="1">
                <a:solidFill>
                  <a:srgbClr val="17365D"/>
                </a:solidFill>
                <a:latin typeface="Aptos"/>
                <a:ea typeface="Aptos"/>
                <a:cs typeface="Aptos"/>
              </a:defRPr>
            </a:lvl3pPr>
            <a:lvl4pPr>
              <a:buNone/>
              <a:defRPr sz="2325" b="1">
                <a:solidFill>
                  <a:srgbClr val="17365D"/>
                </a:solidFill>
                <a:latin typeface="Aptos"/>
                <a:ea typeface="Aptos"/>
                <a:cs typeface="Aptos"/>
              </a:defRPr>
            </a:lvl4pPr>
            <a:lvl5pPr>
              <a:buNone/>
              <a:defRPr sz="2325" b="1">
                <a:solidFill>
                  <a:srgbClr val="17365D"/>
                </a:solidFill>
                <a:latin typeface="Aptos"/>
                <a:ea typeface="Aptos"/>
                <a:cs typeface="Aptos"/>
              </a:defRPr>
            </a:lvl5pPr>
            <a:lvl6pPr>
              <a:buNone/>
              <a:defRPr sz="2325" b="1">
                <a:solidFill>
                  <a:srgbClr val="17365D"/>
                </a:solidFill>
                <a:latin typeface="Aptos"/>
                <a:ea typeface="Aptos"/>
                <a:cs typeface="Aptos"/>
              </a:defRPr>
            </a:lvl6pPr>
            <a:lvl7pPr>
              <a:buNone/>
              <a:defRPr sz="2325" b="1">
                <a:solidFill>
                  <a:srgbClr val="17365D"/>
                </a:solidFill>
                <a:latin typeface="Aptos"/>
                <a:ea typeface="Aptos"/>
                <a:cs typeface="Aptos"/>
              </a:defRPr>
            </a:lvl7pPr>
            <a:lvl8pPr>
              <a:buNone/>
              <a:defRPr sz="2325" b="1">
                <a:solidFill>
                  <a:srgbClr val="17365D"/>
                </a:solidFill>
                <a:latin typeface="Aptos"/>
                <a:ea typeface="Aptos"/>
                <a:cs typeface="Aptos"/>
              </a:defRPr>
            </a:lvl8pPr>
            <a:lvl9pPr>
              <a:buNone/>
              <a:defRPr sz="2325" b="1">
                <a:solidFill>
                  <a:srgbClr val="17365D"/>
                </a:solidFill>
                <a:latin typeface="Aptos"/>
                <a:ea typeface="Aptos"/>
                <a:cs typeface="Aptos"/>
              </a:defRPr>
            </a:lvl9pPr>
          </a:lstStyle>
          <a:p>
            <a:pPr>
              <a:buNone/>
              <a:defRPr sz="2325" b="1">
                <a:solidFill>
                  <a:srgbClr val="17365D"/>
                </a:solidFill>
                <a:latin typeface="Aptos"/>
                <a:ea typeface="Aptos"/>
                <a:cs typeface="Aptos"/>
              </a:defRPr>
            </a:pPr>
            <a:r>
              <a:rPr sz="2325" b="1">
                <a:solidFill>
                  <a:srgbClr val="17365D"/>
                </a:solidFill>
                <a:latin typeface="Aptos"/>
                <a:ea typeface="Aptos"/>
                <a:cs typeface="Aptos"/>
              </a:rPr>
              <a:t>Sample size n = 30</a:t>
            </a:r>
          </a:p>
        </p:txBody>
      </p:sp>
      <p:graphicFrame>
        <p:nvGraphicFramePr>
          <p:cNvPr id="20" name="Chart"/>
          <p:cNvGraphicFramePr/>
          <p:nvPr/>
        </p:nvGraphicFramePr>
        <p:xfrm>
          <a:off x="6096000" y="2247900"/>
          <a:ext cx="5286375" cy="3000375"/>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6">
            <a:extLst>
              <a:ext uri="{FF2B5EF4-FFF2-40B4-BE49-F238E27FC236}">
                <a16:creationId xmlns:a16="http://schemas.microsoft.com/office/drawing/2014/main" id="{C97C211D-EA32-40E9-A1F4-DCEF58FFF271}"/>
              </a:ext>
            </a:extLst>
          </p:cNvPr>
          <p:cNvSpPr>
            <a:spLocks noGrp="1"/>
          </p:cNvSpPr>
          <p:nvPr/>
        </p:nvSpPr>
        <p:spPr>
          <a:xfrm>
            <a:off x="857250" y="5610225"/>
            <a:ext cx="10477500" cy="571500"/>
          </a:xfrm>
          <a:prstGeom prst="rect">
            <a:avLst/>
          </a:prstGeom>
          <a:noFill/>
          <a:ln w="0">
            <a:noFill/>
          </a:ln>
        </p:spPr>
        <p:txBody>
          <a:bodyPr wrap="square" lIns="0" tIns="0" rIns="0" bIns="0" anchor="t">
            <a:noAutofit/>
          </a:bodyPr>
          <a:lstStyle>
            <a:lvl1pPr>
              <a:buNone/>
              <a:defRPr sz="2325" b="0">
                <a:solidFill>
                  <a:srgbClr val="17365D"/>
                </a:solidFill>
                <a:latin typeface="Aptos"/>
                <a:ea typeface="Aptos"/>
                <a:cs typeface="Aptos"/>
              </a:defRPr>
            </a:lvl1pPr>
            <a:lvl2pPr>
              <a:buNone/>
              <a:defRPr sz="2325" b="0">
                <a:solidFill>
                  <a:srgbClr val="17365D"/>
                </a:solidFill>
                <a:latin typeface="Aptos"/>
                <a:ea typeface="Aptos"/>
                <a:cs typeface="Aptos"/>
              </a:defRPr>
            </a:lvl2pPr>
            <a:lvl3pPr>
              <a:buNone/>
              <a:defRPr sz="2325" b="0">
                <a:solidFill>
                  <a:srgbClr val="17365D"/>
                </a:solidFill>
                <a:latin typeface="Aptos"/>
                <a:ea typeface="Aptos"/>
                <a:cs typeface="Aptos"/>
              </a:defRPr>
            </a:lvl3pPr>
            <a:lvl4pPr>
              <a:buNone/>
              <a:defRPr sz="2325" b="0">
                <a:solidFill>
                  <a:srgbClr val="17365D"/>
                </a:solidFill>
                <a:latin typeface="Aptos"/>
                <a:ea typeface="Aptos"/>
                <a:cs typeface="Aptos"/>
              </a:defRPr>
            </a:lvl4pPr>
            <a:lvl5pPr>
              <a:buNone/>
              <a:defRPr sz="2325" b="0">
                <a:solidFill>
                  <a:srgbClr val="17365D"/>
                </a:solidFill>
                <a:latin typeface="Aptos"/>
                <a:ea typeface="Aptos"/>
                <a:cs typeface="Aptos"/>
              </a:defRPr>
            </a:lvl5pPr>
            <a:lvl6pPr>
              <a:buNone/>
              <a:defRPr sz="2325" b="0">
                <a:solidFill>
                  <a:srgbClr val="17365D"/>
                </a:solidFill>
                <a:latin typeface="Aptos"/>
                <a:ea typeface="Aptos"/>
                <a:cs typeface="Aptos"/>
              </a:defRPr>
            </a:lvl6pPr>
            <a:lvl7pPr>
              <a:buNone/>
              <a:defRPr sz="2325" b="0">
                <a:solidFill>
                  <a:srgbClr val="17365D"/>
                </a:solidFill>
                <a:latin typeface="Aptos"/>
                <a:ea typeface="Aptos"/>
                <a:cs typeface="Aptos"/>
              </a:defRPr>
            </a:lvl7pPr>
            <a:lvl8pPr>
              <a:buNone/>
              <a:defRPr sz="2325" b="0">
                <a:solidFill>
                  <a:srgbClr val="17365D"/>
                </a:solidFill>
                <a:latin typeface="Aptos"/>
                <a:ea typeface="Aptos"/>
                <a:cs typeface="Aptos"/>
              </a:defRPr>
            </a:lvl8pPr>
            <a:lvl9pPr>
              <a:buNone/>
              <a:defRPr sz="2325" b="0">
                <a:solidFill>
                  <a:srgbClr val="17365D"/>
                </a:solidFill>
                <a:latin typeface="Aptos"/>
                <a:ea typeface="Aptos"/>
                <a:cs typeface="Aptos"/>
              </a:defRPr>
            </a:lvl9pPr>
          </a:lstStyle>
          <a:p>
            <a:pPr>
              <a:buNone/>
              <a:defRPr sz="2325" b="0">
                <a:solidFill>
                  <a:srgbClr val="17365D"/>
                </a:solidFill>
                <a:latin typeface="Aptos"/>
                <a:ea typeface="Aptos"/>
                <a:cs typeface="Aptos"/>
              </a:defRPr>
            </a:pPr>
            <a:r>
              <a:rPr sz="2325" b="0">
                <a:solidFill>
                  <a:srgbClr val="17365D"/>
                </a:solidFill>
                <a:latin typeface="Aptos"/>
                <a:ea typeface="Aptos"/>
                <a:cs typeface="Aptos"/>
              </a:rPr>
              <a:t>The original observations follow Uniform(0,1) in both experiments.</a:t>
            </a:r>
          </a:p>
        </p:txBody>
      </p:sp>
      <p:sp>
        <p:nvSpPr>
          <p:cNvPr id="21" name="notebook-cue-slide-20">
            <a:extLst>
              <a:ext uri="{FF2B5EF4-FFF2-40B4-BE49-F238E27FC236}">
                <a16:creationId xmlns:a16="http://schemas.microsoft.com/office/drawing/2014/main" id="{41551102-8252-4716-9DD3-12064437BAB0}"/>
              </a:ext>
            </a:extLst>
          </p:cNvPr>
          <p:cNvSpPr>
            <a:spLocks noGrp="1"/>
          </p:cNvSpPr>
          <p:nvPr/>
        </p:nvSpPr>
        <p:spPr>
          <a:xfrm>
            <a:off x="2952750" y="6429375"/>
            <a:ext cx="7620000" cy="295275"/>
          </a:xfrm>
          <a:prstGeom prst="rect">
            <a:avLst/>
          </a:prstGeom>
          <a:noFill/>
          <a:ln w="0">
            <a:noFill/>
          </a:ln>
        </p:spPr>
        <p:txBody>
          <a:bodyPr wrap="none" lIns="0" tIns="0" rIns="0" bIns="0" anchor="ctr">
            <a:noAutofit/>
          </a:bodyPr>
          <a:lstStyle>
            <a:defPPr algn="ctr">
              <a:defRPr sz="1650" b="1">
                <a:solidFill>
                  <a:srgbClr val="2F6F4E"/>
                </a:solidFill>
                <a:latin typeface="Aptos"/>
                <a:ea typeface="Aptos"/>
                <a:cs typeface="Aptos"/>
              </a:defRPr>
            </a:defPPr>
            <a:lvl1pPr algn="ctr">
              <a:defRPr sz="1650" b="1">
                <a:solidFill>
                  <a:srgbClr val="2F6F4E"/>
                </a:solidFill>
                <a:latin typeface="Aptos"/>
                <a:ea typeface="Aptos"/>
                <a:cs typeface="Aptos"/>
              </a:defRPr>
            </a:lvl1pPr>
            <a:lvl2pPr algn="ctr">
              <a:defRPr sz="1650" b="1">
                <a:solidFill>
                  <a:srgbClr val="2F6F4E"/>
                </a:solidFill>
                <a:latin typeface="Aptos"/>
                <a:ea typeface="Aptos"/>
                <a:cs typeface="Aptos"/>
              </a:defRPr>
            </a:lvl2pPr>
            <a:lvl3pPr algn="ctr">
              <a:defRPr sz="1650" b="1">
                <a:solidFill>
                  <a:srgbClr val="2F6F4E"/>
                </a:solidFill>
                <a:latin typeface="Aptos"/>
                <a:ea typeface="Aptos"/>
                <a:cs typeface="Aptos"/>
              </a:defRPr>
            </a:lvl3pPr>
            <a:lvl4pPr algn="ctr">
              <a:defRPr sz="1650" b="1">
                <a:solidFill>
                  <a:srgbClr val="2F6F4E"/>
                </a:solidFill>
                <a:latin typeface="Aptos"/>
                <a:ea typeface="Aptos"/>
                <a:cs typeface="Aptos"/>
              </a:defRPr>
            </a:lvl4pPr>
            <a:lvl5pPr algn="ctr">
              <a:defRPr sz="1650" b="1">
                <a:solidFill>
                  <a:srgbClr val="2F6F4E"/>
                </a:solidFill>
                <a:latin typeface="Aptos"/>
                <a:ea typeface="Aptos"/>
                <a:cs typeface="Aptos"/>
              </a:defRPr>
            </a:lvl5pPr>
            <a:lvl6pPr algn="ctr">
              <a:defRPr sz="1650" b="1">
                <a:solidFill>
                  <a:srgbClr val="2F6F4E"/>
                </a:solidFill>
                <a:latin typeface="Aptos"/>
                <a:ea typeface="Aptos"/>
                <a:cs typeface="Aptos"/>
              </a:defRPr>
            </a:lvl6pPr>
            <a:lvl7pPr algn="ctr">
              <a:defRPr sz="1650" b="1">
                <a:solidFill>
                  <a:srgbClr val="2F6F4E"/>
                </a:solidFill>
                <a:latin typeface="Aptos"/>
                <a:ea typeface="Aptos"/>
                <a:cs typeface="Aptos"/>
              </a:defRPr>
            </a:lvl7pPr>
            <a:lvl8pPr algn="ctr">
              <a:defRPr sz="1650" b="1">
                <a:solidFill>
                  <a:srgbClr val="2F6F4E"/>
                </a:solidFill>
                <a:latin typeface="Aptos"/>
                <a:ea typeface="Aptos"/>
                <a:cs typeface="Aptos"/>
              </a:defRPr>
            </a:lvl8pPr>
            <a:lvl9pPr algn="ctr">
              <a:defRPr sz="1650" b="1">
                <a:solidFill>
                  <a:srgbClr val="2F6F4E"/>
                </a:solidFill>
                <a:latin typeface="Aptos"/>
                <a:ea typeface="Aptos"/>
                <a:cs typeface="Aptos"/>
              </a:defRPr>
            </a:lvl9pPr>
          </a:lstStyle>
          <a:p>
            <a:pPr algn="ctr">
              <a:defRPr sz="1650" b="1">
                <a:solidFill>
                  <a:srgbClr val="2F6F4E"/>
                </a:solidFill>
                <a:latin typeface="Aptos"/>
                <a:ea typeface="Aptos"/>
                <a:cs typeface="Aptos"/>
              </a:defRPr>
            </a:pPr>
            <a:r>
              <a:rPr sz="1650" b="1">
                <a:solidFill>
                  <a:srgbClr val="2F6F4E"/>
                </a:solidFill>
                <a:latin typeface="Aptos"/>
                <a:ea typeface="Aptos"/>
                <a:cs typeface="Aptos"/>
              </a:rPr>
              <a:t>Notebook: Slide 20</a:t>
            </a:r>
          </a:p>
        </p:txBody>
      </p:sp>
    </p:spTree>
    <p:extLst>
      <p:ext uri="{BB962C8B-B14F-4D97-AF65-F5344CB8AC3E}">
        <p14:creationId xmlns:p14="http://schemas.microsoft.com/office/powerpoint/2010/main" val="595917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D713F45A-6763-4FDB-9E95-DB0616D00BEB}"/>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Exact normality and a CLT approximation</a:t>
            </a:r>
          </a:p>
        </p:txBody>
      </p:sp>
      <p:sp>
        <p:nvSpPr>
          <p:cNvPr id="2" name="Straight Connector 1">
            <a:extLst>
              <a:ext uri="{FF2B5EF4-FFF2-40B4-BE49-F238E27FC236}">
                <a16:creationId xmlns:a16="http://schemas.microsoft.com/office/drawing/2014/main" id="{32125E86-5F86-4A81-A622-42C8B299EF34}"/>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E99EA363-7D99-4E44-AFD7-A9AEEE1867AE}"/>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4B85296E-D407-40AB-AB12-57277783B70B}"/>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21</a:t>
            </a:r>
          </a:p>
        </p:txBody>
      </p:sp>
      <p:sp>
        <p:nvSpPr>
          <p:cNvPr id="5" name="text-4">
            <a:extLst>
              <a:ext uri="{FF2B5EF4-FFF2-40B4-BE49-F238E27FC236}">
                <a16:creationId xmlns:a16="http://schemas.microsoft.com/office/drawing/2014/main" id="{769B4354-E3CE-49EC-AE0E-1CCD88717B2E}"/>
              </a:ext>
            </a:extLst>
          </p:cNvPr>
          <p:cNvSpPr>
            <a:spLocks noGrp="1"/>
          </p:cNvSpPr>
          <p:nvPr/>
        </p:nvSpPr>
        <p:spPr>
          <a:xfrm>
            <a:off x="857250" y="1714500"/>
            <a:ext cx="10477500" cy="457200"/>
          </a:xfrm>
          <a:prstGeom prst="rect">
            <a:avLst/>
          </a:prstGeom>
          <a:noFill/>
          <a:ln w="0">
            <a:noFill/>
          </a:ln>
        </p:spPr>
        <p:txBody>
          <a:bodyPr wrap="square" lIns="0" tIns="0" rIns="0" bIns="0" anchor="t">
            <a:noAutofit/>
          </a:bodyPr>
          <a:lstStyle>
            <a:lvl1pPr>
              <a:buNone/>
              <a:defRPr sz="2550" b="1">
                <a:solidFill>
                  <a:srgbClr val="2D75A3"/>
                </a:solidFill>
                <a:latin typeface="Aptos"/>
                <a:ea typeface="Aptos"/>
                <a:cs typeface="Aptos"/>
              </a:defRPr>
            </a:lvl1pPr>
            <a:lvl2pPr>
              <a:buNone/>
              <a:defRPr sz="2550" b="1">
                <a:solidFill>
                  <a:srgbClr val="2D75A3"/>
                </a:solidFill>
                <a:latin typeface="Aptos"/>
                <a:ea typeface="Aptos"/>
                <a:cs typeface="Aptos"/>
              </a:defRPr>
            </a:lvl2pPr>
            <a:lvl3pPr>
              <a:buNone/>
              <a:defRPr sz="2550" b="1">
                <a:solidFill>
                  <a:srgbClr val="2D75A3"/>
                </a:solidFill>
                <a:latin typeface="Aptos"/>
                <a:ea typeface="Aptos"/>
                <a:cs typeface="Aptos"/>
              </a:defRPr>
            </a:lvl3pPr>
            <a:lvl4pPr>
              <a:buNone/>
              <a:defRPr sz="2550" b="1">
                <a:solidFill>
                  <a:srgbClr val="2D75A3"/>
                </a:solidFill>
                <a:latin typeface="Aptos"/>
                <a:ea typeface="Aptos"/>
                <a:cs typeface="Aptos"/>
              </a:defRPr>
            </a:lvl4pPr>
            <a:lvl5pPr>
              <a:buNone/>
              <a:defRPr sz="2550" b="1">
                <a:solidFill>
                  <a:srgbClr val="2D75A3"/>
                </a:solidFill>
                <a:latin typeface="Aptos"/>
                <a:ea typeface="Aptos"/>
                <a:cs typeface="Aptos"/>
              </a:defRPr>
            </a:lvl5pPr>
            <a:lvl6pPr>
              <a:buNone/>
              <a:defRPr sz="2550" b="1">
                <a:solidFill>
                  <a:srgbClr val="2D75A3"/>
                </a:solidFill>
                <a:latin typeface="Aptos"/>
                <a:ea typeface="Aptos"/>
                <a:cs typeface="Aptos"/>
              </a:defRPr>
            </a:lvl6pPr>
            <a:lvl7pPr>
              <a:buNone/>
              <a:defRPr sz="2550" b="1">
                <a:solidFill>
                  <a:srgbClr val="2D75A3"/>
                </a:solidFill>
                <a:latin typeface="Aptos"/>
                <a:ea typeface="Aptos"/>
                <a:cs typeface="Aptos"/>
              </a:defRPr>
            </a:lvl7pPr>
            <a:lvl8pPr>
              <a:buNone/>
              <a:defRPr sz="2550" b="1">
                <a:solidFill>
                  <a:srgbClr val="2D75A3"/>
                </a:solidFill>
                <a:latin typeface="Aptos"/>
                <a:ea typeface="Aptos"/>
                <a:cs typeface="Aptos"/>
              </a:defRPr>
            </a:lvl8pPr>
            <a:lvl9pPr>
              <a:buNone/>
              <a:defRPr sz="2550" b="1">
                <a:solidFill>
                  <a:srgbClr val="2D75A3"/>
                </a:solidFill>
                <a:latin typeface="Aptos"/>
                <a:ea typeface="Aptos"/>
                <a:cs typeface="Aptos"/>
              </a:defRPr>
            </a:lvl9pPr>
          </a:lstStyle>
          <a:p>
            <a:pPr>
              <a:buNone/>
              <a:defRPr sz="2550" b="1">
                <a:solidFill>
                  <a:srgbClr val="2D75A3"/>
                </a:solidFill>
                <a:latin typeface="Aptos"/>
                <a:ea typeface="Aptos"/>
                <a:cs typeface="Aptos"/>
              </a:defRPr>
            </a:pPr>
            <a:r>
              <a:rPr sz="2550" b="1">
                <a:solidFill>
                  <a:srgbClr val="2D75A3"/>
                </a:solidFill>
                <a:latin typeface="Aptos"/>
                <a:ea typeface="Aptos"/>
                <a:cs typeface="Aptos"/>
              </a:rPr>
              <a:t>Normal observations</a:t>
            </a:r>
          </a:p>
        </p:txBody>
      </p:sp>
      <mc:AlternateContent xmlns:mc="http://schemas.openxmlformats.org/markup-compatibility/2006">
        <mc:Choice xmlns:a14="http://schemas.microsoft.com/office/drawing/2010/main" Requires="a14">
          <p:sp>
            <p:nvSpPr>
              <p:cNvPr id="6" name="EQ_023">
                <a:extLst>
                  <a:ext uri="{FF2B5EF4-FFF2-40B4-BE49-F238E27FC236}">
                    <a16:creationId xmlns:a16="http://schemas.microsoft.com/office/drawing/2014/main" id="{F8A08820-59B1-47F8-A67D-9B026827812E}"/>
                  </a:ext>
                </a:extLst>
              </p:cNvPr>
              <p:cNvSpPr>
                <a:spLocks noGrp="1"/>
              </p:cNvSpPr>
              <p:nvPr/>
            </p:nvSpPr>
            <p:spPr>
              <a:xfrm>
                <a:off x="857250" y="2362200"/>
                <a:ext cx="10477500" cy="1143000"/>
              </a:xfrm>
              <a:prstGeom prst="rect">
                <a:avLst/>
              </a:prstGeom>
              <a:noFill/>
              <a:ln w="0">
                <a:noFill/>
              </a:ln>
            </p:spPr>
            <p:txBody>
              <a:bodyPr wrap="none" lIns="0" tIns="0" rIns="0" bIns="0" anchor="ctr">
                <a:noAutofit/>
              </a:bodyPr>
              <a:lstStyle>
                <a:lvl1pPr algn="l">
                  <a:buNone/>
                  <a:defRPr sz="2700">
                    <a:solidFill>
                      <a:srgbClr val="17365D"/>
                    </a:solidFill>
                    <a:latin typeface="Cambria Math"/>
                    <a:ea typeface="Cambria Math"/>
                    <a:cs typeface="Cambria Math"/>
                  </a:defRPr>
                </a:lvl1pPr>
                <a:lvl2pPr algn="l">
                  <a:buNone/>
                  <a:defRPr sz="2700">
                    <a:solidFill>
                      <a:srgbClr val="17365D"/>
                    </a:solidFill>
                    <a:latin typeface="Cambria Math"/>
                    <a:ea typeface="Cambria Math"/>
                    <a:cs typeface="Cambria Math"/>
                  </a:defRPr>
                </a:lvl2pPr>
                <a:lvl3pPr algn="l">
                  <a:buNone/>
                  <a:defRPr sz="2700">
                    <a:solidFill>
                      <a:srgbClr val="17365D"/>
                    </a:solidFill>
                    <a:latin typeface="Cambria Math"/>
                    <a:ea typeface="Cambria Math"/>
                    <a:cs typeface="Cambria Math"/>
                  </a:defRPr>
                </a:lvl3pPr>
                <a:lvl4pPr algn="l">
                  <a:buNone/>
                  <a:defRPr sz="2700">
                    <a:solidFill>
                      <a:srgbClr val="17365D"/>
                    </a:solidFill>
                    <a:latin typeface="Cambria Math"/>
                    <a:ea typeface="Cambria Math"/>
                    <a:cs typeface="Cambria Math"/>
                  </a:defRPr>
                </a:lvl4pPr>
                <a:lvl5pPr algn="l">
                  <a:buNone/>
                  <a:defRPr sz="2700">
                    <a:solidFill>
                      <a:srgbClr val="17365D"/>
                    </a:solidFill>
                    <a:latin typeface="Cambria Math"/>
                    <a:ea typeface="Cambria Math"/>
                    <a:cs typeface="Cambria Math"/>
                  </a:defRPr>
                </a:lvl5pPr>
                <a:lvl6pPr algn="l">
                  <a:buNone/>
                  <a:defRPr sz="2700">
                    <a:solidFill>
                      <a:srgbClr val="17365D"/>
                    </a:solidFill>
                    <a:latin typeface="Cambria Math"/>
                    <a:ea typeface="Cambria Math"/>
                    <a:cs typeface="Cambria Math"/>
                  </a:defRPr>
                </a:lvl6pPr>
                <a:lvl7pPr algn="l">
                  <a:buNone/>
                  <a:defRPr sz="2700">
                    <a:solidFill>
                      <a:srgbClr val="17365D"/>
                    </a:solidFill>
                    <a:latin typeface="Cambria Math"/>
                    <a:ea typeface="Cambria Math"/>
                    <a:cs typeface="Cambria Math"/>
                  </a:defRPr>
                </a:lvl7pPr>
                <a:lvl8pPr algn="l">
                  <a:buNone/>
                  <a:defRPr sz="2700">
                    <a:solidFill>
                      <a:srgbClr val="17365D"/>
                    </a:solidFill>
                    <a:latin typeface="Cambria Math"/>
                    <a:ea typeface="Cambria Math"/>
                    <a:cs typeface="Cambria Math"/>
                  </a:defRPr>
                </a:lvl8pPr>
                <a:lvl9pPr algn="l">
                  <a:buNone/>
                  <a:defRPr sz="2700">
                    <a:solidFill>
                      <a:srgbClr val="17365D"/>
                    </a:solidFill>
                    <a:latin typeface="Cambria Math"/>
                    <a:ea typeface="Cambria Math"/>
                    <a:cs typeface="Cambria Math"/>
                  </a:defRPr>
                </a:lvl9pPr>
              </a:lstStyle>
              <a:p>
                <a:pPr>
                  <a:buNone/>
                  <a:defRPr sz="2700">
                    <a:solidFill>
                      <a:srgbClr val="17365D"/>
                    </a:solidFill>
                  </a:defRPr>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𝑋</m:t>
                          </m:r>
                        </m:e>
                        <m:sub>
                          <m:r>
                            <a:rPr>
                              <a:latin typeface="Cambria Math" panose="02040503050406030204" pitchFamily="18" charset="0"/>
                            </a:rPr>
                            <m:t>𝑖</m:t>
                          </m:r>
                        </m:sub>
                      </m:sSub>
                      <m:r>
                        <a:rPr>
                          <a:latin typeface="Cambria Math" panose="02040503050406030204" pitchFamily="18" charset="0"/>
                        </a:rPr>
                        <m:t>∼</m:t>
                      </m:r>
                      <m:r>
                        <a:rPr>
                          <a:latin typeface="Cambria Math" panose="02040503050406030204" pitchFamily="18" charset="0"/>
                        </a:rPr>
                        <m:t>𝑁</m:t>
                      </m:r>
                      <m:d>
                        <m:dPr>
                          <m:ctrlPr>
                            <a:rPr>
                              <a:latin typeface="Cambria Math" panose="02040503050406030204" pitchFamily="18" charset="0"/>
                            </a:rPr>
                          </m:ctrlPr>
                        </m:dPr>
                        <m:e>
                          <m:r>
                            <a:rPr>
                              <a:latin typeface="Cambria Math" panose="02040503050406030204" pitchFamily="18" charset="0"/>
                            </a:rPr>
                            <m:t>𝜇</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𝜎</m:t>
                              </m:r>
                            </m:e>
                            <m:sup>
                              <m:r>
                                <a:rPr>
                                  <a:latin typeface="Cambria Math" panose="02040503050406030204" pitchFamily="18" charset="0"/>
                                </a:rPr>
                                <m:t>2</m:t>
                              </m:r>
                            </m:sup>
                          </m:sSup>
                        </m:e>
                      </m:d>
                      <m:r>
                        <a:rPr>
                          <a:latin typeface="Cambria Math" panose="02040503050406030204" pitchFamily="18" charset="0"/>
                        </a:rPr>
                        <m:t>   </m:t>
                      </m:r>
                      <m:r>
                        <a:rPr>
                          <a:latin typeface="Cambria Math" panose="02040503050406030204" pitchFamily="18" charset="0"/>
                        </a:rPr>
                        <m:t>𝑖𝑚𝑝𝑙𝑖𝑒𝑠</m:t>
                      </m:r>
                      <m:r>
                        <a:rPr>
                          <a:latin typeface="Cambria Math" panose="02040503050406030204" pitchFamily="18" charset="0"/>
                        </a:rPr>
                        <m:t>   </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𝑋</m:t>
                              </m:r>
                            </m:e>
                          </m:acc>
                        </m:e>
                        <m:sub>
                          <m:r>
                            <a:rPr>
                              <a:latin typeface="Cambria Math" panose="02040503050406030204" pitchFamily="18" charset="0"/>
                            </a:rPr>
                            <m:t>𝑛</m:t>
                          </m:r>
                        </m:sub>
                      </m:sSub>
                      <m:r>
                        <a:rPr>
                          <a:latin typeface="Cambria Math" panose="02040503050406030204" pitchFamily="18" charset="0"/>
                        </a:rPr>
                        <m:t>∼</m:t>
                      </m:r>
                      <m:r>
                        <a:rPr>
                          <a:latin typeface="Cambria Math" panose="02040503050406030204" pitchFamily="18" charset="0"/>
                        </a:rPr>
                        <m:t>𝑁</m:t>
                      </m:r>
                      <m:d>
                        <m:dPr>
                          <m:ctrlPr>
                            <a:rPr>
                              <a:latin typeface="Cambria Math" panose="02040503050406030204" pitchFamily="18" charset="0"/>
                            </a:rPr>
                          </m:ctrlPr>
                        </m:dPr>
                        <m:e>
                          <m:r>
                            <a:rPr>
                              <a:latin typeface="Cambria Math" panose="02040503050406030204" pitchFamily="18" charset="0"/>
                            </a:rPr>
                            <m:t>𝜇</m:t>
                          </m:r>
                          <m:r>
                            <a:rPr>
                              <a:latin typeface="Cambria Math" panose="02040503050406030204" pitchFamily="18" charset="0"/>
                            </a:rPr>
                            <m:t>,</m:t>
                          </m:r>
                          <m:f>
                            <m:fPr>
                              <m:ctrlPr>
                                <a:rPr i="1">
                                  <a:latin typeface="Cambria Math" panose="02040503050406030204" pitchFamily="18" charset="0"/>
                                </a:rPr>
                              </m:ctrlPr>
                            </m:fPr>
                            <m:num>
                              <m:sSup>
                                <m:sSupPr>
                                  <m:ctrlPr>
                                    <a:rPr>
                                      <a:latin typeface="Cambria Math" panose="02040503050406030204" pitchFamily="18" charset="0"/>
                                    </a:rPr>
                                  </m:ctrlPr>
                                </m:sSupPr>
                                <m:e>
                                  <m:r>
                                    <a:rPr>
                                      <a:latin typeface="Cambria Math" panose="02040503050406030204" pitchFamily="18" charset="0"/>
                                    </a:rPr>
                                    <m:t>𝜎</m:t>
                                  </m:r>
                                </m:e>
                                <m:sup>
                                  <m:r>
                                    <a:rPr>
                                      <a:latin typeface="Cambria Math" panose="02040503050406030204" pitchFamily="18" charset="0"/>
                                    </a:rPr>
                                    <m:t>2</m:t>
                                  </m:r>
                                </m:sup>
                              </m:sSup>
                            </m:num>
                            <m:den>
                              <m:r>
                                <a:rPr>
                                  <a:latin typeface="Cambria Math" panose="02040503050406030204" pitchFamily="18" charset="0"/>
                                </a:rPr>
                                <m:t>𝑛</m:t>
                              </m:r>
                            </m:den>
                          </m:f>
                        </m:e>
                      </m:d>
                    </m:oMath>
                  </m:oMathPara>
                </a14:m>
                <a:endParaRPr/>
              </a:p>
            </p:txBody>
          </p:sp>
        </mc:Choice>
        <mc:Fallback>
          <p:sp>
            <p:nvSpPr>
              <p:cNvPr id="6" name="EQ_023">
                <a:extLst>
                  <a:ext uri="{FF2B5EF4-FFF2-40B4-BE49-F238E27FC236}">
                    <a16:creationId xmlns:a16="http://schemas.microsoft.com/office/drawing/2014/main" id="{F8A08820-59B1-47F8-A67D-9B026827812E}"/>
                  </a:ext>
                </a:extLst>
              </p:cNvPr>
              <p:cNvSpPr>
                <a:spLocks noGrp="1" noRot="1" noChangeAspect="1" noMove="1" noResize="1" noEditPoints="1" noAdjustHandles="1" noChangeArrowheads="1" noChangeShapeType="1" noTextEdit="1"/>
              </p:cNvSpPr>
              <p:nvPr/>
            </p:nvSpPr>
            <p:spPr>
              <a:xfrm>
                <a:off x="857250" y="2362200"/>
                <a:ext cx="10477500" cy="1143000"/>
              </a:xfrm>
              <a:prstGeom prst="rect">
                <a:avLst/>
              </a:prstGeom>
              <a:blipFill>
                <a:blip r:embed="rId3"/>
                <a:stretch>
                  <a:fillRect/>
                </a:stretch>
              </a:blipFill>
              <a:ln w="0">
                <a:noFill/>
              </a:ln>
            </p:spPr>
            <p:txBody>
              <a:bodyPr/>
              <a:lstStyle/>
              <a:p>
                <a:r>
                  <a:rPr lang="en-GB">
                    <a:noFill/>
                  </a:rPr>
                  <a:t> </a:t>
                </a:r>
              </a:p>
            </p:txBody>
          </p:sp>
        </mc:Fallback>
      </mc:AlternateContent>
      <p:sp>
        <p:nvSpPr>
          <p:cNvPr id="7" name="text-6">
            <a:extLst>
              <a:ext uri="{FF2B5EF4-FFF2-40B4-BE49-F238E27FC236}">
                <a16:creationId xmlns:a16="http://schemas.microsoft.com/office/drawing/2014/main" id="{3011B0ED-6504-4519-92A6-9A59F2FCE44B}"/>
              </a:ext>
            </a:extLst>
          </p:cNvPr>
          <p:cNvSpPr>
            <a:spLocks noGrp="1"/>
          </p:cNvSpPr>
          <p:nvPr/>
        </p:nvSpPr>
        <p:spPr>
          <a:xfrm>
            <a:off x="857250" y="3600450"/>
            <a:ext cx="10477500" cy="590550"/>
          </a:xfrm>
          <a:prstGeom prst="rect">
            <a:avLst/>
          </a:prstGeom>
          <a:noFill/>
          <a:ln w="0">
            <a:noFill/>
          </a:ln>
        </p:spPr>
        <p:txBody>
          <a:bodyPr wrap="square" lIns="0" tIns="0" rIns="0" bIns="0" anchor="t">
            <a:noAutofit/>
          </a:bodyPr>
          <a:lstStyle>
            <a:lvl1pPr>
              <a:buNone/>
              <a:defRPr sz="2175" b="0">
                <a:solidFill>
                  <a:srgbClr val="17365D"/>
                </a:solidFill>
                <a:latin typeface="Aptos"/>
                <a:ea typeface="Aptos"/>
                <a:cs typeface="Aptos"/>
              </a:defRPr>
            </a:lvl1pPr>
            <a:lvl2pPr>
              <a:buNone/>
              <a:defRPr sz="2175" b="0">
                <a:solidFill>
                  <a:srgbClr val="17365D"/>
                </a:solidFill>
                <a:latin typeface="Aptos"/>
                <a:ea typeface="Aptos"/>
                <a:cs typeface="Aptos"/>
              </a:defRPr>
            </a:lvl2pPr>
            <a:lvl3pPr>
              <a:buNone/>
              <a:defRPr sz="2175" b="0">
                <a:solidFill>
                  <a:srgbClr val="17365D"/>
                </a:solidFill>
                <a:latin typeface="Aptos"/>
                <a:ea typeface="Aptos"/>
                <a:cs typeface="Aptos"/>
              </a:defRPr>
            </a:lvl3pPr>
            <a:lvl4pPr>
              <a:buNone/>
              <a:defRPr sz="2175" b="0">
                <a:solidFill>
                  <a:srgbClr val="17365D"/>
                </a:solidFill>
                <a:latin typeface="Aptos"/>
                <a:ea typeface="Aptos"/>
                <a:cs typeface="Aptos"/>
              </a:defRPr>
            </a:lvl4pPr>
            <a:lvl5pPr>
              <a:buNone/>
              <a:defRPr sz="2175" b="0">
                <a:solidFill>
                  <a:srgbClr val="17365D"/>
                </a:solidFill>
                <a:latin typeface="Aptos"/>
                <a:ea typeface="Aptos"/>
                <a:cs typeface="Aptos"/>
              </a:defRPr>
            </a:lvl5pPr>
            <a:lvl6pPr>
              <a:buNone/>
              <a:defRPr sz="2175" b="0">
                <a:solidFill>
                  <a:srgbClr val="17365D"/>
                </a:solidFill>
                <a:latin typeface="Aptos"/>
                <a:ea typeface="Aptos"/>
                <a:cs typeface="Aptos"/>
              </a:defRPr>
            </a:lvl6pPr>
            <a:lvl7pPr>
              <a:buNone/>
              <a:defRPr sz="2175" b="0">
                <a:solidFill>
                  <a:srgbClr val="17365D"/>
                </a:solidFill>
                <a:latin typeface="Aptos"/>
                <a:ea typeface="Aptos"/>
                <a:cs typeface="Aptos"/>
              </a:defRPr>
            </a:lvl7pPr>
            <a:lvl8pPr>
              <a:buNone/>
              <a:defRPr sz="2175" b="0">
                <a:solidFill>
                  <a:srgbClr val="17365D"/>
                </a:solidFill>
                <a:latin typeface="Aptos"/>
                <a:ea typeface="Aptos"/>
                <a:cs typeface="Aptos"/>
              </a:defRPr>
            </a:lvl8pPr>
            <a:lvl9pPr>
              <a:buNone/>
              <a:defRPr sz="2175" b="0">
                <a:solidFill>
                  <a:srgbClr val="17365D"/>
                </a:solidFill>
                <a:latin typeface="Aptos"/>
                <a:ea typeface="Aptos"/>
                <a:cs typeface="Aptos"/>
              </a:defRPr>
            </a:lvl9pPr>
          </a:lstStyle>
          <a:p>
            <a:pPr>
              <a:buNone/>
              <a:defRPr sz="2175" b="0">
                <a:solidFill>
                  <a:srgbClr val="17365D"/>
                </a:solidFill>
                <a:latin typeface="Aptos"/>
                <a:ea typeface="Aptos"/>
                <a:cs typeface="Aptos"/>
              </a:defRPr>
            </a:pPr>
            <a:r>
              <a:rPr sz="2175" b="0">
                <a:solidFill>
                  <a:srgbClr val="17365D"/>
                </a:solidFill>
                <a:latin typeface="Aptos"/>
                <a:ea typeface="Aptos"/>
                <a:cs typeface="Aptos"/>
              </a:rPr>
              <a:t>The distribution of the mean is exactly normal for every sample size.</a:t>
            </a:r>
          </a:p>
        </p:txBody>
      </p:sp>
      <p:sp>
        <p:nvSpPr>
          <p:cNvPr id="8" name="text-7">
            <a:extLst>
              <a:ext uri="{FF2B5EF4-FFF2-40B4-BE49-F238E27FC236}">
                <a16:creationId xmlns:a16="http://schemas.microsoft.com/office/drawing/2014/main" id="{2C339547-2CA2-4F9D-B31C-41791224C668}"/>
              </a:ext>
            </a:extLst>
          </p:cNvPr>
          <p:cNvSpPr>
            <a:spLocks noGrp="1"/>
          </p:cNvSpPr>
          <p:nvPr/>
        </p:nvSpPr>
        <p:spPr>
          <a:xfrm>
            <a:off x="857250" y="4572000"/>
            <a:ext cx="10477500" cy="457200"/>
          </a:xfrm>
          <a:prstGeom prst="rect">
            <a:avLst/>
          </a:prstGeom>
          <a:noFill/>
          <a:ln w="0">
            <a:noFill/>
          </a:ln>
        </p:spPr>
        <p:txBody>
          <a:bodyPr wrap="square" lIns="0" tIns="0" rIns="0" bIns="0" anchor="t">
            <a:noAutofit/>
          </a:bodyPr>
          <a:lstStyle>
            <a:lvl1pPr>
              <a:buNone/>
              <a:defRPr sz="2550" b="1">
                <a:solidFill>
                  <a:srgbClr val="2D75A3"/>
                </a:solidFill>
                <a:latin typeface="Aptos"/>
                <a:ea typeface="Aptos"/>
                <a:cs typeface="Aptos"/>
              </a:defRPr>
            </a:lvl1pPr>
            <a:lvl2pPr>
              <a:buNone/>
              <a:defRPr sz="2550" b="1">
                <a:solidFill>
                  <a:srgbClr val="2D75A3"/>
                </a:solidFill>
                <a:latin typeface="Aptos"/>
                <a:ea typeface="Aptos"/>
                <a:cs typeface="Aptos"/>
              </a:defRPr>
            </a:lvl2pPr>
            <a:lvl3pPr>
              <a:buNone/>
              <a:defRPr sz="2550" b="1">
                <a:solidFill>
                  <a:srgbClr val="2D75A3"/>
                </a:solidFill>
                <a:latin typeface="Aptos"/>
                <a:ea typeface="Aptos"/>
                <a:cs typeface="Aptos"/>
              </a:defRPr>
            </a:lvl3pPr>
            <a:lvl4pPr>
              <a:buNone/>
              <a:defRPr sz="2550" b="1">
                <a:solidFill>
                  <a:srgbClr val="2D75A3"/>
                </a:solidFill>
                <a:latin typeface="Aptos"/>
                <a:ea typeface="Aptos"/>
                <a:cs typeface="Aptos"/>
              </a:defRPr>
            </a:lvl4pPr>
            <a:lvl5pPr>
              <a:buNone/>
              <a:defRPr sz="2550" b="1">
                <a:solidFill>
                  <a:srgbClr val="2D75A3"/>
                </a:solidFill>
                <a:latin typeface="Aptos"/>
                <a:ea typeface="Aptos"/>
                <a:cs typeface="Aptos"/>
              </a:defRPr>
            </a:lvl5pPr>
            <a:lvl6pPr>
              <a:buNone/>
              <a:defRPr sz="2550" b="1">
                <a:solidFill>
                  <a:srgbClr val="2D75A3"/>
                </a:solidFill>
                <a:latin typeface="Aptos"/>
                <a:ea typeface="Aptos"/>
                <a:cs typeface="Aptos"/>
              </a:defRPr>
            </a:lvl6pPr>
            <a:lvl7pPr>
              <a:buNone/>
              <a:defRPr sz="2550" b="1">
                <a:solidFill>
                  <a:srgbClr val="2D75A3"/>
                </a:solidFill>
                <a:latin typeface="Aptos"/>
                <a:ea typeface="Aptos"/>
                <a:cs typeface="Aptos"/>
              </a:defRPr>
            </a:lvl7pPr>
            <a:lvl8pPr>
              <a:buNone/>
              <a:defRPr sz="2550" b="1">
                <a:solidFill>
                  <a:srgbClr val="2D75A3"/>
                </a:solidFill>
                <a:latin typeface="Aptos"/>
                <a:ea typeface="Aptos"/>
                <a:cs typeface="Aptos"/>
              </a:defRPr>
            </a:lvl8pPr>
            <a:lvl9pPr>
              <a:buNone/>
              <a:defRPr sz="2550" b="1">
                <a:solidFill>
                  <a:srgbClr val="2D75A3"/>
                </a:solidFill>
                <a:latin typeface="Aptos"/>
                <a:ea typeface="Aptos"/>
                <a:cs typeface="Aptos"/>
              </a:defRPr>
            </a:lvl9pPr>
          </a:lstStyle>
          <a:p>
            <a:pPr>
              <a:buNone/>
              <a:defRPr sz="2550" b="1">
                <a:solidFill>
                  <a:srgbClr val="2D75A3"/>
                </a:solidFill>
                <a:latin typeface="Aptos"/>
                <a:ea typeface="Aptos"/>
                <a:cs typeface="Aptos"/>
              </a:defRPr>
            </a:pPr>
            <a:r>
              <a:rPr sz="2550" b="1">
                <a:solidFill>
                  <a:srgbClr val="2D75A3"/>
                </a:solidFill>
                <a:latin typeface="Aptos"/>
                <a:ea typeface="Aptos"/>
                <a:cs typeface="Aptos"/>
              </a:rPr>
              <a:t>Other populations</a:t>
            </a:r>
          </a:p>
        </p:txBody>
      </p:sp>
      <p:sp>
        <p:nvSpPr>
          <p:cNvPr id="9" name="text-8">
            <a:extLst>
              <a:ext uri="{FF2B5EF4-FFF2-40B4-BE49-F238E27FC236}">
                <a16:creationId xmlns:a16="http://schemas.microsoft.com/office/drawing/2014/main" id="{1D918819-3F1D-4710-AA8C-438F077EBAE7}"/>
              </a:ext>
            </a:extLst>
          </p:cNvPr>
          <p:cNvSpPr>
            <a:spLocks noGrp="1"/>
          </p:cNvSpPr>
          <p:nvPr/>
        </p:nvSpPr>
        <p:spPr>
          <a:xfrm>
            <a:off x="857250" y="5172075"/>
            <a:ext cx="10477500" cy="952500"/>
          </a:xfrm>
          <a:prstGeom prst="rect">
            <a:avLst/>
          </a:prstGeom>
          <a:noFill/>
          <a:ln w="0">
            <a:noFill/>
          </a:ln>
        </p:spPr>
        <p:txBody>
          <a:bodyPr wrap="square" lIns="0" tIns="0" rIns="0" bIns="0" anchor="t">
            <a:noAutofit/>
          </a:bodyPr>
          <a:lstStyle>
            <a:lvl1pPr>
              <a:buNone/>
              <a:defRPr sz="2325" b="0">
                <a:solidFill>
                  <a:srgbClr val="17365D"/>
                </a:solidFill>
                <a:latin typeface="Aptos"/>
                <a:ea typeface="Aptos"/>
                <a:cs typeface="Aptos"/>
              </a:defRPr>
            </a:lvl1pPr>
            <a:lvl2pPr>
              <a:buNone/>
              <a:defRPr sz="2325" b="0">
                <a:solidFill>
                  <a:srgbClr val="17365D"/>
                </a:solidFill>
                <a:latin typeface="Aptos"/>
                <a:ea typeface="Aptos"/>
                <a:cs typeface="Aptos"/>
              </a:defRPr>
            </a:lvl2pPr>
            <a:lvl3pPr>
              <a:buNone/>
              <a:defRPr sz="2325" b="0">
                <a:solidFill>
                  <a:srgbClr val="17365D"/>
                </a:solidFill>
                <a:latin typeface="Aptos"/>
                <a:ea typeface="Aptos"/>
                <a:cs typeface="Aptos"/>
              </a:defRPr>
            </a:lvl3pPr>
            <a:lvl4pPr>
              <a:buNone/>
              <a:defRPr sz="2325" b="0">
                <a:solidFill>
                  <a:srgbClr val="17365D"/>
                </a:solidFill>
                <a:latin typeface="Aptos"/>
                <a:ea typeface="Aptos"/>
                <a:cs typeface="Aptos"/>
              </a:defRPr>
            </a:lvl4pPr>
            <a:lvl5pPr>
              <a:buNone/>
              <a:defRPr sz="2325" b="0">
                <a:solidFill>
                  <a:srgbClr val="17365D"/>
                </a:solidFill>
                <a:latin typeface="Aptos"/>
                <a:ea typeface="Aptos"/>
                <a:cs typeface="Aptos"/>
              </a:defRPr>
            </a:lvl5pPr>
            <a:lvl6pPr>
              <a:buNone/>
              <a:defRPr sz="2325" b="0">
                <a:solidFill>
                  <a:srgbClr val="17365D"/>
                </a:solidFill>
                <a:latin typeface="Aptos"/>
                <a:ea typeface="Aptos"/>
                <a:cs typeface="Aptos"/>
              </a:defRPr>
            </a:lvl6pPr>
            <a:lvl7pPr>
              <a:buNone/>
              <a:defRPr sz="2325" b="0">
                <a:solidFill>
                  <a:srgbClr val="17365D"/>
                </a:solidFill>
                <a:latin typeface="Aptos"/>
                <a:ea typeface="Aptos"/>
                <a:cs typeface="Aptos"/>
              </a:defRPr>
            </a:lvl7pPr>
            <a:lvl8pPr>
              <a:buNone/>
              <a:defRPr sz="2325" b="0">
                <a:solidFill>
                  <a:srgbClr val="17365D"/>
                </a:solidFill>
                <a:latin typeface="Aptos"/>
                <a:ea typeface="Aptos"/>
                <a:cs typeface="Aptos"/>
              </a:defRPr>
            </a:lvl8pPr>
            <a:lvl9pPr>
              <a:buNone/>
              <a:defRPr sz="2325" b="0">
                <a:solidFill>
                  <a:srgbClr val="17365D"/>
                </a:solidFill>
                <a:latin typeface="Aptos"/>
                <a:ea typeface="Aptos"/>
                <a:cs typeface="Aptos"/>
              </a:defRPr>
            </a:lvl9pPr>
          </a:lstStyle>
          <a:p>
            <a:pPr>
              <a:buNone/>
              <a:defRPr sz="2325" b="0">
                <a:solidFill>
                  <a:srgbClr val="17365D"/>
                </a:solidFill>
                <a:latin typeface="Aptos"/>
                <a:ea typeface="Aptos"/>
                <a:cs typeface="Aptos"/>
              </a:defRPr>
            </a:pPr>
            <a:r>
              <a:rPr sz="2325" b="0">
                <a:solidFill>
                  <a:srgbClr val="17365D"/>
                </a:solidFill>
                <a:latin typeface="Aptos"/>
                <a:ea typeface="Aptos"/>
                <a:cs typeface="Aptos"/>
              </a:rPr>
              <a:t>The CLT supplies an approximation. Skewness and rare large values affect how well it works.</a:t>
            </a:r>
          </a:p>
        </p:txBody>
      </p:sp>
      <p:sp>
        <p:nvSpPr>
          <p:cNvPr id="11" name="notebook-cue-slide-21">
            <a:extLst>
              <a:ext uri="{FF2B5EF4-FFF2-40B4-BE49-F238E27FC236}">
                <a16:creationId xmlns:a16="http://schemas.microsoft.com/office/drawing/2014/main" id="{3D87F8CE-3664-48FE-9220-2D2399C9DBFF}"/>
              </a:ext>
            </a:extLst>
          </p:cNvPr>
          <p:cNvSpPr>
            <a:spLocks noGrp="1"/>
          </p:cNvSpPr>
          <p:nvPr/>
        </p:nvSpPr>
        <p:spPr>
          <a:xfrm>
            <a:off x="2952750" y="6429375"/>
            <a:ext cx="7620000" cy="295275"/>
          </a:xfrm>
          <a:prstGeom prst="rect">
            <a:avLst/>
          </a:prstGeom>
          <a:noFill/>
          <a:ln w="0">
            <a:noFill/>
          </a:ln>
        </p:spPr>
        <p:txBody>
          <a:bodyPr wrap="none" lIns="0" tIns="0" rIns="0" bIns="0" anchor="ctr">
            <a:noAutofit/>
          </a:bodyPr>
          <a:lstStyle>
            <a:defPPr algn="ctr">
              <a:defRPr sz="1650" b="1">
                <a:solidFill>
                  <a:srgbClr val="2F6F4E"/>
                </a:solidFill>
                <a:latin typeface="Aptos"/>
                <a:ea typeface="Aptos"/>
                <a:cs typeface="Aptos"/>
              </a:defRPr>
            </a:defPPr>
            <a:lvl1pPr algn="ctr">
              <a:defRPr sz="1650" b="1">
                <a:solidFill>
                  <a:srgbClr val="2F6F4E"/>
                </a:solidFill>
                <a:latin typeface="Aptos"/>
                <a:ea typeface="Aptos"/>
                <a:cs typeface="Aptos"/>
              </a:defRPr>
            </a:lvl1pPr>
            <a:lvl2pPr algn="ctr">
              <a:defRPr sz="1650" b="1">
                <a:solidFill>
                  <a:srgbClr val="2F6F4E"/>
                </a:solidFill>
                <a:latin typeface="Aptos"/>
                <a:ea typeface="Aptos"/>
                <a:cs typeface="Aptos"/>
              </a:defRPr>
            </a:lvl2pPr>
            <a:lvl3pPr algn="ctr">
              <a:defRPr sz="1650" b="1">
                <a:solidFill>
                  <a:srgbClr val="2F6F4E"/>
                </a:solidFill>
                <a:latin typeface="Aptos"/>
                <a:ea typeface="Aptos"/>
                <a:cs typeface="Aptos"/>
              </a:defRPr>
            </a:lvl3pPr>
            <a:lvl4pPr algn="ctr">
              <a:defRPr sz="1650" b="1">
                <a:solidFill>
                  <a:srgbClr val="2F6F4E"/>
                </a:solidFill>
                <a:latin typeface="Aptos"/>
                <a:ea typeface="Aptos"/>
                <a:cs typeface="Aptos"/>
              </a:defRPr>
            </a:lvl4pPr>
            <a:lvl5pPr algn="ctr">
              <a:defRPr sz="1650" b="1">
                <a:solidFill>
                  <a:srgbClr val="2F6F4E"/>
                </a:solidFill>
                <a:latin typeface="Aptos"/>
                <a:ea typeface="Aptos"/>
                <a:cs typeface="Aptos"/>
              </a:defRPr>
            </a:lvl5pPr>
            <a:lvl6pPr algn="ctr">
              <a:defRPr sz="1650" b="1">
                <a:solidFill>
                  <a:srgbClr val="2F6F4E"/>
                </a:solidFill>
                <a:latin typeface="Aptos"/>
                <a:ea typeface="Aptos"/>
                <a:cs typeface="Aptos"/>
              </a:defRPr>
            </a:lvl6pPr>
            <a:lvl7pPr algn="ctr">
              <a:defRPr sz="1650" b="1">
                <a:solidFill>
                  <a:srgbClr val="2F6F4E"/>
                </a:solidFill>
                <a:latin typeface="Aptos"/>
                <a:ea typeface="Aptos"/>
                <a:cs typeface="Aptos"/>
              </a:defRPr>
            </a:lvl7pPr>
            <a:lvl8pPr algn="ctr">
              <a:defRPr sz="1650" b="1">
                <a:solidFill>
                  <a:srgbClr val="2F6F4E"/>
                </a:solidFill>
                <a:latin typeface="Aptos"/>
                <a:ea typeface="Aptos"/>
                <a:cs typeface="Aptos"/>
              </a:defRPr>
            </a:lvl8pPr>
            <a:lvl9pPr algn="ctr">
              <a:defRPr sz="1650" b="1">
                <a:solidFill>
                  <a:srgbClr val="2F6F4E"/>
                </a:solidFill>
                <a:latin typeface="Aptos"/>
                <a:ea typeface="Aptos"/>
                <a:cs typeface="Aptos"/>
              </a:defRPr>
            </a:lvl9pPr>
          </a:lstStyle>
          <a:p>
            <a:pPr algn="ctr">
              <a:defRPr sz="1650" b="1">
                <a:solidFill>
                  <a:srgbClr val="2F6F4E"/>
                </a:solidFill>
                <a:latin typeface="Aptos"/>
                <a:ea typeface="Aptos"/>
                <a:cs typeface="Aptos"/>
              </a:defRPr>
            </a:pPr>
            <a:r>
              <a:rPr sz="1650" b="1">
                <a:solidFill>
                  <a:srgbClr val="2F6F4E"/>
                </a:solidFill>
                <a:latin typeface="Aptos"/>
                <a:ea typeface="Aptos"/>
                <a:cs typeface="Aptos"/>
              </a:rPr>
              <a:t>Notebook: Slide 21 (optional)</a:t>
            </a:r>
          </a:p>
        </p:txBody>
      </p:sp>
    </p:spTree>
    <p:extLst>
      <p:ext uri="{BB962C8B-B14F-4D97-AF65-F5344CB8AC3E}">
        <p14:creationId xmlns:p14="http://schemas.microsoft.com/office/powerpoint/2010/main" val="2518102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4F6891C0-301B-4464-B31A-FB32CDEF77F2}"/>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From a sample mean to a sum</a:t>
            </a:r>
          </a:p>
        </p:txBody>
      </p:sp>
      <p:sp>
        <p:nvSpPr>
          <p:cNvPr id="2" name="Straight Connector 1">
            <a:extLst>
              <a:ext uri="{FF2B5EF4-FFF2-40B4-BE49-F238E27FC236}">
                <a16:creationId xmlns:a16="http://schemas.microsoft.com/office/drawing/2014/main" id="{F1D019CF-9BD1-4441-A28D-0DE681DC0922}"/>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1338E2A7-E660-4984-AB6E-A5E350B1773B}"/>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BDC9B38D-EE8D-49A6-97A2-8DD2D0A730C4}"/>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22</a:t>
            </a:r>
          </a:p>
        </p:txBody>
      </p:sp>
      <mc:AlternateContent xmlns:mc="http://schemas.openxmlformats.org/markup-compatibility/2006">
        <mc:Choice xmlns:a14="http://schemas.microsoft.com/office/drawing/2010/main" Requires="a14">
          <p:sp>
            <p:nvSpPr>
              <p:cNvPr id="5" name="EQ_041">
                <a:extLst>
                  <a:ext uri="{FF2B5EF4-FFF2-40B4-BE49-F238E27FC236}">
                    <a16:creationId xmlns:a16="http://schemas.microsoft.com/office/drawing/2014/main" id="{90EC3C51-901F-4BB9-B4C8-D1BD2B85A1F8}"/>
                  </a:ext>
                </a:extLst>
              </p:cNvPr>
              <p:cNvSpPr>
                <a:spLocks noGrp="1"/>
              </p:cNvSpPr>
              <p:nvPr/>
            </p:nvSpPr>
            <p:spPr>
              <a:xfrm>
                <a:off x="857250" y="1666875"/>
                <a:ext cx="10477500" cy="1190625"/>
              </a:xfrm>
              <a:prstGeom prst="rect">
                <a:avLst/>
              </a:prstGeom>
              <a:noFill/>
              <a:ln w="0">
                <a:noFill/>
              </a:ln>
            </p:spPr>
            <p:txBody>
              <a:bodyPr wrap="none" lIns="0" tIns="0" rIns="0" bIns="0" anchor="ctr">
                <a:noAutofit/>
              </a:bodyPr>
              <a:lstStyle>
                <a:lvl1pPr algn="l">
                  <a:buNone/>
                  <a:defRPr sz="3200">
                    <a:solidFill>
                      <a:srgbClr val="17365D"/>
                    </a:solidFill>
                    <a:latin typeface="Cambria Math"/>
                    <a:ea typeface="Cambria Math"/>
                    <a:cs typeface="Cambria Math"/>
                  </a:defRPr>
                </a:lvl1pPr>
                <a:lvl2pPr algn="l">
                  <a:buNone/>
                  <a:defRPr sz="3200">
                    <a:solidFill>
                      <a:srgbClr val="17365D"/>
                    </a:solidFill>
                    <a:latin typeface="Cambria Math"/>
                    <a:ea typeface="Cambria Math"/>
                    <a:cs typeface="Cambria Math"/>
                  </a:defRPr>
                </a:lvl2pPr>
                <a:lvl3pPr algn="l">
                  <a:buNone/>
                  <a:defRPr sz="3200">
                    <a:solidFill>
                      <a:srgbClr val="17365D"/>
                    </a:solidFill>
                    <a:latin typeface="Cambria Math"/>
                    <a:ea typeface="Cambria Math"/>
                    <a:cs typeface="Cambria Math"/>
                  </a:defRPr>
                </a:lvl3pPr>
                <a:lvl4pPr algn="l">
                  <a:buNone/>
                  <a:defRPr sz="3200">
                    <a:solidFill>
                      <a:srgbClr val="17365D"/>
                    </a:solidFill>
                    <a:latin typeface="Cambria Math"/>
                    <a:ea typeface="Cambria Math"/>
                    <a:cs typeface="Cambria Math"/>
                  </a:defRPr>
                </a:lvl4pPr>
                <a:lvl5pPr algn="l">
                  <a:buNone/>
                  <a:defRPr sz="3200">
                    <a:solidFill>
                      <a:srgbClr val="17365D"/>
                    </a:solidFill>
                    <a:latin typeface="Cambria Math"/>
                    <a:ea typeface="Cambria Math"/>
                    <a:cs typeface="Cambria Math"/>
                  </a:defRPr>
                </a:lvl5pPr>
                <a:lvl6pPr algn="l">
                  <a:buNone/>
                  <a:defRPr sz="3200">
                    <a:solidFill>
                      <a:srgbClr val="17365D"/>
                    </a:solidFill>
                    <a:latin typeface="Cambria Math"/>
                    <a:ea typeface="Cambria Math"/>
                    <a:cs typeface="Cambria Math"/>
                  </a:defRPr>
                </a:lvl6pPr>
                <a:lvl7pPr algn="l">
                  <a:buNone/>
                  <a:defRPr sz="3200">
                    <a:solidFill>
                      <a:srgbClr val="17365D"/>
                    </a:solidFill>
                    <a:latin typeface="Cambria Math"/>
                    <a:ea typeface="Cambria Math"/>
                    <a:cs typeface="Cambria Math"/>
                  </a:defRPr>
                </a:lvl7pPr>
                <a:lvl8pPr algn="l">
                  <a:buNone/>
                  <a:defRPr sz="3200">
                    <a:solidFill>
                      <a:srgbClr val="17365D"/>
                    </a:solidFill>
                    <a:latin typeface="Cambria Math"/>
                    <a:ea typeface="Cambria Math"/>
                    <a:cs typeface="Cambria Math"/>
                  </a:defRPr>
                </a:lvl8pPr>
                <a:lvl9pPr algn="l">
                  <a:buNone/>
                  <a:defRPr sz="3200">
                    <a:solidFill>
                      <a:srgbClr val="17365D"/>
                    </a:solidFill>
                    <a:latin typeface="Cambria Math"/>
                    <a:ea typeface="Cambria Math"/>
                    <a:cs typeface="Cambria Math"/>
                  </a:defRPr>
                </a:lvl9pPr>
              </a:lstStyle>
              <a:p>
                <a:pPr>
                  <a:buNone/>
                  <a:defRPr sz="3200">
                    <a:solidFill>
                      <a:srgbClr val="17365D"/>
                    </a:solidFill>
                  </a:defRPr>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𝑛</m:t>
                          </m:r>
                        </m:sub>
                      </m:sSub>
                      <m:r>
                        <a:rPr>
                          <a:latin typeface="Cambria Math" panose="02040503050406030204" pitchFamily="18" charset="0"/>
                        </a:rPr>
                        <m:t>=</m:t>
                      </m:r>
                      <m:nary>
                        <m:naryPr>
                          <m:chr m:val="∑"/>
                          <m:limLoc m:val="undOvr"/>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𝑛</m:t>
                          </m:r>
                        </m:sup>
                        <m:e>
                          <m:sSub>
                            <m:sSubPr>
                              <m:ctrlPr>
                                <a:rPr>
                                  <a:latin typeface="Cambria Math" panose="02040503050406030204" pitchFamily="18" charset="0"/>
                                </a:rPr>
                              </m:ctrlPr>
                            </m:sSubPr>
                            <m:e>
                              <m:r>
                                <a:rPr>
                                  <a:latin typeface="Cambria Math" panose="02040503050406030204" pitchFamily="18" charset="0"/>
                                </a:rPr>
                                <m:t>𝑋</m:t>
                              </m:r>
                            </m:e>
                            <m:sub>
                              <m:r>
                                <a:rPr>
                                  <a:latin typeface="Cambria Math" panose="02040503050406030204" pitchFamily="18" charset="0"/>
                                </a:rPr>
                                <m:t>𝑖</m:t>
                              </m:r>
                            </m:sub>
                          </m:sSub>
                        </m:e>
                      </m:nary>
                      <m:r>
                        <a:rPr>
                          <a:latin typeface="Cambria Math" panose="02040503050406030204" pitchFamily="18" charset="0"/>
                        </a:rPr>
                        <m:t>=</m:t>
                      </m:r>
                      <m:r>
                        <a:rPr>
                          <a:latin typeface="Cambria Math" panose="02040503050406030204" pitchFamily="18" charset="0"/>
                        </a:rPr>
                        <m:t>𝑛</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𝑋</m:t>
                              </m:r>
                            </m:e>
                          </m:acc>
                        </m:e>
                        <m:sub>
                          <m:r>
                            <a:rPr>
                              <a:latin typeface="Cambria Math" panose="02040503050406030204" pitchFamily="18" charset="0"/>
                            </a:rPr>
                            <m:t>𝑛</m:t>
                          </m:r>
                        </m:sub>
                      </m:sSub>
                    </m:oMath>
                  </m:oMathPara>
                </a14:m>
                <a:endParaRPr/>
              </a:p>
            </p:txBody>
          </p:sp>
        </mc:Choice>
        <mc:Fallback>
          <p:sp>
            <p:nvSpPr>
              <p:cNvPr id="5" name="EQ_041">
                <a:extLst>
                  <a:ext uri="{FF2B5EF4-FFF2-40B4-BE49-F238E27FC236}">
                    <a16:creationId xmlns:a16="http://schemas.microsoft.com/office/drawing/2014/main" id="{90EC3C51-901F-4BB9-B4C8-D1BD2B85A1F8}"/>
                  </a:ext>
                </a:extLst>
              </p:cNvPr>
              <p:cNvSpPr>
                <a:spLocks noGrp="1" noRot="1" noChangeAspect="1" noMove="1" noResize="1" noEditPoints="1" noAdjustHandles="1" noChangeArrowheads="1" noChangeShapeType="1" noTextEdit="1"/>
              </p:cNvSpPr>
              <p:nvPr/>
            </p:nvSpPr>
            <p:spPr>
              <a:xfrm>
                <a:off x="857250" y="1666875"/>
                <a:ext cx="10477500" cy="1190625"/>
              </a:xfrm>
              <a:prstGeom prst="rect">
                <a:avLst/>
              </a:prstGeom>
              <a:blipFill>
                <a:blip r:embed="rId3"/>
                <a:stretch>
                  <a:fillRect t="-1531" b="-6633"/>
                </a:stretch>
              </a:blipFill>
              <a:ln w="0">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6" name="EQ_042">
                <a:extLst>
                  <a:ext uri="{FF2B5EF4-FFF2-40B4-BE49-F238E27FC236}">
                    <a16:creationId xmlns:a16="http://schemas.microsoft.com/office/drawing/2014/main" id="{4093C92C-A01A-47E1-94EA-446E9F198BF3}"/>
                  </a:ext>
                </a:extLst>
              </p:cNvPr>
              <p:cNvSpPr>
                <a:spLocks noGrp="1"/>
              </p:cNvSpPr>
              <p:nvPr/>
            </p:nvSpPr>
            <p:spPr>
              <a:xfrm>
                <a:off x="857250" y="3133725"/>
                <a:ext cx="10477500" cy="1428750"/>
              </a:xfrm>
              <a:prstGeom prst="rect">
                <a:avLst/>
              </a:prstGeom>
              <a:noFill/>
              <a:ln w="0">
                <a:noFill/>
              </a:ln>
            </p:spPr>
            <p:txBody>
              <a:bodyPr wrap="none" lIns="0" tIns="0" rIns="0" bIns="0" anchor="ctr">
                <a:noAutofit/>
              </a:bodyPr>
              <a:lstStyle>
                <a:lvl1pPr algn="l">
                  <a:buNone/>
                  <a:defRPr sz="3300">
                    <a:solidFill>
                      <a:srgbClr val="17365D"/>
                    </a:solidFill>
                    <a:latin typeface="Cambria Math"/>
                    <a:ea typeface="Cambria Math"/>
                    <a:cs typeface="Cambria Math"/>
                  </a:defRPr>
                </a:lvl1pPr>
                <a:lvl2pPr algn="l">
                  <a:buNone/>
                  <a:defRPr sz="3300">
                    <a:solidFill>
                      <a:srgbClr val="17365D"/>
                    </a:solidFill>
                    <a:latin typeface="Cambria Math"/>
                    <a:ea typeface="Cambria Math"/>
                    <a:cs typeface="Cambria Math"/>
                  </a:defRPr>
                </a:lvl2pPr>
                <a:lvl3pPr algn="l">
                  <a:buNone/>
                  <a:defRPr sz="3300">
                    <a:solidFill>
                      <a:srgbClr val="17365D"/>
                    </a:solidFill>
                    <a:latin typeface="Cambria Math"/>
                    <a:ea typeface="Cambria Math"/>
                    <a:cs typeface="Cambria Math"/>
                  </a:defRPr>
                </a:lvl3pPr>
                <a:lvl4pPr algn="l">
                  <a:buNone/>
                  <a:defRPr sz="3300">
                    <a:solidFill>
                      <a:srgbClr val="17365D"/>
                    </a:solidFill>
                    <a:latin typeface="Cambria Math"/>
                    <a:ea typeface="Cambria Math"/>
                    <a:cs typeface="Cambria Math"/>
                  </a:defRPr>
                </a:lvl4pPr>
                <a:lvl5pPr algn="l">
                  <a:buNone/>
                  <a:defRPr sz="3300">
                    <a:solidFill>
                      <a:srgbClr val="17365D"/>
                    </a:solidFill>
                    <a:latin typeface="Cambria Math"/>
                    <a:ea typeface="Cambria Math"/>
                    <a:cs typeface="Cambria Math"/>
                  </a:defRPr>
                </a:lvl5pPr>
                <a:lvl6pPr algn="l">
                  <a:buNone/>
                  <a:defRPr sz="3300">
                    <a:solidFill>
                      <a:srgbClr val="17365D"/>
                    </a:solidFill>
                    <a:latin typeface="Cambria Math"/>
                    <a:ea typeface="Cambria Math"/>
                    <a:cs typeface="Cambria Math"/>
                  </a:defRPr>
                </a:lvl6pPr>
                <a:lvl7pPr algn="l">
                  <a:buNone/>
                  <a:defRPr sz="3300">
                    <a:solidFill>
                      <a:srgbClr val="17365D"/>
                    </a:solidFill>
                    <a:latin typeface="Cambria Math"/>
                    <a:ea typeface="Cambria Math"/>
                    <a:cs typeface="Cambria Math"/>
                  </a:defRPr>
                </a:lvl7pPr>
                <a:lvl8pPr algn="l">
                  <a:buNone/>
                  <a:defRPr sz="3300">
                    <a:solidFill>
                      <a:srgbClr val="17365D"/>
                    </a:solidFill>
                    <a:latin typeface="Cambria Math"/>
                    <a:ea typeface="Cambria Math"/>
                    <a:cs typeface="Cambria Math"/>
                  </a:defRPr>
                </a:lvl8pPr>
                <a:lvl9pPr algn="l">
                  <a:buNone/>
                  <a:defRPr sz="3300">
                    <a:solidFill>
                      <a:srgbClr val="17365D"/>
                    </a:solidFill>
                    <a:latin typeface="Cambria Math"/>
                    <a:ea typeface="Cambria Math"/>
                    <a:cs typeface="Cambria Math"/>
                  </a:defRPr>
                </a:lvl9pPr>
              </a:lstStyle>
              <a:p>
                <a:pPr>
                  <a:buNone/>
                  <a:defRPr sz="3300">
                    <a:solidFill>
                      <a:srgbClr val="17365D"/>
                    </a:solidFill>
                  </a:defRPr>
                </a:pPr>
                <a14:m>
                  <m:oMathPara xmlns:m="http://schemas.openxmlformats.org/officeDocument/2006/math">
                    <m:oMath>
                      <m:f>
                        <m:fPr>
                          <m:ctrlPr>
                            <a:rPr>
                              <a:latin typeface="Cambria Math" panose="02040503050406030204" pitchFamily="18" charset="0"/>
                            </a:rPr>
                          </m:ctrlPr>
                        </m:fPr>
                        <m:num>
                          <m:sSub>
                            <m:sSubPr>
                              <m:ctrlPr>
                                <a:rPr>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𝑛</m:t>
                              </m:r>
                            </m:sub>
                          </m:sSub>
                          <m:r>
                            <a:rPr>
                              <a:latin typeface="Cambria Math" panose="02040503050406030204" pitchFamily="18" charset="0"/>
                            </a:rPr>
                            <m:t>−</m:t>
                          </m:r>
                          <m:r>
                            <a:rPr>
                              <a:latin typeface="Cambria Math" panose="02040503050406030204" pitchFamily="18" charset="0"/>
                            </a:rPr>
                            <m:t>𝑛</m:t>
                          </m:r>
                          <m:r>
                            <a:rPr>
                              <a:latin typeface="Cambria Math" panose="02040503050406030204" pitchFamily="18" charset="0"/>
                            </a:rPr>
                            <m:t>𝜇</m:t>
                          </m:r>
                        </m:num>
                        <m:den>
                          <m:r>
                            <a:rPr>
                              <a:latin typeface="Cambria Math" panose="02040503050406030204" pitchFamily="18" charset="0"/>
                            </a:rPr>
                            <m:t>𝜎</m:t>
                          </m:r>
                          <m:rad>
                            <m:radPr>
                              <m:ctrlPr>
                                <a:rPr>
                                  <a:latin typeface="Cambria Math" panose="02040503050406030204" pitchFamily="18" charset="0"/>
                                </a:rPr>
                              </m:ctrlPr>
                            </m:radPr>
                            <m:e>
                              <m:r>
                                <a:rPr>
                                  <a:latin typeface="Cambria Math" panose="02040503050406030204" pitchFamily="18" charset="0"/>
                                </a:rPr>
                                <m:t>𝑛</m:t>
                              </m:r>
                            </m:e>
                          </m:rad>
                        </m:den>
                      </m:f>
                      <m:r>
                        <a:rPr>
                          <a:latin typeface="Cambria Math" panose="02040503050406030204" pitchFamily="18" charset="0"/>
                        </a:rPr>
                        <m:t>=</m:t>
                      </m:r>
                      <m:f>
                        <m:fPr>
                          <m:ctrlPr>
                            <a:rPr i="1">
                              <a:latin typeface="Cambria Math" panose="02040503050406030204" pitchFamily="18" charset="0"/>
                            </a:rPr>
                          </m:ctrlPr>
                        </m:fPr>
                        <m:num>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𝑋</m:t>
                                  </m:r>
                                </m:e>
                              </m:acc>
                            </m:e>
                            <m:sub>
                              <m:r>
                                <a:rPr>
                                  <a:latin typeface="Cambria Math" panose="02040503050406030204" pitchFamily="18" charset="0"/>
                                </a:rPr>
                                <m:t>𝑛</m:t>
                              </m:r>
                            </m:sub>
                          </m:sSub>
                          <m:r>
                            <a:rPr>
                              <a:latin typeface="Cambria Math" panose="02040503050406030204" pitchFamily="18" charset="0"/>
                            </a:rPr>
                            <m:t>−</m:t>
                          </m:r>
                          <m:r>
                            <a:rPr>
                              <a:latin typeface="Cambria Math" panose="02040503050406030204" pitchFamily="18" charset="0"/>
                            </a:rPr>
                            <m:t>𝜇</m:t>
                          </m:r>
                        </m:num>
                        <m:den>
                          <m:f>
                            <m:fPr>
                              <m:ctrlPr>
                                <a:rPr>
                                  <a:latin typeface="Cambria Math" panose="02040503050406030204" pitchFamily="18" charset="0"/>
                                </a:rPr>
                              </m:ctrlPr>
                            </m:fPr>
                            <m:num>
                              <m:r>
                                <a:rPr>
                                  <a:latin typeface="Cambria Math" panose="02040503050406030204" pitchFamily="18" charset="0"/>
                                </a:rPr>
                                <m:t>𝜎</m:t>
                              </m:r>
                            </m:num>
                            <m:den>
                              <m:rad>
                                <m:radPr>
                                  <m:ctrlPr>
                                    <a:rPr>
                                      <a:latin typeface="Cambria Math" panose="02040503050406030204" pitchFamily="18" charset="0"/>
                                    </a:rPr>
                                  </m:ctrlPr>
                                </m:radPr>
                                <m:e>
                                  <m:r>
                                    <a:rPr>
                                      <a:latin typeface="Cambria Math" panose="02040503050406030204" pitchFamily="18" charset="0"/>
                                    </a:rPr>
                                    <m:t>𝑛</m:t>
                                  </m:r>
                                </m:e>
                              </m:rad>
                            </m:den>
                          </m:f>
                        </m:den>
                      </m:f>
                    </m:oMath>
                  </m:oMathPara>
                </a14:m>
                <a:endParaRPr/>
              </a:p>
            </p:txBody>
          </p:sp>
        </mc:Choice>
        <mc:Fallback>
          <p:sp>
            <p:nvSpPr>
              <p:cNvPr id="6" name="EQ_042">
                <a:extLst>
                  <a:ext uri="{FF2B5EF4-FFF2-40B4-BE49-F238E27FC236}">
                    <a16:creationId xmlns:a16="http://schemas.microsoft.com/office/drawing/2014/main" id="{4093C92C-A01A-47E1-94EA-446E9F198BF3}"/>
                  </a:ext>
                </a:extLst>
              </p:cNvPr>
              <p:cNvSpPr>
                <a:spLocks noGrp="1" noRot="1" noChangeAspect="1" noMove="1" noResize="1" noEditPoints="1" noAdjustHandles="1" noChangeArrowheads="1" noChangeShapeType="1" noTextEdit="1"/>
              </p:cNvSpPr>
              <p:nvPr/>
            </p:nvSpPr>
            <p:spPr>
              <a:xfrm>
                <a:off x="857250" y="3133725"/>
                <a:ext cx="10477500" cy="1428750"/>
              </a:xfrm>
              <a:prstGeom prst="rect">
                <a:avLst/>
              </a:prstGeom>
              <a:blipFill>
                <a:blip r:embed="rId4"/>
                <a:stretch>
                  <a:fillRect b="-2137"/>
                </a:stretch>
              </a:blipFill>
              <a:ln w="0">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7" name="EQ_043">
                <a:extLst>
                  <a:ext uri="{FF2B5EF4-FFF2-40B4-BE49-F238E27FC236}">
                    <a16:creationId xmlns:a16="http://schemas.microsoft.com/office/drawing/2014/main" id="{91266F23-8271-4CEA-8A11-0652588417A2}"/>
                  </a:ext>
                </a:extLst>
              </p:cNvPr>
              <p:cNvSpPr>
                <a:spLocks noGrp="1"/>
              </p:cNvSpPr>
              <p:nvPr/>
            </p:nvSpPr>
            <p:spPr>
              <a:xfrm>
                <a:off x="857250" y="4914900"/>
                <a:ext cx="10477500" cy="1066800"/>
              </a:xfrm>
              <a:prstGeom prst="rect">
                <a:avLst/>
              </a:prstGeom>
              <a:noFill/>
              <a:ln w="0">
                <a:noFill/>
              </a:ln>
            </p:spPr>
            <p:txBody>
              <a:bodyPr wrap="none" lIns="0" tIns="0" rIns="0" bIns="0" anchor="ctr">
                <a:noAutofit/>
              </a:bodyPr>
              <a:lstStyle>
                <a:lvl1pPr algn="l">
                  <a:buNone/>
                  <a:defRPr sz="3600">
                    <a:solidFill>
                      <a:srgbClr val="17365D"/>
                    </a:solidFill>
                    <a:latin typeface="Cambria Math"/>
                    <a:ea typeface="Cambria Math"/>
                    <a:cs typeface="Cambria Math"/>
                  </a:defRPr>
                </a:lvl1pPr>
                <a:lvl2pPr algn="l">
                  <a:buNone/>
                  <a:defRPr sz="3600">
                    <a:solidFill>
                      <a:srgbClr val="17365D"/>
                    </a:solidFill>
                    <a:latin typeface="Cambria Math"/>
                    <a:ea typeface="Cambria Math"/>
                    <a:cs typeface="Cambria Math"/>
                  </a:defRPr>
                </a:lvl2pPr>
                <a:lvl3pPr algn="l">
                  <a:buNone/>
                  <a:defRPr sz="3600">
                    <a:solidFill>
                      <a:srgbClr val="17365D"/>
                    </a:solidFill>
                    <a:latin typeface="Cambria Math"/>
                    <a:ea typeface="Cambria Math"/>
                    <a:cs typeface="Cambria Math"/>
                  </a:defRPr>
                </a:lvl3pPr>
                <a:lvl4pPr algn="l">
                  <a:buNone/>
                  <a:defRPr sz="3600">
                    <a:solidFill>
                      <a:srgbClr val="17365D"/>
                    </a:solidFill>
                    <a:latin typeface="Cambria Math"/>
                    <a:ea typeface="Cambria Math"/>
                    <a:cs typeface="Cambria Math"/>
                  </a:defRPr>
                </a:lvl4pPr>
                <a:lvl5pPr algn="l">
                  <a:buNone/>
                  <a:defRPr sz="3600">
                    <a:solidFill>
                      <a:srgbClr val="17365D"/>
                    </a:solidFill>
                    <a:latin typeface="Cambria Math"/>
                    <a:ea typeface="Cambria Math"/>
                    <a:cs typeface="Cambria Math"/>
                  </a:defRPr>
                </a:lvl5pPr>
                <a:lvl6pPr algn="l">
                  <a:buNone/>
                  <a:defRPr sz="3600">
                    <a:solidFill>
                      <a:srgbClr val="17365D"/>
                    </a:solidFill>
                    <a:latin typeface="Cambria Math"/>
                    <a:ea typeface="Cambria Math"/>
                    <a:cs typeface="Cambria Math"/>
                  </a:defRPr>
                </a:lvl6pPr>
                <a:lvl7pPr algn="l">
                  <a:buNone/>
                  <a:defRPr sz="3600">
                    <a:solidFill>
                      <a:srgbClr val="17365D"/>
                    </a:solidFill>
                    <a:latin typeface="Cambria Math"/>
                    <a:ea typeface="Cambria Math"/>
                    <a:cs typeface="Cambria Math"/>
                  </a:defRPr>
                </a:lvl7pPr>
                <a:lvl8pPr algn="l">
                  <a:buNone/>
                  <a:defRPr sz="3600">
                    <a:solidFill>
                      <a:srgbClr val="17365D"/>
                    </a:solidFill>
                    <a:latin typeface="Cambria Math"/>
                    <a:ea typeface="Cambria Math"/>
                    <a:cs typeface="Cambria Math"/>
                  </a:defRPr>
                </a:lvl8pPr>
                <a:lvl9pPr algn="l">
                  <a:buNone/>
                  <a:defRPr sz="3600">
                    <a:solidFill>
                      <a:srgbClr val="17365D"/>
                    </a:solidFill>
                    <a:latin typeface="Cambria Math"/>
                    <a:ea typeface="Cambria Math"/>
                    <a:cs typeface="Cambria Math"/>
                  </a:defRPr>
                </a:lvl9pPr>
              </a:lstStyle>
              <a:p>
                <a:pPr>
                  <a:buNone/>
                  <a:defRPr sz="3600">
                    <a:solidFill>
                      <a:srgbClr val="17365D"/>
                    </a:solidFill>
                  </a:defRPr>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𝑛</m:t>
                          </m:r>
                        </m:sub>
                      </m:sSub>
                      <m:r>
                        <a:rPr>
                          <a:latin typeface="Cambria Math" panose="02040503050406030204" pitchFamily="18" charset="0"/>
                        </a:rPr>
                        <m:t>≈</m:t>
                      </m:r>
                      <m:r>
                        <a:rPr>
                          <a:latin typeface="Cambria Math" panose="02040503050406030204" pitchFamily="18" charset="0"/>
                        </a:rPr>
                        <m:t>𝑁</m:t>
                      </m:r>
                      <m:d>
                        <m:dPr>
                          <m:ctrlPr>
                            <a:rPr>
                              <a:latin typeface="Cambria Math" panose="02040503050406030204" pitchFamily="18" charset="0"/>
                            </a:rPr>
                          </m:ctrlPr>
                        </m:dPr>
                        <m:e>
                          <m:r>
                            <a:rPr>
                              <a:latin typeface="Cambria Math" panose="02040503050406030204" pitchFamily="18" charset="0"/>
                            </a:rPr>
                            <m:t>𝑛</m:t>
                          </m:r>
                          <m:r>
                            <a:rPr>
                              <a:latin typeface="Cambria Math" panose="02040503050406030204" pitchFamily="18" charset="0"/>
                            </a:rPr>
                            <m:t>𝜇</m:t>
                          </m:r>
                          <m:r>
                            <a:rPr>
                              <a:latin typeface="Cambria Math" panose="02040503050406030204" pitchFamily="18" charset="0"/>
                            </a:rPr>
                            <m:t>,</m:t>
                          </m:r>
                          <m:r>
                            <a:rPr>
                              <a:latin typeface="Cambria Math" panose="02040503050406030204" pitchFamily="18" charset="0"/>
                            </a:rPr>
                            <m:t>𝑛</m:t>
                          </m:r>
                          <m:sSup>
                            <m:sSupPr>
                              <m:ctrlPr>
                                <a:rPr>
                                  <a:latin typeface="Cambria Math" panose="02040503050406030204" pitchFamily="18" charset="0"/>
                                </a:rPr>
                              </m:ctrlPr>
                            </m:sSupPr>
                            <m:e>
                              <m:r>
                                <a:rPr>
                                  <a:latin typeface="Cambria Math" panose="02040503050406030204" pitchFamily="18" charset="0"/>
                                </a:rPr>
                                <m:t>𝜎</m:t>
                              </m:r>
                            </m:e>
                            <m:sup>
                              <m:r>
                                <a:rPr>
                                  <a:latin typeface="Cambria Math" panose="02040503050406030204" pitchFamily="18" charset="0"/>
                                </a:rPr>
                                <m:t>2</m:t>
                              </m:r>
                            </m:sup>
                          </m:sSup>
                        </m:e>
                      </m:d>
                    </m:oMath>
                  </m:oMathPara>
                </a14:m>
                <a:endParaRPr/>
              </a:p>
            </p:txBody>
          </p:sp>
        </mc:Choice>
        <mc:Fallback>
          <p:sp>
            <p:nvSpPr>
              <p:cNvPr id="7" name="EQ_043">
                <a:extLst>
                  <a:ext uri="{FF2B5EF4-FFF2-40B4-BE49-F238E27FC236}">
                    <a16:creationId xmlns:a16="http://schemas.microsoft.com/office/drawing/2014/main" id="{91266F23-8271-4CEA-8A11-0652588417A2}"/>
                  </a:ext>
                </a:extLst>
              </p:cNvPr>
              <p:cNvSpPr>
                <a:spLocks noGrp="1" noRot="1" noChangeAspect="1" noMove="1" noResize="1" noEditPoints="1" noAdjustHandles="1" noChangeArrowheads="1" noChangeShapeType="1" noTextEdit="1"/>
              </p:cNvSpPr>
              <p:nvPr/>
            </p:nvSpPr>
            <p:spPr>
              <a:xfrm>
                <a:off x="857250" y="4914900"/>
                <a:ext cx="10477500" cy="1066800"/>
              </a:xfrm>
              <a:prstGeom prst="rect">
                <a:avLst/>
              </a:prstGeom>
              <a:blipFill>
                <a:blip r:embed="rId5"/>
                <a:stretch>
                  <a:fillRect/>
                </a:stretch>
              </a:blipFill>
              <a:ln w="0">
                <a:noFill/>
              </a:ln>
            </p:spPr>
            <p:txBody>
              <a:bodyPr/>
              <a:lstStyle/>
              <a:p>
                <a:r>
                  <a:rPr lang="en-GB">
                    <a:noFill/>
                  </a:rPr>
                  <a:t> </a:t>
                </a:r>
              </a:p>
            </p:txBody>
          </p:sp>
        </mc:Fallback>
      </mc:AlternateContent>
    </p:spTree>
    <p:extLst>
      <p:ext uri="{BB962C8B-B14F-4D97-AF65-F5344CB8AC3E}">
        <p14:creationId xmlns:p14="http://schemas.microsoft.com/office/powerpoint/2010/main" val="20074945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8F53B156-03D7-42ED-B2B7-E00C77CD0E52}"/>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Why the warehouse probability is near 97%</a:t>
            </a:r>
          </a:p>
        </p:txBody>
      </p:sp>
      <p:sp>
        <p:nvSpPr>
          <p:cNvPr id="2" name="Straight Connector 1">
            <a:extLst>
              <a:ext uri="{FF2B5EF4-FFF2-40B4-BE49-F238E27FC236}">
                <a16:creationId xmlns:a16="http://schemas.microsoft.com/office/drawing/2014/main" id="{AE915133-8625-42F6-AB26-DE8C285808B5}"/>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5494E8B6-B8BD-4A5C-BB42-334EF0EE4E22}"/>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A264CA1B-27B0-4687-A4A2-544C5CFA52F5}"/>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23</a:t>
            </a:r>
          </a:p>
        </p:txBody>
      </p:sp>
      <mc:AlternateContent xmlns:mc="http://schemas.openxmlformats.org/markup-compatibility/2006">
        <mc:Choice xmlns:a14="http://schemas.microsoft.com/office/drawing/2010/main" Requires="a14">
          <p:sp>
            <p:nvSpPr>
              <p:cNvPr id="5" name="EQ_024">
                <a:extLst>
                  <a:ext uri="{FF2B5EF4-FFF2-40B4-BE49-F238E27FC236}">
                    <a16:creationId xmlns:a16="http://schemas.microsoft.com/office/drawing/2014/main" id="{9AEBF2CC-EE4C-40C6-9708-5D06C12947C8}"/>
                  </a:ext>
                </a:extLst>
              </p:cNvPr>
              <p:cNvSpPr>
                <a:spLocks noGrp="1"/>
              </p:cNvSpPr>
              <p:nvPr/>
            </p:nvSpPr>
            <p:spPr>
              <a:xfrm>
                <a:off x="857250" y="1619250"/>
                <a:ext cx="10477500" cy="1047750"/>
              </a:xfrm>
              <a:prstGeom prst="rect">
                <a:avLst/>
              </a:prstGeom>
              <a:noFill/>
              <a:ln w="0">
                <a:noFill/>
              </a:ln>
            </p:spPr>
            <p:txBody>
              <a:bodyPr wrap="none" lIns="0" tIns="0" rIns="0" bIns="0" anchor="ctr">
                <a:noAutofit/>
              </a:bodyPr>
              <a:lstStyle>
                <a:lvl1pPr algn="l">
                  <a:buNone/>
                  <a:defRPr sz="2700">
                    <a:solidFill>
                      <a:srgbClr val="17365D"/>
                    </a:solidFill>
                    <a:latin typeface="Cambria Math"/>
                    <a:ea typeface="Cambria Math"/>
                    <a:cs typeface="Cambria Math"/>
                  </a:defRPr>
                </a:lvl1pPr>
                <a:lvl2pPr algn="l">
                  <a:buNone/>
                  <a:defRPr sz="2700">
                    <a:solidFill>
                      <a:srgbClr val="17365D"/>
                    </a:solidFill>
                    <a:latin typeface="Cambria Math"/>
                    <a:ea typeface="Cambria Math"/>
                    <a:cs typeface="Cambria Math"/>
                  </a:defRPr>
                </a:lvl2pPr>
                <a:lvl3pPr algn="l">
                  <a:buNone/>
                  <a:defRPr sz="2700">
                    <a:solidFill>
                      <a:srgbClr val="17365D"/>
                    </a:solidFill>
                    <a:latin typeface="Cambria Math"/>
                    <a:ea typeface="Cambria Math"/>
                    <a:cs typeface="Cambria Math"/>
                  </a:defRPr>
                </a:lvl3pPr>
                <a:lvl4pPr algn="l">
                  <a:buNone/>
                  <a:defRPr sz="2700">
                    <a:solidFill>
                      <a:srgbClr val="17365D"/>
                    </a:solidFill>
                    <a:latin typeface="Cambria Math"/>
                    <a:ea typeface="Cambria Math"/>
                    <a:cs typeface="Cambria Math"/>
                  </a:defRPr>
                </a:lvl4pPr>
                <a:lvl5pPr algn="l">
                  <a:buNone/>
                  <a:defRPr sz="2700">
                    <a:solidFill>
                      <a:srgbClr val="17365D"/>
                    </a:solidFill>
                    <a:latin typeface="Cambria Math"/>
                    <a:ea typeface="Cambria Math"/>
                    <a:cs typeface="Cambria Math"/>
                  </a:defRPr>
                </a:lvl5pPr>
                <a:lvl6pPr algn="l">
                  <a:buNone/>
                  <a:defRPr sz="2700">
                    <a:solidFill>
                      <a:srgbClr val="17365D"/>
                    </a:solidFill>
                    <a:latin typeface="Cambria Math"/>
                    <a:ea typeface="Cambria Math"/>
                    <a:cs typeface="Cambria Math"/>
                  </a:defRPr>
                </a:lvl6pPr>
                <a:lvl7pPr algn="l">
                  <a:buNone/>
                  <a:defRPr sz="2700">
                    <a:solidFill>
                      <a:srgbClr val="17365D"/>
                    </a:solidFill>
                    <a:latin typeface="Cambria Math"/>
                    <a:ea typeface="Cambria Math"/>
                    <a:cs typeface="Cambria Math"/>
                  </a:defRPr>
                </a:lvl7pPr>
                <a:lvl8pPr algn="l">
                  <a:buNone/>
                  <a:defRPr sz="2700">
                    <a:solidFill>
                      <a:srgbClr val="17365D"/>
                    </a:solidFill>
                    <a:latin typeface="Cambria Math"/>
                    <a:ea typeface="Cambria Math"/>
                    <a:cs typeface="Cambria Math"/>
                  </a:defRPr>
                </a:lvl8pPr>
                <a:lvl9pPr algn="l">
                  <a:buNone/>
                  <a:defRPr sz="2700">
                    <a:solidFill>
                      <a:srgbClr val="17365D"/>
                    </a:solidFill>
                    <a:latin typeface="Cambria Math"/>
                    <a:ea typeface="Cambria Math"/>
                    <a:cs typeface="Cambria Math"/>
                  </a:defRPr>
                </a:lvl9pPr>
              </a:lstStyle>
              <a:p>
                <a:pPr>
                  <a:buNone/>
                  <a:defRPr sz="2700">
                    <a:solidFill>
                      <a:srgbClr val="17365D"/>
                    </a:solidFill>
                  </a:defRPr>
                </a:pPr>
                <a14:m>
                  <m:oMathPara xmlns:m="http://schemas.openxmlformats.org/officeDocument/2006/math">
                    <m:oMath>
                      <m:r>
                        <a:rPr>
                          <a:latin typeface="Cambria Math" panose="02040503050406030204" pitchFamily="18" charset="0"/>
                        </a:rPr>
                        <m:t>𝐸</m:t>
                      </m:r>
                      <m:d>
                        <m:dPr>
                          <m:begChr m:val="["/>
                          <m:endChr m:val="]"/>
                          <m:ctrlPr>
                            <a:rPr i="1">
                              <a:latin typeface="Cambria Math" panose="02040503050406030204" pitchFamily="18" charset="0"/>
                            </a:rPr>
                          </m:ctrlPr>
                        </m:dPr>
                        <m:e>
                          <m:sSub>
                            <m:sSubPr>
                              <m:ctrlPr>
                                <a:rPr>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50</m:t>
                              </m:r>
                            </m:sub>
                          </m:sSub>
                        </m:e>
                      </m:d>
                      <m:r>
                        <a:rPr>
                          <a:latin typeface="Cambria Math" panose="02040503050406030204" pitchFamily="18" charset="0"/>
                        </a:rPr>
                        <m:t>=90,    </m:t>
                      </m:r>
                      <m:r>
                        <a:rPr>
                          <a:latin typeface="Cambria Math" panose="02040503050406030204" pitchFamily="18" charset="0"/>
                        </a:rPr>
                        <m:t>𝑉𝑎𝑟</m:t>
                      </m:r>
                      <m:d>
                        <m:dPr>
                          <m:ctrlPr>
                            <a:rPr i="1">
                              <a:latin typeface="Cambria Math" panose="02040503050406030204" pitchFamily="18" charset="0"/>
                            </a:rPr>
                          </m:ctrlPr>
                        </m:dPr>
                        <m:e>
                          <m:sSub>
                            <m:sSubPr>
                              <m:ctrlPr>
                                <a:rPr>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50</m:t>
                              </m:r>
                            </m:sub>
                          </m:sSub>
                        </m:e>
                      </m:d>
                      <m:r>
                        <a:rPr>
                          <a:latin typeface="Cambria Math" panose="02040503050406030204" pitchFamily="18" charset="0"/>
                        </a:rPr>
                        <m:t>=50·2.16=108</m:t>
                      </m:r>
                    </m:oMath>
                  </m:oMathPara>
                </a14:m>
                <a:endParaRPr/>
              </a:p>
            </p:txBody>
          </p:sp>
        </mc:Choice>
        <mc:Fallback>
          <p:sp>
            <p:nvSpPr>
              <p:cNvPr id="5" name="EQ_024">
                <a:extLst>
                  <a:ext uri="{FF2B5EF4-FFF2-40B4-BE49-F238E27FC236}">
                    <a16:creationId xmlns:a16="http://schemas.microsoft.com/office/drawing/2014/main" id="{9AEBF2CC-EE4C-40C6-9708-5D06C12947C8}"/>
                  </a:ext>
                </a:extLst>
              </p:cNvPr>
              <p:cNvSpPr>
                <a:spLocks noGrp="1" noRot="1" noChangeAspect="1" noMove="1" noResize="1" noEditPoints="1" noAdjustHandles="1" noChangeArrowheads="1" noChangeShapeType="1" noTextEdit="1"/>
              </p:cNvSpPr>
              <p:nvPr/>
            </p:nvSpPr>
            <p:spPr>
              <a:xfrm>
                <a:off x="857250" y="1619250"/>
                <a:ext cx="10477500" cy="1047750"/>
              </a:xfrm>
              <a:prstGeom prst="rect">
                <a:avLst/>
              </a:prstGeom>
              <a:blipFill>
                <a:blip r:embed="rId3"/>
                <a:stretch>
                  <a:fillRect/>
                </a:stretch>
              </a:blipFill>
              <a:ln w="0">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6" name="EQ_025">
                <a:extLst>
                  <a:ext uri="{FF2B5EF4-FFF2-40B4-BE49-F238E27FC236}">
                    <a16:creationId xmlns:a16="http://schemas.microsoft.com/office/drawing/2014/main" id="{BEBBA1FF-314C-4EBB-A325-9A5BEB755512}"/>
                  </a:ext>
                </a:extLst>
              </p:cNvPr>
              <p:cNvSpPr>
                <a:spLocks noGrp="1"/>
              </p:cNvSpPr>
              <p:nvPr/>
            </p:nvSpPr>
            <p:spPr>
              <a:xfrm>
                <a:off x="857250" y="3057525"/>
                <a:ext cx="10477500" cy="1238250"/>
              </a:xfrm>
              <a:prstGeom prst="rect">
                <a:avLst/>
              </a:prstGeom>
              <a:noFill/>
              <a:ln w="0">
                <a:noFill/>
              </a:ln>
            </p:spPr>
            <p:txBody>
              <a:bodyPr wrap="none" lIns="0" tIns="0" rIns="0" bIns="0" anchor="ctr">
                <a:noAutofit/>
              </a:bodyPr>
              <a:lstStyle>
                <a:lvl1pPr algn="l">
                  <a:buNone/>
                  <a:defRPr sz="2800">
                    <a:solidFill>
                      <a:srgbClr val="17365D"/>
                    </a:solidFill>
                    <a:latin typeface="Cambria Math"/>
                    <a:ea typeface="Cambria Math"/>
                    <a:cs typeface="Cambria Math"/>
                  </a:defRPr>
                </a:lvl1pPr>
                <a:lvl2pPr algn="l">
                  <a:buNone/>
                  <a:defRPr sz="2800">
                    <a:solidFill>
                      <a:srgbClr val="17365D"/>
                    </a:solidFill>
                    <a:latin typeface="Cambria Math"/>
                    <a:ea typeface="Cambria Math"/>
                    <a:cs typeface="Cambria Math"/>
                  </a:defRPr>
                </a:lvl2pPr>
                <a:lvl3pPr algn="l">
                  <a:buNone/>
                  <a:defRPr sz="2800">
                    <a:solidFill>
                      <a:srgbClr val="17365D"/>
                    </a:solidFill>
                    <a:latin typeface="Cambria Math"/>
                    <a:ea typeface="Cambria Math"/>
                    <a:cs typeface="Cambria Math"/>
                  </a:defRPr>
                </a:lvl3pPr>
                <a:lvl4pPr algn="l">
                  <a:buNone/>
                  <a:defRPr sz="2800">
                    <a:solidFill>
                      <a:srgbClr val="17365D"/>
                    </a:solidFill>
                    <a:latin typeface="Cambria Math"/>
                    <a:ea typeface="Cambria Math"/>
                    <a:cs typeface="Cambria Math"/>
                  </a:defRPr>
                </a:lvl4pPr>
                <a:lvl5pPr algn="l">
                  <a:buNone/>
                  <a:defRPr sz="2800">
                    <a:solidFill>
                      <a:srgbClr val="17365D"/>
                    </a:solidFill>
                    <a:latin typeface="Cambria Math"/>
                    <a:ea typeface="Cambria Math"/>
                    <a:cs typeface="Cambria Math"/>
                  </a:defRPr>
                </a:lvl5pPr>
                <a:lvl6pPr algn="l">
                  <a:buNone/>
                  <a:defRPr sz="2800">
                    <a:solidFill>
                      <a:srgbClr val="17365D"/>
                    </a:solidFill>
                    <a:latin typeface="Cambria Math"/>
                    <a:ea typeface="Cambria Math"/>
                    <a:cs typeface="Cambria Math"/>
                  </a:defRPr>
                </a:lvl6pPr>
                <a:lvl7pPr algn="l">
                  <a:buNone/>
                  <a:defRPr sz="2800">
                    <a:solidFill>
                      <a:srgbClr val="17365D"/>
                    </a:solidFill>
                    <a:latin typeface="Cambria Math"/>
                    <a:ea typeface="Cambria Math"/>
                    <a:cs typeface="Cambria Math"/>
                  </a:defRPr>
                </a:lvl7pPr>
                <a:lvl8pPr algn="l">
                  <a:buNone/>
                  <a:defRPr sz="2800">
                    <a:solidFill>
                      <a:srgbClr val="17365D"/>
                    </a:solidFill>
                    <a:latin typeface="Cambria Math"/>
                    <a:ea typeface="Cambria Math"/>
                    <a:cs typeface="Cambria Math"/>
                  </a:defRPr>
                </a:lvl8pPr>
                <a:lvl9pPr algn="l">
                  <a:buNone/>
                  <a:defRPr sz="2800">
                    <a:solidFill>
                      <a:srgbClr val="17365D"/>
                    </a:solidFill>
                    <a:latin typeface="Cambria Math"/>
                    <a:ea typeface="Cambria Math"/>
                    <a:cs typeface="Cambria Math"/>
                  </a:defRPr>
                </a:lvl9pPr>
              </a:lstStyle>
              <a:p>
                <a:pPr>
                  <a:buNone/>
                  <a:defRPr sz="2800">
                    <a:solidFill>
                      <a:srgbClr val="17365D"/>
                    </a:solidFill>
                  </a:defRPr>
                </a:pPr>
                <a14:m>
                  <m:oMathPara xmlns:m="http://schemas.openxmlformats.org/officeDocument/2006/math">
                    <m:oMath>
                      <m:r>
                        <a:rPr>
                          <a:latin typeface="Cambria Math" panose="02040503050406030204" pitchFamily="18" charset="0"/>
                        </a:rPr>
                        <m:t>𝑃</m:t>
                      </m:r>
                      <m:d>
                        <m:dPr>
                          <m:ctrlPr>
                            <a:rPr i="1">
                              <a:latin typeface="Cambria Math" panose="02040503050406030204" pitchFamily="18" charset="0"/>
                            </a:rPr>
                          </m:ctrlPr>
                        </m:dPr>
                        <m:e>
                          <m:sSub>
                            <m:sSubPr>
                              <m:ctrlPr>
                                <a:rPr>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50</m:t>
                              </m:r>
                            </m:sub>
                          </m:sSub>
                          <m:r>
                            <a:rPr>
                              <a:latin typeface="Cambria Math" panose="02040503050406030204" pitchFamily="18" charset="0"/>
                            </a:rPr>
                            <m:t>≤110</m:t>
                          </m:r>
                        </m:e>
                      </m:d>
                      <m:r>
                        <a:rPr>
                          <a:latin typeface="Cambria Math" panose="02040503050406030204" pitchFamily="18" charset="0"/>
                        </a:rPr>
                        <m:t>≈</m:t>
                      </m:r>
                      <m:r>
                        <a:rPr>
                          <a:latin typeface="Cambria Math" panose="02040503050406030204" pitchFamily="18" charset="0"/>
                        </a:rPr>
                        <m:t>𝛷</m:t>
                      </m:r>
                      <m:d>
                        <m:dPr>
                          <m:ctrlPr>
                            <a:rPr i="1">
                              <a:latin typeface="Cambria Math" panose="02040503050406030204" pitchFamily="18" charset="0"/>
                            </a:rPr>
                          </m:ctrlPr>
                        </m:dPr>
                        <m:e>
                          <m:f>
                            <m:fPr>
                              <m:ctrlPr>
                                <a:rPr>
                                  <a:latin typeface="Cambria Math" panose="02040503050406030204" pitchFamily="18" charset="0"/>
                                </a:rPr>
                              </m:ctrlPr>
                            </m:fPr>
                            <m:num>
                              <m:r>
                                <a:rPr>
                                  <a:latin typeface="Cambria Math" panose="02040503050406030204" pitchFamily="18" charset="0"/>
                                </a:rPr>
                                <m:t>110−90</m:t>
                              </m:r>
                            </m:num>
                            <m:den>
                              <m:rad>
                                <m:radPr>
                                  <m:ctrlPr>
                                    <a:rPr>
                                      <a:latin typeface="Cambria Math" panose="02040503050406030204" pitchFamily="18" charset="0"/>
                                    </a:rPr>
                                  </m:ctrlPr>
                                </m:radPr>
                                <m:e>
                                  <m:r>
                                    <a:rPr>
                                      <a:latin typeface="Cambria Math" panose="02040503050406030204" pitchFamily="18" charset="0"/>
                                    </a:rPr>
                                    <m:t>108</m:t>
                                  </m:r>
                                </m:e>
                              </m:rad>
                            </m:den>
                          </m:f>
                        </m:e>
                      </m:d>
                      <m:r>
                        <a:rPr>
                          <a:latin typeface="Cambria Math" panose="02040503050406030204" pitchFamily="18" charset="0"/>
                        </a:rPr>
                        <m:t>≈0.9729</m:t>
                      </m:r>
                    </m:oMath>
                  </m:oMathPara>
                </a14:m>
                <a:endParaRPr/>
              </a:p>
            </p:txBody>
          </p:sp>
        </mc:Choice>
        <mc:Fallback>
          <p:sp>
            <p:nvSpPr>
              <p:cNvPr id="6" name="EQ_025">
                <a:extLst>
                  <a:ext uri="{FF2B5EF4-FFF2-40B4-BE49-F238E27FC236}">
                    <a16:creationId xmlns:a16="http://schemas.microsoft.com/office/drawing/2014/main" id="{BEBBA1FF-314C-4EBB-A325-9A5BEB755512}"/>
                  </a:ext>
                </a:extLst>
              </p:cNvPr>
              <p:cNvSpPr>
                <a:spLocks noGrp="1" noRot="1" noChangeAspect="1" noMove="1" noResize="1" noEditPoints="1" noAdjustHandles="1" noChangeArrowheads="1" noChangeShapeType="1" noTextEdit="1"/>
              </p:cNvSpPr>
              <p:nvPr/>
            </p:nvSpPr>
            <p:spPr>
              <a:xfrm>
                <a:off x="857250" y="3057525"/>
                <a:ext cx="10477500" cy="1238250"/>
              </a:xfrm>
              <a:prstGeom prst="rect">
                <a:avLst/>
              </a:prstGeom>
              <a:blipFill>
                <a:blip r:embed="rId4"/>
                <a:stretch>
                  <a:fillRect/>
                </a:stretch>
              </a:blipFill>
              <a:ln w="0">
                <a:noFill/>
              </a:ln>
            </p:spPr>
            <p:txBody>
              <a:bodyPr/>
              <a:lstStyle/>
              <a:p>
                <a:r>
                  <a:rPr lang="en-GB">
                    <a:noFill/>
                  </a:rPr>
                  <a:t> </a:t>
                </a:r>
              </a:p>
            </p:txBody>
          </p:sp>
        </mc:Fallback>
      </mc:AlternateContent>
      <p:sp>
        <p:nvSpPr>
          <p:cNvPr id="7" name="text-6">
            <a:extLst>
              <a:ext uri="{FF2B5EF4-FFF2-40B4-BE49-F238E27FC236}">
                <a16:creationId xmlns:a16="http://schemas.microsoft.com/office/drawing/2014/main" id="{E05329E9-43FD-47B3-B38F-B732C4343096}"/>
              </a:ext>
            </a:extLst>
          </p:cNvPr>
          <p:cNvSpPr>
            <a:spLocks noGrp="1"/>
          </p:cNvSpPr>
          <p:nvPr/>
        </p:nvSpPr>
        <p:spPr>
          <a:xfrm>
            <a:off x="857250" y="4638675"/>
            <a:ext cx="10477500" cy="523875"/>
          </a:xfrm>
          <a:prstGeom prst="rect">
            <a:avLst/>
          </a:prstGeom>
          <a:noFill/>
          <a:ln w="0">
            <a:noFill/>
          </a:ln>
        </p:spPr>
        <p:txBody>
          <a:bodyPr wrap="square" lIns="0" tIns="0" rIns="0" bIns="0" anchor="t">
            <a:noAutofit/>
          </a:bodyPr>
          <a:lstStyle>
            <a:lvl1pPr>
              <a:buNone/>
              <a:defRPr sz="2025" b="0">
                <a:solidFill>
                  <a:srgbClr val="17365D"/>
                </a:solidFill>
                <a:latin typeface="Aptos"/>
                <a:ea typeface="Aptos"/>
                <a:cs typeface="Aptos"/>
              </a:defRPr>
            </a:lvl1pPr>
            <a:lvl2pPr>
              <a:buNone/>
              <a:defRPr sz="2025" b="0">
                <a:solidFill>
                  <a:srgbClr val="17365D"/>
                </a:solidFill>
                <a:latin typeface="Aptos"/>
                <a:ea typeface="Aptos"/>
                <a:cs typeface="Aptos"/>
              </a:defRPr>
            </a:lvl2pPr>
            <a:lvl3pPr>
              <a:buNone/>
              <a:defRPr sz="2025" b="0">
                <a:solidFill>
                  <a:srgbClr val="17365D"/>
                </a:solidFill>
                <a:latin typeface="Aptos"/>
                <a:ea typeface="Aptos"/>
                <a:cs typeface="Aptos"/>
              </a:defRPr>
            </a:lvl3pPr>
            <a:lvl4pPr>
              <a:buNone/>
              <a:defRPr sz="2025" b="0">
                <a:solidFill>
                  <a:srgbClr val="17365D"/>
                </a:solidFill>
                <a:latin typeface="Aptos"/>
                <a:ea typeface="Aptos"/>
                <a:cs typeface="Aptos"/>
              </a:defRPr>
            </a:lvl4pPr>
            <a:lvl5pPr>
              <a:buNone/>
              <a:defRPr sz="2025" b="0">
                <a:solidFill>
                  <a:srgbClr val="17365D"/>
                </a:solidFill>
                <a:latin typeface="Aptos"/>
                <a:ea typeface="Aptos"/>
                <a:cs typeface="Aptos"/>
              </a:defRPr>
            </a:lvl5pPr>
            <a:lvl6pPr>
              <a:buNone/>
              <a:defRPr sz="2025" b="0">
                <a:solidFill>
                  <a:srgbClr val="17365D"/>
                </a:solidFill>
                <a:latin typeface="Aptos"/>
                <a:ea typeface="Aptos"/>
                <a:cs typeface="Aptos"/>
              </a:defRPr>
            </a:lvl6pPr>
            <a:lvl7pPr>
              <a:buNone/>
              <a:defRPr sz="2025" b="0">
                <a:solidFill>
                  <a:srgbClr val="17365D"/>
                </a:solidFill>
                <a:latin typeface="Aptos"/>
                <a:ea typeface="Aptos"/>
                <a:cs typeface="Aptos"/>
              </a:defRPr>
            </a:lvl7pPr>
            <a:lvl8pPr>
              <a:buNone/>
              <a:defRPr sz="2025" b="0">
                <a:solidFill>
                  <a:srgbClr val="17365D"/>
                </a:solidFill>
                <a:latin typeface="Aptos"/>
                <a:ea typeface="Aptos"/>
                <a:cs typeface="Aptos"/>
              </a:defRPr>
            </a:lvl8pPr>
            <a:lvl9pPr>
              <a:buNone/>
              <a:defRPr sz="2025" b="0">
                <a:solidFill>
                  <a:srgbClr val="17365D"/>
                </a:solidFill>
                <a:latin typeface="Aptos"/>
                <a:ea typeface="Aptos"/>
                <a:cs typeface="Aptos"/>
              </a:defRPr>
            </a:lvl9pPr>
          </a:lstStyle>
          <a:p>
            <a:pPr>
              <a:buNone/>
              <a:defRPr sz="2025" b="0">
                <a:solidFill>
                  <a:srgbClr val="17365D"/>
                </a:solidFill>
                <a:latin typeface="Aptos"/>
                <a:ea typeface="Aptos"/>
                <a:cs typeface="Aptos"/>
              </a:defRPr>
            </a:pPr>
            <a:r>
              <a:rPr sz="2025" b="0">
                <a:solidFill>
                  <a:srgbClr val="17365D"/>
                </a:solidFill>
                <a:latin typeface="Aptos"/>
                <a:ea typeface="Aptos"/>
                <a:cs typeface="Aptos"/>
              </a:rPr>
              <a:t>Φ(z) = P(Z ≤ z) for Z ∼ N(0,1), recalled from Session 4.</a:t>
            </a:r>
          </a:p>
        </p:txBody>
      </p:sp>
      <p:sp>
        <p:nvSpPr>
          <p:cNvPr id="8" name="text-7">
            <a:extLst>
              <a:ext uri="{FF2B5EF4-FFF2-40B4-BE49-F238E27FC236}">
                <a16:creationId xmlns:a16="http://schemas.microsoft.com/office/drawing/2014/main" id="{D64E82A4-58B5-4552-AEC0-4FAE79775552}"/>
              </a:ext>
            </a:extLst>
          </p:cNvPr>
          <p:cNvSpPr>
            <a:spLocks noGrp="1"/>
          </p:cNvSpPr>
          <p:nvPr/>
        </p:nvSpPr>
        <p:spPr>
          <a:xfrm>
            <a:off x="857250" y="5276850"/>
            <a:ext cx="10477500" cy="571500"/>
          </a:xfrm>
          <a:prstGeom prst="rect">
            <a:avLst/>
          </a:prstGeom>
          <a:noFill/>
          <a:ln w="0">
            <a:noFill/>
          </a:ln>
        </p:spPr>
        <p:txBody>
          <a:bodyPr wrap="square" lIns="0" tIns="0" rIns="0" bIns="0" anchor="t">
            <a:noAutofit/>
          </a:bodyPr>
          <a:lstStyle>
            <a:lvl1pPr>
              <a:buNone/>
              <a:defRPr sz="2100" b="0">
                <a:solidFill>
                  <a:srgbClr val="2D75A3"/>
                </a:solidFill>
                <a:latin typeface="Aptos"/>
                <a:ea typeface="Aptos"/>
                <a:cs typeface="Aptos"/>
              </a:defRPr>
            </a:lvl1pPr>
            <a:lvl2pPr>
              <a:buNone/>
              <a:defRPr sz="2100" b="0">
                <a:solidFill>
                  <a:srgbClr val="2D75A3"/>
                </a:solidFill>
                <a:latin typeface="Aptos"/>
                <a:ea typeface="Aptos"/>
                <a:cs typeface="Aptos"/>
              </a:defRPr>
            </a:lvl2pPr>
            <a:lvl3pPr>
              <a:buNone/>
              <a:defRPr sz="2100" b="0">
                <a:solidFill>
                  <a:srgbClr val="2D75A3"/>
                </a:solidFill>
                <a:latin typeface="Aptos"/>
                <a:ea typeface="Aptos"/>
                <a:cs typeface="Aptos"/>
              </a:defRPr>
            </a:lvl3pPr>
            <a:lvl4pPr>
              <a:buNone/>
              <a:defRPr sz="2100" b="0">
                <a:solidFill>
                  <a:srgbClr val="2D75A3"/>
                </a:solidFill>
                <a:latin typeface="Aptos"/>
                <a:ea typeface="Aptos"/>
                <a:cs typeface="Aptos"/>
              </a:defRPr>
            </a:lvl4pPr>
            <a:lvl5pPr>
              <a:buNone/>
              <a:defRPr sz="2100" b="0">
                <a:solidFill>
                  <a:srgbClr val="2D75A3"/>
                </a:solidFill>
                <a:latin typeface="Aptos"/>
                <a:ea typeface="Aptos"/>
                <a:cs typeface="Aptos"/>
              </a:defRPr>
            </a:lvl5pPr>
            <a:lvl6pPr>
              <a:buNone/>
              <a:defRPr sz="2100" b="0">
                <a:solidFill>
                  <a:srgbClr val="2D75A3"/>
                </a:solidFill>
                <a:latin typeface="Aptos"/>
                <a:ea typeface="Aptos"/>
                <a:cs typeface="Aptos"/>
              </a:defRPr>
            </a:lvl6pPr>
            <a:lvl7pPr>
              <a:buNone/>
              <a:defRPr sz="2100" b="0">
                <a:solidFill>
                  <a:srgbClr val="2D75A3"/>
                </a:solidFill>
                <a:latin typeface="Aptos"/>
                <a:ea typeface="Aptos"/>
                <a:cs typeface="Aptos"/>
              </a:defRPr>
            </a:lvl7pPr>
            <a:lvl8pPr>
              <a:buNone/>
              <a:defRPr sz="2100" b="0">
                <a:solidFill>
                  <a:srgbClr val="2D75A3"/>
                </a:solidFill>
                <a:latin typeface="Aptos"/>
                <a:ea typeface="Aptos"/>
                <a:cs typeface="Aptos"/>
              </a:defRPr>
            </a:lvl8pPr>
            <a:lvl9pPr>
              <a:buNone/>
              <a:defRPr sz="2100" b="0">
                <a:solidFill>
                  <a:srgbClr val="2D75A3"/>
                </a:solidFill>
                <a:latin typeface="Aptos"/>
                <a:ea typeface="Aptos"/>
                <a:cs typeface="Aptos"/>
              </a:defRPr>
            </a:lvl9pPr>
          </a:lstStyle>
          <a:p>
            <a:pPr>
              <a:buNone/>
              <a:defRPr sz="2100" b="0">
                <a:solidFill>
                  <a:srgbClr val="2D75A3"/>
                </a:solidFill>
                <a:latin typeface="Aptos"/>
                <a:ea typeface="Aptos"/>
                <a:cs typeface="Aptos"/>
              </a:defRPr>
            </a:pPr>
            <a:r>
              <a:rPr sz="2100" b="0">
                <a:solidFill>
                  <a:srgbClr val="2D75A3"/>
                </a:solidFill>
                <a:latin typeface="Aptos"/>
                <a:ea typeface="Aptos"/>
                <a:cs typeface="Aptos"/>
              </a:rPr>
              <a:t>Normal estimate: 97.29%. Numerical model benchmark: 96.79%.</a:t>
            </a:r>
          </a:p>
        </p:txBody>
      </p:sp>
      <p:sp>
        <p:nvSpPr>
          <p:cNvPr id="9" name="text-8">
            <a:extLst>
              <a:ext uri="{FF2B5EF4-FFF2-40B4-BE49-F238E27FC236}">
                <a16:creationId xmlns:a16="http://schemas.microsoft.com/office/drawing/2014/main" id="{C76C91EB-0B77-40D6-A476-16EACC9DCF33}"/>
              </a:ext>
            </a:extLst>
          </p:cNvPr>
          <p:cNvSpPr>
            <a:spLocks noGrp="1"/>
          </p:cNvSpPr>
          <p:nvPr/>
        </p:nvSpPr>
        <p:spPr>
          <a:xfrm>
            <a:off x="857250" y="5953125"/>
            <a:ext cx="10477500" cy="361950"/>
          </a:xfrm>
          <a:prstGeom prst="rect">
            <a:avLst/>
          </a:prstGeom>
          <a:noFill/>
          <a:ln w="0">
            <a:noFill/>
          </a:ln>
        </p:spPr>
        <p:txBody>
          <a:bodyPr wrap="square" lIns="0" tIns="0" rIns="0" bIns="0" anchor="t">
            <a:noAutofit/>
          </a:bodyPr>
          <a:lstStyle>
            <a:lvl1pPr>
              <a:buNone/>
              <a:defRPr sz="1875" b="0">
                <a:solidFill>
                  <a:srgbClr val="526171"/>
                </a:solidFill>
                <a:latin typeface="Aptos"/>
                <a:ea typeface="Aptos"/>
                <a:cs typeface="Aptos"/>
              </a:defRPr>
            </a:lvl1pPr>
            <a:lvl2pPr>
              <a:buNone/>
              <a:defRPr sz="1875" b="0">
                <a:solidFill>
                  <a:srgbClr val="526171"/>
                </a:solidFill>
                <a:latin typeface="Aptos"/>
                <a:ea typeface="Aptos"/>
                <a:cs typeface="Aptos"/>
              </a:defRPr>
            </a:lvl2pPr>
            <a:lvl3pPr>
              <a:buNone/>
              <a:defRPr sz="1875" b="0">
                <a:solidFill>
                  <a:srgbClr val="526171"/>
                </a:solidFill>
                <a:latin typeface="Aptos"/>
                <a:ea typeface="Aptos"/>
                <a:cs typeface="Aptos"/>
              </a:defRPr>
            </a:lvl3pPr>
            <a:lvl4pPr>
              <a:buNone/>
              <a:defRPr sz="1875" b="0">
                <a:solidFill>
                  <a:srgbClr val="526171"/>
                </a:solidFill>
                <a:latin typeface="Aptos"/>
                <a:ea typeface="Aptos"/>
                <a:cs typeface="Aptos"/>
              </a:defRPr>
            </a:lvl4pPr>
            <a:lvl5pPr>
              <a:buNone/>
              <a:defRPr sz="1875" b="0">
                <a:solidFill>
                  <a:srgbClr val="526171"/>
                </a:solidFill>
                <a:latin typeface="Aptos"/>
                <a:ea typeface="Aptos"/>
                <a:cs typeface="Aptos"/>
              </a:defRPr>
            </a:lvl5pPr>
            <a:lvl6pPr>
              <a:buNone/>
              <a:defRPr sz="1875" b="0">
                <a:solidFill>
                  <a:srgbClr val="526171"/>
                </a:solidFill>
                <a:latin typeface="Aptos"/>
                <a:ea typeface="Aptos"/>
                <a:cs typeface="Aptos"/>
              </a:defRPr>
            </a:lvl6pPr>
            <a:lvl7pPr>
              <a:buNone/>
              <a:defRPr sz="1875" b="0">
                <a:solidFill>
                  <a:srgbClr val="526171"/>
                </a:solidFill>
                <a:latin typeface="Aptos"/>
                <a:ea typeface="Aptos"/>
                <a:cs typeface="Aptos"/>
              </a:defRPr>
            </a:lvl7pPr>
            <a:lvl8pPr>
              <a:buNone/>
              <a:defRPr sz="1875" b="0">
                <a:solidFill>
                  <a:srgbClr val="526171"/>
                </a:solidFill>
                <a:latin typeface="Aptos"/>
                <a:ea typeface="Aptos"/>
                <a:cs typeface="Aptos"/>
              </a:defRPr>
            </a:lvl8pPr>
            <a:lvl9pPr>
              <a:buNone/>
              <a:defRPr sz="1875" b="0">
                <a:solidFill>
                  <a:srgbClr val="526171"/>
                </a:solidFill>
                <a:latin typeface="Aptos"/>
                <a:ea typeface="Aptos"/>
                <a:cs typeface="Aptos"/>
              </a:defRPr>
            </a:lvl9pPr>
          </a:lstStyle>
          <a:p>
            <a:pPr>
              <a:buNone/>
              <a:defRPr sz="1875" b="0">
                <a:solidFill>
                  <a:srgbClr val="526171"/>
                </a:solidFill>
                <a:latin typeface="Aptos"/>
                <a:ea typeface="Aptos"/>
                <a:cs typeface="Aptos"/>
              </a:defRPr>
            </a:pPr>
            <a:r>
              <a:rPr sz="1875" b="0">
                <a:solidFill>
                  <a:srgbClr val="526171"/>
                </a:solidFill>
                <a:latin typeface="Aptos"/>
                <a:ea typeface="Aptos"/>
                <a:cs typeface="Aptos"/>
              </a:rPr>
              <a:t>We next refine the boundary because the total takes integer values.</a:t>
            </a:r>
          </a:p>
        </p:txBody>
      </p:sp>
      <p:sp>
        <p:nvSpPr>
          <p:cNvPr id="11" name="notebook-cue-slide-23">
            <a:extLst>
              <a:ext uri="{FF2B5EF4-FFF2-40B4-BE49-F238E27FC236}">
                <a16:creationId xmlns:a16="http://schemas.microsoft.com/office/drawing/2014/main" id="{C10D2171-3EDE-4E19-A154-8BD6F5A3BFA5}"/>
              </a:ext>
            </a:extLst>
          </p:cNvPr>
          <p:cNvSpPr>
            <a:spLocks noGrp="1"/>
          </p:cNvSpPr>
          <p:nvPr/>
        </p:nvSpPr>
        <p:spPr>
          <a:xfrm>
            <a:off x="2952750" y="6429375"/>
            <a:ext cx="7620000" cy="295275"/>
          </a:xfrm>
          <a:prstGeom prst="rect">
            <a:avLst/>
          </a:prstGeom>
          <a:noFill/>
          <a:ln w="0">
            <a:noFill/>
          </a:ln>
        </p:spPr>
        <p:txBody>
          <a:bodyPr wrap="none" lIns="0" tIns="0" rIns="0" bIns="0" anchor="ctr">
            <a:noAutofit/>
          </a:bodyPr>
          <a:lstStyle>
            <a:defPPr algn="ctr">
              <a:defRPr sz="1650" b="1">
                <a:solidFill>
                  <a:srgbClr val="2F6F4E"/>
                </a:solidFill>
                <a:latin typeface="Aptos"/>
                <a:ea typeface="Aptos"/>
                <a:cs typeface="Aptos"/>
              </a:defRPr>
            </a:defPPr>
            <a:lvl1pPr algn="ctr">
              <a:defRPr sz="1650" b="1">
                <a:solidFill>
                  <a:srgbClr val="2F6F4E"/>
                </a:solidFill>
                <a:latin typeface="Aptos"/>
                <a:ea typeface="Aptos"/>
                <a:cs typeface="Aptos"/>
              </a:defRPr>
            </a:lvl1pPr>
            <a:lvl2pPr algn="ctr">
              <a:defRPr sz="1650" b="1">
                <a:solidFill>
                  <a:srgbClr val="2F6F4E"/>
                </a:solidFill>
                <a:latin typeface="Aptos"/>
                <a:ea typeface="Aptos"/>
                <a:cs typeface="Aptos"/>
              </a:defRPr>
            </a:lvl2pPr>
            <a:lvl3pPr algn="ctr">
              <a:defRPr sz="1650" b="1">
                <a:solidFill>
                  <a:srgbClr val="2F6F4E"/>
                </a:solidFill>
                <a:latin typeface="Aptos"/>
                <a:ea typeface="Aptos"/>
                <a:cs typeface="Aptos"/>
              </a:defRPr>
            </a:lvl3pPr>
            <a:lvl4pPr algn="ctr">
              <a:defRPr sz="1650" b="1">
                <a:solidFill>
                  <a:srgbClr val="2F6F4E"/>
                </a:solidFill>
                <a:latin typeface="Aptos"/>
                <a:ea typeface="Aptos"/>
                <a:cs typeface="Aptos"/>
              </a:defRPr>
            </a:lvl4pPr>
            <a:lvl5pPr algn="ctr">
              <a:defRPr sz="1650" b="1">
                <a:solidFill>
                  <a:srgbClr val="2F6F4E"/>
                </a:solidFill>
                <a:latin typeface="Aptos"/>
                <a:ea typeface="Aptos"/>
                <a:cs typeface="Aptos"/>
              </a:defRPr>
            </a:lvl5pPr>
            <a:lvl6pPr algn="ctr">
              <a:defRPr sz="1650" b="1">
                <a:solidFill>
                  <a:srgbClr val="2F6F4E"/>
                </a:solidFill>
                <a:latin typeface="Aptos"/>
                <a:ea typeface="Aptos"/>
                <a:cs typeface="Aptos"/>
              </a:defRPr>
            </a:lvl6pPr>
            <a:lvl7pPr algn="ctr">
              <a:defRPr sz="1650" b="1">
                <a:solidFill>
                  <a:srgbClr val="2F6F4E"/>
                </a:solidFill>
                <a:latin typeface="Aptos"/>
                <a:ea typeface="Aptos"/>
                <a:cs typeface="Aptos"/>
              </a:defRPr>
            </a:lvl7pPr>
            <a:lvl8pPr algn="ctr">
              <a:defRPr sz="1650" b="1">
                <a:solidFill>
                  <a:srgbClr val="2F6F4E"/>
                </a:solidFill>
                <a:latin typeface="Aptos"/>
                <a:ea typeface="Aptos"/>
                <a:cs typeface="Aptos"/>
              </a:defRPr>
            </a:lvl8pPr>
            <a:lvl9pPr algn="ctr">
              <a:defRPr sz="1650" b="1">
                <a:solidFill>
                  <a:srgbClr val="2F6F4E"/>
                </a:solidFill>
                <a:latin typeface="Aptos"/>
                <a:ea typeface="Aptos"/>
                <a:cs typeface="Aptos"/>
              </a:defRPr>
            </a:lvl9pPr>
          </a:lstStyle>
          <a:p>
            <a:pPr algn="ctr">
              <a:defRPr sz="1650" b="1">
                <a:solidFill>
                  <a:srgbClr val="2F6F4E"/>
                </a:solidFill>
                <a:latin typeface="Aptos"/>
                <a:ea typeface="Aptos"/>
                <a:cs typeface="Aptos"/>
              </a:defRPr>
            </a:pPr>
            <a:r>
              <a:rPr sz="1650" b="1">
                <a:solidFill>
                  <a:srgbClr val="2F6F4E"/>
                </a:solidFill>
                <a:latin typeface="Aptos"/>
                <a:ea typeface="Aptos"/>
                <a:cs typeface="Aptos"/>
              </a:rPr>
              <a:t>Notebook: Slide 23 (optional)</a:t>
            </a:r>
          </a:p>
        </p:txBody>
      </p:sp>
    </p:spTree>
    <p:extLst>
      <p:ext uri="{BB962C8B-B14F-4D97-AF65-F5344CB8AC3E}">
        <p14:creationId xmlns:p14="http://schemas.microsoft.com/office/powerpoint/2010/main" val="10423217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F16B01E4-5592-4593-878E-0DE40CF3CD86}"/>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dirty="0">
                <a:solidFill>
                  <a:srgbClr val="17365D"/>
                </a:solidFill>
                <a:latin typeface="Aptos"/>
                <a:ea typeface="Aptos"/>
                <a:cs typeface="Aptos"/>
              </a:rPr>
              <a:t>Normal approximation to an integer count</a:t>
            </a:r>
            <a:r>
              <a:rPr lang="da-DK" sz="3225" b="1" dirty="0">
                <a:solidFill>
                  <a:srgbClr val="17365D"/>
                </a:solidFill>
                <a:latin typeface="Aptos"/>
                <a:ea typeface="Aptos"/>
                <a:cs typeface="Aptos"/>
              </a:rPr>
              <a:t> – Ex3</a:t>
            </a:r>
            <a:endParaRPr sz="3225" b="1" dirty="0">
              <a:solidFill>
                <a:srgbClr val="17365D"/>
              </a:solidFill>
              <a:latin typeface="Aptos"/>
              <a:ea typeface="Aptos"/>
              <a:cs typeface="Aptos"/>
            </a:endParaRPr>
          </a:p>
        </p:txBody>
      </p:sp>
      <p:sp>
        <p:nvSpPr>
          <p:cNvPr id="2" name="Straight Connector 1">
            <a:extLst>
              <a:ext uri="{FF2B5EF4-FFF2-40B4-BE49-F238E27FC236}">
                <a16:creationId xmlns:a16="http://schemas.microsoft.com/office/drawing/2014/main" id="{ACFC8D48-19D1-4A43-9A80-757EE586A7C6}"/>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E546FD6C-D219-42E2-AF18-D4E0CD08D1DB}"/>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F7FF4325-9565-4548-8409-3E9A88A5D413}"/>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24</a:t>
            </a:r>
          </a:p>
        </p:txBody>
      </p:sp>
      <p:sp>
        <p:nvSpPr>
          <p:cNvPr id="5" name="text-4">
            <a:extLst>
              <a:ext uri="{FF2B5EF4-FFF2-40B4-BE49-F238E27FC236}">
                <a16:creationId xmlns:a16="http://schemas.microsoft.com/office/drawing/2014/main" id="{C5659B4C-F1FE-42D1-BB46-782B13314D3E}"/>
              </a:ext>
            </a:extLst>
          </p:cNvPr>
          <p:cNvSpPr>
            <a:spLocks noGrp="1"/>
          </p:cNvSpPr>
          <p:nvPr/>
        </p:nvSpPr>
        <p:spPr>
          <a:xfrm>
            <a:off x="857250" y="1609725"/>
            <a:ext cx="10477500" cy="866775"/>
          </a:xfrm>
          <a:prstGeom prst="rect">
            <a:avLst/>
          </a:prstGeom>
          <a:noFill/>
          <a:ln w="0">
            <a:noFill/>
          </a:ln>
        </p:spPr>
        <p:txBody>
          <a:bodyPr wrap="square" lIns="0" tIns="0" rIns="0" bIns="0" anchor="t">
            <a:noAutofit/>
          </a:bodyPr>
          <a:lstStyle>
            <a:lvl1pPr>
              <a:buNone/>
              <a:defRPr sz="2250" b="0">
                <a:solidFill>
                  <a:srgbClr val="17365D"/>
                </a:solidFill>
                <a:latin typeface="Aptos"/>
                <a:ea typeface="Aptos"/>
                <a:cs typeface="Aptos"/>
              </a:defRPr>
            </a:lvl1pPr>
            <a:lvl2pPr>
              <a:buNone/>
              <a:defRPr sz="2250" b="0">
                <a:solidFill>
                  <a:srgbClr val="17365D"/>
                </a:solidFill>
                <a:latin typeface="Aptos"/>
                <a:ea typeface="Aptos"/>
                <a:cs typeface="Aptos"/>
              </a:defRPr>
            </a:lvl2pPr>
            <a:lvl3pPr>
              <a:buNone/>
              <a:defRPr sz="2250" b="0">
                <a:solidFill>
                  <a:srgbClr val="17365D"/>
                </a:solidFill>
                <a:latin typeface="Aptos"/>
                <a:ea typeface="Aptos"/>
                <a:cs typeface="Aptos"/>
              </a:defRPr>
            </a:lvl3pPr>
            <a:lvl4pPr>
              <a:buNone/>
              <a:defRPr sz="2250" b="0">
                <a:solidFill>
                  <a:srgbClr val="17365D"/>
                </a:solidFill>
                <a:latin typeface="Aptos"/>
                <a:ea typeface="Aptos"/>
                <a:cs typeface="Aptos"/>
              </a:defRPr>
            </a:lvl4pPr>
            <a:lvl5pPr>
              <a:buNone/>
              <a:defRPr sz="2250" b="0">
                <a:solidFill>
                  <a:srgbClr val="17365D"/>
                </a:solidFill>
                <a:latin typeface="Aptos"/>
                <a:ea typeface="Aptos"/>
                <a:cs typeface="Aptos"/>
              </a:defRPr>
            </a:lvl5pPr>
            <a:lvl6pPr>
              <a:buNone/>
              <a:defRPr sz="2250" b="0">
                <a:solidFill>
                  <a:srgbClr val="17365D"/>
                </a:solidFill>
                <a:latin typeface="Aptos"/>
                <a:ea typeface="Aptos"/>
                <a:cs typeface="Aptos"/>
              </a:defRPr>
            </a:lvl6pPr>
            <a:lvl7pPr>
              <a:buNone/>
              <a:defRPr sz="2250" b="0">
                <a:solidFill>
                  <a:srgbClr val="17365D"/>
                </a:solidFill>
                <a:latin typeface="Aptos"/>
                <a:ea typeface="Aptos"/>
                <a:cs typeface="Aptos"/>
              </a:defRPr>
            </a:lvl7pPr>
            <a:lvl8pPr>
              <a:buNone/>
              <a:defRPr sz="2250" b="0">
                <a:solidFill>
                  <a:srgbClr val="17365D"/>
                </a:solidFill>
                <a:latin typeface="Aptos"/>
                <a:ea typeface="Aptos"/>
                <a:cs typeface="Aptos"/>
              </a:defRPr>
            </a:lvl8pPr>
            <a:lvl9pPr>
              <a:buNone/>
              <a:defRPr sz="2250" b="0">
                <a:solidFill>
                  <a:srgbClr val="17365D"/>
                </a:solidFill>
                <a:latin typeface="Aptos"/>
                <a:ea typeface="Aptos"/>
                <a:cs typeface="Aptos"/>
              </a:defRPr>
            </a:lvl9pPr>
          </a:lstStyle>
          <a:p>
            <a:pPr>
              <a:buNone/>
              <a:defRPr sz="2250" b="0">
                <a:solidFill>
                  <a:srgbClr val="17365D"/>
                </a:solidFill>
                <a:latin typeface="Aptos"/>
                <a:ea typeface="Aptos"/>
                <a:cs typeface="Aptos"/>
              </a:defRPr>
            </a:pPr>
            <a:r>
              <a:rPr sz="2250" b="0">
                <a:solidFill>
                  <a:srgbClr val="17365D"/>
                </a:solidFill>
                <a:latin typeface="Aptos"/>
                <a:ea typeface="Aptos"/>
                <a:cs typeface="Aptos"/>
              </a:rPr>
              <a:t>365 independent Poisson(10) days give a total S with mean and variance 3650.</a:t>
            </a:r>
          </a:p>
        </p:txBody>
      </p:sp>
      <mc:AlternateContent xmlns:mc="http://schemas.openxmlformats.org/markup-compatibility/2006">
        <mc:Choice xmlns:a14="http://schemas.microsoft.com/office/drawing/2010/main" Requires="a14">
          <p:sp>
            <p:nvSpPr>
              <p:cNvPr id="6" name="EQ_044">
                <a:extLst>
                  <a:ext uri="{FF2B5EF4-FFF2-40B4-BE49-F238E27FC236}">
                    <a16:creationId xmlns:a16="http://schemas.microsoft.com/office/drawing/2014/main" id="{BF1F8B99-8E6B-4E83-A578-CC58272059CB}"/>
                  </a:ext>
                </a:extLst>
              </p:cNvPr>
              <p:cNvSpPr>
                <a:spLocks noGrp="1"/>
              </p:cNvSpPr>
              <p:nvPr/>
            </p:nvSpPr>
            <p:spPr>
              <a:xfrm>
                <a:off x="857250" y="2562225"/>
                <a:ext cx="10477500" cy="838200"/>
              </a:xfrm>
              <a:prstGeom prst="rect">
                <a:avLst/>
              </a:prstGeom>
              <a:noFill/>
              <a:ln w="0">
                <a:noFill/>
              </a:ln>
            </p:spPr>
            <p:txBody>
              <a:bodyPr wrap="none" lIns="0" tIns="0" rIns="0" bIns="0" anchor="ctr">
                <a:noAutofit/>
              </a:bodyPr>
              <a:lstStyle>
                <a:lvl1pPr algn="l">
                  <a:buNone/>
                  <a:defRPr sz="3200">
                    <a:solidFill>
                      <a:srgbClr val="17365D"/>
                    </a:solidFill>
                    <a:latin typeface="Cambria Math"/>
                    <a:ea typeface="Cambria Math"/>
                    <a:cs typeface="Cambria Math"/>
                  </a:defRPr>
                </a:lvl1pPr>
                <a:lvl2pPr algn="l">
                  <a:buNone/>
                  <a:defRPr sz="3200">
                    <a:solidFill>
                      <a:srgbClr val="17365D"/>
                    </a:solidFill>
                    <a:latin typeface="Cambria Math"/>
                    <a:ea typeface="Cambria Math"/>
                    <a:cs typeface="Cambria Math"/>
                  </a:defRPr>
                </a:lvl2pPr>
                <a:lvl3pPr algn="l">
                  <a:buNone/>
                  <a:defRPr sz="3200">
                    <a:solidFill>
                      <a:srgbClr val="17365D"/>
                    </a:solidFill>
                    <a:latin typeface="Cambria Math"/>
                    <a:ea typeface="Cambria Math"/>
                    <a:cs typeface="Cambria Math"/>
                  </a:defRPr>
                </a:lvl3pPr>
                <a:lvl4pPr algn="l">
                  <a:buNone/>
                  <a:defRPr sz="3200">
                    <a:solidFill>
                      <a:srgbClr val="17365D"/>
                    </a:solidFill>
                    <a:latin typeface="Cambria Math"/>
                    <a:ea typeface="Cambria Math"/>
                    <a:cs typeface="Cambria Math"/>
                  </a:defRPr>
                </a:lvl4pPr>
                <a:lvl5pPr algn="l">
                  <a:buNone/>
                  <a:defRPr sz="3200">
                    <a:solidFill>
                      <a:srgbClr val="17365D"/>
                    </a:solidFill>
                    <a:latin typeface="Cambria Math"/>
                    <a:ea typeface="Cambria Math"/>
                    <a:cs typeface="Cambria Math"/>
                  </a:defRPr>
                </a:lvl5pPr>
                <a:lvl6pPr algn="l">
                  <a:buNone/>
                  <a:defRPr sz="3200">
                    <a:solidFill>
                      <a:srgbClr val="17365D"/>
                    </a:solidFill>
                    <a:latin typeface="Cambria Math"/>
                    <a:ea typeface="Cambria Math"/>
                    <a:cs typeface="Cambria Math"/>
                  </a:defRPr>
                </a:lvl6pPr>
                <a:lvl7pPr algn="l">
                  <a:buNone/>
                  <a:defRPr sz="3200">
                    <a:solidFill>
                      <a:srgbClr val="17365D"/>
                    </a:solidFill>
                    <a:latin typeface="Cambria Math"/>
                    <a:ea typeface="Cambria Math"/>
                    <a:cs typeface="Cambria Math"/>
                  </a:defRPr>
                </a:lvl7pPr>
                <a:lvl8pPr algn="l">
                  <a:buNone/>
                  <a:defRPr sz="3200">
                    <a:solidFill>
                      <a:srgbClr val="17365D"/>
                    </a:solidFill>
                    <a:latin typeface="Cambria Math"/>
                    <a:ea typeface="Cambria Math"/>
                    <a:cs typeface="Cambria Math"/>
                  </a:defRPr>
                </a:lvl8pPr>
                <a:lvl9pPr algn="l">
                  <a:buNone/>
                  <a:defRPr sz="3200">
                    <a:solidFill>
                      <a:srgbClr val="17365D"/>
                    </a:solidFill>
                    <a:latin typeface="Cambria Math"/>
                    <a:ea typeface="Cambria Math"/>
                    <a:cs typeface="Cambria Math"/>
                  </a:defRPr>
                </a:lvl9pPr>
              </a:lstStyle>
              <a:p>
                <a:pPr>
                  <a:buNone/>
                  <a:defRPr sz="3200">
                    <a:solidFill>
                      <a:srgbClr val="17365D"/>
                    </a:solidFill>
                  </a:defRPr>
                </a:pPr>
                <a14:m>
                  <m:oMathPara xmlns:m="http://schemas.openxmlformats.org/officeDocument/2006/math">
                    <m:oMath>
                      <m:r>
                        <a:rPr>
                          <a:latin typeface="Cambria Math" panose="02040503050406030204" pitchFamily="18" charset="0"/>
                        </a:rPr>
                        <m:t>𝑃</m:t>
                      </m:r>
                      <m:d>
                        <m:dPr>
                          <m:ctrlPr>
                            <a:rPr>
                              <a:latin typeface="Cambria Math" panose="02040503050406030204" pitchFamily="18" charset="0"/>
                            </a:rPr>
                          </m:ctrlPr>
                        </m:dPr>
                        <m:e>
                          <m:r>
                            <a:rPr>
                              <a:latin typeface="Cambria Math" panose="02040503050406030204" pitchFamily="18" charset="0"/>
                            </a:rPr>
                            <m:t>𝑆</m:t>
                          </m:r>
                          <m:r>
                            <a:rPr>
                              <a:latin typeface="Cambria Math" panose="02040503050406030204" pitchFamily="18" charset="0"/>
                            </a:rPr>
                            <m:t>&gt;3800</m:t>
                          </m:r>
                        </m:e>
                      </m:d>
                      <m:r>
                        <a:rPr>
                          <a:latin typeface="Cambria Math" panose="02040503050406030204" pitchFamily="18" charset="0"/>
                        </a:rPr>
                        <m:t>=</m:t>
                      </m:r>
                      <m:r>
                        <a:rPr>
                          <a:latin typeface="Cambria Math" panose="02040503050406030204" pitchFamily="18" charset="0"/>
                        </a:rPr>
                        <m:t>𝑃</m:t>
                      </m:r>
                      <m:d>
                        <m:dPr>
                          <m:ctrlPr>
                            <a:rPr>
                              <a:latin typeface="Cambria Math" panose="02040503050406030204" pitchFamily="18" charset="0"/>
                            </a:rPr>
                          </m:ctrlPr>
                        </m:dPr>
                        <m:e>
                          <m:r>
                            <a:rPr>
                              <a:latin typeface="Cambria Math" panose="02040503050406030204" pitchFamily="18" charset="0"/>
                            </a:rPr>
                            <m:t>𝑆</m:t>
                          </m:r>
                          <m:r>
                            <a:rPr>
                              <a:latin typeface="Cambria Math" panose="02040503050406030204" pitchFamily="18" charset="0"/>
                            </a:rPr>
                            <m:t>≥3801</m:t>
                          </m:r>
                        </m:e>
                      </m:d>
                    </m:oMath>
                  </m:oMathPara>
                </a14:m>
                <a:endParaRPr/>
              </a:p>
            </p:txBody>
          </p:sp>
        </mc:Choice>
        <mc:Fallback>
          <p:sp>
            <p:nvSpPr>
              <p:cNvPr id="6" name="EQ_044">
                <a:extLst>
                  <a:ext uri="{FF2B5EF4-FFF2-40B4-BE49-F238E27FC236}">
                    <a16:creationId xmlns:a16="http://schemas.microsoft.com/office/drawing/2014/main" id="{BF1F8B99-8E6B-4E83-A578-CC58272059CB}"/>
                  </a:ext>
                </a:extLst>
              </p:cNvPr>
              <p:cNvSpPr>
                <a:spLocks noGrp="1" noRot="1" noChangeAspect="1" noMove="1" noResize="1" noEditPoints="1" noAdjustHandles="1" noChangeArrowheads="1" noChangeShapeType="1" noTextEdit="1"/>
              </p:cNvSpPr>
              <p:nvPr/>
            </p:nvSpPr>
            <p:spPr>
              <a:xfrm>
                <a:off x="857250" y="2562225"/>
                <a:ext cx="10477500" cy="838200"/>
              </a:xfrm>
              <a:prstGeom prst="rect">
                <a:avLst/>
              </a:prstGeom>
              <a:blipFill>
                <a:blip r:embed="rId3"/>
                <a:stretch>
                  <a:fillRect/>
                </a:stretch>
              </a:blipFill>
              <a:ln w="0">
                <a:noFill/>
              </a:ln>
            </p:spPr>
            <p:txBody>
              <a:bodyPr/>
              <a:lstStyle/>
              <a:p>
                <a:r>
                  <a:rPr lang="en-GB">
                    <a:noFill/>
                  </a:rPr>
                  <a:t> </a:t>
                </a:r>
              </a:p>
            </p:txBody>
          </p:sp>
        </mc:Fallback>
      </mc:AlternateContent>
      <p:sp>
        <p:nvSpPr>
          <p:cNvPr id="7" name="text-6">
            <a:extLst>
              <a:ext uri="{FF2B5EF4-FFF2-40B4-BE49-F238E27FC236}">
                <a16:creationId xmlns:a16="http://schemas.microsoft.com/office/drawing/2014/main" id="{B5B7F34F-9985-4F06-B584-04F0DD81D284}"/>
              </a:ext>
            </a:extLst>
          </p:cNvPr>
          <p:cNvSpPr>
            <a:spLocks noGrp="1"/>
          </p:cNvSpPr>
          <p:nvPr/>
        </p:nvSpPr>
        <p:spPr>
          <a:xfrm>
            <a:off x="857250" y="3619500"/>
            <a:ext cx="10477500" cy="923925"/>
          </a:xfrm>
          <a:prstGeom prst="rect">
            <a:avLst/>
          </a:prstGeom>
          <a:noFill/>
          <a:ln w="0">
            <a:noFill/>
          </a:ln>
        </p:spPr>
        <p:txBody>
          <a:bodyPr wrap="square" lIns="0" tIns="0" rIns="0" bIns="0" anchor="t">
            <a:noAutofit/>
          </a:bodyPr>
          <a:lstStyle>
            <a:lvl1pPr>
              <a:buNone/>
              <a:defRPr sz="2175" b="0">
                <a:solidFill>
                  <a:srgbClr val="17365D"/>
                </a:solidFill>
                <a:latin typeface="Aptos"/>
                <a:ea typeface="Aptos"/>
                <a:cs typeface="Aptos"/>
              </a:defRPr>
            </a:lvl1pPr>
            <a:lvl2pPr>
              <a:buNone/>
              <a:defRPr sz="2175" b="0">
                <a:solidFill>
                  <a:srgbClr val="17365D"/>
                </a:solidFill>
                <a:latin typeface="Aptos"/>
                <a:ea typeface="Aptos"/>
                <a:cs typeface="Aptos"/>
              </a:defRPr>
            </a:lvl2pPr>
            <a:lvl3pPr>
              <a:buNone/>
              <a:defRPr sz="2175" b="0">
                <a:solidFill>
                  <a:srgbClr val="17365D"/>
                </a:solidFill>
                <a:latin typeface="Aptos"/>
                <a:ea typeface="Aptos"/>
                <a:cs typeface="Aptos"/>
              </a:defRPr>
            </a:lvl3pPr>
            <a:lvl4pPr>
              <a:buNone/>
              <a:defRPr sz="2175" b="0">
                <a:solidFill>
                  <a:srgbClr val="17365D"/>
                </a:solidFill>
                <a:latin typeface="Aptos"/>
                <a:ea typeface="Aptos"/>
                <a:cs typeface="Aptos"/>
              </a:defRPr>
            </a:lvl4pPr>
            <a:lvl5pPr>
              <a:buNone/>
              <a:defRPr sz="2175" b="0">
                <a:solidFill>
                  <a:srgbClr val="17365D"/>
                </a:solidFill>
                <a:latin typeface="Aptos"/>
                <a:ea typeface="Aptos"/>
                <a:cs typeface="Aptos"/>
              </a:defRPr>
            </a:lvl5pPr>
            <a:lvl6pPr>
              <a:buNone/>
              <a:defRPr sz="2175" b="0">
                <a:solidFill>
                  <a:srgbClr val="17365D"/>
                </a:solidFill>
                <a:latin typeface="Aptos"/>
                <a:ea typeface="Aptos"/>
                <a:cs typeface="Aptos"/>
              </a:defRPr>
            </a:lvl6pPr>
            <a:lvl7pPr>
              <a:buNone/>
              <a:defRPr sz="2175" b="0">
                <a:solidFill>
                  <a:srgbClr val="17365D"/>
                </a:solidFill>
                <a:latin typeface="Aptos"/>
                <a:ea typeface="Aptos"/>
                <a:cs typeface="Aptos"/>
              </a:defRPr>
            </a:lvl7pPr>
            <a:lvl8pPr>
              <a:buNone/>
              <a:defRPr sz="2175" b="0">
                <a:solidFill>
                  <a:srgbClr val="17365D"/>
                </a:solidFill>
                <a:latin typeface="Aptos"/>
                <a:ea typeface="Aptos"/>
                <a:cs typeface="Aptos"/>
              </a:defRPr>
            </a:lvl8pPr>
            <a:lvl9pPr>
              <a:buNone/>
              <a:defRPr sz="2175" b="0">
                <a:solidFill>
                  <a:srgbClr val="17365D"/>
                </a:solidFill>
                <a:latin typeface="Aptos"/>
                <a:ea typeface="Aptos"/>
                <a:cs typeface="Aptos"/>
              </a:defRPr>
            </a:lvl9pPr>
          </a:lstStyle>
          <a:p>
            <a:pPr>
              <a:buNone/>
              <a:defRPr sz="2175" b="0">
                <a:solidFill>
                  <a:srgbClr val="17365D"/>
                </a:solidFill>
                <a:latin typeface="Aptos"/>
                <a:ea typeface="Aptos"/>
                <a:cs typeface="Aptos"/>
              </a:defRPr>
            </a:pPr>
            <a:r>
              <a:rPr sz="2175" b="0" dirty="0">
                <a:solidFill>
                  <a:srgbClr val="17365D"/>
                </a:solidFill>
                <a:latin typeface="Aptos"/>
                <a:ea typeface="Aptos"/>
                <a:cs typeface="Aptos"/>
              </a:rPr>
              <a:t>3800.5 is halfway between the last excluded count and the first included count. This is a continuity correction.</a:t>
            </a:r>
          </a:p>
        </p:txBody>
      </p:sp>
      <mc:AlternateContent xmlns:mc="http://schemas.openxmlformats.org/markup-compatibility/2006">
        <mc:Choice xmlns:a14="http://schemas.microsoft.com/office/drawing/2010/main" Requires="a14">
          <p:sp>
            <p:nvSpPr>
              <p:cNvPr id="8" name="EQ_045">
                <a:extLst>
                  <a:ext uri="{FF2B5EF4-FFF2-40B4-BE49-F238E27FC236}">
                    <a16:creationId xmlns:a16="http://schemas.microsoft.com/office/drawing/2014/main" id="{3DA4CE6D-2E0F-4A4B-A0CC-0E11EBC7FF29}"/>
                  </a:ext>
                </a:extLst>
              </p:cNvPr>
              <p:cNvSpPr>
                <a:spLocks noGrp="1"/>
              </p:cNvSpPr>
              <p:nvPr/>
            </p:nvSpPr>
            <p:spPr>
              <a:xfrm>
                <a:off x="857250" y="4914900"/>
                <a:ext cx="10477500" cy="1143000"/>
              </a:xfrm>
              <a:prstGeom prst="rect">
                <a:avLst/>
              </a:prstGeom>
              <a:noFill/>
              <a:ln w="0">
                <a:noFill/>
              </a:ln>
            </p:spPr>
            <p:txBody>
              <a:bodyPr wrap="none" lIns="0" tIns="0" rIns="0" bIns="0" anchor="ctr">
                <a:noAutofit/>
              </a:bodyPr>
              <a:lstStyle>
                <a:lvl1pPr algn="l">
                  <a:buNone/>
                  <a:defRPr sz="2700">
                    <a:solidFill>
                      <a:srgbClr val="17365D"/>
                    </a:solidFill>
                    <a:latin typeface="Cambria Math"/>
                    <a:ea typeface="Cambria Math"/>
                    <a:cs typeface="Cambria Math"/>
                  </a:defRPr>
                </a:lvl1pPr>
                <a:lvl2pPr algn="l">
                  <a:buNone/>
                  <a:defRPr sz="2700">
                    <a:solidFill>
                      <a:srgbClr val="17365D"/>
                    </a:solidFill>
                    <a:latin typeface="Cambria Math"/>
                    <a:ea typeface="Cambria Math"/>
                    <a:cs typeface="Cambria Math"/>
                  </a:defRPr>
                </a:lvl2pPr>
                <a:lvl3pPr algn="l">
                  <a:buNone/>
                  <a:defRPr sz="2700">
                    <a:solidFill>
                      <a:srgbClr val="17365D"/>
                    </a:solidFill>
                    <a:latin typeface="Cambria Math"/>
                    <a:ea typeface="Cambria Math"/>
                    <a:cs typeface="Cambria Math"/>
                  </a:defRPr>
                </a:lvl3pPr>
                <a:lvl4pPr algn="l">
                  <a:buNone/>
                  <a:defRPr sz="2700">
                    <a:solidFill>
                      <a:srgbClr val="17365D"/>
                    </a:solidFill>
                    <a:latin typeface="Cambria Math"/>
                    <a:ea typeface="Cambria Math"/>
                    <a:cs typeface="Cambria Math"/>
                  </a:defRPr>
                </a:lvl4pPr>
                <a:lvl5pPr algn="l">
                  <a:buNone/>
                  <a:defRPr sz="2700">
                    <a:solidFill>
                      <a:srgbClr val="17365D"/>
                    </a:solidFill>
                    <a:latin typeface="Cambria Math"/>
                    <a:ea typeface="Cambria Math"/>
                    <a:cs typeface="Cambria Math"/>
                  </a:defRPr>
                </a:lvl5pPr>
                <a:lvl6pPr algn="l">
                  <a:buNone/>
                  <a:defRPr sz="2700">
                    <a:solidFill>
                      <a:srgbClr val="17365D"/>
                    </a:solidFill>
                    <a:latin typeface="Cambria Math"/>
                    <a:ea typeface="Cambria Math"/>
                    <a:cs typeface="Cambria Math"/>
                  </a:defRPr>
                </a:lvl6pPr>
                <a:lvl7pPr algn="l">
                  <a:buNone/>
                  <a:defRPr sz="2700">
                    <a:solidFill>
                      <a:srgbClr val="17365D"/>
                    </a:solidFill>
                    <a:latin typeface="Cambria Math"/>
                    <a:ea typeface="Cambria Math"/>
                    <a:cs typeface="Cambria Math"/>
                  </a:defRPr>
                </a:lvl7pPr>
                <a:lvl8pPr algn="l">
                  <a:buNone/>
                  <a:defRPr sz="2700">
                    <a:solidFill>
                      <a:srgbClr val="17365D"/>
                    </a:solidFill>
                    <a:latin typeface="Cambria Math"/>
                    <a:ea typeface="Cambria Math"/>
                    <a:cs typeface="Cambria Math"/>
                  </a:defRPr>
                </a:lvl8pPr>
                <a:lvl9pPr algn="l">
                  <a:buNone/>
                  <a:defRPr sz="2700">
                    <a:solidFill>
                      <a:srgbClr val="17365D"/>
                    </a:solidFill>
                    <a:latin typeface="Cambria Math"/>
                    <a:ea typeface="Cambria Math"/>
                    <a:cs typeface="Cambria Math"/>
                  </a:defRPr>
                </a:lvl9pPr>
              </a:lstStyle>
              <a:p>
                <a:pPr>
                  <a:buNone/>
                  <a:defRPr sz="2700">
                    <a:solidFill>
                      <a:srgbClr val="17365D"/>
                    </a:solidFill>
                  </a:defRPr>
                </a:pPr>
                <a14:m>
                  <m:oMathPara xmlns:m="http://schemas.openxmlformats.org/officeDocument/2006/math">
                    <m:oMath>
                      <m:r>
                        <a:rPr>
                          <a:latin typeface="Cambria Math" panose="02040503050406030204" pitchFamily="18" charset="0"/>
                        </a:rPr>
                        <m:t>𝑃</m:t>
                      </m:r>
                      <m:d>
                        <m:dPr>
                          <m:ctrlPr>
                            <a:rPr>
                              <a:latin typeface="Cambria Math" panose="02040503050406030204" pitchFamily="18" charset="0"/>
                            </a:rPr>
                          </m:ctrlPr>
                        </m:dPr>
                        <m:e>
                          <m:r>
                            <a:rPr>
                              <a:latin typeface="Cambria Math" panose="02040503050406030204" pitchFamily="18" charset="0"/>
                            </a:rPr>
                            <m:t>𝑆</m:t>
                          </m:r>
                          <m:r>
                            <a:rPr>
                              <a:latin typeface="Cambria Math" panose="02040503050406030204" pitchFamily="18" charset="0"/>
                            </a:rPr>
                            <m:t>&gt;3800</m:t>
                          </m:r>
                        </m:e>
                      </m:d>
                      <m:r>
                        <a:rPr>
                          <a:latin typeface="Cambria Math" panose="02040503050406030204" pitchFamily="18" charset="0"/>
                        </a:rPr>
                        <m:t>≈1−</m:t>
                      </m:r>
                      <m:r>
                        <a:rPr>
                          <a:latin typeface="Cambria Math" panose="02040503050406030204" pitchFamily="18" charset="0"/>
                        </a:rPr>
                        <m:t>𝛷</m:t>
                      </m:r>
                      <m:d>
                        <m:dPr>
                          <m:ctrlPr>
                            <a:rPr i="1">
                              <a:latin typeface="Cambria Math" panose="02040503050406030204" pitchFamily="18" charset="0"/>
                            </a:rPr>
                          </m:ctrlPr>
                        </m:dPr>
                        <m:e>
                          <m:f>
                            <m:fPr>
                              <m:ctrlPr>
                                <a:rPr>
                                  <a:latin typeface="Cambria Math" panose="02040503050406030204" pitchFamily="18" charset="0"/>
                                </a:rPr>
                              </m:ctrlPr>
                            </m:fPr>
                            <m:num>
                              <m:r>
                                <a:rPr>
                                  <a:latin typeface="Cambria Math" panose="02040503050406030204" pitchFamily="18" charset="0"/>
                                </a:rPr>
                                <m:t>3800.5−3650</m:t>
                              </m:r>
                            </m:num>
                            <m:den>
                              <m:rad>
                                <m:radPr>
                                  <m:ctrlPr>
                                    <a:rPr>
                                      <a:latin typeface="Cambria Math" panose="02040503050406030204" pitchFamily="18" charset="0"/>
                                    </a:rPr>
                                  </m:ctrlPr>
                                </m:radPr>
                                <m:e>
                                  <m:r>
                                    <a:rPr>
                                      <a:latin typeface="Cambria Math" panose="02040503050406030204" pitchFamily="18" charset="0"/>
                                    </a:rPr>
                                    <m:t>3650</m:t>
                                  </m:r>
                                </m:e>
                              </m:rad>
                            </m:den>
                          </m:f>
                        </m:e>
                      </m:d>
                      <m:r>
                        <a:rPr>
                          <a:latin typeface="Cambria Math" panose="02040503050406030204" pitchFamily="18" charset="0"/>
                        </a:rPr>
                        <m:t>≈0.00637</m:t>
                      </m:r>
                    </m:oMath>
                  </m:oMathPara>
                </a14:m>
                <a:endParaRPr/>
              </a:p>
            </p:txBody>
          </p:sp>
        </mc:Choice>
        <mc:Fallback>
          <p:sp>
            <p:nvSpPr>
              <p:cNvPr id="8" name="EQ_045">
                <a:extLst>
                  <a:ext uri="{FF2B5EF4-FFF2-40B4-BE49-F238E27FC236}">
                    <a16:creationId xmlns:a16="http://schemas.microsoft.com/office/drawing/2014/main" id="{3DA4CE6D-2E0F-4A4B-A0CC-0E11EBC7FF29}"/>
                  </a:ext>
                </a:extLst>
              </p:cNvPr>
              <p:cNvSpPr>
                <a:spLocks noGrp="1" noRot="1" noChangeAspect="1" noMove="1" noResize="1" noEditPoints="1" noAdjustHandles="1" noChangeArrowheads="1" noChangeShapeType="1" noTextEdit="1"/>
              </p:cNvSpPr>
              <p:nvPr/>
            </p:nvSpPr>
            <p:spPr>
              <a:xfrm>
                <a:off x="857250" y="4914900"/>
                <a:ext cx="10477500" cy="1143000"/>
              </a:xfrm>
              <a:prstGeom prst="rect">
                <a:avLst/>
              </a:prstGeom>
              <a:blipFill>
                <a:blip r:embed="rId4"/>
                <a:stretch>
                  <a:fillRect/>
                </a:stretch>
              </a:blipFill>
              <a:ln w="0">
                <a:noFill/>
              </a:ln>
            </p:spPr>
            <p:txBody>
              <a:bodyPr/>
              <a:lstStyle/>
              <a:p>
                <a:r>
                  <a:rPr lang="en-GB">
                    <a:noFill/>
                  </a:rPr>
                  <a:t> </a:t>
                </a:r>
              </a:p>
            </p:txBody>
          </p:sp>
        </mc:Fallback>
      </mc:AlternateContent>
      <p:sp>
        <p:nvSpPr>
          <p:cNvPr id="10" name="notebook-cue-slide-24">
            <a:extLst>
              <a:ext uri="{FF2B5EF4-FFF2-40B4-BE49-F238E27FC236}">
                <a16:creationId xmlns:a16="http://schemas.microsoft.com/office/drawing/2014/main" id="{ACCEDBDD-2501-49FC-ACA7-B8E4FD3A10D9}"/>
              </a:ext>
            </a:extLst>
          </p:cNvPr>
          <p:cNvSpPr>
            <a:spLocks noGrp="1"/>
          </p:cNvSpPr>
          <p:nvPr/>
        </p:nvSpPr>
        <p:spPr>
          <a:xfrm>
            <a:off x="2952750" y="6429375"/>
            <a:ext cx="7620000" cy="295275"/>
          </a:xfrm>
          <a:prstGeom prst="rect">
            <a:avLst/>
          </a:prstGeom>
          <a:noFill/>
          <a:ln w="0">
            <a:noFill/>
          </a:ln>
        </p:spPr>
        <p:txBody>
          <a:bodyPr wrap="none" lIns="0" tIns="0" rIns="0" bIns="0" anchor="ctr">
            <a:noAutofit/>
          </a:bodyPr>
          <a:lstStyle>
            <a:defPPr algn="ctr">
              <a:defRPr sz="1650" b="1">
                <a:solidFill>
                  <a:srgbClr val="2F6F4E"/>
                </a:solidFill>
                <a:latin typeface="Aptos"/>
                <a:ea typeface="Aptos"/>
                <a:cs typeface="Aptos"/>
              </a:defRPr>
            </a:defPPr>
            <a:lvl1pPr algn="ctr">
              <a:defRPr sz="1650" b="1">
                <a:solidFill>
                  <a:srgbClr val="2F6F4E"/>
                </a:solidFill>
                <a:latin typeface="Aptos"/>
                <a:ea typeface="Aptos"/>
                <a:cs typeface="Aptos"/>
              </a:defRPr>
            </a:lvl1pPr>
            <a:lvl2pPr algn="ctr">
              <a:defRPr sz="1650" b="1">
                <a:solidFill>
                  <a:srgbClr val="2F6F4E"/>
                </a:solidFill>
                <a:latin typeface="Aptos"/>
                <a:ea typeface="Aptos"/>
                <a:cs typeface="Aptos"/>
              </a:defRPr>
            </a:lvl2pPr>
            <a:lvl3pPr algn="ctr">
              <a:defRPr sz="1650" b="1">
                <a:solidFill>
                  <a:srgbClr val="2F6F4E"/>
                </a:solidFill>
                <a:latin typeface="Aptos"/>
                <a:ea typeface="Aptos"/>
                <a:cs typeface="Aptos"/>
              </a:defRPr>
            </a:lvl3pPr>
            <a:lvl4pPr algn="ctr">
              <a:defRPr sz="1650" b="1">
                <a:solidFill>
                  <a:srgbClr val="2F6F4E"/>
                </a:solidFill>
                <a:latin typeface="Aptos"/>
                <a:ea typeface="Aptos"/>
                <a:cs typeface="Aptos"/>
              </a:defRPr>
            </a:lvl4pPr>
            <a:lvl5pPr algn="ctr">
              <a:defRPr sz="1650" b="1">
                <a:solidFill>
                  <a:srgbClr val="2F6F4E"/>
                </a:solidFill>
                <a:latin typeface="Aptos"/>
                <a:ea typeface="Aptos"/>
                <a:cs typeface="Aptos"/>
              </a:defRPr>
            </a:lvl5pPr>
            <a:lvl6pPr algn="ctr">
              <a:defRPr sz="1650" b="1">
                <a:solidFill>
                  <a:srgbClr val="2F6F4E"/>
                </a:solidFill>
                <a:latin typeface="Aptos"/>
                <a:ea typeface="Aptos"/>
                <a:cs typeface="Aptos"/>
              </a:defRPr>
            </a:lvl6pPr>
            <a:lvl7pPr algn="ctr">
              <a:defRPr sz="1650" b="1">
                <a:solidFill>
                  <a:srgbClr val="2F6F4E"/>
                </a:solidFill>
                <a:latin typeface="Aptos"/>
                <a:ea typeface="Aptos"/>
                <a:cs typeface="Aptos"/>
              </a:defRPr>
            </a:lvl7pPr>
            <a:lvl8pPr algn="ctr">
              <a:defRPr sz="1650" b="1">
                <a:solidFill>
                  <a:srgbClr val="2F6F4E"/>
                </a:solidFill>
                <a:latin typeface="Aptos"/>
                <a:ea typeface="Aptos"/>
                <a:cs typeface="Aptos"/>
              </a:defRPr>
            </a:lvl8pPr>
            <a:lvl9pPr algn="ctr">
              <a:defRPr sz="1650" b="1">
                <a:solidFill>
                  <a:srgbClr val="2F6F4E"/>
                </a:solidFill>
                <a:latin typeface="Aptos"/>
                <a:ea typeface="Aptos"/>
                <a:cs typeface="Aptos"/>
              </a:defRPr>
            </a:lvl9pPr>
          </a:lstStyle>
          <a:p>
            <a:pPr algn="ctr">
              <a:defRPr sz="1650" b="1">
                <a:solidFill>
                  <a:srgbClr val="2F6F4E"/>
                </a:solidFill>
                <a:latin typeface="Aptos"/>
                <a:ea typeface="Aptos"/>
                <a:cs typeface="Aptos"/>
              </a:defRPr>
            </a:pPr>
            <a:r>
              <a:rPr sz="1650" b="1">
                <a:solidFill>
                  <a:srgbClr val="2F6F4E"/>
                </a:solidFill>
                <a:latin typeface="Aptos"/>
                <a:ea typeface="Aptos"/>
                <a:cs typeface="Aptos"/>
              </a:rPr>
              <a:t>Notebook: Slide 24 (optional)</a:t>
            </a:r>
          </a:p>
        </p:txBody>
      </p:sp>
    </p:spTree>
    <p:extLst>
      <p:ext uri="{BB962C8B-B14F-4D97-AF65-F5344CB8AC3E}">
        <p14:creationId xmlns:p14="http://schemas.microsoft.com/office/powerpoint/2010/main" val="19417646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0B220A7C-AD14-4856-8CD5-78AF9545FB3E}"/>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Output variation and Monte Carlo uncertainty</a:t>
            </a:r>
          </a:p>
        </p:txBody>
      </p:sp>
      <p:sp>
        <p:nvSpPr>
          <p:cNvPr id="2" name="Straight Connector 1">
            <a:extLst>
              <a:ext uri="{FF2B5EF4-FFF2-40B4-BE49-F238E27FC236}">
                <a16:creationId xmlns:a16="http://schemas.microsoft.com/office/drawing/2014/main" id="{4A80A715-072E-4842-A66D-B14FB182A2A5}"/>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3787104C-7673-4F7B-9D8A-D85C5B5D4BF2}"/>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8F18E207-C77A-4491-80E3-9A5FE0474E56}"/>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25</a:t>
            </a:r>
          </a:p>
        </p:txBody>
      </p:sp>
      <p:graphicFrame>
        <p:nvGraphicFramePr>
          <p:cNvPr id="15" name="Table 14"/>
          <p:cNvGraphicFramePr/>
          <p:nvPr/>
        </p:nvGraphicFramePr>
        <p:xfrm>
          <a:off x="857250" y="1752600"/>
          <a:ext cx="10477500" cy="2209800"/>
        </p:xfrm>
        <a:graphic>
          <a:graphicData uri="http://schemas.openxmlformats.org/drawingml/2006/table">
            <a:tbl>
              <a:tblPr firstRow="1"/>
              <a:tblGrid>
                <a:gridCol w="4619625">
                  <a:extLst>
                    <a:ext uri="{9D8B030D-6E8A-4147-A177-3AD203B41FA5}">
                      <a16:colId xmlns:a16="http://schemas.microsoft.com/office/drawing/2014/main" val="20000"/>
                    </a:ext>
                  </a:extLst>
                </a:gridCol>
                <a:gridCol w="5857875">
                  <a:extLst>
                    <a:ext uri="{9D8B030D-6E8A-4147-A177-3AD203B41FA5}">
                      <a16:colId xmlns:a16="http://schemas.microsoft.com/office/drawing/2014/main" val="20001"/>
                    </a:ext>
                  </a:extLst>
                </a:gridCol>
              </a:tblGrid>
              <a:tr h="736600">
                <a:tc>
                  <a:txBody>
                    <a:bodyPr/>
                    <a:lstStyle/>
                    <a:p>
                      <a:r>
                        <a:rPr sz="2175" b="1">
                          <a:solidFill>
                            <a:srgbClr val="FFFFFF"/>
                          </a:solidFill>
                          <a:latin typeface="Aptos"/>
                          <a:ea typeface="Aptos"/>
                          <a:cs typeface="Aptos"/>
                        </a:rPr>
                        <a:t>Quantity</a:t>
                      </a:r>
                    </a:p>
                  </a:txBody>
                  <a:tcPr anchor="ctr">
                    <a:lnL w="6191">
                      <a:solidFill>
                        <a:srgbClr val="DDE5EC"/>
                      </a:solidFill>
                      <a:prstDash val="soli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tc>
                  <a:txBody>
                    <a:bodyPr/>
                    <a:lstStyle/>
                    <a:p>
                      <a:r>
                        <a:rPr sz="2175" b="1">
                          <a:solidFill>
                            <a:srgbClr val="FFFFFF"/>
                          </a:solidFill>
                          <a:latin typeface="Aptos"/>
                          <a:ea typeface="Aptos"/>
                          <a:cs typeface="Aptos"/>
                        </a:rPr>
                        <a:t>What varies?</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extLst>
                  <a:ext uri="{0D108BD9-81ED-4DB2-BD59-A6C34878D82A}">
                    <a16:rowId xmlns:a16="http://schemas.microsoft.com/office/drawing/2014/main" val="10000"/>
                  </a:ext>
                </a:extLst>
              </a:tr>
              <a:tr h="736600">
                <a:tc>
                  <a:txBody>
                    <a:bodyPr/>
                    <a:lstStyle/>
                    <a:p>
                      <a:r>
                        <a:rPr sz="2175" b="0">
                          <a:solidFill>
                            <a:srgbClr val="17365D"/>
                          </a:solidFill>
                          <a:latin typeface="Aptos"/>
                          <a:ea typeface="Aptos"/>
                          <a:cs typeface="Aptos"/>
                        </a:rPr>
                        <a:t>Output standard deviation</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75" b="0">
                          <a:solidFill>
                            <a:srgbClr val="17365D"/>
                          </a:solidFill>
                          <a:latin typeface="Aptos"/>
                          <a:ea typeface="Aptos"/>
                          <a:cs typeface="Aptos"/>
                        </a:rPr>
                        <a:t>Individual simulated mornings</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1"/>
                  </a:ext>
                </a:extLst>
              </a:tr>
              <a:tr h="736600">
                <a:tc>
                  <a:txBody>
                    <a:bodyPr/>
                    <a:lstStyle/>
                    <a:p>
                      <a:r>
                        <a:rPr sz="2175" b="0">
                          <a:solidFill>
                            <a:srgbClr val="17365D"/>
                          </a:solidFill>
                          <a:latin typeface="Aptos"/>
                          <a:ea typeface="Aptos"/>
                          <a:cs typeface="Aptos"/>
                        </a:rPr>
                        <a:t>Monte Carlo standard error</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75" b="0">
                          <a:solidFill>
                            <a:srgbClr val="17365D"/>
                          </a:solidFill>
                          <a:latin typeface="Aptos"/>
                          <a:ea typeface="Aptos"/>
                          <a:cs typeface="Aptos"/>
                        </a:rPr>
                        <a:t>The estimate across repeated runs</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6" name="text-4">
            <a:extLst>
              <a:ext uri="{FF2B5EF4-FFF2-40B4-BE49-F238E27FC236}">
                <a16:creationId xmlns:a16="http://schemas.microsoft.com/office/drawing/2014/main" id="{2ADD8772-935F-4366-94ED-5DA16F8D57CB}"/>
              </a:ext>
            </a:extLst>
          </p:cNvPr>
          <p:cNvSpPr>
            <a:spLocks noGrp="1"/>
          </p:cNvSpPr>
          <p:nvPr/>
        </p:nvSpPr>
        <p:spPr>
          <a:xfrm>
            <a:off x="857250" y="4191000"/>
            <a:ext cx="10477500" cy="476250"/>
          </a:xfrm>
          <a:prstGeom prst="rect">
            <a:avLst/>
          </a:prstGeom>
          <a:noFill/>
          <a:ln w="0">
            <a:noFill/>
          </a:ln>
        </p:spPr>
        <p:txBody>
          <a:bodyPr wrap="square" lIns="0" tIns="0" rIns="0" bIns="0" anchor="t">
            <a:noAutofit/>
          </a:bodyPr>
          <a:lstStyle>
            <a:lvl1pPr>
              <a:buNone/>
              <a:defRPr sz="2100" b="0">
                <a:solidFill>
                  <a:srgbClr val="17365D"/>
                </a:solidFill>
                <a:latin typeface="Aptos"/>
                <a:ea typeface="Aptos"/>
                <a:cs typeface="Aptos"/>
              </a:defRPr>
            </a:lvl1pPr>
            <a:lvl2pPr>
              <a:buNone/>
              <a:defRPr sz="2100" b="0">
                <a:solidFill>
                  <a:srgbClr val="17365D"/>
                </a:solidFill>
                <a:latin typeface="Aptos"/>
                <a:ea typeface="Aptos"/>
                <a:cs typeface="Aptos"/>
              </a:defRPr>
            </a:lvl2pPr>
            <a:lvl3pPr>
              <a:buNone/>
              <a:defRPr sz="2100" b="0">
                <a:solidFill>
                  <a:srgbClr val="17365D"/>
                </a:solidFill>
                <a:latin typeface="Aptos"/>
                <a:ea typeface="Aptos"/>
                <a:cs typeface="Aptos"/>
              </a:defRPr>
            </a:lvl3pPr>
            <a:lvl4pPr>
              <a:buNone/>
              <a:defRPr sz="2100" b="0">
                <a:solidFill>
                  <a:srgbClr val="17365D"/>
                </a:solidFill>
                <a:latin typeface="Aptos"/>
                <a:ea typeface="Aptos"/>
                <a:cs typeface="Aptos"/>
              </a:defRPr>
            </a:lvl4pPr>
            <a:lvl5pPr>
              <a:buNone/>
              <a:defRPr sz="2100" b="0">
                <a:solidFill>
                  <a:srgbClr val="17365D"/>
                </a:solidFill>
                <a:latin typeface="Aptos"/>
                <a:ea typeface="Aptos"/>
                <a:cs typeface="Aptos"/>
              </a:defRPr>
            </a:lvl5pPr>
            <a:lvl6pPr>
              <a:buNone/>
              <a:defRPr sz="2100" b="0">
                <a:solidFill>
                  <a:srgbClr val="17365D"/>
                </a:solidFill>
                <a:latin typeface="Aptos"/>
                <a:ea typeface="Aptos"/>
                <a:cs typeface="Aptos"/>
              </a:defRPr>
            </a:lvl6pPr>
            <a:lvl7pPr>
              <a:buNone/>
              <a:defRPr sz="2100" b="0">
                <a:solidFill>
                  <a:srgbClr val="17365D"/>
                </a:solidFill>
                <a:latin typeface="Aptos"/>
                <a:ea typeface="Aptos"/>
                <a:cs typeface="Aptos"/>
              </a:defRPr>
            </a:lvl7pPr>
            <a:lvl8pPr>
              <a:buNone/>
              <a:defRPr sz="2100" b="0">
                <a:solidFill>
                  <a:srgbClr val="17365D"/>
                </a:solidFill>
                <a:latin typeface="Aptos"/>
                <a:ea typeface="Aptos"/>
                <a:cs typeface="Aptos"/>
              </a:defRPr>
            </a:lvl8pPr>
            <a:lvl9pPr>
              <a:buNone/>
              <a:defRPr sz="2100" b="0">
                <a:solidFill>
                  <a:srgbClr val="17365D"/>
                </a:solidFill>
                <a:latin typeface="Aptos"/>
                <a:ea typeface="Aptos"/>
                <a:cs typeface="Aptos"/>
              </a:defRPr>
            </a:lvl9pPr>
          </a:lstStyle>
          <a:p>
            <a:pPr>
              <a:buNone/>
              <a:defRPr sz="2100" b="0">
                <a:solidFill>
                  <a:srgbClr val="17365D"/>
                </a:solidFill>
                <a:latin typeface="Aptos"/>
                <a:ea typeface="Aptos"/>
                <a:cs typeface="Aptos"/>
              </a:defRPr>
            </a:pPr>
            <a:r>
              <a:rPr sz="2100" b="0">
                <a:solidFill>
                  <a:srgbClr val="17365D"/>
                </a:solidFill>
                <a:latin typeface="Aptos"/>
                <a:ea typeface="Aptos"/>
                <a:cs typeface="Aptos"/>
              </a:rPr>
              <a:t>σᵧ is the standard deviation of one trial output Y.</a:t>
            </a:r>
          </a:p>
        </p:txBody>
      </p:sp>
      <mc:AlternateContent xmlns:mc="http://schemas.openxmlformats.org/markup-compatibility/2006">
        <mc:Choice xmlns:a14="http://schemas.microsoft.com/office/drawing/2010/main" Requires="a14">
          <p:sp>
            <p:nvSpPr>
              <p:cNvPr id="7" name="EQ_026">
                <a:extLst>
                  <a:ext uri="{FF2B5EF4-FFF2-40B4-BE49-F238E27FC236}">
                    <a16:creationId xmlns:a16="http://schemas.microsoft.com/office/drawing/2014/main" id="{DBAE2236-908F-4B6B-BD14-006F63045870}"/>
                  </a:ext>
                </a:extLst>
              </p:cNvPr>
              <p:cNvSpPr>
                <a:spLocks noGrp="1"/>
              </p:cNvSpPr>
              <p:nvPr/>
            </p:nvSpPr>
            <p:spPr>
              <a:xfrm>
                <a:off x="857250" y="4762500"/>
                <a:ext cx="10477500" cy="952500"/>
              </a:xfrm>
              <a:prstGeom prst="rect">
                <a:avLst/>
              </a:prstGeom>
              <a:noFill/>
              <a:ln w="0">
                <a:noFill/>
              </a:ln>
            </p:spPr>
            <p:txBody>
              <a:bodyPr wrap="none" lIns="0" tIns="0" rIns="0" bIns="0" anchor="ctr">
                <a:noAutofit/>
              </a:bodyPr>
              <a:lstStyle>
                <a:lvl1pPr algn="l">
                  <a:buNone/>
                  <a:defRPr sz="3600">
                    <a:solidFill>
                      <a:srgbClr val="17365D"/>
                    </a:solidFill>
                    <a:latin typeface="Cambria Math"/>
                    <a:ea typeface="Cambria Math"/>
                    <a:cs typeface="Cambria Math"/>
                  </a:defRPr>
                </a:lvl1pPr>
                <a:lvl2pPr algn="l">
                  <a:buNone/>
                  <a:defRPr sz="3600">
                    <a:solidFill>
                      <a:srgbClr val="17365D"/>
                    </a:solidFill>
                    <a:latin typeface="Cambria Math"/>
                    <a:ea typeface="Cambria Math"/>
                    <a:cs typeface="Cambria Math"/>
                  </a:defRPr>
                </a:lvl2pPr>
                <a:lvl3pPr algn="l">
                  <a:buNone/>
                  <a:defRPr sz="3600">
                    <a:solidFill>
                      <a:srgbClr val="17365D"/>
                    </a:solidFill>
                    <a:latin typeface="Cambria Math"/>
                    <a:ea typeface="Cambria Math"/>
                    <a:cs typeface="Cambria Math"/>
                  </a:defRPr>
                </a:lvl3pPr>
                <a:lvl4pPr algn="l">
                  <a:buNone/>
                  <a:defRPr sz="3600">
                    <a:solidFill>
                      <a:srgbClr val="17365D"/>
                    </a:solidFill>
                    <a:latin typeface="Cambria Math"/>
                    <a:ea typeface="Cambria Math"/>
                    <a:cs typeface="Cambria Math"/>
                  </a:defRPr>
                </a:lvl4pPr>
                <a:lvl5pPr algn="l">
                  <a:buNone/>
                  <a:defRPr sz="3600">
                    <a:solidFill>
                      <a:srgbClr val="17365D"/>
                    </a:solidFill>
                    <a:latin typeface="Cambria Math"/>
                    <a:ea typeface="Cambria Math"/>
                    <a:cs typeface="Cambria Math"/>
                  </a:defRPr>
                </a:lvl5pPr>
                <a:lvl6pPr algn="l">
                  <a:buNone/>
                  <a:defRPr sz="3600">
                    <a:solidFill>
                      <a:srgbClr val="17365D"/>
                    </a:solidFill>
                    <a:latin typeface="Cambria Math"/>
                    <a:ea typeface="Cambria Math"/>
                    <a:cs typeface="Cambria Math"/>
                  </a:defRPr>
                </a:lvl6pPr>
                <a:lvl7pPr algn="l">
                  <a:buNone/>
                  <a:defRPr sz="3600">
                    <a:solidFill>
                      <a:srgbClr val="17365D"/>
                    </a:solidFill>
                    <a:latin typeface="Cambria Math"/>
                    <a:ea typeface="Cambria Math"/>
                    <a:cs typeface="Cambria Math"/>
                  </a:defRPr>
                </a:lvl7pPr>
                <a:lvl8pPr algn="l">
                  <a:buNone/>
                  <a:defRPr sz="3600">
                    <a:solidFill>
                      <a:srgbClr val="17365D"/>
                    </a:solidFill>
                    <a:latin typeface="Cambria Math"/>
                    <a:ea typeface="Cambria Math"/>
                    <a:cs typeface="Cambria Math"/>
                  </a:defRPr>
                </a:lvl8pPr>
                <a:lvl9pPr algn="l">
                  <a:buNone/>
                  <a:defRPr sz="3600">
                    <a:solidFill>
                      <a:srgbClr val="17365D"/>
                    </a:solidFill>
                    <a:latin typeface="Cambria Math"/>
                    <a:ea typeface="Cambria Math"/>
                    <a:cs typeface="Cambria Math"/>
                  </a:defRPr>
                </a:lvl9pPr>
              </a:lstStyle>
              <a:p>
                <a:pPr>
                  <a:buNone/>
                  <a:defRPr sz="3600">
                    <a:solidFill>
                      <a:srgbClr val="17365D"/>
                    </a:solidFill>
                  </a:defRPr>
                </a:pPr>
                <a14:m>
                  <m:oMathPara xmlns:m="http://schemas.openxmlformats.org/officeDocument/2006/math">
                    <m:oMath>
                      <m:r>
                        <a:rPr>
                          <a:latin typeface="Cambria Math" panose="02040503050406030204" pitchFamily="18" charset="0"/>
                        </a:rPr>
                        <m:t>𝑆𝐸</m:t>
                      </m:r>
                      <m:d>
                        <m:dPr>
                          <m:ctrlPr>
                            <a:rPr i="1">
                              <a:latin typeface="Cambria Math" panose="02040503050406030204" pitchFamily="18" charset="0"/>
                            </a:rPr>
                          </m:ctrlPr>
                        </m:dPr>
                        <m:e>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𝜃</m:t>
                                  </m:r>
                                </m:e>
                              </m:acc>
                            </m:e>
                            <m:sub>
                              <m:r>
                                <a:rPr>
                                  <a:latin typeface="Cambria Math" panose="02040503050406030204" pitchFamily="18" charset="0"/>
                                </a:rPr>
                                <m:t>𝑁</m:t>
                              </m:r>
                            </m:sub>
                          </m:sSub>
                        </m:e>
                      </m:d>
                      <m:r>
                        <a:rPr>
                          <a:latin typeface="Cambria Math" panose="02040503050406030204" pitchFamily="18" charset="0"/>
                        </a:rPr>
                        <m:t>=</m:t>
                      </m:r>
                      <m:f>
                        <m:fPr>
                          <m:ctrlPr>
                            <a:rPr i="1">
                              <a:latin typeface="Cambria Math" panose="02040503050406030204" pitchFamily="18" charset="0"/>
                            </a:rPr>
                          </m:ctrlPr>
                        </m:fPr>
                        <m:num>
                          <m:sSub>
                            <m:sSubPr>
                              <m:ctrlPr>
                                <a:rPr>
                                  <a:latin typeface="Cambria Math" panose="02040503050406030204" pitchFamily="18" charset="0"/>
                                </a:rPr>
                              </m:ctrlPr>
                            </m:sSubPr>
                            <m:e>
                              <m:r>
                                <a:rPr>
                                  <a:latin typeface="Cambria Math" panose="02040503050406030204" pitchFamily="18" charset="0"/>
                                </a:rPr>
                                <m:t>𝜎</m:t>
                              </m:r>
                            </m:e>
                            <m:sub>
                              <m:r>
                                <a:rPr>
                                  <a:latin typeface="Cambria Math" panose="02040503050406030204" pitchFamily="18" charset="0"/>
                                </a:rPr>
                                <m:t>𝑌</m:t>
                              </m:r>
                            </m:sub>
                          </m:sSub>
                        </m:num>
                        <m:den>
                          <m:rad>
                            <m:radPr>
                              <m:ctrlPr>
                                <a:rPr>
                                  <a:latin typeface="Cambria Math" panose="02040503050406030204" pitchFamily="18" charset="0"/>
                                </a:rPr>
                              </m:ctrlPr>
                            </m:radPr>
                            <m:e>
                              <m:r>
                                <a:rPr>
                                  <a:latin typeface="Cambria Math" panose="02040503050406030204" pitchFamily="18" charset="0"/>
                                </a:rPr>
                                <m:t>𝑁</m:t>
                              </m:r>
                            </m:e>
                          </m:rad>
                        </m:den>
                      </m:f>
                    </m:oMath>
                  </m:oMathPara>
                </a14:m>
                <a:endParaRPr/>
              </a:p>
            </p:txBody>
          </p:sp>
        </mc:Choice>
        <mc:Fallback>
          <p:sp>
            <p:nvSpPr>
              <p:cNvPr id="7" name="EQ_026">
                <a:extLst>
                  <a:ext uri="{FF2B5EF4-FFF2-40B4-BE49-F238E27FC236}">
                    <a16:creationId xmlns:a16="http://schemas.microsoft.com/office/drawing/2014/main" id="{DBAE2236-908F-4B6B-BD14-006F63045870}"/>
                  </a:ext>
                </a:extLst>
              </p:cNvPr>
              <p:cNvSpPr>
                <a:spLocks noGrp="1" noRot="1" noChangeAspect="1" noMove="1" noResize="1" noEditPoints="1" noAdjustHandles="1" noChangeArrowheads="1" noChangeShapeType="1" noTextEdit="1"/>
              </p:cNvSpPr>
              <p:nvPr/>
            </p:nvSpPr>
            <p:spPr>
              <a:xfrm>
                <a:off x="857250" y="4762500"/>
                <a:ext cx="10477500" cy="952500"/>
              </a:xfrm>
              <a:prstGeom prst="rect">
                <a:avLst/>
              </a:prstGeom>
              <a:blipFill>
                <a:blip r:embed="rId3"/>
                <a:stretch>
                  <a:fillRect b="-5096"/>
                </a:stretch>
              </a:blipFill>
              <a:ln w="0">
                <a:noFill/>
              </a:ln>
            </p:spPr>
            <p:txBody>
              <a:bodyPr/>
              <a:lstStyle/>
              <a:p>
                <a:r>
                  <a:rPr lang="en-GB">
                    <a:noFill/>
                  </a:rPr>
                  <a:t> </a:t>
                </a:r>
              </a:p>
            </p:txBody>
          </p:sp>
        </mc:Fallback>
      </mc:AlternateContent>
      <p:sp>
        <p:nvSpPr>
          <p:cNvPr id="8" name="text-6">
            <a:extLst>
              <a:ext uri="{FF2B5EF4-FFF2-40B4-BE49-F238E27FC236}">
                <a16:creationId xmlns:a16="http://schemas.microsoft.com/office/drawing/2014/main" id="{72FF9156-CA47-422C-87CA-59A786EB391C}"/>
              </a:ext>
            </a:extLst>
          </p:cNvPr>
          <p:cNvSpPr>
            <a:spLocks noGrp="1"/>
          </p:cNvSpPr>
          <p:nvPr/>
        </p:nvSpPr>
        <p:spPr>
          <a:xfrm>
            <a:off x="857250" y="5895975"/>
            <a:ext cx="10477500" cy="428625"/>
          </a:xfrm>
          <a:prstGeom prst="rect">
            <a:avLst/>
          </a:prstGeom>
          <a:noFill/>
          <a:ln w="0">
            <a:noFill/>
          </a:ln>
        </p:spPr>
        <p:txBody>
          <a:bodyPr wrap="square" lIns="0" tIns="0" rIns="0" bIns="0" anchor="t">
            <a:noAutofit/>
          </a:bodyPr>
          <a:lstStyle>
            <a:lvl1pPr>
              <a:buNone/>
              <a:defRPr sz="2250" b="0">
                <a:solidFill>
                  <a:srgbClr val="2D75A3"/>
                </a:solidFill>
                <a:latin typeface="Aptos"/>
                <a:ea typeface="Aptos"/>
                <a:cs typeface="Aptos"/>
              </a:defRPr>
            </a:lvl1pPr>
            <a:lvl2pPr>
              <a:buNone/>
              <a:defRPr sz="2250" b="0">
                <a:solidFill>
                  <a:srgbClr val="2D75A3"/>
                </a:solidFill>
                <a:latin typeface="Aptos"/>
                <a:ea typeface="Aptos"/>
                <a:cs typeface="Aptos"/>
              </a:defRPr>
            </a:lvl2pPr>
            <a:lvl3pPr>
              <a:buNone/>
              <a:defRPr sz="2250" b="0">
                <a:solidFill>
                  <a:srgbClr val="2D75A3"/>
                </a:solidFill>
                <a:latin typeface="Aptos"/>
                <a:ea typeface="Aptos"/>
                <a:cs typeface="Aptos"/>
              </a:defRPr>
            </a:lvl3pPr>
            <a:lvl4pPr>
              <a:buNone/>
              <a:defRPr sz="2250" b="0">
                <a:solidFill>
                  <a:srgbClr val="2D75A3"/>
                </a:solidFill>
                <a:latin typeface="Aptos"/>
                <a:ea typeface="Aptos"/>
                <a:cs typeface="Aptos"/>
              </a:defRPr>
            </a:lvl4pPr>
            <a:lvl5pPr>
              <a:buNone/>
              <a:defRPr sz="2250" b="0">
                <a:solidFill>
                  <a:srgbClr val="2D75A3"/>
                </a:solidFill>
                <a:latin typeface="Aptos"/>
                <a:ea typeface="Aptos"/>
                <a:cs typeface="Aptos"/>
              </a:defRPr>
            </a:lvl5pPr>
            <a:lvl6pPr>
              <a:buNone/>
              <a:defRPr sz="2250" b="0">
                <a:solidFill>
                  <a:srgbClr val="2D75A3"/>
                </a:solidFill>
                <a:latin typeface="Aptos"/>
                <a:ea typeface="Aptos"/>
                <a:cs typeface="Aptos"/>
              </a:defRPr>
            </a:lvl6pPr>
            <a:lvl7pPr>
              <a:buNone/>
              <a:defRPr sz="2250" b="0">
                <a:solidFill>
                  <a:srgbClr val="2D75A3"/>
                </a:solidFill>
                <a:latin typeface="Aptos"/>
                <a:ea typeface="Aptos"/>
                <a:cs typeface="Aptos"/>
              </a:defRPr>
            </a:lvl7pPr>
            <a:lvl8pPr>
              <a:buNone/>
              <a:defRPr sz="2250" b="0">
                <a:solidFill>
                  <a:srgbClr val="2D75A3"/>
                </a:solidFill>
                <a:latin typeface="Aptos"/>
                <a:ea typeface="Aptos"/>
                <a:cs typeface="Aptos"/>
              </a:defRPr>
            </a:lvl8pPr>
            <a:lvl9pPr>
              <a:buNone/>
              <a:defRPr sz="2250" b="0">
                <a:solidFill>
                  <a:srgbClr val="2D75A3"/>
                </a:solidFill>
                <a:latin typeface="Aptos"/>
                <a:ea typeface="Aptos"/>
                <a:cs typeface="Aptos"/>
              </a:defRPr>
            </a:lvl9pPr>
          </a:lstStyle>
          <a:p>
            <a:pPr>
              <a:buNone/>
              <a:defRPr sz="2250" b="0">
                <a:solidFill>
                  <a:srgbClr val="2D75A3"/>
                </a:solidFill>
                <a:latin typeface="Aptos"/>
                <a:ea typeface="Aptos"/>
                <a:cs typeface="Aptos"/>
              </a:defRPr>
            </a:pPr>
            <a:r>
              <a:rPr sz="2250" b="0">
                <a:solidFill>
                  <a:srgbClr val="2D75A3"/>
                </a:solidFill>
                <a:latin typeface="Aptos"/>
                <a:ea typeface="Aptos"/>
                <a:cs typeface="Aptos"/>
              </a:rPr>
              <a:t>More trials reduce uncertainty in the calculated average.</a:t>
            </a:r>
          </a:p>
        </p:txBody>
      </p:sp>
    </p:spTree>
    <p:extLst>
      <p:ext uri="{BB962C8B-B14F-4D97-AF65-F5344CB8AC3E}">
        <p14:creationId xmlns:p14="http://schemas.microsoft.com/office/powerpoint/2010/main" val="977384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514DB866-3A9E-49E5-9BF1-C468F0AAAA50}"/>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The spread of a 0/1 output</a:t>
            </a:r>
          </a:p>
        </p:txBody>
      </p:sp>
      <p:sp>
        <p:nvSpPr>
          <p:cNvPr id="2" name="Straight Connector 1">
            <a:extLst>
              <a:ext uri="{FF2B5EF4-FFF2-40B4-BE49-F238E27FC236}">
                <a16:creationId xmlns:a16="http://schemas.microsoft.com/office/drawing/2014/main" id="{0DF68EA2-D584-4136-B624-AFC5C4F4AF7C}"/>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01775DF1-4499-4D06-A933-94993BD60221}"/>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80CFB60D-244A-47A7-9BA5-472F761B65C5}"/>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26</a:t>
            </a:r>
          </a:p>
        </p:txBody>
      </p:sp>
      <p:sp>
        <p:nvSpPr>
          <p:cNvPr id="5" name="text-4">
            <a:extLst>
              <a:ext uri="{FF2B5EF4-FFF2-40B4-BE49-F238E27FC236}">
                <a16:creationId xmlns:a16="http://schemas.microsoft.com/office/drawing/2014/main" id="{27EF7355-6419-4545-BA95-2F963F6DD87E}"/>
              </a:ext>
            </a:extLst>
          </p:cNvPr>
          <p:cNvSpPr>
            <a:spLocks noGrp="1"/>
          </p:cNvSpPr>
          <p:nvPr/>
        </p:nvSpPr>
        <p:spPr>
          <a:xfrm>
            <a:off x="857250" y="1638300"/>
            <a:ext cx="10477500" cy="857250"/>
          </a:xfrm>
          <a:prstGeom prst="rect">
            <a:avLst/>
          </a:prstGeom>
          <a:noFill/>
          <a:ln w="0">
            <a:noFill/>
          </a:ln>
        </p:spPr>
        <p:txBody>
          <a:bodyPr wrap="square" lIns="0" tIns="0" rIns="0" bIns="0" anchor="t">
            <a:noAutofit/>
          </a:bodyPr>
          <a:lstStyle>
            <a:lvl1pPr>
              <a:buNone/>
              <a:defRPr sz="2325" b="0">
                <a:solidFill>
                  <a:srgbClr val="17365D"/>
                </a:solidFill>
                <a:latin typeface="Aptos"/>
                <a:ea typeface="Aptos"/>
                <a:cs typeface="Aptos"/>
              </a:defRPr>
            </a:lvl1pPr>
            <a:lvl2pPr>
              <a:buNone/>
              <a:defRPr sz="2325" b="0">
                <a:solidFill>
                  <a:srgbClr val="17365D"/>
                </a:solidFill>
                <a:latin typeface="Aptos"/>
                <a:ea typeface="Aptos"/>
                <a:cs typeface="Aptos"/>
              </a:defRPr>
            </a:lvl2pPr>
            <a:lvl3pPr>
              <a:buNone/>
              <a:defRPr sz="2325" b="0">
                <a:solidFill>
                  <a:srgbClr val="17365D"/>
                </a:solidFill>
                <a:latin typeface="Aptos"/>
                <a:ea typeface="Aptos"/>
                <a:cs typeface="Aptos"/>
              </a:defRPr>
            </a:lvl3pPr>
            <a:lvl4pPr>
              <a:buNone/>
              <a:defRPr sz="2325" b="0">
                <a:solidFill>
                  <a:srgbClr val="17365D"/>
                </a:solidFill>
                <a:latin typeface="Aptos"/>
                <a:ea typeface="Aptos"/>
                <a:cs typeface="Aptos"/>
              </a:defRPr>
            </a:lvl4pPr>
            <a:lvl5pPr>
              <a:buNone/>
              <a:defRPr sz="2325" b="0">
                <a:solidFill>
                  <a:srgbClr val="17365D"/>
                </a:solidFill>
                <a:latin typeface="Aptos"/>
                <a:ea typeface="Aptos"/>
                <a:cs typeface="Aptos"/>
              </a:defRPr>
            </a:lvl5pPr>
            <a:lvl6pPr>
              <a:buNone/>
              <a:defRPr sz="2325" b="0">
                <a:solidFill>
                  <a:srgbClr val="17365D"/>
                </a:solidFill>
                <a:latin typeface="Aptos"/>
                <a:ea typeface="Aptos"/>
                <a:cs typeface="Aptos"/>
              </a:defRPr>
            </a:lvl6pPr>
            <a:lvl7pPr>
              <a:buNone/>
              <a:defRPr sz="2325" b="0">
                <a:solidFill>
                  <a:srgbClr val="17365D"/>
                </a:solidFill>
                <a:latin typeface="Aptos"/>
                <a:ea typeface="Aptos"/>
                <a:cs typeface="Aptos"/>
              </a:defRPr>
            </a:lvl7pPr>
            <a:lvl8pPr>
              <a:buNone/>
              <a:defRPr sz="2325" b="0">
                <a:solidFill>
                  <a:srgbClr val="17365D"/>
                </a:solidFill>
                <a:latin typeface="Aptos"/>
                <a:ea typeface="Aptos"/>
                <a:cs typeface="Aptos"/>
              </a:defRPr>
            </a:lvl8pPr>
            <a:lvl9pPr>
              <a:buNone/>
              <a:defRPr sz="2325" b="0">
                <a:solidFill>
                  <a:srgbClr val="17365D"/>
                </a:solidFill>
                <a:latin typeface="Aptos"/>
                <a:ea typeface="Aptos"/>
                <a:cs typeface="Aptos"/>
              </a:defRPr>
            </a:lvl9pPr>
          </a:lstStyle>
          <a:p>
            <a:pPr>
              <a:buNone/>
              <a:defRPr sz="2325" b="0">
                <a:solidFill>
                  <a:srgbClr val="17365D"/>
                </a:solidFill>
                <a:latin typeface="Aptos"/>
                <a:ea typeface="Aptos"/>
                <a:cs typeface="Aptos"/>
              </a:defRPr>
            </a:pPr>
            <a:r>
              <a:rPr sz="2325" b="0">
                <a:solidFill>
                  <a:srgbClr val="17365D"/>
                </a:solidFill>
                <a:latin typeface="Aptos"/>
                <a:ea typeface="Aptos"/>
                <a:cs typeface="Aptos"/>
              </a:rPr>
              <a:t>Let Y be 1 when the event occurs and 0 otherwise, with P(Y=1)=p.</a:t>
            </a:r>
          </a:p>
        </p:txBody>
      </p:sp>
      <mc:AlternateContent xmlns:mc="http://schemas.openxmlformats.org/markup-compatibility/2006">
        <mc:Choice xmlns:a14="http://schemas.microsoft.com/office/drawing/2010/main" Requires="a14">
          <p:sp>
            <p:nvSpPr>
              <p:cNvPr id="6" name="EQ_046">
                <a:extLst>
                  <a:ext uri="{FF2B5EF4-FFF2-40B4-BE49-F238E27FC236}">
                    <a16:creationId xmlns:a16="http://schemas.microsoft.com/office/drawing/2014/main" id="{A9713B9A-A63C-41AE-8C86-2AC75E813AB0}"/>
                  </a:ext>
                </a:extLst>
              </p:cNvPr>
              <p:cNvSpPr>
                <a:spLocks noGrp="1"/>
              </p:cNvSpPr>
              <p:nvPr/>
            </p:nvSpPr>
            <p:spPr>
              <a:xfrm>
                <a:off x="857250" y="2628900"/>
                <a:ext cx="10477500" cy="857250"/>
              </a:xfrm>
              <a:prstGeom prst="rect">
                <a:avLst/>
              </a:prstGeom>
              <a:noFill/>
              <a:ln w="0">
                <a:noFill/>
              </a:ln>
            </p:spPr>
            <p:txBody>
              <a:bodyPr wrap="none" lIns="0" tIns="0" rIns="0" bIns="0" anchor="ctr">
                <a:noAutofit/>
              </a:bodyPr>
              <a:lstStyle>
                <a:lvl1pPr algn="l">
                  <a:buNone/>
                  <a:defRPr sz="3300">
                    <a:solidFill>
                      <a:srgbClr val="17365D"/>
                    </a:solidFill>
                    <a:latin typeface="Cambria Math"/>
                    <a:ea typeface="Cambria Math"/>
                    <a:cs typeface="Cambria Math"/>
                  </a:defRPr>
                </a:lvl1pPr>
                <a:lvl2pPr algn="l">
                  <a:buNone/>
                  <a:defRPr sz="3300">
                    <a:solidFill>
                      <a:srgbClr val="17365D"/>
                    </a:solidFill>
                    <a:latin typeface="Cambria Math"/>
                    <a:ea typeface="Cambria Math"/>
                    <a:cs typeface="Cambria Math"/>
                  </a:defRPr>
                </a:lvl2pPr>
                <a:lvl3pPr algn="l">
                  <a:buNone/>
                  <a:defRPr sz="3300">
                    <a:solidFill>
                      <a:srgbClr val="17365D"/>
                    </a:solidFill>
                    <a:latin typeface="Cambria Math"/>
                    <a:ea typeface="Cambria Math"/>
                    <a:cs typeface="Cambria Math"/>
                  </a:defRPr>
                </a:lvl3pPr>
                <a:lvl4pPr algn="l">
                  <a:buNone/>
                  <a:defRPr sz="3300">
                    <a:solidFill>
                      <a:srgbClr val="17365D"/>
                    </a:solidFill>
                    <a:latin typeface="Cambria Math"/>
                    <a:ea typeface="Cambria Math"/>
                    <a:cs typeface="Cambria Math"/>
                  </a:defRPr>
                </a:lvl4pPr>
                <a:lvl5pPr algn="l">
                  <a:buNone/>
                  <a:defRPr sz="3300">
                    <a:solidFill>
                      <a:srgbClr val="17365D"/>
                    </a:solidFill>
                    <a:latin typeface="Cambria Math"/>
                    <a:ea typeface="Cambria Math"/>
                    <a:cs typeface="Cambria Math"/>
                  </a:defRPr>
                </a:lvl5pPr>
                <a:lvl6pPr algn="l">
                  <a:buNone/>
                  <a:defRPr sz="3300">
                    <a:solidFill>
                      <a:srgbClr val="17365D"/>
                    </a:solidFill>
                    <a:latin typeface="Cambria Math"/>
                    <a:ea typeface="Cambria Math"/>
                    <a:cs typeface="Cambria Math"/>
                  </a:defRPr>
                </a:lvl6pPr>
                <a:lvl7pPr algn="l">
                  <a:buNone/>
                  <a:defRPr sz="3300">
                    <a:solidFill>
                      <a:srgbClr val="17365D"/>
                    </a:solidFill>
                    <a:latin typeface="Cambria Math"/>
                    <a:ea typeface="Cambria Math"/>
                    <a:cs typeface="Cambria Math"/>
                  </a:defRPr>
                </a:lvl7pPr>
                <a:lvl8pPr algn="l">
                  <a:buNone/>
                  <a:defRPr sz="3300">
                    <a:solidFill>
                      <a:srgbClr val="17365D"/>
                    </a:solidFill>
                    <a:latin typeface="Cambria Math"/>
                    <a:ea typeface="Cambria Math"/>
                    <a:cs typeface="Cambria Math"/>
                  </a:defRPr>
                </a:lvl8pPr>
                <a:lvl9pPr algn="l">
                  <a:buNone/>
                  <a:defRPr sz="3300">
                    <a:solidFill>
                      <a:srgbClr val="17365D"/>
                    </a:solidFill>
                    <a:latin typeface="Cambria Math"/>
                    <a:ea typeface="Cambria Math"/>
                    <a:cs typeface="Cambria Math"/>
                  </a:defRPr>
                </a:lvl9pPr>
              </a:lstStyle>
              <a:p>
                <a:pPr>
                  <a:buNone/>
                  <a:defRPr sz="3300">
                    <a:solidFill>
                      <a:srgbClr val="17365D"/>
                    </a:solidFill>
                  </a:defRPr>
                </a:pPr>
                <a14:m>
                  <m:oMathPara xmlns:m="http://schemas.openxmlformats.org/officeDocument/2006/math">
                    <m:oMath>
                      <m:sSup>
                        <m:sSupPr>
                          <m:ctrlPr>
                            <a:rPr>
                              <a:latin typeface="Cambria Math" panose="02040503050406030204" pitchFamily="18" charset="0"/>
                            </a:rPr>
                          </m:ctrlPr>
                        </m:sSupPr>
                        <m:e>
                          <m:r>
                            <a:rPr>
                              <a:latin typeface="Cambria Math" panose="02040503050406030204" pitchFamily="18" charset="0"/>
                            </a:rPr>
                            <m:t>𝑌</m:t>
                          </m:r>
                        </m:e>
                        <m:sup>
                          <m:r>
                            <a:rPr>
                              <a:latin typeface="Cambria Math" panose="02040503050406030204" pitchFamily="18" charset="0"/>
                            </a:rPr>
                            <m:t>2</m:t>
                          </m:r>
                        </m:sup>
                      </m:sSup>
                      <m:r>
                        <a:rPr>
                          <a:latin typeface="Cambria Math" panose="02040503050406030204" pitchFamily="18" charset="0"/>
                        </a:rPr>
                        <m:t>=</m:t>
                      </m:r>
                      <m:r>
                        <a:rPr>
                          <a:latin typeface="Cambria Math" panose="02040503050406030204" pitchFamily="18" charset="0"/>
                        </a:rPr>
                        <m:t>𝑌</m:t>
                      </m:r>
                      <m:r>
                        <a:rPr>
                          <a:latin typeface="Cambria Math" panose="02040503050406030204" pitchFamily="18" charset="0"/>
                        </a:rPr>
                        <m:t>    </m:t>
                      </m:r>
                      <m:r>
                        <a:rPr>
                          <a:latin typeface="Cambria Math" panose="02040503050406030204" pitchFamily="18" charset="0"/>
                        </a:rPr>
                        <m:t>𝑠𝑜</m:t>
                      </m:r>
                      <m:r>
                        <a:rPr>
                          <a:latin typeface="Cambria Math" panose="02040503050406030204" pitchFamily="18" charset="0"/>
                        </a:rPr>
                        <m:t>    </m:t>
                      </m:r>
                      <m:r>
                        <a:rPr>
                          <a:latin typeface="Cambria Math" panose="02040503050406030204" pitchFamily="18" charset="0"/>
                        </a:rPr>
                        <m:t>𝐸</m:t>
                      </m:r>
                      <m:d>
                        <m:dPr>
                          <m:begChr m:val="["/>
                          <m:endChr m:val="]"/>
                          <m:ctrlPr>
                            <a:rPr i="1">
                              <a:latin typeface="Cambria Math" panose="02040503050406030204" pitchFamily="18" charset="0"/>
                            </a:rPr>
                          </m:ctrlPr>
                        </m:dPr>
                        <m:e>
                          <m:sSup>
                            <m:sSupPr>
                              <m:ctrlPr>
                                <a:rPr>
                                  <a:latin typeface="Cambria Math" panose="02040503050406030204" pitchFamily="18" charset="0"/>
                                </a:rPr>
                              </m:ctrlPr>
                            </m:sSupPr>
                            <m:e>
                              <m:r>
                                <a:rPr>
                                  <a:latin typeface="Cambria Math" panose="02040503050406030204" pitchFamily="18" charset="0"/>
                                </a:rPr>
                                <m:t>𝑌</m:t>
                              </m:r>
                            </m:e>
                            <m:sup>
                              <m:r>
                                <a:rPr>
                                  <a:latin typeface="Cambria Math" panose="02040503050406030204" pitchFamily="18" charset="0"/>
                                </a:rPr>
                                <m:t>2</m:t>
                              </m:r>
                            </m:sup>
                          </m:sSup>
                        </m:e>
                      </m:d>
                      <m:r>
                        <a:rPr>
                          <a:latin typeface="Cambria Math" panose="02040503050406030204" pitchFamily="18" charset="0"/>
                        </a:rPr>
                        <m:t>=</m:t>
                      </m:r>
                      <m:r>
                        <a:rPr>
                          <a:latin typeface="Cambria Math" panose="02040503050406030204" pitchFamily="18" charset="0"/>
                        </a:rPr>
                        <m:t>𝑝</m:t>
                      </m:r>
                    </m:oMath>
                  </m:oMathPara>
                </a14:m>
                <a:endParaRPr/>
              </a:p>
            </p:txBody>
          </p:sp>
        </mc:Choice>
        <mc:Fallback>
          <p:sp>
            <p:nvSpPr>
              <p:cNvPr id="6" name="EQ_046">
                <a:extLst>
                  <a:ext uri="{FF2B5EF4-FFF2-40B4-BE49-F238E27FC236}">
                    <a16:creationId xmlns:a16="http://schemas.microsoft.com/office/drawing/2014/main" id="{A9713B9A-A63C-41AE-8C86-2AC75E813AB0}"/>
                  </a:ext>
                </a:extLst>
              </p:cNvPr>
              <p:cNvSpPr>
                <a:spLocks noGrp="1" noRot="1" noChangeAspect="1" noMove="1" noResize="1" noEditPoints="1" noAdjustHandles="1" noChangeArrowheads="1" noChangeShapeType="1" noTextEdit="1"/>
              </p:cNvSpPr>
              <p:nvPr/>
            </p:nvSpPr>
            <p:spPr>
              <a:xfrm>
                <a:off x="857250" y="2628900"/>
                <a:ext cx="10477500" cy="857250"/>
              </a:xfrm>
              <a:prstGeom prst="rect">
                <a:avLst/>
              </a:prstGeom>
              <a:blipFill>
                <a:blip r:embed="rId3"/>
                <a:stretch>
                  <a:fillRect/>
                </a:stretch>
              </a:blipFill>
              <a:ln w="0">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7" name="EQ_047">
                <a:extLst>
                  <a:ext uri="{FF2B5EF4-FFF2-40B4-BE49-F238E27FC236}">
                    <a16:creationId xmlns:a16="http://schemas.microsoft.com/office/drawing/2014/main" id="{88FCA0ED-8A50-481C-997D-64952DFFDDA9}"/>
                  </a:ext>
                </a:extLst>
              </p:cNvPr>
              <p:cNvSpPr>
                <a:spLocks noGrp="1"/>
              </p:cNvSpPr>
              <p:nvPr/>
            </p:nvSpPr>
            <p:spPr>
              <a:xfrm>
                <a:off x="857250" y="3724275"/>
                <a:ext cx="10477500" cy="952500"/>
              </a:xfrm>
              <a:prstGeom prst="rect">
                <a:avLst/>
              </a:prstGeom>
              <a:noFill/>
              <a:ln w="0">
                <a:noFill/>
              </a:ln>
            </p:spPr>
            <p:txBody>
              <a:bodyPr wrap="none" lIns="0" tIns="0" rIns="0" bIns="0" anchor="ctr">
                <a:noAutofit/>
              </a:bodyPr>
              <a:lstStyle>
                <a:lvl1pPr algn="l">
                  <a:buNone/>
                  <a:defRPr sz="3300">
                    <a:solidFill>
                      <a:srgbClr val="17365D"/>
                    </a:solidFill>
                    <a:latin typeface="Cambria Math"/>
                    <a:ea typeface="Cambria Math"/>
                    <a:cs typeface="Cambria Math"/>
                  </a:defRPr>
                </a:lvl1pPr>
                <a:lvl2pPr algn="l">
                  <a:buNone/>
                  <a:defRPr sz="3300">
                    <a:solidFill>
                      <a:srgbClr val="17365D"/>
                    </a:solidFill>
                    <a:latin typeface="Cambria Math"/>
                    <a:ea typeface="Cambria Math"/>
                    <a:cs typeface="Cambria Math"/>
                  </a:defRPr>
                </a:lvl2pPr>
                <a:lvl3pPr algn="l">
                  <a:buNone/>
                  <a:defRPr sz="3300">
                    <a:solidFill>
                      <a:srgbClr val="17365D"/>
                    </a:solidFill>
                    <a:latin typeface="Cambria Math"/>
                    <a:ea typeface="Cambria Math"/>
                    <a:cs typeface="Cambria Math"/>
                  </a:defRPr>
                </a:lvl3pPr>
                <a:lvl4pPr algn="l">
                  <a:buNone/>
                  <a:defRPr sz="3300">
                    <a:solidFill>
                      <a:srgbClr val="17365D"/>
                    </a:solidFill>
                    <a:latin typeface="Cambria Math"/>
                    <a:ea typeface="Cambria Math"/>
                    <a:cs typeface="Cambria Math"/>
                  </a:defRPr>
                </a:lvl4pPr>
                <a:lvl5pPr algn="l">
                  <a:buNone/>
                  <a:defRPr sz="3300">
                    <a:solidFill>
                      <a:srgbClr val="17365D"/>
                    </a:solidFill>
                    <a:latin typeface="Cambria Math"/>
                    <a:ea typeface="Cambria Math"/>
                    <a:cs typeface="Cambria Math"/>
                  </a:defRPr>
                </a:lvl5pPr>
                <a:lvl6pPr algn="l">
                  <a:buNone/>
                  <a:defRPr sz="3300">
                    <a:solidFill>
                      <a:srgbClr val="17365D"/>
                    </a:solidFill>
                    <a:latin typeface="Cambria Math"/>
                    <a:ea typeface="Cambria Math"/>
                    <a:cs typeface="Cambria Math"/>
                  </a:defRPr>
                </a:lvl6pPr>
                <a:lvl7pPr algn="l">
                  <a:buNone/>
                  <a:defRPr sz="3300">
                    <a:solidFill>
                      <a:srgbClr val="17365D"/>
                    </a:solidFill>
                    <a:latin typeface="Cambria Math"/>
                    <a:ea typeface="Cambria Math"/>
                    <a:cs typeface="Cambria Math"/>
                  </a:defRPr>
                </a:lvl7pPr>
                <a:lvl8pPr algn="l">
                  <a:buNone/>
                  <a:defRPr sz="3300">
                    <a:solidFill>
                      <a:srgbClr val="17365D"/>
                    </a:solidFill>
                    <a:latin typeface="Cambria Math"/>
                    <a:ea typeface="Cambria Math"/>
                    <a:cs typeface="Cambria Math"/>
                  </a:defRPr>
                </a:lvl8pPr>
                <a:lvl9pPr algn="l">
                  <a:buNone/>
                  <a:defRPr sz="3300">
                    <a:solidFill>
                      <a:srgbClr val="17365D"/>
                    </a:solidFill>
                    <a:latin typeface="Cambria Math"/>
                    <a:ea typeface="Cambria Math"/>
                    <a:cs typeface="Cambria Math"/>
                  </a:defRPr>
                </a:lvl9pPr>
              </a:lstStyle>
              <a:p>
                <a:pPr>
                  <a:buNone/>
                  <a:defRPr sz="3300">
                    <a:solidFill>
                      <a:srgbClr val="17365D"/>
                    </a:solidFill>
                  </a:defRPr>
                </a:pPr>
                <a14:m>
                  <m:oMathPara xmlns:m="http://schemas.openxmlformats.org/officeDocument/2006/math">
                    <m:oMath>
                      <m:r>
                        <a:rPr>
                          <a:latin typeface="Cambria Math" panose="02040503050406030204" pitchFamily="18" charset="0"/>
                        </a:rPr>
                        <m:t>𝑉𝑎𝑟</m:t>
                      </m:r>
                      <m:d>
                        <m:dPr>
                          <m:ctrlPr>
                            <a:rPr>
                              <a:latin typeface="Cambria Math" panose="02040503050406030204" pitchFamily="18" charset="0"/>
                            </a:rPr>
                          </m:ctrlPr>
                        </m:dPr>
                        <m:e>
                          <m:r>
                            <a:rPr>
                              <a:latin typeface="Cambria Math" panose="02040503050406030204" pitchFamily="18" charset="0"/>
                            </a:rPr>
                            <m:t>𝑌</m:t>
                          </m:r>
                        </m:e>
                      </m:d>
                      <m:r>
                        <a:rPr>
                          <a:latin typeface="Cambria Math" panose="02040503050406030204" pitchFamily="18" charset="0"/>
                        </a:rPr>
                        <m:t>=</m:t>
                      </m:r>
                      <m:r>
                        <a:rPr>
                          <a:latin typeface="Cambria Math" panose="02040503050406030204" pitchFamily="18" charset="0"/>
                        </a:rPr>
                        <m:t>𝑝</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𝑝</m:t>
                          </m:r>
                        </m:e>
                        <m:sup>
                          <m:r>
                            <a:rPr>
                              <a:latin typeface="Cambria Math" panose="02040503050406030204" pitchFamily="18" charset="0"/>
                            </a:rPr>
                            <m:t>2</m:t>
                          </m:r>
                        </m:sup>
                      </m:sSup>
                      <m:r>
                        <a:rPr>
                          <a:latin typeface="Cambria Math" panose="02040503050406030204" pitchFamily="18" charset="0"/>
                        </a:rPr>
                        <m:t>=</m:t>
                      </m:r>
                      <m:r>
                        <a:rPr>
                          <a:latin typeface="Cambria Math" panose="02040503050406030204" pitchFamily="18" charset="0"/>
                        </a:rPr>
                        <m:t>𝑝</m:t>
                      </m:r>
                      <m:d>
                        <m:dPr>
                          <m:ctrlPr>
                            <a:rPr>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𝑝</m:t>
                          </m:r>
                        </m:e>
                      </m:d>
                    </m:oMath>
                  </m:oMathPara>
                </a14:m>
                <a:endParaRPr/>
              </a:p>
            </p:txBody>
          </p:sp>
        </mc:Choice>
        <mc:Fallback>
          <p:sp>
            <p:nvSpPr>
              <p:cNvPr id="7" name="EQ_047">
                <a:extLst>
                  <a:ext uri="{FF2B5EF4-FFF2-40B4-BE49-F238E27FC236}">
                    <a16:creationId xmlns:a16="http://schemas.microsoft.com/office/drawing/2014/main" id="{88FCA0ED-8A50-481C-997D-64952DFFDDA9}"/>
                  </a:ext>
                </a:extLst>
              </p:cNvPr>
              <p:cNvSpPr>
                <a:spLocks noGrp="1" noRot="1" noChangeAspect="1" noMove="1" noResize="1" noEditPoints="1" noAdjustHandles="1" noChangeArrowheads="1" noChangeShapeType="1" noTextEdit="1"/>
              </p:cNvSpPr>
              <p:nvPr/>
            </p:nvSpPr>
            <p:spPr>
              <a:xfrm>
                <a:off x="857250" y="3724275"/>
                <a:ext cx="10477500" cy="952500"/>
              </a:xfrm>
              <a:prstGeom prst="rect">
                <a:avLst/>
              </a:prstGeom>
              <a:blipFill>
                <a:blip r:embed="rId4"/>
                <a:stretch>
                  <a:fillRect/>
                </a:stretch>
              </a:blipFill>
              <a:ln w="0">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8" name="EQ_048">
                <a:extLst>
                  <a:ext uri="{FF2B5EF4-FFF2-40B4-BE49-F238E27FC236}">
                    <a16:creationId xmlns:a16="http://schemas.microsoft.com/office/drawing/2014/main" id="{44BBFE9D-7989-42CD-A624-05E8B5FD688F}"/>
                  </a:ext>
                </a:extLst>
              </p:cNvPr>
              <p:cNvSpPr>
                <a:spLocks noGrp="1"/>
              </p:cNvSpPr>
              <p:nvPr/>
            </p:nvSpPr>
            <p:spPr>
              <a:xfrm>
                <a:off x="857250" y="5029200"/>
                <a:ext cx="10477500" cy="1143000"/>
              </a:xfrm>
              <a:prstGeom prst="rect">
                <a:avLst/>
              </a:prstGeom>
              <a:noFill/>
              <a:ln w="0">
                <a:noFill/>
              </a:ln>
            </p:spPr>
            <p:txBody>
              <a:bodyPr wrap="none" lIns="0" tIns="0" rIns="0" bIns="0" anchor="ctr">
                <a:noAutofit/>
              </a:bodyPr>
              <a:lstStyle>
                <a:lvl1pPr algn="l">
                  <a:buNone/>
                  <a:defRPr sz="3300">
                    <a:solidFill>
                      <a:srgbClr val="17365D"/>
                    </a:solidFill>
                    <a:latin typeface="Cambria Math"/>
                    <a:ea typeface="Cambria Math"/>
                    <a:cs typeface="Cambria Math"/>
                  </a:defRPr>
                </a:lvl1pPr>
                <a:lvl2pPr algn="l">
                  <a:buNone/>
                  <a:defRPr sz="3300">
                    <a:solidFill>
                      <a:srgbClr val="17365D"/>
                    </a:solidFill>
                    <a:latin typeface="Cambria Math"/>
                    <a:ea typeface="Cambria Math"/>
                    <a:cs typeface="Cambria Math"/>
                  </a:defRPr>
                </a:lvl2pPr>
                <a:lvl3pPr algn="l">
                  <a:buNone/>
                  <a:defRPr sz="3300">
                    <a:solidFill>
                      <a:srgbClr val="17365D"/>
                    </a:solidFill>
                    <a:latin typeface="Cambria Math"/>
                    <a:ea typeface="Cambria Math"/>
                    <a:cs typeface="Cambria Math"/>
                  </a:defRPr>
                </a:lvl3pPr>
                <a:lvl4pPr algn="l">
                  <a:buNone/>
                  <a:defRPr sz="3300">
                    <a:solidFill>
                      <a:srgbClr val="17365D"/>
                    </a:solidFill>
                    <a:latin typeface="Cambria Math"/>
                    <a:ea typeface="Cambria Math"/>
                    <a:cs typeface="Cambria Math"/>
                  </a:defRPr>
                </a:lvl4pPr>
                <a:lvl5pPr algn="l">
                  <a:buNone/>
                  <a:defRPr sz="3300">
                    <a:solidFill>
                      <a:srgbClr val="17365D"/>
                    </a:solidFill>
                    <a:latin typeface="Cambria Math"/>
                    <a:ea typeface="Cambria Math"/>
                    <a:cs typeface="Cambria Math"/>
                  </a:defRPr>
                </a:lvl5pPr>
                <a:lvl6pPr algn="l">
                  <a:buNone/>
                  <a:defRPr sz="3300">
                    <a:solidFill>
                      <a:srgbClr val="17365D"/>
                    </a:solidFill>
                    <a:latin typeface="Cambria Math"/>
                    <a:ea typeface="Cambria Math"/>
                    <a:cs typeface="Cambria Math"/>
                  </a:defRPr>
                </a:lvl6pPr>
                <a:lvl7pPr algn="l">
                  <a:buNone/>
                  <a:defRPr sz="3300">
                    <a:solidFill>
                      <a:srgbClr val="17365D"/>
                    </a:solidFill>
                    <a:latin typeface="Cambria Math"/>
                    <a:ea typeface="Cambria Math"/>
                    <a:cs typeface="Cambria Math"/>
                  </a:defRPr>
                </a:lvl7pPr>
                <a:lvl8pPr algn="l">
                  <a:buNone/>
                  <a:defRPr sz="3300">
                    <a:solidFill>
                      <a:srgbClr val="17365D"/>
                    </a:solidFill>
                    <a:latin typeface="Cambria Math"/>
                    <a:ea typeface="Cambria Math"/>
                    <a:cs typeface="Cambria Math"/>
                  </a:defRPr>
                </a:lvl8pPr>
                <a:lvl9pPr algn="l">
                  <a:buNone/>
                  <a:defRPr sz="3300">
                    <a:solidFill>
                      <a:srgbClr val="17365D"/>
                    </a:solidFill>
                    <a:latin typeface="Cambria Math"/>
                    <a:ea typeface="Cambria Math"/>
                    <a:cs typeface="Cambria Math"/>
                  </a:defRPr>
                </a:lvl9pPr>
              </a:lstStyle>
              <a:p>
                <a:pPr>
                  <a:buNone/>
                  <a:defRPr sz="3300">
                    <a:solidFill>
                      <a:srgbClr val="17365D"/>
                    </a:solidFill>
                  </a:defRPr>
                </a:pPr>
                <a14:m>
                  <m:oMathPara xmlns:m="http://schemas.openxmlformats.org/officeDocument/2006/math">
                    <m:oMath>
                      <m:r>
                        <a:rPr>
                          <a:latin typeface="Cambria Math" panose="02040503050406030204" pitchFamily="18" charset="0"/>
                        </a:rPr>
                        <m:t>𝑆𝐸</m:t>
                      </m:r>
                      <m:d>
                        <m:dPr>
                          <m:ctrlPr>
                            <a:rPr i="1">
                              <a:latin typeface="Cambria Math" panose="02040503050406030204" pitchFamily="18" charset="0"/>
                            </a:rPr>
                          </m:ctrlPr>
                        </m:dPr>
                        <m:e>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𝑝</m:t>
                                  </m:r>
                                </m:e>
                              </m:acc>
                            </m:e>
                            <m:sub>
                              <m:r>
                                <a:rPr>
                                  <a:latin typeface="Cambria Math" panose="02040503050406030204" pitchFamily="18" charset="0"/>
                                </a:rPr>
                                <m:t>𝑁</m:t>
                              </m:r>
                            </m:sub>
                          </m:sSub>
                        </m:e>
                      </m:d>
                      <m:r>
                        <a:rPr>
                          <a:latin typeface="Cambria Math" panose="02040503050406030204" pitchFamily="18" charset="0"/>
                        </a:rPr>
                        <m:t>=</m:t>
                      </m:r>
                      <m:rad>
                        <m:radPr>
                          <m:ctrlPr>
                            <a:rPr i="1">
                              <a:latin typeface="Cambria Math" panose="02040503050406030204" pitchFamily="18" charset="0"/>
                            </a:rPr>
                          </m:ctrlPr>
                        </m:radPr>
                        <m:e>
                          <m:f>
                            <m:fPr>
                              <m:ctrlPr>
                                <a:rPr>
                                  <a:latin typeface="Cambria Math" panose="02040503050406030204" pitchFamily="18" charset="0"/>
                                </a:rPr>
                              </m:ctrlPr>
                            </m:fPr>
                            <m:num>
                              <m:r>
                                <a:rPr>
                                  <a:latin typeface="Cambria Math" panose="02040503050406030204" pitchFamily="18" charset="0"/>
                                </a:rPr>
                                <m:t>𝑝</m:t>
                              </m:r>
                              <m:d>
                                <m:dPr>
                                  <m:ctrlPr>
                                    <a:rPr>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𝑝</m:t>
                                  </m:r>
                                </m:e>
                              </m:d>
                            </m:num>
                            <m:den>
                              <m:r>
                                <a:rPr>
                                  <a:latin typeface="Cambria Math" panose="02040503050406030204" pitchFamily="18" charset="0"/>
                                </a:rPr>
                                <m:t>𝑁</m:t>
                              </m:r>
                            </m:den>
                          </m:f>
                        </m:e>
                      </m:rad>
                    </m:oMath>
                  </m:oMathPara>
                </a14:m>
                <a:endParaRPr/>
              </a:p>
            </p:txBody>
          </p:sp>
        </mc:Choice>
        <mc:Fallback>
          <p:sp>
            <p:nvSpPr>
              <p:cNvPr id="8" name="EQ_048">
                <a:extLst>
                  <a:ext uri="{FF2B5EF4-FFF2-40B4-BE49-F238E27FC236}">
                    <a16:creationId xmlns:a16="http://schemas.microsoft.com/office/drawing/2014/main" id="{44BBFE9D-7989-42CD-A624-05E8B5FD688F}"/>
                  </a:ext>
                </a:extLst>
              </p:cNvPr>
              <p:cNvSpPr>
                <a:spLocks noGrp="1" noRot="1" noChangeAspect="1" noMove="1" noResize="1" noEditPoints="1" noAdjustHandles="1" noChangeArrowheads="1" noChangeShapeType="1" noTextEdit="1"/>
              </p:cNvSpPr>
              <p:nvPr/>
            </p:nvSpPr>
            <p:spPr>
              <a:xfrm>
                <a:off x="857250" y="5029200"/>
                <a:ext cx="10477500" cy="1143000"/>
              </a:xfrm>
              <a:prstGeom prst="rect">
                <a:avLst/>
              </a:prstGeom>
              <a:blipFill>
                <a:blip r:embed="rId5"/>
                <a:stretch>
                  <a:fillRect t="-7979" b="-15426"/>
                </a:stretch>
              </a:blipFill>
              <a:ln w="0">
                <a:noFill/>
              </a:ln>
            </p:spPr>
            <p:txBody>
              <a:bodyPr/>
              <a:lstStyle/>
              <a:p>
                <a:r>
                  <a:rPr lang="en-GB">
                    <a:noFill/>
                  </a:rPr>
                  <a:t> </a:t>
                </a:r>
              </a:p>
            </p:txBody>
          </p:sp>
        </mc:Fallback>
      </mc:AlternateContent>
    </p:spTree>
    <p:extLst>
      <p:ext uri="{BB962C8B-B14F-4D97-AF65-F5344CB8AC3E}">
        <p14:creationId xmlns:p14="http://schemas.microsoft.com/office/powerpoint/2010/main" val="5095357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CCC3D607-E9CE-422C-93EE-398438A3A301}"/>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Estimating the output spread</a:t>
            </a:r>
          </a:p>
        </p:txBody>
      </p:sp>
      <p:sp>
        <p:nvSpPr>
          <p:cNvPr id="2" name="Straight Connector 1">
            <a:extLst>
              <a:ext uri="{FF2B5EF4-FFF2-40B4-BE49-F238E27FC236}">
                <a16:creationId xmlns:a16="http://schemas.microsoft.com/office/drawing/2014/main" id="{36E85A70-CDB2-494E-8A09-A10A5CBAEBF6}"/>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5D8EBB29-FBEF-4E88-AEC3-E69A861168B9}"/>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707640DA-69AA-4E14-BF7E-BB3FFB261BAB}"/>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27</a:t>
            </a:r>
          </a:p>
        </p:txBody>
      </p:sp>
      <p:sp>
        <p:nvSpPr>
          <p:cNvPr id="5" name="text-4">
            <a:extLst>
              <a:ext uri="{FF2B5EF4-FFF2-40B4-BE49-F238E27FC236}">
                <a16:creationId xmlns:a16="http://schemas.microsoft.com/office/drawing/2014/main" id="{74C7C0E0-0F6A-48B5-8C38-52A7C82ADE41}"/>
              </a:ext>
            </a:extLst>
          </p:cNvPr>
          <p:cNvSpPr>
            <a:spLocks noGrp="1"/>
          </p:cNvSpPr>
          <p:nvPr/>
        </p:nvSpPr>
        <p:spPr>
          <a:xfrm>
            <a:off x="857250" y="1695450"/>
            <a:ext cx="10477500" cy="885825"/>
          </a:xfrm>
          <a:prstGeom prst="rect">
            <a:avLst/>
          </a:prstGeom>
          <a:noFill/>
          <a:ln w="0">
            <a:noFill/>
          </a:ln>
        </p:spPr>
        <p:txBody>
          <a:bodyPr wrap="square" lIns="0" tIns="0" rIns="0" bIns="0" anchor="t">
            <a:noAutofit/>
          </a:bodyPr>
          <a:lstStyle>
            <a:lvl1pPr>
              <a:buNone/>
              <a:defRPr sz="2325" b="0">
                <a:solidFill>
                  <a:srgbClr val="17365D"/>
                </a:solidFill>
                <a:latin typeface="Aptos"/>
                <a:ea typeface="Aptos"/>
                <a:cs typeface="Aptos"/>
              </a:defRPr>
            </a:lvl1pPr>
            <a:lvl2pPr>
              <a:buNone/>
              <a:defRPr sz="2325" b="0">
                <a:solidFill>
                  <a:srgbClr val="17365D"/>
                </a:solidFill>
                <a:latin typeface="Aptos"/>
                <a:ea typeface="Aptos"/>
                <a:cs typeface="Aptos"/>
              </a:defRPr>
            </a:lvl2pPr>
            <a:lvl3pPr>
              <a:buNone/>
              <a:defRPr sz="2325" b="0">
                <a:solidFill>
                  <a:srgbClr val="17365D"/>
                </a:solidFill>
                <a:latin typeface="Aptos"/>
                <a:ea typeface="Aptos"/>
                <a:cs typeface="Aptos"/>
              </a:defRPr>
            </a:lvl3pPr>
            <a:lvl4pPr>
              <a:buNone/>
              <a:defRPr sz="2325" b="0">
                <a:solidFill>
                  <a:srgbClr val="17365D"/>
                </a:solidFill>
                <a:latin typeface="Aptos"/>
                <a:ea typeface="Aptos"/>
                <a:cs typeface="Aptos"/>
              </a:defRPr>
            </a:lvl4pPr>
            <a:lvl5pPr>
              <a:buNone/>
              <a:defRPr sz="2325" b="0">
                <a:solidFill>
                  <a:srgbClr val="17365D"/>
                </a:solidFill>
                <a:latin typeface="Aptos"/>
                <a:ea typeface="Aptos"/>
                <a:cs typeface="Aptos"/>
              </a:defRPr>
            </a:lvl5pPr>
            <a:lvl6pPr>
              <a:buNone/>
              <a:defRPr sz="2325" b="0">
                <a:solidFill>
                  <a:srgbClr val="17365D"/>
                </a:solidFill>
                <a:latin typeface="Aptos"/>
                <a:ea typeface="Aptos"/>
                <a:cs typeface="Aptos"/>
              </a:defRPr>
            </a:lvl6pPr>
            <a:lvl7pPr>
              <a:buNone/>
              <a:defRPr sz="2325" b="0">
                <a:solidFill>
                  <a:srgbClr val="17365D"/>
                </a:solidFill>
                <a:latin typeface="Aptos"/>
                <a:ea typeface="Aptos"/>
                <a:cs typeface="Aptos"/>
              </a:defRPr>
            </a:lvl7pPr>
            <a:lvl8pPr>
              <a:buNone/>
              <a:defRPr sz="2325" b="0">
                <a:solidFill>
                  <a:srgbClr val="17365D"/>
                </a:solidFill>
                <a:latin typeface="Aptos"/>
                <a:ea typeface="Aptos"/>
                <a:cs typeface="Aptos"/>
              </a:defRPr>
            </a:lvl8pPr>
            <a:lvl9pPr>
              <a:buNone/>
              <a:defRPr sz="2325" b="0">
                <a:solidFill>
                  <a:srgbClr val="17365D"/>
                </a:solidFill>
                <a:latin typeface="Aptos"/>
                <a:ea typeface="Aptos"/>
                <a:cs typeface="Aptos"/>
              </a:defRPr>
            </a:lvl9pPr>
          </a:lstStyle>
          <a:p>
            <a:pPr>
              <a:buNone/>
              <a:defRPr sz="2325" b="0">
                <a:solidFill>
                  <a:srgbClr val="17365D"/>
                </a:solidFill>
                <a:latin typeface="Aptos"/>
                <a:ea typeface="Aptos"/>
                <a:cs typeface="Aptos"/>
              </a:defRPr>
            </a:pPr>
            <a:r>
              <a:rPr sz="2325" b="0">
                <a:solidFill>
                  <a:srgbClr val="17365D"/>
                </a:solidFill>
                <a:latin typeface="Aptos"/>
                <a:ea typeface="Aptos"/>
                <a:cs typeface="Aptos"/>
              </a:rPr>
              <a:t>The sample standard deviation sᵧ estimates the unknown output SD σᵧ.</a:t>
            </a:r>
          </a:p>
        </p:txBody>
      </p:sp>
      <mc:AlternateContent xmlns:mc="http://schemas.openxmlformats.org/markup-compatibility/2006">
        <mc:Choice xmlns:a14="http://schemas.microsoft.com/office/drawing/2010/main" Requires="a14">
          <p:sp>
            <p:nvSpPr>
              <p:cNvPr id="6" name="EQ_051">
                <a:extLst>
                  <a:ext uri="{FF2B5EF4-FFF2-40B4-BE49-F238E27FC236}">
                    <a16:creationId xmlns:a16="http://schemas.microsoft.com/office/drawing/2014/main" id="{E8900611-932A-4341-B74F-AEBE33A0544C}"/>
                  </a:ext>
                </a:extLst>
              </p:cNvPr>
              <p:cNvSpPr>
                <a:spLocks noGrp="1"/>
              </p:cNvSpPr>
              <p:nvPr/>
            </p:nvSpPr>
            <p:spPr>
              <a:xfrm>
                <a:off x="857250" y="2762250"/>
                <a:ext cx="10477500" cy="1381125"/>
              </a:xfrm>
              <a:prstGeom prst="rect">
                <a:avLst/>
              </a:prstGeom>
              <a:noFill/>
              <a:ln w="0">
                <a:noFill/>
              </a:ln>
            </p:spPr>
            <p:txBody>
              <a:bodyPr wrap="none" lIns="0" tIns="0" rIns="0" bIns="0" anchor="ctr">
                <a:noAutofit/>
              </a:bodyPr>
              <a:lstStyle>
                <a:lvl1pPr algn="l">
                  <a:buNone/>
                  <a:defRPr sz="3100">
                    <a:solidFill>
                      <a:srgbClr val="17365D"/>
                    </a:solidFill>
                    <a:latin typeface="Cambria Math"/>
                    <a:ea typeface="Cambria Math"/>
                    <a:cs typeface="Cambria Math"/>
                  </a:defRPr>
                </a:lvl1pPr>
                <a:lvl2pPr algn="l">
                  <a:buNone/>
                  <a:defRPr sz="3100">
                    <a:solidFill>
                      <a:srgbClr val="17365D"/>
                    </a:solidFill>
                    <a:latin typeface="Cambria Math"/>
                    <a:ea typeface="Cambria Math"/>
                    <a:cs typeface="Cambria Math"/>
                  </a:defRPr>
                </a:lvl2pPr>
                <a:lvl3pPr algn="l">
                  <a:buNone/>
                  <a:defRPr sz="3100">
                    <a:solidFill>
                      <a:srgbClr val="17365D"/>
                    </a:solidFill>
                    <a:latin typeface="Cambria Math"/>
                    <a:ea typeface="Cambria Math"/>
                    <a:cs typeface="Cambria Math"/>
                  </a:defRPr>
                </a:lvl3pPr>
                <a:lvl4pPr algn="l">
                  <a:buNone/>
                  <a:defRPr sz="3100">
                    <a:solidFill>
                      <a:srgbClr val="17365D"/>
                    </a:solidFill>
                    <a:latin typeface="Cambria Math"/>
                    <a:ea typeface="Cambria Math"/>
                    <a:cs typeface="Cambria Math"/>
                  </a:defRPr>
                </a:lvl4pPr>
                <a:lvl5pPr algn="l">
                  <a:buNone/>
                  <a:defRPr sz="3100">
                    <a:solidFill>
                      <a:srgbClr val="17365D"/>
                    </a:solidFill>
                    <a:latin typeface="Cambria Math"/>
                    <a:ea typeface="Cambria Math"/>
                    <a:cs typeface="Cambria Math"/>
                  </a:defRPr>
                </a:lvl5pPr>
                <a:lvl6pPr algn="l">
                  <a:buNone/>
                  <a:defRPr sz="3100">
                    <a:solidFill>
                      <a:srgbClr val="17365D"/>
                    </a:solidFill>
                    <a:latin typeface="Cambria Math"/>
                    <a:ea typeface="Cambria Math"/>
                    <a:cs typeface="Cambria Math"/>
                  </a:defRPr>
                </a:lvl6pPr>
                <a:lvl7pPr algn="l">
                  <a:buNone/>
                  <a:defRPr sz="3100">
                    <a:solidFill>
                      <a:srgbClr val="17365D"/>
                    </a:solidFill>
                    <a:latin typeface="Cambria Math"/>
                    <a:ea typeface="Cambria Math"/>
                    <a:cs typeface="Cambria Math"/>
                  </a:defRPr>
                </a:lvl7pPr>
                <a:lvl8pPr algn="l">
                  <a:buNone/>
                  <a:defRPr sz="3100">
                    <a:solidFill>
                      <a:srgbClr val="17365D"/>
                    </a:solidFill>
                    <a:latin typeface="Cambria Math"/>
                    <a:ea typeface="Cambria Math"/>
                    <a:cs typeface="Cambria Math"/>
                  </a:defRPr>
                </a:lvl8pPr>
                <a:lvl9pPr algn="l">
                  <a:buNone/>
                  <a:defRPr sz="3100">
                    <a:solidFill>
                      <a:srgbClr val="17365D"/>
                    </a:solidFill>
                    <a:latin typeface="Cambria Math"/>
                    <a:ea typeface="Cambria Math"/>
                    <a:cs typeface="Cambria Math"/>
                  </a:defRPr>
                </a:lvl9pPr>
              </a:lstStyle>
              <a:p>
                <a:pPr>
                  <a:buNone/>
                  <a:defRPr sz="3100">
                    <a:solidFill>
                      <a:srgbClr val="17365D"/>
                    </a:solidFill>
                  </a:defRPr>
                </a:pPr>
                <a14:m>
                  <m:oMathPara xmlns:m="http://schemas.openxmlformats.org/officeDocument/2006/math">
                    <m:oMath>
                      <m:sSup>
                        <m:sSupPr>
                          <m:ctrlPr>
                            <a:rPr>
                              <a:latin typeface="Cambria Math" panose="02040503050406030204" pitchFamily="18" charset="0"/>
                            </a:rPr>
                          </m:ctrlPr>
                        </m:sSupPr>
                        <m:e>
                          <m:sSub>
                            <m:sSubPr>
                              <m:ctrlPr>
                                <a:rPr>
                                  <a:latin typeface="Cambria Math" panose="02040503050406030204" pitchFamily="18" charset="0"/>
                                </a:rPr>
                              </m:ctrlPr>
                            </m:sSubPr>
                            <m:e>
                              <m:r>
                                <a:rPr>
                                  <a:latin typeface="Cambria Math" panose="02040503050406030204" pitchFamily="18" charset="0"/>
                                </a:rPr>
                                <m:t>𝑠</m:t>
                              </m:r>
                            </m:e>
                            <m:sub>
                              <m:r>
                                <a:rPr>
                                  <a:latin typeface="Cambria Math" panose="02040503050406030204" pitchFamily="18" charset="0"/>
                                </a:rPr>
                                <m:t>𝑌</m:t>
                              </m:r>
                            </m:sub>
                          </m:sSub>
                        </m:e>
                        <m:sup>
                          <m:r>
                            <a:rPr>
                              <a:latin typeface="Cambria Math" panose="02040503050406030204" pitchFamily="18" charset="0"/>
                            </a:rPr>
                            <m:t>2</m:t>
                          </m:r>
                        </m:sup>
                      </m:sSup>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𝑁</m:t>
                          </m:r>
                          <m:r>
                            <a:rPr>
                              <a:latin typeface="Cambria Math" panose="02040503050406030204" pitchFamily="18" charset="0"/>
                            </a:rPr>
                            <m:t>−1</m:t>
                          </m:r>
                        </m:den>
                      </m:f>
                      <m:nary>
                        <m:naryPr>
                          <m:chr m:val="∑"/>
                          <m:limLoc m:val="undOvr"/>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𝑁</m:t>
                          </m:r>
                        </m:sup>
                        <m:e>
                          <m:sSup>
                            <m:sSupPr>
                              <m:ctrlPr>
                                <a:rPr i="1">
                                  <a:latin typeface="Cambria Math" panose="02040503050406030204" pitchFamily="18" charset="0"/>
                                </a:rPr>
                              </m:ctrlPr>
                            </m:sSupPr>
                            <m:e>
                              <m:d>
                                <m:dPr>
                                  <m:ctrlPr>
                                    <a:rPr i="1">
                                      <a:latin typeface="Cambria Math" panose="02040503050406030204" pitchFamily="18" charset="0"/>
                                    </a:rPr>
                                  </m:ctrlPr>
                                </m:dPr>
                                <m:e>
                                  <m:sSub>
                                    <m:sSubPr>
                                      <m:ctrlPr>
                                        <a:rPr>
                                          <a:latin typeface="Cambria Math" panose="02040503050406030204" pitchFamily="18" charset="0"/>
                                        </a:rPr>
                                      </m:ctrlPr>
                                    </m:sSubPr>
                                    <m:e>
                                      <m:r>
                                        <a:rPr>
                                          <a:latin typeface="Cambria Math" panose="02040503050406030204" pitchFamily="18" charset="0"/>
                                        </a:rPr>
                                        <m:t>𝑌</m:t>
                                      </m:r>
                                    </m:e>
                                    <m:sub>
                                      <m:r>
                                        <a:rPr>
                                          <a:latin typeface="Cambria Math" panose="02040503050406030204" pitchFamily="18" charset="0"/>
                                        </a:rPr>
                                        <m:t>𝑖</m:t>
                                      </m:r>
                                    </m:sub>
                                  </m:sSub>
                                  <m:r>
                                    <a:rPr>
                                      <a:latin typeface="Cambria Math" panose="02040503050406030204" pitchFamily="18" charset="0"/>
                                    </a:rPr>
                                    <m:t>−</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𝜃</m:t>
                                          </m:r>
                                        </m:e>
                                      </m:acc>
                                    </m:e>
                                    <m:sub>
                                      <m:r>
                                        <a:rPr>
                                          <a:latin typeface="Cambria Math" panose="02040503050406030204" pitchFamily="18" charset="0"/>
                                        </a:rPr>
                                        <m:t>𝑁</m:t>
                                      </m:r>
                                    </m:sub>
                                  </m:sSub>
                                </m:e>
                              </m:d>
                            </m:e>
                            <m:sup>
                              <m:r>
                                <a:rPr>
                                  <a:latin typeface="Cambria Math" panose="02040503050406030204" pitchFamily="18" charset="0"/>
                                </a:rPr>
                                <m:t>2</m:t>
                              </m:r>
                            </m:sup>
                          </m:sSup>
                        </m:e>
                      </m:nary>
                    </m:oMath>
                  </m:oMathPara>
                </a14:m>
                <a:endParaRPr/>
              </a:p>
            </p:txBody>
          </p:sp>
        </mc:Choice>
        <mc:Fallback>
          <p:sp>
            <p:nvSpPr>
              <p:cNvPr id="6" name="EQ_051">
                <a:extLst>
                  <a:ext uri="{FF2B5EF4-FFF2-40B4-BE49-F238E27FC236}">
                    <a16:creationId xmlns:a16="http://schemas.microsoft.com/office/drawing/2014/main" id="{E8900611-932A-4341-B74F-AEBE33A0544C}"/>
                  </a:ext>
                </a:extLst>
              </p:cNvPr>
              <p:cNvSpPr>
                <a:spLocks noGrp="1" noRot="1" noChangeAspect="1" noMove="1" noResize="1" noEditPoints="1" noAdjustHandles="1" noChangeArrowheads="1" noChangeShapeType="1" noTextEdit="1"/>
              </p:cNvSpPr>
              <p:nvPr/>
            </p:nvSpPr>
            <p:spPr>
              <a:xfrm>
                <a:off x="857250" y="2762250"/>
                <a:ext cx="10477500" cy="1381125"/>
              </a:xfrm>
              <a:prstGeom prst="rect">
                <a:avLst/>
              </a:prstGeom>
              <a:blipFill>
                <a:blip r:embed="rId3"/>
                <a:stretch>
                  <a:fillRect/>
                </a:stretch>
              </a:blipFill>
              <a:ln w="0">
                <a:noFill/>
              </a:ln>
            </p:spPr>
            <p:txBody>
              <a:bodyPr/>
              <a:lstStyle/>
              <a:p>
                <a:r>
                  <a:rPr lang="en-GB">
                    <a:noFill/>
                  </a:rPr>
                  <a:t> </a:t>
                </a:r>
              </a:p>
            </p:txBody>
          </p:sp>
        </mc:Fallback>
      </mc:AlternateContent>
      <p:sp>
        <p:nvSpPr>
          <p:cNvPr id="7" name="text-6">
            <a:extLst>
              <a:ext uri="{FF2B5EF4-FFF2-40B4-BE49-F238E27FC236}">
                <a16:creationId xmlns:a16="http://schemas.microsoft.com/office/drawing/2014/main" id="{64F83C4E-69C7-4ED4-BD9D-396D85761357}"/>
              </a:ext>
            </a:extLst>
          </p:cNvPr>
          <p:cNvSpPr>
            <a:spLocks noGrp="1"/>
          </p:cNvSpPr>
          <p:nvPr/>
        </p:nvSpPr>
        <p:spPr>
          <a:xfrm>
            <a:off x="857250" y="4505325"/>
            <a:ext cx="10477500" cy="1057275"/>
          </a:xfrm>
          <a:prstGeom prst="rect">
            <a:avLst/>
          </a:prstGeom>
          <a:noFill/>
          <a:ln w="0">
            <a:noFill/>
          </a:ln>
        </p:spPr>
        <p:txBody>
          <a:bodyPr wrap="square" lIns="0" tIns="0" rIns="0" bIns="0" anchor="t">
            <a:noAutofit/>
          </a:bodyPr>
          <a:lstStyle>
            <a:lvl1pPr>
              <a:buNone/>
              <a:defRPr sz="2175" b="0">
                <a:solidFill>
                  <a:srgbClr val="17365D"/>
                </a:solidFill>
                <a:latin typeface="Aptos"/>
                <a:ea typeface="Aptos"/>
                <a:cs typeface="Aptos"/>
              </a:defRPr>
            </a:lvl1pPr>
            <a:lvl2pPr>
              <a:buNone/>
              <a:defRPr sz="2175" b="0">
                <a:solidFill>
                  <a:srgbClr val="17365D"/>
                </a:solidFill>
                <a:latin typeface="Aptos"/>
                <a:ea typeface="Aptos"/>
                <a:cs typeface="Aptos"/>
              </a:defRPr>
            </a:lvl2pPr>
            <a:lvl3pPr>
              <a:buNone/>
              <a:defRPr sz="2175" b="0">
                <a:solidFill>
                  <a:srgbClr val="17365D"/>
                </a:solidFill>
                <a:latin typeface="Aptos"/>
                <a:ea typeface="Aptos"/>
                <a:cs typeface="Aptos"/>
              </a:defRPr>
            </a:lvl3pPr>
            <a:lvl4pPr>
              <a:buNone/>
              <a:defRPr sz="2175" b="0">
                <a:solidFill>
                  <a:srgbClr val="17365D"/>
                </a:solidFill>
                <a:latin typeface="Aptos"/>
                <a:ea typeface="Aptos"/>
                <a:cs typeface="Aptos"/>
              </a:defRPr>
            </a:lvl4pPr>
            <a:lvl5pPr>
              <a:buNone/>
              <a:defRPr sz="2175" b="0">
                <a:solidFill>
                  <a:srgbClr val="17365D"/>
                </a:solidFill>
                <a:latin typeface="Aptos"/>
                <a:ea typeface="Aptos"/>
                <a:cs typeface="Aptos"/>
              </a:defRPr>
            </a:lvl5pPr>
            <a:lvl6pPr>
              <a:buNone/>
              <a:defRPr sz="2175" b="0">
                <a:solidFill>
                  <a:srgbClr val="17365D"/>
                </a:solidFill>
                <a:latin typeface="Aptos"/>
                <a:ea typeface="Aptos"/>
                <a:cs typeface="Aptos"/>
              </a:defRPr>
            </a:lvl6pPr>
            <a:lvl7pPr>
              <a:buNone/>
              <a:defRPr sz="2175" b="0">
                <a:solidFill>
                  <a:srgbClr val="17365D"/>
                </a:solidFill>
                <a:latin typeface="Aptos"/>
                <a:ea typeface="Aptos"/>
                <a:cs typeface="Aptos"/>
              </a:defRPr>
            </a:lvl7pPr>
            <a:lvl8pPr>
              <a:buNone/>
              <a:defRPr sz="2175" b="0">
                <a:solidFill>
                  <a:srgbClr val="17365D"/>
                </a:solidFill>
                <a:latin typeface="Aptos"/>
                <a:ea typeface="Aptos"/>
                <a:cs typeface="Aptos"/>
              </a:defRPr>
            </a:lvl8pPr>
            <a:lvl9pPr>
              <a:buNone/>
              <a:defRPr sz="2175" b="0">
                <a:solidFill>
                  <a:srgbClr val="17365D"/>
                </a:solidFill>
                <a:latin typeface="Aptos"/>
                <a:ea typeface="Aptos"/>
                <a:cs typeface="Aptos"/>
              </a:defRPr>
            </a:lvl9pPr>
          </a:lstStyle>
          <a:p>
            <a:pPr>
              <a:buNone/>
              <a:defRPr sz="2175" b="0">
                <a:solidFill>
                  <a:srgbClr val="17365D"/>
                </a:solidFill>
                <a:latin typeface="Aptos"/>
                <a:ea typeface="Aptos"/>
                <a:cs typeface="Aptos"/>
              </a:defRPr>
            </a:pPr>
            <a:r>
              <a:rPr sz="2175" b="0">
                <a:solidFill>
                  <a:srgbClr val="17365D"/>
                </a:solidFill>
                <a:latin typeface="Aptos"/>
                <a:ea typeface="Aptos"/>
                <a:cs typeface="Aptos"/>
              </a:rPr>
              <a:t>The deviations from the sample mean sum to zero. Only N−1 can vary freely; the N−1 denominator corrects for estimating the mean.</a:t>
            </a:r>
          </a:p>
        </p:txBody>
      </p:sp>
      <p:sp>
        <p:nvSpPr>
          <p:cNvPr id="8" name="text-7">
            <a:extLst>
              <a:ext uri="{FF2B5EF4-FFF2-40B4-BE49-F238E27FC236}">
                <a16:creationId xmlns:a16="http://schemas.microsoft.com/office/drawing/2014/main" id="{3457273F-D5AA-4984-8109-461BB8FC0C24}"/>
              </a:ext>
            </a:extLst>
          </p:cNvPr>
          <p:cNvSpPr>
            <a:spLocks noGrp="1"/>
          </p:cNvSpPr>
          <p:nvPr/>
        </p:nvSpPr>
        <p:spPr>
          <a:xfrm>
            <a:off x="857250" y="5943600"/>
            <a:ext cx="10477500" cy="352425"/>
          </a:xfrm>
          <a:prstGeom prst="rect">
            <a:avLst/>
          </a:prstGeom>
          <a:noFill/>
          <a:ln w="0">
            <a:noFill/>
          </a:ln>
        </p:spPr>
        <p:txBody>
          <a:bodyPr wrap="square" lIns="0" tIns="0" rIns="0" bIns="0" anchor="t">
            <a:noAutofit/>
          </a:bodyPr>
          <a:lstStyle>
            <a:lvl1pPr>
              <a:buNone/>
              <a:defRPr sz="1950" b="0">
                <a:solidFill>
                  <a:srgbClr val="2D75A3"/>
                </a:solidFill>
                <a:latin typeface="Aptos"/>
                <a:ea typeface="Aptos"/>
                <a:cs typeface="Aptos"/>
              </a:defRPr>
            </a:lvl1pPr>
            <a:lvl2pPr>
              <a:buNone/>
              <a:defRPr sz="1950" b="0">
                <a:solidFill>
                  <a:srgbClr val="2D75A3"/>
                </a:solidFill>
                <a:latin typeface="Aptos"/>
                <a:ea typeface="Aptos"/>
                <a:cs typeface="Aptos"/>
              </a:defRPr>
            </a:lvl2pPr>
            <a:lvl3pPr>
              <a:buNone/>
              <a:defRPr sz="1950" b="0">
                <a:solidFill>
                  <a:srgbClr val="2D75A3"/>
                </a:solidFill>
                <a:latin typeface="Aptos"/>
                <a:ea typeface="Aptos"/>
                <a:cs typeface="Aptos"/>
              </a:defRPr>
            </a:lvl3pPr>
            <a:lvl4pPr>
              <a:buNone/>
              <a:defRPr sz="1950" b="0">
                <a:solidFill>
                  <a:srgbClr val="2D75A3"/>
                </a:solidFill>
                <a:latin typeface="Aptos"/>
                <a:ea typeface="Aptos"/>
                <a:cs typeface="Aptos"/>
              </a:defRPr>
            </a:lvl4pPr>
            <a:lvl5pPr>
              <a:buNone/>
              <a:defRPr sz="1950" b="0">
                <a:solidFill>
                  <a:srgbClr val="2D75A3"/>
                </a:solidFill>
                <a:latin typeface="Aptos"/>
                <a:ea typeface="Aptos"/>
                <a:cs typeface="Aptos"/>
              </a:defRPr>
            </a:lvl5pPr>
            <a:lvl6pPr>
              <a:buNone/>
              <a:defRPr sz="1950" b="0">
                <a:solidFill>
                  <a:srgbClr val="2D75A3"/>
                </a:solidFill>
                <a:latin typeface="Aptos"/>
                <a:ea typeface="Aptos"/>
                <a:cs typeface="Aptos"/>
              </a:defRPr>
            </a:lvl6pPr>
            <a:lvl7pPr>
              <a:buNone/>
              <a:defRPr sz="1950" b="0">
                <a:solidFill>
                  <a:srgbClr val="2D75A3"/>
                </a:solidFill>
                <a:latin typeface="Aptos"/>
                <a:ea typeface="Aptos"/>
                <a:cs typeface="Aptos"/>
              </a:defRPr>
            </a:lvl7pPr>
            <a:lvl8pPr>
              <a:buNone/>
              <a:defRPr sz="1950" b="0">
                <a:solidFill>
                  <a:srgbClr val="2D75A3"/>
                </a:solidFill>
                <a:latin typeface="Aptos"/>
                <a:ea typeface="Aptos"/>
                <a:cs typeface="Aptos"/>
              </a:defRPr>
            </a:lvl8pPr>
            <a:lvl9pPr>
              <a:buNone/>
              <a:defRPr sz="1950" b="0">
                <a:solidFill>
                  <a:srgbClr val="2D75A3"/>
                </a:solidFill>
                <a:latin typeface="Aptos"/>
                <a:ea typeface="Aptos"/>
                <a:cs typeface="Aptos"/>
              </a:defRPr>
            </a:lvl9pPr>
          </a:lstStyle>
          <a:p>
            <a:pPr>
              <a:buNone/>
              <a:defRPr sz="1950" b="0">
                <a:solidFill>
                  <a:srgbClr val="2D75A3"/>
                </a:solidFill>
                <a:latin typeface="Aptos"/>
                <a:ea typeface="Aptos"/>
                <a:cs typeface="Aptos"/>
              </a:defRPr>
            </a:pPr>
            <a:r>
              <a:rPr sz="1950" b="0">
                <a:solidFill>
                  <a:srgbClr val="2D75A3"/>
                </a:solidFill>
                <a:latin typeface="Aptos"/>
                <a:ea typeface="Aptos"/>
                <a:cs typeface="Aptos"/>
              </a:rPr>
              <a:t>Python: outputs.std(ddof=1) calculates sᵧ.</a:t>
            </a:r>
          </a:p>
        </p:txBody>
      </p:sp>
    </p:spTree>
    <p:extLst>
      <p:ext uri="{BB962C8B-B14F-4D97-AF65-F5344CB8AC3E}">
        <p14:creationId xmlns:p14="http://schemas.microsoft.com/office/powerpoint/2010/main" val="15029012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814747E7-76B5-4AAC-B291-2F1A03E1412A}"/>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Estimating the Monte Carlo standard error</a:t>
            </a:r>
          </a:p>
        </p:txBody>
      </p:sp>
      <p:sp>
        <p:nvSpPr>
          <p:cNvPr id="2" name="Straight Connector 1">
            <a:extLst>
              <a:ext uri="{FF2B5EF4-FFF2-40B4-BE49-F238E27FC236}">
                <a16:creationId xmlns:a16="http://schemas.microsoft.com/office/drawing/2014/main" id="{4CDB1016-7204-4043-A594-94488BFD324A}"/>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C0A3DD80-D8B2-4DCE-BF50-BEF012A0FBF9}"/>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9D13A512-5968-4B33-AD27-702F0D733B0B}"/>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28</a:t>
            </a:r>
          </a:p>
        </p:txBody>
      </p:sp>
      <p:sp>
        <p:nvSpPr>
          <p:cNvPr id="5" name="text-4">
            <a:extLst>
              <a:ext uri="{FF2B5EF4-FFF2-40B4-BE49-F238E27FC236}">
                <a16:creationId xmlns:a16="http://schemas.microsoft.com/office/drawing/2014/main" id="{C51D472C-47C8-44F1-8D01-62D7807B07CF}"/>
              </a:ext>
            </a:extLst>
          </p:cNvPr>
          <p:cNvSpPr>
            <a:spLocks noGrp="1"/>
          </p:cNvSpPr>
          <p:nvPr/>
        </p:nvSpPr>
        <p:spPr>
          <a:xfrm>
            <a:off x="857250" y="1685925"/>
            <a:ext cx="10477500" cy="666750"/>
          </a:xfrm>
          <a:prstGeom prst="rect">
            <a:avLst/>
          </a:prstGeom>
          <a:noFill/>
          <a:ln w="0">
            <a:noFill/>
          </a:ln>
        </p:spPr>
        <p:txBody>
          <a:bodyPr wrap="square" lIns="0" tIns="0" rIns="0" bIns="0" anchor="t">
            <a:noAutofit/>
          </a:bodyPr>
          <a:lstStyle>
            <a:lvl1pPr>
              <a:buNone/>
              <a:defRPr sz="2325" b="0">
                <a:solidFill>
                  <a:srgbClr val="17365D"/>
                </a:solidFill>
                <a:latin typeface="Aptos"/>
                <a:ea typeface="Aptos"/>
                <a:cs typeface="Aptos"/>
              </a:defRPr>
            </a:lvl1pPr>
            <a:lvl2pPr>
              <a:buNone/>
              <a:defRPr sz="2325" b="0">
                <a:solidFill>
                  <a:srgbClr val="17365D"/>
                </a:solidFill>
                <a:latin typeface="Aptos"/>
                <a:ea typeface="Aptos"/>
                <a:cs typeface="Aptos"/>
              </a:defRPr>
            </a:lvl2pPr>
            <a:lvl3pPr>
              <a:buNone/>
              <a:defRPr sz="2325" b="0">
                <a:solidFill>
                  <a:srgbClr val="17365D"/>
                </a:solidFill>
                <a:latin typeface="Aptos"/>
                <a:ea typeface="Aptos"/>
                <a:cs typeface="Aptos"/>
              </a:defRPr>
            </a:lvl3pPr>
            <a:lvl4pPr>
              <a:buNone/>
              <a:defRPr sz="2325" b="0">
                <a:solidFill>
                  <a:srgbClr val="17365D"/>
                </a:solidFill>
                <a:latin typeface="Aptos"/>
                <a:ea typeface="Aptos"/>
                <a:cs typeface="Aptos"/>
              </a:defRPr>
            </a:lvl4pPr>
            <a:lvl5pPr>
              <a:buNone/>
              <a:defRPr sz="2325" b="0">
                <a:solidFill>
                  <a:srgbClr val="17365D"/>
                </a:solidFill>
                <a:latin typeface="Aptos"/>
                <a:ea typeface="Aptos"/>
                <a:cs typeface="Aptos"/>
              </a:defRPr>
            </a:lvl5pPr>
            <a:lvl6pPr>
              <a:buNone/>
              <a:defRPr sz="2325" b="0">
                <a:solidFill>
                  <a:srgbClr val="17365D"/>
                </a:solidFill>
                <a:latin typeface="Aptos"/>
                <a:ea typeface="Aptos"/>
                <a:cs typeface="Aptos"/>
              </a:defRPr>
            </a:lvl6pPr>
            <a:lvl7pPr>
              <a:buNone/>
              <a:defRPr sz="2325" b="0">
                <a:solidFill>
                  <a:srgbClr val="17365D"/>
                </a:solidFill>
                <a:latin typeface="Aptos"/>
                <a:ea typeface="Aptos"/>
                <a:cs typeface="Aptos"/>
              </a:defRPr>
            </a:lvl7pPr>
            <a:lvl8pPr>
              <a:buNone/>
              <a:defRPr sz="2325" b="0">
                <a:solidFill>
                  <a:srgbClr val="17365D"/>
                </a:solidFill>
                <a:latin typeface="Aptos"/>
                <a:ea typeface="Aptos"/>
                <a:cs typeface="Aptos"/>
              </a:defRPr>
            </a:lvl8pPr>
            <a:lvl9pPr>
              <a:buNone/>
              <a:defRPr sz="2325" b="0">
                <a:solidFill>
                  <a:srgbClr val="17365D"/>
                </a:solidFill>
                <a:latin typeface="Aptos"/>
                <a:ea typeface="Aptos"/>
                <a:cs typeface="Aptos"/>
              </a:defRPr>
            </a:lvl9pPr>
          </a:lstStyle>
          <a:p>
            <a:pPr>
              <a:buNone/>
              <a:defRPr sz="2325" b="0">
                <a:solidFill>
                  <a:srgbClr val="17365D"/>
                </a:solidFill>
                <a:latin typeface="Aptos"/>
                <a:ea typeface="Aptos"/>
                <a:cs typeface="Aptos"/>
              </a:defRPr>
            </a:pPr>
            <a:r>
              <a:rPr sz="2325" b="0">
                <a:solidFill>
                  <a:srgbClr val="17365D"/>
                </a:solidFill>
                <a:latin typeface="Aptos"/>
                <a:ea typeface="Aptos"/>
                <a:cs typeface="Aptos"/>
              </a:rPr>
              <a:t>Estimate the output SD from the run, then divide by √N.</a:t>
            </a:r>
          </a:p>
        </p:txBody>
      </p:sp>
      <mc:AlternateContent xmlns:mc="http://schemas.openxmlformats.org/markup-compatibility/2006">
        <mc:Choice xmlns:a14="http://schemas.microsoft.com/office/drawing/2010/main" Requires="a14">
          <p:sp>
            <p:nvSpPr>
              <p:cNvPr id="6" name="EQ_027">
                <a:extLst>
                  <a:ext uri="{FF2B5EF4-FFF2-40B4-BE49-F238E27FC236}">
                    <a16:creationId xmlns:a16="http://schemas.microsoft.com/office/drawing/2014/main" id="{DCEDB7CA-F20E-4A8A-B3A2-1FB7216D7C8F}"/>
                  </a:ext>
                </a:extLst>
              </p:cNvPr>
              <p:cNvSpPr>
                <a:spLocks noGrp="1"/>
              </p:cNvSpPr>
              <p:nvPr/>
            </p:nvSpPr>
            <p:spPr>
              <a:xfrm>
                <a:off x="857250" y="2571750"/>
                <a:ext cx="10477500" cy="1143000"/>
              </a:xfrm>
              <a:prstGeom prst="rect">
                <a:avLst/>
              </a:prstGeom>
              <a:noFill/>
              <a:ln w="0">
                <a:noFill/>
              </a:ln>
            </p:spPr>
            <p:txBody>
              <a:bodyPr wrap="none" lIns="0" tIns="0" rIns="0" bIns="0" anchor="ctr">
                <a:noAutofit/>
              </a:bodyPr>
              <a:lstStyle>
                <a:lvl1pPr algn="l">
                  <a:buNone/>
                  <a:defRPr sz="3600">
                    <a:solidFill>
                      <a:srgbClr val="17365D"/>
                    </a:solidFill>
                    <a:latin typeface="Cambria Math"/>
                    <a:ea typeface="Cambria Math"/>
                    <a:cs typeface="Cambria Math"/>
                  </a:defRPr>
                </a:lvl1pPr>
                <a:lvl2pPr algn="l">
                  <a:buNone/>
                  <a:defRPr sz="3600">
                    <a:solidFill>
                      <a:srgbClr val="17365D"/>
                    </a:solidFill>
                    <a:latin typeface="Cambria Math"/>
                    <a:ea typeface="Cambria Math"/>
                    <a:cs typeface="Cambria Math"/>
                  </a:defRPr>
                </a:lvl2pPr>
                <a:lvl3pPr algn="l">
                  <a:buNone/>
                  <a:defRPr sz="3600">
                    <a:solidFill>
                      <a:srgbClr val="17365D"/>
                    </a:solidFill>
                    <a:latin typeface="Cambria Math"/>
                    <a:ea typeface="Cambria Math"/>
                    <a:cs typeface="Cambria Math"/>
                  </a:defRPr>
                </a:lvl3pPr>
                <a:lvl4pPr algn="l">
                  <a:buNone/>
                  <a:defRPr sz="3600">
                    <a:solidFill>
                      <a:srgbClr val="17365D"/>
                    </a:solidFill>
                    <a:latin typeface="Cambria Math"/>
                    <a:ea typeface="Cambria Math"/>
                    <a:cs typeface="Cambria Math"/>
                  </a:defRPr>
                </a:lvl4pPr>
                <a:lvl5pPr algn="l">
                  <a:buNone/>
                  <a:defRPr sz="3600">
                    <a:solidFill>
                      <a:srgbClr val="17365D"/>
                    </a:solidFill>
                    <a:latin typeface="Cambria Math"/>
                    <a:ea typeface="Cambria Math"/>
                    <a:cs typeface="Cambria Math"/>
                  </a:defRPr>
                </a:lvl5pPr>
                <a:lvl6pPr algn="l">
                  <a:buNone/>
                  <a:defRPr sz="3600">
                    <a:solidFill>
                      <a:srgbClr val="17365D"/>
                    </a:solidFill>
                    <a:latin typeface="Cambria Math"/>
                    <a:ea typeface="Cambria Math"/>
                    <a:cs typeface="Cambria Math"/>
                  </a:defRPr>
                </a:lvl6pPr>
                <a:lvl7pPr algn="l">
                  <a:buNone/>
                  <a:defRPr sz="3600">
                    <a:solidFill>
                      <a:srgbClr val="17365D"/>
                    </a:solidFill>
                    <a:latin typeface="Cambria Math"/>
                    <a:ea typeface="Cambria Math"/>
                    <a:cs typeface="Cambria Math"/>
                  </a:defRPr>
                </a:lvl7pPr>
                <a:lvl8pPr algn="l">
                  <a:buNone/>
                  <a:defRPr sz="3600">
                    <a:solidFill>
                      <a:srgbClr val="17365D"/>
                    </a:solidFill>
                    <a:latin typeface="Cambria Math"/>
                    <a:ea typeface="Cambria Math"/>
                    <a:cs typeface="Cambria Math"/>
                  </a:defRPr>
                </a:lvl8pPr>
                <a:lvl9pPr algn="l">
                  <a:buNone/>
                  <a:defRPr sz="3600">
                    <a:solidFill>
                      <a:srgbClr val="17365D"/>
                    </a:solidFill>
                    <a:latin typeface="Cambria Math"/>
                    <a:ea typeface="Cambria Math"/>
                    <a:cs typeface="Cambria Math"/>
                  </a:defRPr>
                </a:lvl9pPr>
              </a:lstStyle>
              <a:p>
                <a:pPr>
                  <a:buNone/>
                  <a:defRPr sz="3600">
                    <a:solidFill>
                      <a:srgbClr val="17365D"/>
                    </a:solidFill>
                  </a:defRPr>
                </a:pPr>
                <a14:m>
                  <m:oMathPara xmlns:m="http://schemas.openxmlformats.org/officeDocument/2006/math">
                    <m:oMath>
                      <m:acc>
                        <m:accPr>
                          <m:chr m:val="̂"/>
                          <m:ctrlPr>
                            <a:rPr>
                              <a:latin typeface="Cambria Math" panose="02040503050406030204" pitchFamily="18" charset="0"/>
                            </a:rPr>
                          </m:ctrlPr>
                        </m:accPr>
                        <m:e>
                          <m:r>
                            <a:rPr>
                              <a:latin typeface="Cambria Math" panose="02040503050406030204" pitchFamily="18" charset="0"/>
                            </a:rPr>
                            <m:t>𝑆𝐸</m:t>
                          </m:r>
                        </m:e>
                      </m:acc>
                      <m:d>
                        <m:dPr>
                          <m:ctrlPr>
                            <a:rPr i="1">
                              <a:latin typeface="Cambria Math" panose="02040503050406030204" pitchFamily="18" charset="0"/>
                            </a:rPr>
                          </m:ctrlPr>
                        </m:dPr>
                        <m:e>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𝜃</m:t>
                                  </m:r>
                                </m:e>
                              </m:acc>
                            </m:e>
                            <m:sub>
                              <m:r>
                                <a:rPr>
                                  <a:latin typeface="Cambria Math" panose="02040503050406030204" pitchFamily="18" charset="0"/>
                                </a:rPr>
                                <m:t>𝑁</m:t>
                              </m:r>
                            </m:sub>
                          </m:sSub>
                        </m:e>
                      </m:d>
                      <m:r>
                        <a:rPr>
                          <a:latin typeface="Cambria Math" panose="02040503050406030204" pitchFamily="18" charset="0"/>
                        </a:rPr>
                        <m:t>=</m:t>
                      </m:r>
                      <m:f>
                        <m:fPr>
                          <m:ctrlPr>
                            <a:rPr i="1">
                              <a:latin typeface="Cambria Math" panose="02040503050406030204" pitchFamily="18" charset="0"/>
                            </a:rPr>
                          </m:ctrlPr>
                        </m:fPr>
                        <m:num>
                          <m:sSub>
                            <m:sSubPr>
                              <m:ctrlPr>
                                <a:rPr>
                                  <a:latin typeface="Cambria Math" panose="02040503050406030204" pitchFamily="18" charset="0"/>
                                </a:rPr>
                              </m:ctrlPr>
                            </m:sSubPr>
                            <m:e>
                              <m:r>
                                <a:rPr>
                                  <a:latin typeface="Cambria Math" panose="02040503050406030204" pitchFamily="18" charset="0"/>
                                </a:rPr>
                                <m:t>𝑠</m:t>
                              </m:r>
                            </m:e>
                            <m:sub>
                              <m:r>
                                <a:rPr>
                                  <a:latin typeface="Cambria Math" panose="02040503050406030204" pitchFamily="18" charset="0"/>
                                </a:rPr>
                                <m:t>𝑌</m:t>
                              </m:r>
                            </m:sub>
                          </m:sSub>
                        </m:num>
                        <m:den>
                          <m:rad>
                            <m:radPr>
                              <m:ctrlPr>
                                <a:rPr>
                                  <a:latin typeface="Cambria Math" panose="02040503050406030204" pitchFamily="18" charset="0"/>
                                </a:rPr>
                              </m:ctrlPr>
                            </m:radPr>
                            <m:e>
                              <m:r>
                                <a:rPr>
                                  <a:latin typeface="Cambria Math" panose="02040503050406030204" pitchFamily="18" charset="0"/>
                                </a:rPr>
                                <m:t>𝑁</m:t>
                              </m:r>
                            </m:e>
                          </m:rad>
                        </m:den>
                      </m:f>
                    </m:oMath>
                  </m:oMathPara>
                </a14:m>
                <a:endParaRPr/>
              </a:p>
            </p:txBody>
          </p:sp>
        </mc:Choice>
        <mc:Fallback>
          <p:sp>
            <p:nvSpPr>
              <p:cNvPr id="6" name="EQ_027">
                <a:extLst>
                  <a:ext uri="{FF2B5EF4-FFF2-40B4-BE49-F238E27FC236}">
                    <a16:creationId xmlns:a16="http://schemas.microsoft.com/office/drawing/2014/main" id="{DCEDB7CA-F20E-4A8A-B3A2-1FB7216D7C8F}"/>
                  </a:ext>
                </a:extLst>
              </p:cNvPr>
              <p:cNvSpPr>
                <a:spLocks noGrp="1" noRot="1" noChangeAspect="1" noMove="1" noResize="1" noEditPoints="1" noAdjustHandles="1" noChangeArrowheads="1" noChangeShapeType="1" noTextEdit="1"/>
              </p:cNvSpPr>
              <p:nvPr/>
            </p:nvSpPr>
            <p:spPr>
              <a:xfrm>
                <a:off x="857250" y="2571750"/>
                <a:ext cx="10477500" cy="1143000"/>
              </a:xfrm>
              <a:prstGeom prst="rect">
                <a:avLst/>
              </a:prstGeom>
              <a:blipFill>
                <a:blip r:embed="rId3"/>
                <a:stretch>
                  <a:fillRect/>
                </a:stretch>
              </a:blipFill>
              <a:ln w="0">
                <a:noFill/>
              </a:ln>
            </p:spPr>
            <p:txBody>
              <a:bodyPr/>
              <a:lstStyle/>
              <a:p>
                <a:r>
                  <a:rPr lang="en-GB">
                    <a:noFill/>
                  </a:rPr>
                  <a:t> </a:t>
                </a:r>
              </a:p>
            </p:txBody>
          </p:sp>
        </mc:Fallback>
      </mc:AlternateContent>
      <p:sp>
        <p:nvSpPr>
          <p:cNvPr id="7" name="text-6">
            <a:extLst>
              <a:ext uri="{FF2B5EF4-FFF2-40B4-BE49-F238E27FC236}">
                <a16:creationId xmlns:a16="http://schemas.microsoft.com/office/drawing/2014/main" id="{6E80FDC7-2C6B-4F37-9CB5-18694B64001B}"/>
              </a:ext>
            </a:extLst>
          </p:cNvPr>
          <p:cNvSpPr>
            <a:spLocks noGrp="1"/>
          </p:cNvSpPr>
          <p:nvPr/>
        </p:nvSpPr>
        <p:spPr>
          <a:xfrm>
            <a:off x="857250" y="4276725"/>
            <a:ext cx="10477500" cy="647700"/>
          </a:xfrm>
          <a:prstGeom prst="rect">
            <a:avLst/>
          </a:prstGeom>
          <a:noFill/>
          <a:ln w="0">
            <a:noFill/>
          </a:ln>
        </p:spPr>
        <p:txBody>
          <a:bodyPr wrap="square" lIns="0" tIns="0" rIns="0" bIns="0" anchor="t">
            <a:noAutofit/>
          </a:bodyPr>
          <a:lstStyle>
            <a:lvl1pPr>
              <a:buNone/>
              <a:defRPr sz="2175" b="0">
                <a:solidFill>
                  <a:srgbClr val="17365D"/>
                </a:solidFill>
                <a:latin typeface="Aptos"/>
                <a:ea typeface="Aptos"/>
                <a:cs typeface="Aptos"/>
              </a:defRPr>
            </a:lvl1pPr>
            <a:lvl2pPr>
              <a:buNone/>
              <a:defRPr sz="2175" b="0">
                <a:solidFill>
                  <a:srgbClr val="17365D"/>
                </a:solidFill>
                <a:latin typeface="Aptos"/>
                <a:ea typeface="Aptos"/>
                <a:cs typeface="Aptos"/>
              </a:defRPr>
            </a:lvl2pPr>
            <a:lvl3pPr>
              <a:buNone/>
              <a:defRPr sz="2175" b="0">
                <a:solidFill>
                  <a:srgbClr val="17365D"/>
                </a:solidFill>
                <a:latin typeface="Aptos"/>
                <a:ea typeface="Aptos"/>
                <a:cs typeface="Aptos"/>
              </a:defRPr>
            </a:lvl3pPr>
            <a:lvl4pPr>
              <a:buNone/>
              <a:defRPr sz="2175" b="0">
                <a:solidFill>
                  <a:srgbClr val="17365D"/>
                </a:solidFill>
                <a:latin typeface="Aptos"/>
                <a:ea typeface="Aptos"/>
                <a:cs typeface="Aptos"/>
              </a:defRPr>
            </a:lvl4pPr>
            <a:lvl5pPr>
              <a:buNone/>
              <a:defRPr sz="2175" b="0">
                <a:solidFill>
                  <a:srgbClr val="17365D"/>
                </a:solidFill>
                <a:latin typeface="Aptos"/>
                <a:ea typeface="Aptos"/>
                <a:cs typeface="Aptos"/>
              </a:defRPr>
            </a:lvl5pPr>
            <a:lvl6pPr>
              <a:buNone/>
              <a:defRPr sz="2175" b="0">
                <a:solidFill>
                  <a:srgbClr val="17365D"/>
                </a:solidFill>
                <a:latin typeface="Aptos"/>
                <a:ea typeface="Aptos"/>
                <a:cs typeface="Aptos"/>
              </a:defRPr>
            </a:lvl6pPr>
            <a:lvl7pPr>
              <a:buNone/>
              <a:defRPr sz="2175" b="0">
                <a:solidFill>
                  <a:srgbClr val="17365D"/>
                </a:solidFill>
                <a:latin typeface="Aptos"/>
                <a:ea typeface="Aptos"/>
                <a:cs typeface="Aptos"/>
              </a:defRPr>
            </a:lvl7pPr>
            <a:lvl8pPr>
              <a:buNone/>
              <a:defRPr sz="2175" b="0">
                <a:solidFill>
                  <a:srgbClr val="17365D"/>
                </a:solidFill>
                <a:latin typeface="Aptos"/>
                <a:ea typeface="Aptos"/>
                <a:cs typeface="Aptos"/>
              </a:defRPr>
            </a:lvl8pPr>
            <a:lvl9pPr>
              <a:buNone/>
              <a:defRPr sz="2175" b="0">
                <a:solidFill>
                  <a:srgbClr val="17365D"/>
                </a:solidFill>
                <a:latin typeface="Aptos"/>
                <a:ea typeface="Aptos"/>
                <a:cs typeface="Aptos"/>
              </a:defRPr>
            </a:lvl9pPr>
          </a:lstStyle>
          <a:p>
            <a:pPr>
              <a:buNone/>
              <a:defRPr sz="2175" b="0">
                <a:solidFill>
                  <a:srgbClr val="17365D"/>
                </a:solidFill>
                <a:latin typeface="Aptos"/>
                <a:ea typeface="Aptos"/>
                <a:cs typeface="Aptos"/>
              </a:defRPr>
            </a:pPr>
            <a:r>
              <a:rPr sz="2175" b="0">
                <a:solidFill>
                  <a:srgbClr val="17365D"/>
                </a:solidFill>
                <a:latin typeface="Aptos"/>
                <a:ea typeface="Aptos"/>
                <a:cs typeface="Aptos"/>
              </a:rPr>
              <a:t>For 0/1 outputs, replace the unknown p by its estimate:</a:t>
            </a:r>
          </a:p>
        </p:txBody>
      </p:sp>
      <mc:AlternateContent xmlns:mc="http://schemas.openxmlformats.org/markup-compatibility/2006">
        <mc:Choice xmlns:a14="http://schemas.microsoft.com/office/drawing/2010/main" Requires="a14">
          <p:sp>
            <p:nvSpPr>
              <p:cNvPr id="8" name="EQ_028">
                <a:extLst>
                  <a:ext uri="{FF2B5EF4-FFF2-40B4-BE49-F238E27FC236}">
                    <a16:creationId xmlns:a16="http://schemas.microsoft.com/office/drawing/2014/main" id="{F96B26EF-B665-4E42-AD43-E502156D0FFB}"/>
                  </a:ext>
                </a:extLst>
              </p:cNvPr>
              <p:cNvSpPr>
                <a:spLocks noGrp="1"/>
              </p:cNvSpPr>
              <p:nvPr/>
            </p:nvSpPr>
            <p:spPr>
              <a:xfrm>
                <a:off x="857250" y="5067300"/>
                <a:ext cx="10477500" cy="1143000"/>
              </a:xfrm>
              <a:prstGeom prst="rect">
                <a:avLst/>
              </a:prstGeom>
              <a:noFill/>
              <a:ln w="0">
                <a:noFill/>
              </a:ln>
            </p:spPr>
            <p:txBody>
              <a:bodyPr wrap="none" lIns="0" tIns="0" rIns="0" bIns="0" anchor="ctr">
                <a:noAutofit/>
              </a:bodyPr>
              <a:lstStyle>
                <a:lvl1pPr algn="l">
                  <a:buNone/>
                  <a:defRPr sz="3200">
                    <a:solidFill>
                      <a:srgbClr val="17365D"/>
                    </a:solidFill>
                    <a:latin typeface="Cambria Math"/>
                    <a:ea typeface="Cambria Math"/>
                    <a:cs typeface="Cambria Math"/>
                  </a:defRPr>
                </a:lvl1pPr>
                <a:lvl2pPr algn="l">
                  <a:buNone/>
                  <a:defRPr sz="3200">
                    <a:solidFill>
                      <a:srgbClr val="17365D"/>
                    </a:solidFill>
                    <a:latin typeface="Cambria Math"/>
                    <a:ea typeface="Cambria Math"/>
                    <a:cs typeface="Cambria Math"/>
                  </a:defRPr>
                </a:lvl2pPr>
                <a:lvl3pPr algn="l">
                  <a:buNone/>
                  <a:defRPr sz="3200">
                    <a:solidFill>
                      <a:srgbClr val="17365D"/>
                    </a:solidFill>
                    <a:latin typeface="Cambria Math"/>
                    <a:ea typeface="Cambria Math"/>
                    <a:cs typeface="Cambria Math"/>
                  </a:defRPr>
                </a:lvl3pPr>
                <a:lvl4pPr algn="l">
                  <a:buNone/>
                  <a:defRPr sz="3200">
                    <a:solidFill>
                      <a:srgbClr val="17365D"/>
                    </a:solidFill>
                    <a:latin typeface="Cambria Math"/>
                    <a:ea typeface="Cambria Math"/>
                    <a:cs typeface="Cambria Math"/>
                  </a:defRPr>
                </a:lvl4pPr>
                <a:lvl5pPr algn="l">
                  <a:buNone/>
                  <a:defRPr sz="3200">
                    <a:solidFill>
                      <a:srgbClr val="17365D"/>
                    </a:solidFill>
                    <a:latin typeface="Cambria Math"/>
                    <a:ea typeface="Cambria Math"/>
                    <a:cs typeface="Cambria Math"/>
                  </a:defRPr>
                </a:lvl5pPr>
                <a:lvl6pPr algn="l">
                  <a:buNone/>
                  <a:defRPr sz="3200">
                    <a:solidFill>
                      <a:srgbClr val="17365D"/>
                    </a:solidFill>
                    <a:latin typeface="Cambria Math"/>
                    <a:ea typeface="Cambria Math"/>
                    <a:cs typeface="Cambria Math"/>
                  </a:defRPr>
                </a:lvl6pPr>
                <a:lvl7pPr algn="l">
                  <a:buNone/>
                  <a:defRPr sz="3200">
                    <a:solidFill>
                      <a:srgbClr val="17365D"/>
                    </a:solidFill>
                    <a:latin typeface="Cambria Math"/>
                    <a:ea typeface="Cambria Math"/>
                    <a:cs typeface="Cambria Math"/>
                  </a:defRPr>
                </a:lvl7pPr>
                <a:lvl8pPr algn="l">
                  <a:buNone/>
                  <a:defRPr sz="3200">
                    <a:solidFill>
                      <a:srgbClr val="17365D"/>
                    </a:solidFill>
                    <a:latin typeface="Cambria Math"/>
                    <a:ea typeface="Cambria Math"/>
                    <a:cs typeface="Cambria Math"/>
                  </a:defRPr>
                </a:lvl8pPr>
                <a:lvl9pPr algn="l">
                  <a:buNone/>
                  <a:defRPr sz="3200">
                    <a:solidFill>
                      <a:srgbClr val="17365D"/>
                    </a:solidFill>
                    <a:latin typeface="Cambria Math"/>
                    <a:ea typeface="Cambria Math"/>
                    <a:cs typeface="Cambria Math"/>
                  </a:defRPr>
                </a:lvl9pPr>
              </a:lstStyle>
              <a:p>
                <a:pPr>
                  <a:buNone/>
                  <a:defRPr sz="3200">
                    <a:solidFill>
                      <a:srgbClr val="17365D"/>
                    </a:solidFill>
                  </a:defRPr>
                </a:pPr>
                <a14:m>
                  <m:oMathPara xmlns:m="http://schemas.openxmlformats.org/officeDocument/2006/math">
                    <m:oMath>
                      <m:acc>
                        <m:accPr>
                          <m:chr m:val="̂"/>
                          <m:ctrlPr>
                            <a:rPr>
                              <a:latin typeface="Cambria Math" panose="02040503050406030204" pitchFamily="18" charset="0"/>
                            </a:rPr>
                          </m:ctrlPr>
                        </m:accPr>
                        <m:e>
                          <m:r>
                            <a:rPr>
                              <a:latin typeface="Cambria Math" panose="02040503050406030204" pitchFamily="18" charset="0"/>
                            </a:rPr>
                            <m:t>𝑆𝐸</m:t>
                          </m:r>
                        </m:e>
                      </m:acc>
                      <m:d>
                        <m:dPr>
                          <m:ctrlPr>
                            <a:rPr i="1">
                              <a:latin typeface="Cambria Math" panose="02040503050406030204" pitchFamily="18" charset="0"/>
                            </a:rPr>
                          </m:ctrlPr>
                        </m:dPr>
                        <m:e>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𝑝</m:t>
                                  </m:r>
                                </m:e>
                              </m:acc>
                            </m:e>
                            <m:sub>
                              <m:r>
                                <a:rPr>
                                  <a:latin typeface="Cambria Math" panose="02040503050406030204" pitchFamily="18" charset="0"/>
                                </a:rPr>
                                <m:t>𝑁</m:t>
                              </m:r>
                            </m:sub>
                          </m:sSub>
                        </m:e>
                      </m:d>
                      <m:r>
                        <a:rPr>
                          <a:latin typeface="Cambria Math" panose="02040503050406030204" pitchFamily="18" charset="0"/>
                        </a:rPr>
                        <m:t>=</m:t>
                      </m:r>
                      <m:rad>
                        <m:radPr>
                          <m:ctrlPr>
                            <a:rPr i="1">
                              <a:latin typeface="Cambria Math" panose="02040503050406030204" pitchFamily="18" charset="0"/>
                            </a:rPr>
                          </m:ctrlPr>
                        </m:radPr>
                        <m:e>
                          <m:f>
                            <m:fPr>
                              <m:ctrlPr>
                                <a:rPr i="1">
                                  <a:latin typeface="Cambria Math" panose="02040503050406030204" pitchFamily="18" charset="0"/>
                                </a:rPr>
                              </m:ctrlPr>
                            </m:fPr>
                            <m:num>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𝑝</m:t>
                                      </m:r>
                                    </m:e>
                                  </m:acc>
                                </m:e>
                                <m:sub>
                                  <m:r>
                                    <a:rPr>
                                      <a:latin typeface="Cambria Math" panose="02040503050406030204" pitchFamily="18" charset="0"/>
                                    </a:rPr>
                                    <m:t>𝑁</m:t>
                                  </m:r>
                                </m:sub>
                              </m:sSub>
                              <m:d>
                                <m:dPr>
                                  <m:ctrlPr>
                                    <a:rPr>
                                      <a:latin typeface="Cambria Math" panose="02040503050406030204" pitchFamily="18" charset="0"/>
                                    </a:rPr>
                                  </m:ctrlPr>
                                </m:dPr>
                                <m:e>
                                  <m:r>
                                    <a:rPr>
                                      <a:latin typeface="Cambria Math" panose="02040503050406030204" pitchFamily="18" charset="0"/>
                                    </a:rPr>
                                    <m:t>1−</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𝑝</m:t>
                                          </m:r>
                                        </m:e>
                                      </m:acc>
                                    </m:e>
                                    <m:sub>
                                      <m:r>
                                        <a:rPr>
                                          <a:latin typeface="Cambria Math" panose="02040503050406030204" pitchFamily="18" charset="0"/>
                                        </a:rPr>
                                        <m:t>𝑁</m:t>
                                      </m:r>
                                    </m:sub>
                                  </m:sSub>
                                </m:e>
                              </m:d>
                            </m:num>
                            <m:den>
                              <m:r>
                                <a:rPr>
                                  <a:latin typeface="Cambria Math" panose="02040503050406030204" pitchFamily="18" charset="0"/>
                                </a:rPr>
                                <m:t>𝑁</m:t>
                              </m:r>
                            </m:den>
                          </m:f>
                        </m:e>
                      </m:rad>
                    </m:oMath>
                  </m:oMathPara>
                </a14:m>
                <a:endParaRPr/>
              </a:p>
            </p:txBody>
          </p:sp>
        </mc:Choice>
        <mc:Fallback>
          <p:sp>
            <p:nvSpPr>
              <p:cNvPr id="8" name="EQ_028">
                <a:extLst>
                  <a:ext uri="{FF2B5EF4-FFF2-40B4-BE49-F238E27FC236}">
                    <a16:creationId xmlns:a16="http://schemas.microsoft.com/office/drawing/2014/main" id="{F96B26EF-B665-4E42-AD43-E502156D0FFB}"/>
                  </a:ext>
                </a:extLst>
              </p:cNvPr>
              <p:cNvSpPr>
                <a:spLocks noGrp="1" noRot="1" noChangeAspect="1" noMove="1" noResize="1" noEditPoints="1" noAdjustHandles="1" noChangeArrowheads="1" noChangeShapeType="1" noTextEdit="1"/>
              </p:cNvSpPr>
              <p:nvPr/>
            </p:nvSpPr>
            <p:spPr>
              <a:xfrm>
                <a:off x="857250" y="5067300"/>
                <a:ext cx="10477500" cy="1143000"/>
              </a:xfrm>
              <a:prstGeom prst="rect">
                <a:avLst/>
              </a:prstGeom>
              <a:blipFill>
                <a:blip r:embed="rId4"/>
                <a:stretch>
                  <a:fillRect t="-5851" b="-13830"/>
                </a:stretch>
              </a:blipFill>
              <a:ln w="0">
                <a:noFill/>
              </a:ln>
            </p:spPr>
            <p:txBody>
              <a:bodyPr/>
              <a:lstStyle/>
              <a:p>
                <a:r>
                  <a:rPr lang="en-GB">
                    <a:noFill/>
                  </a:rPr>
                  <a:t> </a:t>
                </a:r>
              </a:p>
            </p:txBody>
          </p:sp>
        </mc:Fallback>
      </mc:AlternateContent>
      <p:sp>
        <p:nvSpPr>
          <p:cNvPr id="10" name="notebook-cue-slide-28">
            <a:extLst>
              <a:ext uri="{FF2B5EF4-FFF2-40B4-BE49-F238E27FC236}">
                <a16:creationId xmlns:a16="http://schemas.microsoft.com/office/drawing/2014/main" id="{71C9AE15-568D-4A0C-9053-5AB25F5B793B}"/>
              </a:ext>
            </a:extLst>
          </p:cNvPr>
          <p:cNvSpPr>
            <a:spLocks noGrp="1"/>
          </p:cNvSpPr>
          <p:nvPr/>
        </p:nvSpPr>
        <p:spPr>
          <a:xfrm>
            <a:off x="2952750" y="6429375"/>
            <a:ext cx="7620000" cy="295275"/>
          </a:xfrm>
          <a:prstGeom prst="rect">
            <a:avLst/>
          </a:prstGeom>
          <a:noFill/>
          <a:ln w="0">
            <a:noFill/>
          </a:ln>
        </p:spPr>
        <p:txBody>
          <a:bodyPr wrap="none" lIns="0" tIns="0" rIns="0" bIns="0" anchor="ctr">
            <a:noAutofit/>
          </a:bodyPr>
          <a:lstStyle>
            <a:defPPr algn="ctr">
              <a:defRPr sz="1650" b="1">
                <a:solidFill>
                  <a:srgbClr val="2F6F4E"/>
                </a:solidFill>
                <a:latin typeface="Aptos"/>
                <a:ea typeface="Aptos"/>
                <a:cs typeface="Aptos"/>
              </a:defRPr>
            </a:defPPr>
            <a:lvl1pPr algn="ctr">
              <a:defRPr sz="1650" b="1">
                <a:solidFill>
                  <a:srgbClr val="2F6F4E"/>
                </a:solidFill>
                <a:latin typeface="Aptos"/>
                <a:ea typeface="Aptos"/>
                <a:cs typeface="Aptos"/>
              </a:defRPr>
            </a:lvl1pPr>
            <a:lvl2pPr algn="ctr">
              <a:defRPr sz="1650" b="1">
                <a:solidFill>
                  <a:srgbClr val="2F6F4E"/>
                </a:solidFill>
                <a:latin typeface="Aptos"/>
                <a:ea typeface="Aptos"/>
                <a:cs typeface="Aptos"/>
              </a:defRPr>
            </a:lvl2pPr>
            <a:lvl3pPr algn="ctr">
              <a:defRPr sz="1650" b="1">
                <a:solidFill>
                  <a:srgbClr val="2F6F4E"/>
                </a:solidFill>
                <a:latin typeface="Aptos"/>
                <a:ea typeface="Aptos"/>
                <a:cs typeface="Aptos"/>
              </a:defRPr>
            </a:lvl3pPr>
            <a:lvl4pPr algn="ctr">
              <a:defRPr sz="1650" b="1">
                <a:solidFill>
                  <a:srgbClr val="2F6F4E"/>
                </a:solidFill>
                <a:latin typeface="Aptos"/>
                <a:ea typeface="Aptos"/>
                <a:cs typeface="Aptos"/>
              </a:defRPr>
            </a:lvl4pPr>
            <a:lvl5pPr algn="ctr">
              <a:defRPr sz="1650" b="1">
                <a:solidFill>
                  <a:srgbClr val="2F6F4E"/>
                </a:solidFill>
                <a:latin typeface="Aptos"/>
                <a:ea typeface="Aptos"/>
                <a:cs typeface="Aptos"/>
              </a:defRPr>
            </a:lvl5pPr>
            <a:lvl6pPr algn="ctr">
              <a:defRPr sz="1650" b="1">
                <a:solidFill>
                  <a:srgbClr val="2F6F4E"/>
                </a:solidFill>
                <a:latin typeface="Aptos"/>
                <a:ea typeface="Aptos"/>
                <a:cs typeface="Aptos"/>
              </a:defRPr>
            </a:lvl6pPr>
            <a:lvl7pPr algn="ctr">
              <a:defRPr sz="1650" b="1">
                <a:solidFill>
                  <a:srgbClr val="2F6F4E"/>
                </a:solidFill>
                <a:latin typeface="Aptos"/>
                <a:ea typeface="Aptos"/>
                <a:cs typeface="Aptos"/>
              </a:defRPr>
            </a:lvl7pPr>
            <a:lvl8pPr algn="ctr">
              <a:defRPr sz="1650" b="1">
                <a:solidFill>
                  <a:srgbClr val="2F6F4E"/>
                </a:solidFill>
                <a:latin typeface="Aptos"/>
                <a:ea typeface="Aptos"/>
                <a:cs typeface="Aptos"/>
              </a:defRPr>
            </a:lvl8pPr>
            <a:lvl9pPr algn="ctr">
              <a:defRPr sz="1650" b="1">
                <a:solidFill>
                  <a:srgbClr val="2F6F4E"/>
                </a:solidFill>
                <a:latin typeface="Aptos"/>
                <a:ea typeface="Aptos"/>
                <a:cs typeface="Aptos"/>
              </a:defRPr>
            </a:lvl9pPr>
          </a:lstStyle>
          <a:p>
            <a:pPr algn="ctr">
              <a:defRPr sz="1650" b="1">
                <a:solidFill>
                  <a:srgbClr val="2F6F4E"/>
                </a:solidFill>
                <a:latin typeface="Aptos"/>
                <a:ea typeface="Aptos"/>
                <a:cs typeface="Aptos"/>
              </a:defRPr>
            </a:pPr>
            <a:r>
              <a:rPr sz="1650" b="1">
                <a:solidFill>
                  <a:srgbClr val="2F6F4E"/>
                </a:solidFill>
                <a:latin typeface="Aptos"/>
                <a:ea typeface="Aptos"/>
                <a:cs typeface="Aptos"/>
              </a:rPr>
              <a:t>Notebook: Slide 28</a:t>
            </a:r>
          </a:p>
        </p:txBody>
      </p:sp>
    </p:spTree>
    <p:extLst>
      <p:ext uri="{BB962C8B-B14F-4D97-AF65-F5344CB8AC3E}">
        <p14:creationId xmlns:p14="http://schemas.microsoft.com/office/powerpoint/2010/main" val="414320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BA835E0B-9F7C-48C9-9F63-8D0E27A5B168}"/>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Where the number 1.96 comes from</a:t>
            </a:r>
          </a:p>
        </p:txBody>
      </p:sp>
      <p:sp>
        <p:nvSpPr>
          <p:cNvPr id="2" name="Straight Connector 1">
            <a:extLst>
              <a:ext uri="{FF2B5EF4-FFF2-40B4-BE49-F238E27FC236}">
                <a16:creationId xmlns:a16="http://schemas.microsoft.com/office/drawing/2014/main" id="{129CA59D-3EE8-4B03-9702-2A60E1AF0455}"/>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2AB98CAC-50A0-45E1-92A7-9A5817482C2E}"/>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99807F8B-019C-434C-9376-57ED24335736}"/>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29</a:t>
            </a:r>
          </a:p>
        </p:txBody>
      </p:sp>
      <mc:AlternateContent xmlns:mc="http://schemas.openxmlformats.org/markup-compatibility/2006">
        <mc:Choice xmlns:a14="http://schemas.microsoft.com/office/drawing/2010/main" Requires="a14">
          <p:sp>
            <p:nvSpPr>
              <p:cNvPr id="5" name="EQ_049">
                <a:extLst>
                  <a:ext uri="{FF2B5EF4-FFF2-40B4-BE49-F238E27FC236}">
                    <a16:creationId xmlns:a16="http://schemas.microsoft.com/office/drawing/2014/main" id="{907CEC28-D071-49A4-9713-BD282A7138CF}"/>
                  </a:ext>
                </a:extLst>
              </p:cNvPr>
              <p:cNvSpPr>
                <a:spLocks noGrp="1"/>
              </p:cNvSpPr>
              <p:nvPr/>
            </p:nvSpPr>
            <p:spPr>
              <a:xfrm>
                <a:off x="857250" y="1657350"/>
                <a:ext cx="10477500" cy="1000125"/>
              </a:xfrm>
              <a:prstGeom prst="rect">
                <a:avLst/>
              </a:prstGeom>
              <a:noFill/>
              <a:ln w="0">
                <a:noFill/>
              </a:ln>
            </p:spPr>
            <p:txBody>
              <a:bodyPr wrap="none" lIns="0" tIns="0" rIns="0" bIns="0" anchor="ctr">
                <a:noAutofit/>
              </a:bodyPr>
              <a:lstStyle>
                <a:lvl1pPr algn="l">
                  <a:buNone/>
                  <a:defRPr sz="2900">
                    <a:solidFill>
                      <a:srgbClr val="17365D"/>
                    </a:solidFill>
                    <a:latin typeface="Cambria Math"/>
                    <a:ea typeface="Cambria Math"/>
                    <a:cs typeface="Cambria Math"/>
                  </a:defRPr>
                </a:lvl1pPr>
                <a:lvl2pPr algn="l">
                  <a:buNone/>
                  <a:defRPr sz="2900">
                    <a:solidFill>
                      <a:srgbClr val="17365D"/>
                    </a:solidFill>
                    <a:latin typeface="Cambria Math"/>
                    <a:ea typeface="Cambria Math"/>
                    <a:cs typeface="Cambria Math"/>
                  </a:defRPr>
                </a:lvl2pPr>
                <a:lvl3pPr algn="l">
                  <a:buNone/>
                  <a:defRPr sz="2900">
                    <a:solidFill>
                      <a:srgbClr val="17365D"/>
                    </a:solidFill>
                    <a:latin typeface="Cambria Math"/>
                    <a:ea typeface="Cambria Math"/>
                    <a:cs typeface="Cambria Math"/>
                  </a:defRPr>
                </a:lvl3pPr>
                <a:lvl4pPr algn="l">
                  <a:buNone/>
                  <a:defRPr sz="2900">
                    <a:solidFill>
                      <a:srgbClr val="17365D"/>
                    </a:solidFill>
                    <a:latin typeface="Cambria Math"/>
                    <a:ea typeface="Cambria Math"/>
                    <a:cs typeface="Cambria Math"/>
                  </a:defRPr>
                </a:lvl4pPr>
                <a:lvl5pPr algn="l">
                  <a:buNone/>
                  <a:defRPr sz="2900">
                    <a:solidFill>
                      <a:srgbClr val="17365D"/>
                    </a:solidFill>
                    <a:latin typeface="Cambria Math"/>
                    <a:ea typeface="Cambria Math"/>
                    <a:cs typeface="Cambria Math"/>
                  </a:defRPr>
                </a:lvl5pPr>
                <a:lvl6pPr algn="l">
                  <a:buNone/>
                  <a:defRPr sz="2900">
                    <a:solidFill>
                      <a:srgbClr val="17365D"/>
                    </a:solidFill>
                    <a:latin typeface="Cambria Math"/>
                    <a:ea typeface="Cambria Math"/>
                    <a:cs typeface="Cambria Math"/>
                  </a:defRPr>
                </a:lvl6pPr>
                <a:lvl7pPr algn="l">
                  <a:buNone/>
                  <a:defRPr sz="2900">
                    <a:solidFill>
                      <a:srgbClr val="17365D"/>
                    </a:solidFill>
                    <a:latin typeface="Cambria Math"/>
                    <a:ea typeface="Cambria Math"/>
                    <a:cs typeface="Cambria Math"/>
                  </a:defRPr>
                </a:lvl7pPr>
                <a:lvl8pPr algn="l">
                  <a:buNone/>
                  <a:defRPr sz="2900">
                    <a:solidFill>
                      <a:srgbClr val="17365D"/>
                    </a:solidFill>
                    <a:latin typeface="Cambria Math"/>
                    <a:ea typeface="Cambria Math"/>
                    <a:cs typeface="Cambria Math"/>
                  </a:defRPr>
                </a:lvl8pPr>
                <a:lvl9pPr algn="l">
                  <a:buNone/>
                  <a:defRPr sz="2900">
                    <a:solidFill>
                      <a:srgbClr val="17365D"/>
                    </a:solidFill>
                    <a:latin typeface="Cambria Math"/>
                    <a:ea typeface="Cambria Math"/>
                    <a:cs typeface="Cambria Math"/>
                  </a:defRPr>
                </a:lvl9pPr>
              </a:lstStyle>
              <a:p>
                <a:pPr>
                  <a:buNone/>
                  <a:defRPr sz="2900">
                    <a:solidFill>
                      <a:srgbClr val="17365D"/>
                    </a:solidFill>
                  </a:defRPr>
                </a:pPr>
                <a14:m>
                  <m:oMathPara xmlns:m="http://schemas.openxmlformats.org/officeDocument/2006/math">
                    <m:oMath>
                      <m:r>
                        <a:rPr>
                          <a:latin typeface="Cambria Math" panose="02040503050406030204" pitchFamily="18" charset="0"/>
                        </a:rPr>
                        <m:t>𝑃</m:t>
                      </m:r>
                      <m:d>
                        <m:dPr>
                          <m:ctrlPr>
                            <a:rPr>
                              <a:latin typeface="Cambria Math" panose="02040503050406030204" pitchFamily="18" charset="0"/>
                            </a:rPr>
                          </m:ctrlPr>
                        </m:dPr>
                        <m:e>
                          <m:r>
                            <a:rPr>
                              <a:latin typeface="Cambria Math" panose="02040503050406030204" pitchFamily="18" charset="0"/>
                            </a:rPr>
                            <m:t>−1.96≤</m:t>
                          </m:r>
                          <m:r>
                            <a:rPr>
                              <a:latin typeface="Cambria Math" panose="02040503050406030204" pitchFamily="18" charset="0"/>
                            </a:rPr>
                            <m:t>𝑍</m:t>
                          </m:r>
                          <m:r>
                            <a:rPr>
                              <a:latin typeface="Cambria Math" panose="02040503050406030204" pitchFamily="18" charset="0"/>
                            </a:rPr>
                            <m:t>≤1.96</m:t>
                          </m:r>
                        </m:e>
                      </m:d>
                      <m:r>
                        <a:rPr>
                          <a:latin typeface="Cambria Math" panose="02040503050406030204" pitchFamily="18" charset="0"/>
                        </a:rPr>
                        <m:t>≈0.95    </m:t>
                      </m:r>
                      <m:r>
                        <a:rPr>
                          <a:latin typeface="Cambria Math" panose="02040503050406030204" pitchFamily="18" charset="0"/>
                        </a:rPr>
                        <m:t>𝑓𝑜𝑟</m:t>
                      </m:r>
                      <m:r>
                        <a:rPr>
                          <a:latin typeface="Cambria Math" panose="02040503050406030204" pitchFamily="18" charset="0"/>
                        </a:rPr>
                        <m:t>    </m:t>
                      </m:r>
                      <m:r>
                        <a:rPr>
                          <a:latin typeface="Cambria Math" panose="02040503050406030204" pitchFamily="18" charset="0"/>
                        </a:rPr>
                        <m:t>𝑍</m:t>
                      </m:r>
                      <m:r>
                        <a:rPr>
                          <a:latin typeface="Cambria Math" panose="02040503050406030204" pitchFamily="18" charset="0"/>
                        </a:rPr>
                        <m:t>∼</m:t>
                      </m:r>
                      <m:r>
                        <a:rPr>
                          <a:latin typeface="Cambria Math" panose="02040503050406030204" pitchFamily="18" charset="0"/>
                        </a:rPr>
                        <m:t>𝑁</m:t>
                      </m:r>
                      <m:d>
                        <m:dPr>
                          <m:ctrlPr>
                            <a:rPr>
                              <a:latin typeface="Cambria Math" panose="02040503050406030204" pitchFamily="18" charset="0"/>
                            </a:rPr>
                          </m:ctrlPr>
                        </m:dPr>
                        <m:e>
                          <m:r>
                            <a:rPr>
                              <a:latin typeface="Cambria Math" panose="02040503050406030204" pitchFamily="18" charset="0"/>
                            </a:rPr>
                            <m:t>0,1</m:t>
                          </m:r>
                        </m:e>
                      </m:d>
                    </m:oMath>
                  </m:oMathPara>
                </a14:m>
                <a:endParaRPr/>
              </a:p>
            </p:txBody>
          </p:sp>
        </mc:Choice>
        <mc:Fallback>
          <p:sp>
            <p:nvSpPr>
              <p:cNvPr id="5" name="EQ_049">
                <a:extLst>
                  <a:ext uri="{FF2B5EF4-FFF2-40B4-BE49-F238E27FC236}">
                    <a16:creationId xmlns:a16="http://schemas.microsoft.com/office/drawing/2014/main" id="{907CEC28-D071-49A4-9713-BD282A7138CF}"/>
                  </a:ext>
                </a:extLst>
              </p:cNvPr>
              <p:cNvSpPr>
                <a:spLocks noGrp="1" noRot="1" noChangeAspect="1" noMove="1" noResize="1" noEditPoints="1" noAdjustHandles="1" noChangeArrowheads="1" noChangeShapeType="1" noTextEdit="1"/>
              </p:cNvSpPr>
              <p:nvPr/>
            </p:nvSpPr>
            <p:spPr>
              <a:xfrm>
                <a:off x="857250" y="1657350"/>
                <a:ext cx="10477500" cy="1000125"/>
              </a:xfrm>
              <a:prstGeom prst="rect">
                <a:avLst/>
              </a:prstGeom>
              <a:blipFill>
                <a:blip r:embed="rId3"/>
                <a:stretch>
                  <a:fillRect/>
                </a:stretch>
              </a:blipFill>
              <a:ln w="0">
                <a:noFill/>
              </a:ln>
            </p:spPr>
            <p:txBody>
              <a:bodyPr/>
              <a:lstStyle/>
              <a:p>
                <a:r>
                  <a:rPr lang="en-GB">
                    <a:noFill/>
                  </a:rPr>
                  <a:t> </a:t>
                </a:r>
              </a:p>
            </p:txBody>
          </p:sp>
        </mc:Fallback>
      </mc:AlternateContent>
      <p:sp>
        <p:nvSpPr>
          <p:cNvPr id="6" name="text-5">
            <a:extLst>
              <a:ext uri="{FF2B5EF4-FFF2-40B4-BE49-F238E27FC236}">
                <a16:creationId xmlns:a16="http://schemas.microsoft.com/office/drawing/2014/main" id="{6C13B311-24F4-4C85-8F9A-050092C1F16A}"/>
              </a:ext>
            </a:extLst>
          </p:cNvPr>
          <p:cNvSpPr>
            <a:spLocks noGrp="1"/>
          </p:cNvSpPr>
          <p:nvPr/>
        </p:nvSpPr>
        <p:spPr>
          <a:xfrm>
            <a:off x="857250" y="3019425"/>
            <a:ext cx="10477500" cy="914400"/>
          </a:xfrm>
          <a:prstGeom prst="rect">
            <a:avLst/>
          </a:prstGeom>
          <a:noFill/>
          <a:ln w="0">
            <a:noFill/>
          </a:ln>
        </p:spPr>
        <p:txBody>
          <a:bodyPr wrap="square" lIns="0" tIns="0" rIns="0" bIns="0" anchor="t">
            <a:noAutofit/>
          </a:bodyPr>
          <a:lstStyle>
            <a:lvl1pPr>
              <a:buNone/>
              <a:defRPr sz="2325" b="0">
                <a:solidFill>
                  <a:srgbClr val="17365D"/>
                </a:solidFill>
                <a:latin typeface="Aptos"/>
                <a:ea typeface="Aptos"/>
                <a:cs typeface="Aptos"/>
              </a:defRPr>
            </a:lvl1pPr>
            <a:lvl2pPr>
              <a:buNone/>
              <a:defRPr sz="2325" b="0">
                <a:solidFill>
                  <a:srgbClr val="17365D"/>
                </a:solidFill>
                <a:latin typeface="Aptos"/>
                <a:ea typeface="Aptos"/>
                <a:cs typeface="Aptos"/>
              </a:defRPr>
            </a:lvl2pPr>
            <a:lvl3pPr>
              <a:buNone/>
              <a:defRPr sz="2325" b="0">
                <a:solidFill>
                  <a:srgbClr val="17365D"/>
                </a:solidFill>
                <a:latin typeface="Aptos"/>
                <a:ea typeface="Aptos"/>
                <a:cs typeface="Aptos"/>
              </a:defRPr>
            </a:lvl3pPr>
            <a:lvl4pPr>
              <a:buNone/>
              <a:defRPr sz="2325" b="0">
                <a:solidFill>
                  <a:srgbClr val="17365D"/>
                </a:solidFill>
                <a:latin typeface="Aptos"/>
                <a:ea typeface="Aptos"/>
                <a:cs typeface="Aptos"/>
              </a:defRPr>
            </a:lvl4pPr>
            <a:lvl5pPr>
              <a:buNone/>
              <a:defRPr sz="2325" b="0">
                <a:solidFill>
                  <a:srgbClr val="17365D"/>
                </a:solidFill>
                <a:latin typeface="Aptos"/>
                <a:ea typeface="Aptos"/>
                <a:cs typeface="Aptos"/>
              </a:defRPr>
            </a:lvl5pPr>
            <a:lvl6pPr>
              <a:buNone/>
              <a:defRPr sz="2325" b="0">
                <a:solidFill>
                  <a:srgbClr val="17365D"/>
                </a:solidFill>
                <a:latin typeface="Aptos"/>
                <a:ea typeface="Aptos"/>
                <a:cs typeface="Aptos"/>
              </a:defRPr>
            </a:lvl6pPr>
            <a:lvl7pPr>
              <a:buNone/>
              <a:defRPr sz="2325" b="0">
                <a:solidFill>
                  <a:srgbClr val="17365D"/>
                </a:solidFill>
                <a:latin typeface="Aptos"/>
                <a:ea typeface="Aptos"/>
                <a:cs typeface="Aptos"/>
              </a:defRPr>
            </a:lvl7pPr>
            <a:lvl8pPr>
              <a:buNone/>
              <a:defRPr sz="2325" b="0">
                <a:solidFill>
                  <a:srgbClr val="17365D"/>
                </a:solidFill>
                <a:latin typeface="Aptos"/>
                <a:ea typeface="Aptos"/>
                <a:cs typeface="Aptos"/>
              </a:defRPr>
            </a:lvl8pPr>
            <a:lvl9pPr>
              <a:buNone/>
              <a:defRPr sz="2325" b="0">
                <a:solidFill>
                  <a:srgbClr val="17365D"/>
                </a:solidFill>
                <a:latin typeface="Aptos"/>
                <a:ea typeface="Aptos"/>
                <a:cs typeface="Aptos"/>
              </a:defRPr>
            </a:lvl9pPr>
          </a:lstStyle>
          <a:p>
            <a:pPr>
              <a:buNone/>
              <a:defRPr sz="2325" b="0">
                <a:solidFill>
                  <a:srgbClr val="17365D"/>
                </a:solidFill>
                <a:latin typeface="Aptos"/>
                <a:ea typeface="Aptos"/>
                <a:cs typeface="Aptos"/>
              </a:defRPr>
            </a:pPr>
            <a:r>
              <a:rPr sz="2325" b="0">
                <a:solidFill>
                  <a:srgbClr val="17365D"/>
                </a:solidFill>
                <a:latin typeface="Aptos"/>
                <a:ea typeface="Aptos"/>
                <a:cs typeface="Aptos"/>
              </a:rPr>
              <a:t>The CLT applies this normal coverage to the error in a Monte Carlo average.</a:t>
            </a:r>
          </a:p>
        </p:txBody>
      </p:sp>
      <mc:AlternateContent xmlns:mc="http://schemas.openxmlformats.org/markup-compatibility/2006">
        <mc:Choice xmlns:a14="http://schemas.microsoft.com/office/drawing/2010/main" Requires="a14">
          <p:sp>
            <p:nvSpPr>
              <p:cNvPr id="7" name="EQ_050">
                <a:extLst>
                  <a:ext uri="{FF2B5EF4-FFF2-40B4-BE49-F238E27FC236}">
                    <a16:creationId xmlns:a16="http://schemas.microsoft.com/office/drawing/2014/main" id="{31928893-5369-4E51-96E0-ECB92F606B55}"/>
                  </a:ext>
                </a:extLst>
              </p:cNvPr>
              <p:cNvSpPr>
                <a:spLocks noGrp="1"/>
              </p:cNvSpPr>
              <p:nvPr/>
            </p:nvSpPr>
            <p:spPr>
              <a:xfrm>
                <a:off x="857250" y="4133850"/>
                <a:ext cx="10477500" cy="1304925"/>
              </a:xfrm>
              <a:prstGeom prst="rect">
                <a:avLst/>
              </a:prstGeom>
              <a:noFill/>
              <a:ln w="0">
                <a:noFill/>
              </a:ln>
            </p:spPr>
            <p:txBody>
              <a:bodyPr wrap="none" lIns="0" tIns="0" rIns="0" bIns="0" anchor="ctr">
                <a:noAutofit/>
              </a:bodyPr>
              <a:lstStyle>
                <a:lvl1pPr algn="l">
                  <a:buNone/>
                  <a:defRPr sz="3300">
                    <a:solidFill>
                      <a:srgbClr val="17365D"/>
                    </a:solidFill>
                    <a:latin typeface="Cambria Math"/>
                    <a:ea typeface="Cambria Math"/>
                    <a:cs typeface="Cambria Math"/>
                  </a:defRPr>
                </a:lvl1pPr>
                <a:lvl2pPr algn="l">
                  <a:buNone/>
                  <a:defRPr sz="3300">
                    <a:solidFill>
                      <a:srgbClr val="17365D"/>
                    </a:solidFill>
                    <a:latin typeface="Cambria Math"/>
                    <a:ea typeface="Cambria Math"/>
                    <a:cs typeface="Cambria Math"/>
                  </a:defRPr>
                </a:lvl2pPr>
                <a:lvl3pPr algn="l">
                  <a:buNone/>
                  <a:defRPr sz="3300">
                    <a:solidFill>
                      <a:srgbClr val="17365D"/>
                    </a:solidFill>
                    <a:latin typeface="Cambria Math"/>
                    <a:ea typeface="Cambria Math"/>
                    <a:cs typeface="Cambria Math"/>
                  </a:defRPr>
                </a:lvl3pPr>
                <a:lvl4pPr algn="l">
                  <a:buNone/>
                  <a:defRPr sz="3300">
                    <a:solidFill>
                      <a:srgbClr val="17365D"/>
                    </a:solidFill>
                    <a:latin typeface="Cambria Math"/>
                    <a:ea typeface="Cambria Math"/>
                    <a:cs typeface="Cambria Math"/>
                  </a:defRPr>
                </a:lvl4pPr>
                <a:lvl5pPr algn="l">
                  <a:buNone/>
                  <a:defRPr sz="3300">
                    <a:solidFill>
                      <a:srgbClr val="17365D"/>
                    </a:solidFill>
                    <a:latin typeface="Cambria Math"/>
                    <a:ea typeface="Cambria Math"/>
                    <a:cs typeface="Cambria Math"/>
                  </a:defRPr>
                </a:lvl5pPr>
                <a:lvl6pPr algn="l">
                  <a:buNone/>
                  <a:defRPr sz="3300">
                    <a:solidFill>
                      <a:srgbClr val="17365D"/>
                    </a:solidFill>
                    <a:latin typeface="Cambria Math"/>
                    <a:ea typeface="Cambria Math"/>
                    <a:cs typeface="Cambria Math"/>
                  </a:defRPr>
                </a:lvl6pPr>
                <a:lvl7pPr algn="l">
                  <a:buNone/>
                  <a:defRPr sz="3300">
                    <a:solidFill>
                      <a:srgbClr val="17365D"/>
                    </a:solidFill>
                    <a:latin typeface="Cambria Math"/>
                    <a:ea typeface="Cambria Math"/>
                    <a:cs typeface="Cambria Math"/>
                  </a:defRPr>
                </a:lvl7pPr>
                <a:lvl8pPr algn="l">
                  <a:buNone/>
                  <a:defRPr sz="3300">
                    <a:solidFill>
                      <a:srgbClr val="17365D"/>
                    </a:solidFill>
                    <a:latin typeface="Cambria Math"/>
                    <a:ea typeface="Cambria Math"/>
                    <a:cs typeface="Cambria Math"/>
                  </a:defRPr>
                </a:lvl8pPr>
                <a:lvl9pPr algn="l">
                  <a:buNone/>
                  <a:defRPr sz="3300">
                    <a:solidFill>
                      <a:srgbClr val="17365D"/>
                    </a:solidFill>
                    <a:latin typeface="Cambria Math"/>
                    <a:ea typeface="Cambria Math"/>
                    <a:cs typeface="Cambria Math"/>
                  </a:defRPr>
                </a:lvl9pPr>
              </a:lstStyle>
              <a:p>
                <a:pPr>
                  <a:buNone/>
                  <a:defRPr sz="3300">
                    <a:solidFill>
                      <a:srgbClr val="17365D"/>
                    </a:solidFill>
                  </a:defRPr>
                </a:pPr>
                <a14:m>
                  <m:oMathPara xmlns:m="http://schemas.openxmlformats.org/officeDocument/2006/math">
                    <m:oMath>
                      <m:r>
                        <a:rPr>
                          <a:latin typeface="Cambria Math" panose="02040503050406030204" pitchFamily="18" charset="0"/>
                        </a:rPr>
                        <m:t>𝑃</m:t>
                      </m:r>
                      <m:d>
                        <m:dPr>
                          <m:ctrlPr>
                            <a:rPr>
                              <a:latin typeface="Cambria Math" panose="02040503050406030204" pitchFamily="18" charset="0"/>
                            </a:rPr>
                          </m:ctrlPr>
                        </m:dPr>
                        <m:e>
                          <m:r>
                            <a:rPr>
                              <a:latin typeface="Cambria Math" panose="02040503050406030204" pitchFamily="18" charset="0"/>
                            </a:rPr>
                            <m:t>|</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𝜃</m:t>
                                  </m:r>
                                </m:e>
                              </m:acc>
                            </m:e>
                            <m:sub>
                              <m:r>
                                <a:rPr>
                                  <a:latin typeface="Cambria Math" panose="02040503050406030204" pitchFamily="18" charset="0"/>
                                </a:rPr>
                                <m:t>𝑁</m:t>
                              </m:r>
                            </m:sub>
                          </m:sSub>
                          <m:r>
                            <a:rPr>
                              <a:latin typeface="Cambria Math" panose="02040503050406030204" pitchFamily="18" charset="0"/>
                            </a:rPr>
                            <m:t>−</m:t>
                          </m:r>
                          <m:r>
                            <a:rPr>
                              <a:latin typeface="Cambria Math" panose="02040503050406030204" pitchFamily="18" charset="0"/>
                            </a:rPr>
                            <m:t>𝜃</m:t>
                          </m:r>
                          <m:r>
                            <a:rPr>
                              <a:latin typeface="Cambria Math" panose="02040503050406030204" pitchFamily="18" charset="0"/>
                            </a:rPr>
                            <m:t>|≤1.96</m:t>
                          </m:r>
                          <m:f>
                            <m:fPr>
                              <m:ctrlPr>
                                <a:rPr i="1">
                                  <a:latin typeface="Cambria Math" panose="02040503050406030204" pitchFamily="18" charset="0"/>
                                </a:rPr>
                              </m:ctrlPr>
                            </m:fPr>
                            <m:num>
                              <m:sSub>
                                <m:sSubPr>
                                  <m:ctrlPr>
                                    <a:rPr>
                                      <a:latin typeface="Cambria Math" panose="02040503050406030204" pitchFamily="18" charset="0"/>
                                    </a:rPr>
                                  </m:ctrlPr>
                                </m:sSubPr>
                                <m:e>
                                  <m:r>
                                    <a:rPr>
                                      <a:latin typeface="Cambria Math" panose="02040503050406030204" pitchFamily="18" charset="0"/>
                                    </a:rPr>
                                    <m:t>𝜎</m:t>
                                  </m:r>
                                </m:e>
                                <m:sub>
                                  <m:r>
                                    <a:rPr>
                                      <a:latin typeface="Cambria Math" panose="02040503050406030204" pitchFamily="18" charset="0"/>
                                    </a:rPr>
                                    <m:t>𝑌</m:t>
                                  </m:r>
                                </m:sub>
                              </m:sSub>
                            </m:num>
                            <m:den>
                              <m:rad>
                                <m:radPr>
                                  <m:ctrlPr>
                                    <a:rPr>
                                      <a:latin typeface="Cambria Math" panose="02040503050406030204" pitchFamily="18" charset="0"/>
                                    </a:rPr>
                                  </m:ctrlPr>
                                </m:radPr>
                                <m:e>
                                  <m:r>
                                    <a:rPr>
                                      <a:latin typeface="Cambria Math" panose="02040503050406030204" pitchFamily="18" charset="0"/>
                                    </a:rPr>
                                    <m:t>𝑁</m:t>
                                  </m:r>
                                </m:e>
                              </m:rad>
                            </m:den>
                          </m:f>
                        </m:e>
                      </m:d>
                      <m:r>
                        <a:rPr>
                          <a:latin typeface="Cambria Math" panose="02040503050406030204" pitchFamily="18" charset="0"/>
                        </a:rPr>
                        <m:t>≈0.95</m:t>
                      </m:r>
                    </m:oMath>
                  </m:oMathPara>
                </a14:m>
                <a:endParaRPr/>
              </a:p>
            </p:txBody>
          </p:sp>
        </mc:Choice>
        <mc:Fallback>
          <p:sp>
            <p:nvSpPr>
              <p:cNvPr id="7" name="EQ_050">
                <a:extLst>
                  <a:ext uri="{FF2B5EF4-FFF2-40B4-BE49-F238E27FC236}">
                    <a16:creationId xmlns:a16="http://schemas.microsoft.com/office/drawing/2014/main" id="{31928893-5369-4E51-96E0-ECB92F606B55}"/>
                  </a:ext>
                </a:extLst>
              </p:cNvPr>
              <p:cNvSpPr>
                <a:spLocks noGrp="1" noRot="1" noChangeAspect="1" noMove="1" noResize="1" noEditPoints="1" noAdjustHandles="1" noChangeArrowheads="1" noChangeShapeType="1" noTextEdit="1"/>
              </p:cNvSpPr>
              <p:nvPr/>
            </p:nvSpPr>
            <p:spPr>
              <a:xfrm>
                <a:off x="857250" y="4133850"/>
                <a:ext cx="10477500" cy="1304925"/>
              </a:xfrm>
              <a:prstGeom prst="rect">
                <a:avLst/>
              </a:prstGeom>
              <a:blipFill>
                <a:blip r:embed="rId4"/>
                <a:stretch>
                  <a:fillRect/>
                </a:stretch>
              </a:blipFill>
              <a:ln w="0">
                <a:noFill/>
              </a:ln>
            </p:spPr>
            <p:txBody>
              <a:bodyPr/>
              <a:lstStyle/>
              <a:p>
                <a:r>
                  <a:rPr lang="en-GB">
                    <a:noFill/>
                  </a:rPr>
                  <a:t> </a:t>
                </a:r>
              </a:p>
            </p:txBody>
          </p:sp>
        </mc:Fallback>
      </mc:AlternateContent>
      <p:sp>
        <p:nvSpPr>
          <p:cNvPr id="8" name="text-7">
            <a:extLst>
              <a:ext uri="{FF2B5EF4-FFF2-40B4-BE49-F238E27FC236}">
                <a16:creationId xmlns:a16="http://schemas.microsoft.com/office/drawing/2014/main" id="{D52F4AFA-02CA-4F28-BBBD-2FE549CF1546}"/>
              </a:ext>
            </a:extLst>
          </p:cNvPr>
          <p:cNvSpPr>
            <a:spLocks noGrp="1"/>
          </p:cNvSpPr>
          <p:nvPr/>
        </p:nvSpPr>
        <p:spPr>
          <a:xfrm>
            <a:off x="857250" y="5791200"/>
            <a:ext cx="10477500" cy="523875"/>
          </a:xfrm>
          <a:prstGeom prst="rect">
            <a:avLst/>
          </a:prstGeom>
          <a:noFill/>
          <a:ln w="0">
            <a:noFill/>
          </a:ln>
        </p:spPr>
        <p:txBody>
          <a:bodyPr wrap="square" lIns="0" tIns="0" rIns="0" bIns="0" anchor="t">
            <a:noAutofit/>
          </a:bodyPr>
          <a:lstStyle>
            <a:lvl1pPr>
              <a:buNone/>
              <a:defRPr sz="2100" b="0">
                <a:solidFill>
                  <a:srgbClr val="2D75A3"/>
                </a:solidFill>
                <a:latin typeface="Aptos"/>
                <a:ea typeface="Aptos"/>
                <a:cs typeface="Aptos"/>
              </a:defRPr>
            </a:lvl1pPr>
            <a:lvl2pPr>
              <a:buNone/>
              <a:defRPr sz="2100" b="0">
                <a:solidFill>
                  <a:srgbClr val="2D75A3"/>
                </a:solidFill>
                <a:latin typeface="Aptos"/>
                <a:ea typeface="Aptos"/>
                <a:cs typeface="Aptos"/>
              </a:defRPr>
            </a:lvl2pPr>
            <a:lvl3pPr>
              <a:buNone/>
              <a:defRPr sz="2100" b="0">
                <a:solidFill>
                  <a:srgbClr val="2D75A3"/>
                </a:solidFill>
                <a:latin typeface="Aptos"/>
                <a:ea typeface="Aptos"/>
                <a:cs typeface="Aptos"/>
              </a:defRPr>
            </a:lvl3pPr>
            <a:lvl4pPr>
              <a:buNone/>
              <a:defRPr sz="2100" b="0">
                <a:solidFill>
                  <a:srgbClr val="2D75A3"/>
                </a:solidFill>
                <a:latin typeface="Aptos"/>
                <a:ea typeface="Aptos"/>
                <a:cs typeface="Aptos"/>
              </a:defRPr>
            </a:lvl4pPr>
            <a:lvl5pPr>
              <a:buNone/>
              <a:defRPr sz="2100" b="0">
                <a:solidFill>
                  <a:srgbClr val="2D75A3"/>
                </a:solidFill>
                <a:latin typeface="Aptos"/>
                <a:ea typeface="Aptos"/>
                <a:cs typeface="Aptos"/>
              </a:defRPr>
            </a:lvl5pPr>
            <a:lvl6pPr>
              <a:buNone/>
              <a:defRPr sz="2100" b="0">
                <a:solidFill>
                  <a:srgbClr val="2D75A3"/>
                </a:solidFill>
                <a:latin typeface="Aptos"/>
                <a:ea typeface="Aptos"/>
                <a:cs typeface="Aptos"/>
              </a:defRPr>
            </a:lvl6pPr>
            <a:lvl7pPr>
              <a:buNone/>
              <a:defRPr sz="2100" b="0">
                <a:solidFill>
                  <a:srgbClr val="2D75A3"/>
                </a:solidFill>
                <a:latin typeface="Aptos"/>
                <a:ea typeface="Aptos"/>
                <a:cs typeface="Aptos"/>
              </a:defRPr>
            </a:lvl7pPr>
            <a:lvl8pPr>
              <a:buNone/>
              <a:defRPr sz="2100" b="0">
                <a:solidFill>
                  <a:srgbClr val="2D75A3"/>
                </a:solidFill>
                <a:latin typeface="Aptos"/>
                <a:ea typeface="Aptos"/>
                <a:cs typeface="Aptos"/>
              </a:defRPr>
            </a:lvl8pPr>
            <a:lvl9pPr>
              <a:buNone/>
              <a:defRPr sz="2100" b="0">
                <a:solidFill>
                  <a:srgbClr val="2D75A3"/>
                </a:solidFill>
                <a:latin typeface="Aptos"/>
                <a:ea typeface="Aptos"/>
                <a:cs typeface="Aptos"/>
              </a:defRPr>
            </a:lvl9pPr>
          </a:lstStyle>
          <a:p>
            <a:pPr>
              <a:buNone/>
              <a:defRPr sz="2100" b="0">
                <a:solidFill>
                  <a:srgbClr val="2D75A3"/>
                </a:solidFill>
                <a:latin typeface="Aptos"/>
                <a:ea typeface="Aptos"/>
                <a:cs typeface="Aptos"/>
              </a:defRPr>
            </a:pPr>
            <a:r>
              <a:rPr sz="2100" b="0">
                <a:solidFill>
                  <a:srgbClr val="2D75A3"/>
                </a:solidFill>
                <a:latin typeface="Aptos"/>
                <a:ea typeface="Aptos"/>
                <a:cs typeface="Aptos"/>
              </a:rPr>
              <a:t>Rearrange the inequality to give an interval for the fixed target θ.</a:t>
            </a:r>
          </a:p>
        </p:txBody>
      </p:sp>
    </p:spTree>
    <p:extLst>
      <p:ext uri="{BB962C8B-B14F-4D97-AF65-F5344CB8AC3E}">
        <p14:creationId xmlns:p14="http://schemas.microsoft.com/office/powerpoint/2010/main" val="7627685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5FB12989-6D69-4BD5-8D9E-AE17936E1B1E}"/>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An approximate 95% Monte Carlo interval</a:t>
            </a:r>
          </a:p>
        </p:txBody>
      </p:sp>
      <p:sp>
        <p:nvSpPr>
          <p:cNvPr id="2" name="Straight Connector 1">
            <a:extLst>
              <a:ext uri="{FF2B5EF4-FFF2-40B4-BE49-F238E27FC236}">
                <a16:creationId xmlns:a16="http://schemas.microsoft.com/office/drawing/2014/main" id="{E58AEFCE-CE30-4117-8470-9B4146FBA3D5}"/>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8EEDAE1D-9BC4-4349-B214-D8E409235DB2}"/>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D1A37836-47FF-450A-9932-28F81EEF1A1A}"/>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30</a:t>
            </a:r>
          </a:p>
        </p:txBody>
      </p:sp>
      <mc:AlternateContent xmlns:mc="http://schemas.openxmlformats.org/markup-compatibility/2006">
        <mc:Choice xmlns:a14="http://schemas.microsoft.com/office/drawing/2010/main" Requires="a14">
          <p:sp>
            <p:nvSpPr>
              <p:cNvPr id="5" name="EQ_029">
                <a:extLst>
                  <a:ext uri="{FF2B5EF4-FFF2-40B4-BE49-F238E27FC236}">
                    <a16:creationId xmlns:a16="http://schemas.microsoft.com/office/drawing/2014/main" id="{050C11AC-3A85-4EF2-93A6-3B792CA10459}"/>
                  </a:ext>
                </a:extLst>
              </p:cNvPr>
              <p:cNvSpPr>
                <a:spLocks noGrp="1"/>
              </p:cNvSpPr>
              <p:nvPr/>
            </p:nvSpPr>
            <p:spPr>
              <a:xfrm>
                <a:off x="857250" y="2038350"/>
                <a:ext cx="10477500" cy="1333500"/>
              </a:xfrm>
              <a:prstGeom prst="rect">
                <a:avLst/>
              </a:prstGeom>
              <a:noFill/>
              <a:ln w="0">
                <a:noFill/>
              </a:ln>
            </p:spPr>
            <p:txBody>
              <a:bodyPr wrap="none" lIns="0" tIns="0" rIns="0" bIns="0" anchor="ctr">
                <a:noAutofit/>
              </a:bodyPr>
              <a:lstStyle>
                <a:lvl1pPr algn="l">
                  <a:buNone/>
                  <a:defRPr sz="4200">
                    <a:solidFill>
                      <a:srgbClr val="17365D"/>
                    </a:solidFill>
                    <a:latin typeface="Cambria Math"/>
                    <a:ea typeface="Cambria Math"/>
                    <a:cs typeface="Cambria Math"/>
                  </a:defRPr>
                </a:lvl1pPr>
                <a:lvl2pPr algn="l">
                  <a:buNone/>
                  <a:defRPr sz="4200">
                    <a:solidFill>
                      <a:srgbClr val="17365D"/>
                    </a:solidFill>
                    <a:latin typeface="Cambria Math"/>
                    <a:ea typeface="Cambria Math"/>
                    <a:cs typeface="Cambria Math"/>
                  </a:defRPr>
                </a:lvl2pPr>
                <a:lvl3pPr algn="l">
                  <a:buNone/>
                  <a:defRPr sz="4200">
                    <a:solidFill>
                      <a:srgbClr val="17365D"/>
                    </a:solidFill>
                    <a:latin typeface="Cambria Math"/>
                    <a:ea typeface="Cambria Math"/>
                    <a:cs typeface="Cambria Math"/>
                  </a:defRPr>
                </a:lvl3pPr>
                <a:lvl4pPr algn="l">
                  <a:buNone/>
                  <a:defRPr sz="4200">
                    <a:solidFill>
                      <a:srgbClr val="17365D"/>
                    </a:solidFill>
                    <a:latin typeface="Cambria Math"/>
                    <a:ea typeface="Cambria Math"/>
                    <a:cs typeface="Cambria Math"/>
                  </a:defRPr>
                </a:lvl4pPr>
                <a:lvl5pPr algn="l">
                  <a:buNone/>
                  <a:defRPr sz="4200">
                    <a:solidFill>
                      <a:srgbClr val="17365D"/>
                    </a:solidFill>
                    <a:latin typeface="Cambria Math"/>
                    <a:ea typeface="Cambria Math"/>
                    <a:cs typeface="Cambria Math"/>
                  </a:defRPr>
                </a:lvl5pPr>
                <a:lvl6pPr algn="l">
                  <a:buNone/>
                  <a:defRPr sz="4200">
                    <a:solidFill>
                      <a:srgbClr val="17365D"/>
                    </a:solidFill>
                    <a:latin typeface="Cambria Math"/>
                    <a:ea typeface="Cambria Math"/>
                    <a:cs typeface="Cambria Math"/>
                  </a:defRPr>
                </a:lvl6pPr>
                <a:lvl7pPr algn="l">
                  <a:buNone/>
                  <a:defRPr sz="4200">
                    <a:solidFill>
                      <a:srgbClr val="17365D"/>
                    </a:solidFill>
                    <a:latin typeface="Cambria Math"/>
                    <a:ea typeface="Cambria Math"/>
                    <a:cs typeface="Cambria Math"/>
                  </a:defRPr>
                </a:lvl7pPr>
                <a:lvl8pPr algn="l">
                  <a:buNone/>
                  <a:defRPr sz="4200">
                    <a:solidFill>
                      <a:srgbClr val="17365D"/>
                    </a:solidFill>
                    <a:latin typeface="Cambria Math"/>
                    <a:ea typeface="Cambria Math"/>
                    <a:cs typeface="Cambria Math"/>
                  </a:defRPr>
                </a:lvl8pPr>
                <a:lvl9pPr algn="l">
                  <a:buNone/>
                  <a:defRPr sz="4200">
                    <a:solidFill>
                      <a:srgbClr val="17365D"/>
                    </a:solidFill>
                    <a:latin typeface="Cambria Math"/>
                    <a:ea typeface="Cambria Math"/>
                    <a:cs typeface="Cambria Math"/>
                  </a:defRPr>
                </a:lvl9pPr>
              </a:lstStyle>
              <a:p>
                <a:pPr>
                  <a:buNone/>
                  <a:defRPr sz="4200">
                    <a:solidFill>
                      <a:srgbClr val="17365D"/>
                    </a:solidFill>
                  </a:defRPr>
                </a:pPr>
                <a14:m>
                  <m:oMathPara xmlns:m="http://schemas.openxmlformats.org/officeDocument/2006/math">
                    <m:oMath>
                      <m:sSub>
                        <m:sSubPr>
                          <m:ctrlPr>
                            <a:rPr>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𝜃</m:t>
                              </m:r>
                            </m:e>
                          </m:acc>
                        </m:e>
                        <m:sub>
                          <m:r>
                            <a:rPr>
                              <a:latin typeface="Cambria Math" panose="02040503050406030204" pitchFamily="18" charset="0"/>
                            </a:rPr>
                            <m:t>𝑁</m:t>
                          </m:r>
                        </m:sub>
                      </m:sSub>
                      <m:r>
                        <a:rPr>
                          <a:latin typeface="Cambria Math" panose="02040503050406030204" pitchFamily="18" charset="0"/>
                        </a:rPr>
                        <m:t>±1.96·</m:t>
                      </m:r>
                      <m:f>
                        <m:fPr>
                          <m:ctrlPr>
                            <a:rPr i="1">
                              <a:latin typeface="Cambria Math" panose="02040503050406030204" pitchFamily="18" charset="0"/>
                            </a:rPr>
                          </m:ctrlPr>
                        </m:fPr>
                        <m:num>
                          <m:sSub>
                            <m:sSubPr>
                              <m:ctrlPr>
                                <a:rPr>
                                  <a:latin typeface="Cambria Math" panose="02040503050406030204" pitchFamily="18" charset="0"/>
                                </a:rPr>
                              </m:ctrlPr>
                            </m:sSubPr>
                            <m:e>
                              <m:r>
                                <a:rPr>
                                  <a:latin typeface="Cambria Math" panose="02040503050406030204" pitchFamily="18" charset="0"/>
                                </a:rPr>
                                <m:t>𝑠</m:t>
                              </m:r>
                            </m:e>
                            <m:sub>
                              <m:r>
                                <a:rPr>
                                  <a:latin typeface="Cambria Math" panose="02040503050406030204" pitchFamily="18" charset="0"/>
                                </a:rPr>
                                <m:t>𝑌</m:t>
                              </m:r>
                            </m:sub>
                          </m:sSub>
                        </m:num>
                        <m:den>
                          <m:rad>
                            <m:radPr>
                              <m:ctrlPr>
                                <a:rPr>
                                  <a:latin typeface="Cambria Math" panose="02040503050406030204" pitchFamily="18" charset="0"/>
                                </a:rPr>
                              </m:ctrlPr>
                            </m:radPr>
                            <m:e>
                              <m:r>
                                <a:rPr>
                                  <a:latin typeface="Cambria Math" panose="02040503050406030204" pitchFamily="18" charset="0"/>
                                </a:rPr>
                                <m:t>𝑁</m:t>
                              </m:r>
                            </m:e>
                          </m:rad>
                        </m:den>
                      </m:f>
                    </m:oMath>
                  </m:oMathPara>
                </a14:m>
                <a:endParaRPr/>
              </a:p>
            </p:txBody>
          </p:sp>
        </mc:Choice>
        <mc:Fallback>
          <p:sp>
            <p:nvSpPr>
              <p:cNvPr id="5" name="EQ_029">
                <a:extLst>
                  <a:ext uri="{FF2B5EF4-FFF2-40B4-BE49-F238E27FC236}">
                    <a16:creationId xmlns:a16="http://schemas.microsoft.com/office/drawing/2014/main" id="{050C11AC-3A85-4EF2-93A6-3B792CA10459}"/>
                  </a:ext>
                </a:extLst>
              </p:cNvPr>
              <p:cNvSpPr>
                <a:spLocks noGrp="1" noRot="1" noChangeAspect="1" noMove="1" noResize="1" noEditPoints="1" noAdjustHandles="1" noChangeArrowheads="1" noChangeShapeType="1" noTextEdit="1"/>
              </p:cNvSpPr>
              <p:nvPr/>
            </p:nvSpPr>
            <p:spPr>
              <a:xfrm>
                <a:off x="857250" y="2038350"/>
                <a:ext cx="10477500" cy="1333500"/>
              </a:xfrm>
              <a:prstGeom prst="rect">
                <a:avLst/>
              </a:prstGeom>
              <a:blipFill>
                <a:blip r:embed="rId3"/>
                <a:stretch>
                  <a:fillRect/>
                </a:stretch>
              </a:blipFill>
              <a:ln w="0">
                <a:noFill/>
              </a:ln>
            </p:spPr>
            <p:txBody>
              <a:bodyPr/>
              <a:lstStyle/>
              <a:p>
                <a:r>
                  <a:rPr lang="en-GB">
                    <a:noFill/>
                  </a:rPr>
                  <a:t> </a:t>
                </a:r>
              </a:p>
            </p:txBody>
          </p:sp>
        </mc:Fallback>
      </mc:AlternateContent>
      <p:sp>
        <p:nvSpPr>
          <p:cNvPr id="6" name="text-5">
            <a:extLst>
              <a:ext uri="{FF2B5EF4-FFF2-40B4-BE49-F238E27FC236}">
                <a16:creationId xmlns:a16="http://schemas.microsoft.com/office/drawing/2014/main" id="{58BC6695-54CC-4FF7-B9BB-8A0223308AF1}"/>
              </a:ext>
            </a:extLst>
          </p:cNvPr>
          <p:cNvSpPr>
            <a:spLocks noGrp="1"/>
          </p:cNvSpPr>
          <p:nvPr/>
        </p:nvSpPr>
        <p:spPr>
          <a:xfrm>
            <a:off x="857250" y="3819525"/>
            <a:ext cx="10477500" cy="762000"/>
          </a:xfrm>
          <a:prstGeom prst="rect">
            <a:avLst/>
          </a:prstGeom>
          <a:noFill/>
          <a:ln w="0">
            <a:noFill/>
          </a:ln>
        </p:spPr>
        <p:txBody>
          <a:bodyPr wrap="square" lIns="0" tIns="0" rIns="0" bIns="0" anchor="t">
            <a:noAutofit/>
          </a:bodyPr>
          <a:lstStyle>
            <a:lvl1pPr>
              <a:buNone/>
              <a:defRPr sz="2400" b="0">
                <a:solidFill>
                  <a:srgbClr val="17365D"/>
                </a:solidFill>
                <a:latin typeface="Aptos"/>
                <a:ea typeface="Aptos"/>
                <a:cs typeface="Aptos"/>
              </a:defRPr>
            </a:lvl1pPr>
            <a:lvl2pPr>
              <a:buNone/>
              <a:defRPr sz="2400" b="0">
                <a:solidFill>
                  <a:srgbClr val="17365D"/>
                </a:solidFill>
                <a:latin typeface="Aptos"/>
                <a:ea typeface="Aptos"/>
                <a:cs typeface="Aptos"/>
              </a:defRPr>
            </a:lvl2pPr>
            <a:lvl3pPr>
              <a:buNone/>
              <a:defRPr sz="2400" b="0">
                <a:solidFill>
                  <a:srgbClr val="17365D"/>
                </a:solidFill>
                <a:latin typeface="Aptos"/>
                <a:ea typeface="Aptos"/>
                <a:cs typeface="Aptos"/>
              </a:defRPr>
            </a:lvl3pPr>
            <a:lvl4pPr>
              <a:buNone/>
              <a:defRPr sz="2400" b="0">
                <a:solidFill>
                  <a:srgbClr val="17365D"/>
                </a:solidFill>
                <a:latin typeface="Aptos"/>
                <a:ea typeface="Aptos"/>
                <a:cs typeface="Aptos"/>
              </a:defRPr>
            </a:lvl4pPr>
            <a:lvl5pPr>
              <a:buNone/>
              <a:defRPr sz="2400" b="0">
                <a:solidFill>
                  <a:srgbClr val="17365D"/>
                </a:solidFill>
                <a:latin typeface="Aptos"/>
                <a:ea typeface="Aptos"/>
                <a:cs typeface="Aptos"/>
              </a:defRPr>
            </a:lvl5pPr>
            <a:lvl6pPr>
              <a:buNone/>
              <a:defRPr sz="2400" b="0">
                <a:solidFill>
                  <a:srgbClr val="17365D"/>
                </a:solidFill>
                <a:latin typeface="Aptos"/>
                <a:ea typeface="Aptos"/>
                <a:cs typeface="Aptos"/>
              </a:defRPr>
            </a:lvl6pPr>
            <a:lvl7pPr>
              <a:buNone/>
              <a:defRPr sz="2400" b="0">
                <a:solidFill>
                  <a:srgbClr val="17365D"/>
                </a:solidFill>
                <a:latin typeface="Aptos"/>
                <a:ea typeface="Aptos"/>
                <a:cs typeface="Aptos"/>
              </a:defRPr>
            </a:lvl7pPr>
            <a:lvl8pPr>
              <a:buNone/>
              <a:defRPr sz="2400" b="0">
                <a:solidFill>
                  <a:srgbClr val="17365D"/>
                </a:solidFill>
                <a:latin typeface="Aptos"/>
                <a:ea typeface="Aptos"/>
                <a:cs typeface="Aptos"/>
              </a:defRPr>
            </a:lvl8pPr>
            <a:lvl9pPr>
              <a:buNone/>
              <a:defRPr sz="2400" b="0">
                <a:solidFill>
                  <a:srgbClr val="17365D"/>
                </a:solidFill>
                <a:latin typeface="Aptos"/>
                <a:ea typeface="Aptos"/>
                <a:cs typeface="Aptos"/>
              </a:defRPr>
            </a:lvl9pPr>
          </a:lstStyle>
          <a:p>
            <a:pPr>
              <a:buNone/>
              <a:defRPr sz="2400" b="0">
                <a:solidFill>
                  <a:srgbClr val="17365D"/>
                </a:solidFill>
                <a:latin typeface="Aptos"/>
                <a:ea typeface="Aptos"/>
                <a:cs typeface="Aptos"/>
              </a:defRPr>
            </a:pPr>
            <a:r>
              <a:rPr sz="2400" b="0">
                <a:solidFill>
                  <a:srgbClr val="17365D"/>
                </a:solidFill>
                <a:latin typeface="Aptos"/>
                <a:ea typeface="Aptos"/>
                <a:cs typeface="Aptos"/>
              </a:rPr>
              <a:t>Replace the unknown output SD by its sample estimate sᵧ.</a:t>
            </a:r>
          </a:p>
        </p:txBody>
      </p:sp>
      <p:sp>
        <p:nvSpPr>
          <p:cNvPr id="7" name="text-6">
            <a:extLst>
              <a:ext uri="{FF2B5EF4-FFF2-40B4-BE49-F238E27FC236}">
                <a16:creationId xmlns:a16="http://schemas.microsoft.com/office/drawing/2014/main" id="{24326496-D03B-4E8F-AA88-872617B5B367}"/>
              </a:ext>
            </a:extLst>
          </p:cNvPr>
          <p:cNvSpPr>
            <a:spLocks noGrp="1"/>
          </p:cNvSpPr>
          <p:nvPr/>
        </p:nvSpPr>
        <p:spPr>
          <a:xfrm>
            <a:off x="857250" y="4857750"/>
            <a:ext cx="10477500" cy="971550"/>
          </a:xfrm>
          <a:prstGeom prst="rect">
            <a:avLst/>
          </a:prstGeom>
          <a:noFill/>
          <a:ln w="0">
            <a:noFill/>
          </a:ln>
        </p:spPr>
        <p:txBody>
          <a:bodyPr wrap="square" lIns="0" tIns="0" rIns="0" bIns="0" anchor="t">
            <a:noAutofit/>
          </a:bodyPr>
          <a:lstStyle>
            <a:lvl1pPr>
              <a:buNone/>
              <a:defRPr sz="2175" b="0">
                <a:solidFill>
                  <a:srgbClr val="17365D"/>
                </a:solidFill>
                <a:latin typeface="Aptos"/>
                <a:ea typeface="Aptos"/>
                <a:cs typeface="Aptos"/>
              </a:defRPr>
            </a:lvl1pPr>
            <a:lvl2pPr>
              <a:buNone/>
              <a:defRPr sz="2175" b="0">
                <a:solidFill>
                  <a:srgbClr val="17365D"/>
                </a:solidFill>
                <a:latin typeface="Aptos"/>
                <a:ea typeface="Aptos"/>
                <a:cs typeface="Aptos"/>
              </a:defRPr>
            </a:lvl2pPr>
            <a:lvl3pPr>
              <a:buNone/>
              <a:defRPr sz="2175" b="0">
                <a:solidFill>
                  <a:srgbClr val="17365D"/>
                </a:solidFill>
                <a:latin typeface="Aptos"/>
                <a:ea typeface="Aptos"/>
                <a:cs typeface="Aptos"/>
              </a:defRPr>
            </a:lvl3pPr>
            <a:lvl4pPr>
              <a:buNone/>
              <a:defRPr sz="2175" b="0">
                <a:solidFill>
                  <a:srgbClr val="17365D"/>
                </a:solidFill>
                <a:latin typeface="Aptos"/>
                <a:ea typeface="Aptos"/>
                <a:cs typeface="Aptos"/>
              </a:defRPr>
            </a:lvl4pPr>
            <a:lvl5pPr>
              <a:buNone/>
              <a:defRPr sz="2175" b="0">
                <a:solidFill>
                  <a:srgbClr val="17365D"/>
                </a:solidFill>
                <a:latin typeface="Aptos"/>
                <a:ea typeface="Aptos"/>
                <a:cs typeface="Aptos"/>
              </a:defRPr>
            </a:lvl5pPr>
            <a:lvl6pPr>
              <a:buNone/>
              <a:defRPr sz="2175" b="0">
                <a:solidFill>
                  <a:srgbClr val="17365D"/>
                </a:solidFill>
                <a:latin typeface="Aptos"/>
                <a:ea typeface="Aptos"/>
                <a:cs typeface="Aptos"/>
              </a:defRPr>
            </a:lvl6pPr>
            <a:lvl7pPr>
              <a:buNone/>
              <a:defRPr sz="2175" b="0">
                <a:solidFill>
                  <a:srgbClr val="17365D"/>
                </a:solidFill>
                <a:latin typeface="Aptos"/>
                <a:ea typeface="Aptos"/>
                <a:cs typeface="Aptos"/>
              </a:defRPr>
            </a:lvl7pPr>
            <a:lvl8pPr>
              <a:buNone/>
              <a:defRPr sz="2175" b="0">
                <a:solidFill>
                  <a:srgbClr val="17365D"/>
                </a:solidFill>
                <a:latin typeface="Aptos"/>
                <a:ea typeface="Aptos"/>
                <a:cs typeface="Aptos"/>
              </a:defRPr>
            </a:lvl8pPr>
            <a:lvl9pPr>
              <a:buNone/>
              <a:defRPr sz="2175" b="0">
                <a:solidFill>
                  <a:srgbClr val="17365D"/>
                </a:solidFill>
                <a:latin typeface="Aptos"/>
                <a:ea typeface="Aptos"/>
                <a:cs typeface="Aptos"/>
              </a:defRPr>
            </a:lvl9pPr>
          </a:lstStyle>
          <a:p>
            <a:pPr>
              <a:buNone/>
              <a:defRPr sz="2175" b="0">
                <a:solidFill>
                  <a:srgbClr val="17365D"/>
                </a:solidFill>
                <a:latin typeface="Aptos"/>
                <a:ea typeface="Aptos"/>
                <a:cs typeface="Aptos"/>
              </a:defRPr>
            </a:pPr>
            <a:r>
              <a:rPr sz="2175" b="0">
                <a:solidFill>
                  <a:srgbClr val="17365D"/>
                </a:solidFill>
                <a:latin typeface="Aptos"/>
                <a:ea typeface="Aptos"/>
                <a:cs typeface="Aptos"/>
              </a:rPr>
              <a:t>Across repeated runs, approximately 95% of such intervals cover the target when the approximation is adequate.</a:t>
            </a:r>
          </a:p>
        </p:txBody>
      </p:sp>
      <p:sp>
        <p:nvSpPr>
          <p:cNvPr id="8" name="text-7">
            <a:extLst>
              <a:ext uri="{FF2B5EF4-FFF2-40B4-BE49-F238E27FC236}">
                <a16:creationId xmlns:a16="http://schemas.microsoft.com/office/drawing/2014/main" id="{4B9500FB-D40C-49DF-A0E1-593CDE772602}"/>
              </a:ext>
            </a:extLst>
          </p:cNvPr>
          <p:cNvSpPr>
            <a:spLocks noGrp="1"/>
          </p:cNvSpPr>
          <p:nvPr/>
        </p:nvSpPr>
        <p:spPr>
          <a:xfrm>
            <a:off x="857250" y="6067425"/>
            <a:ext cx="10477500" cy="323850"/>
          </a:xfrm>
          <a:prstGeom prst="rect">
            <a:avLst/>
          </a:prstGeom>
          <a:noFill/>
          <a:ln w="0">
            <a:noFill/>
          </a:ln>
        </p:spPr>
        <p:txBody>
          <a:bodyPr wrap="square" lIns="0" tIns="0" rIns="0" bIns="0" anchor="t">
            <a:noAutofit/>
          </a:bodyPr>
          <a:lstStyle>
            <a:lvl1pPr>
              <a:buNone/>
              <a:defRPr sz="1875" b="0">
                <a:solidFill>
                  <a:srgbClr val="526171"/>
                </a:solidFill>
                <a:latin typeface="Aptos"/>
                <a:ea typeface="Aptos"/>
                <a:cs typeface="Aptos"/>
              </a:defRPr>
            </a:lvl1pPr>
            <a:lvl2pPr>
              <a:buNone/>
              <a:defRPr sz="1875" b="0">
                <a:solidFill>
                  <a:srgbClr val="526171"/>
                </a:solidFill>
                <a:latin typeface="Aptos"/>
                <a:ea typeface="Aptos"/>
                <a:cs typeface="Aptos"/>
              </a:defRPr>
            </a:lvl2pPr>
            <a:lvl3pPr>
              <a:buNone/>
              <a:defRPr sz="1875" b="0">
                <a:solidFill>
                  <a:srgbClr val="526171"/>
                </a:solidFill>
                <a:latin typeface="Aptos"/>
                <a:ea typeface="Aptos"/>
                <a:cs typeface="Aptos"/>
              </a:defRPr>
            </a:lvl3pPr>
            <a:lvl4pPr>
              <a:buNone/>
              <a:defRPr sz="1875" b="0">
                <a:solidFill>
                  <a:srgbClr val="526171"/>
                </a:solidFill>
                <a:latin typeface="Aptos"/>
                <a:ea typeface="Aptos"/>
                <a:cs typeface="Aptos"/>
              </a:defRPr>
            </a:lvl4pPr>
            <a:lvl5pPr>
              <a:buNone/>
              <a:defRPr sz="1875" b="0">
                <a:solidFill>
                  <a:srgbClr val="526171"/>
                </a:solidFill>
                <a:latin typeface="Aptos"/>
                <a:ea typeface="Aptos"/>
                <a:cs typeface="Aptos"/>
              </a:defRPr>
            </a:lvl5pPr>
            <a:lvl6pPr>
              <a:buNone/>
              <a:defRPr sz="1875" b="0">
                <a:solidFill>
                  <a:srgbClr val="526171"/>
                </a:solidFill>
                <a:latin typeface="Aptos"/>
                <a:ea typeface="Aptos"/>
                <a:cs typeface="Aptos"/>
              </a:defRPr>
            </a:lvl6pPr>
            <a:lvl7pPr>
              <a:buNone/>
              <a:defRPr sz="1875" b="0">
                <a:solidFill>
                  <a:srgbClr val="526171"/>
                </a:solidFill>
                <a:latin typeface="Aptos"/>
                <a:ea typeface="Aptos"/>
                <a:cs typeface="Aptos"/>
              </a:defRPr>
            </a:lvl7pPr>
            <a:lvl8pPr>
              <a:buNone/>
              <a:defRPr sz="1875" b="0">
                <a:solidFill>
                  <a:srgbClr val="526171"/>
                </a:solidFill>
                <a:latin typeface="Aptos"/>
                <a:ea typeface="Aptos"/>
                <a:cs typeface="Aptos"/>
              </a:defRPr>
            </a:lvl8pPr>
            <a:lvl9pPr>
              <a:buNone/>
              <a:defRPr sz="1875" b="0">
                <a:solidFill>
                  <a:srgbClr val="526171"/>
                </a:solidFill>
                <a:latin typeface="Aptos"/>
                <a:ea typeface="Aptos"/>
                <a:cs typeface="Aptos"/>
              </a:defRPr>
            </a:lvl9pPr>
          </a:lstStyle>
          <a:p>
            <a:pPr>
              <a:buNone/>
              <a:defRPr sz="1875" b="0">
                <a:solidFill>
                  <a:srgbClr val="526171"/>
                </a:solidFill>
                <a:latin typeface="Aptos"/>
                <a:ea typeface="Aptos"/>
                <a:cs typeface="Aptos"/>
              </a:defRPr>
            </a:pPr>
            <a:r>
              <a:rPr sz="1875" b="0">
                <a:solidFill>
                  <a:srgbClr val="526171"/>
                </a:solidFill>
                <a:latin typeface="Aptos"/>
                <a:ea typeface="Aptos"/>
                <a:cs typeface="Aptos"/>
              </a:rPr>
              <a:t>It quantifies simulation uncertainty under the chosen model.</a:t>
            </a:r>
          </a:p>
        </p:txBody>
      </p:sp>
      <p:sp>
        <p:nvSpPr>
          <p:cNvPr id="10" name="notebook-cue-slide-30">
            <a:extLst>
              <a:ext uri="{FF2B5EF4-FFF2-40B4-BE49-F238E27FC236}">
                <a16:creationId xmlns:a16="http://schemas.microsoft.com/office/drawing/2014/main" id="{8E4A1ACC-BEA2-4F46-8B50-AADEDA361D3D}"/>
              </a:ext>
            </a:extLst>
          </p:cNvPr>
          <p:cNvSpPr>
            <a:spLocks noGrp="1"/>
          </p:cNvSpPr>
          <p:nvPr/>
        </p:nvSpPr>
        <p:spPr>
          <a:xfrm>
            <a:off x="2952750" y="6429375"/>
            <a:ext cx="7620000" cy="295275"/>
          </a:xfrm>
          <a:prstGeom prst="rect">
            <a:avLst/>
          </a:prstGeom>
          <a:noFill/>
          <a:ln w="0">
            <a:noFill/>
          </a:ln>
        </p:spPr>
        <p:txBody>
          <a:bodyPr wrap="none" lIns="0" tIns="0" rIns="0" bIns="0" anchor="ctr">
            <a:noAutofit/>
          </a:bodyPr>
          <a:lstStyle>
            <a:defPPr algn="ctr">
              <a:defRPr sz="1650" b="1">
                <a:solidFill>
                  <a:srgbClr val="2F6F4E"/>
                </a:solidFill>
                <a:latin typeface="Aptos"/>
                <a:ea typeface="Aptos"/>
                <a:cs typeface="Aptos"/>
              </a:defRPr>
            </a:defPPr>
            <a:lvl1pPr algn="ctr">
              <a:defRPr sz="1650" b="1">
                <a:solidFill>
                  <a:srgbClr val="2F6F4E"/>
                </a:solidFill>
                <a:latin typeface="Aptos"/>
                <a:ea typeface="Aptos"/>
                <a:cs typeface="Aptos"/>
              </a:defRPr>
            </a:lvl1pPr>
            <a:lvl2pPr algn="ctr">
              <a:defRPr sz="1650" b="1">
                <a:solidFill>
                  <a:srgbClr val="2F6F4E"/>
                </a:solidFill>
                <a:latin typeface="Aptos"/>
                <a:ea typeface="Aptos"/>
                <a:cs typeface="Aptos"/>
              </a:defRPr>
            </a:lvl2pPr>
            <a:lvl3pPr algn="ctr">
              <a:defRPr sz="1650" b="1">
                <a:solidFill>
                  <a:srgbClr val="2F6F4E"/>
                </a:solidFill>
                <a:latin typeface="Aptos"/>
                <a:ea typeface="Aptos"/>
                <a:cs typeface="Aptos"/>
              </a:defRPr>
            </a:lvl3pPr>
            <a:lvl4pPr algn="ctr">
              <a:defRPr sz="1650" b="1">
                <a:solidFill>
                  <a:srgbClr val="2F6F4E"/>
                </a:solidFill>
                <a:latin typeface="Aptos"/>
                <a:ea typeface="Aptos"/>
                <a:cs typeface="Aptos"/>
              </a:defRPr>
            </a:lvl4pPr>
            <a:lvl5pPr algn="ctr">
              <a:defRPr sz="1650" b="1">
                <a:solidFill>
                  <a:srgbClr val="2F6F4E"/>
                </a:solidFill>
                <a:latin typeface="Aptos"/>
                <a:ea typeface="Aptos"/>
                <a:cs typeface="Aptos"/>
              </a:defRPr>
            </a:lvl5pPr>
            <a:lvl6pPr algn="ctr">
              <a:defRPr sz="1650" b="1">
                <a:solidFill>
                  <a:srgbClr val="2F6F4E"/>
                </a:solidFill>
                <a:latin typeface="Aptos"/>
                <a:ea typeface="Aptos"/>
                <a:cs typeface="Aptos"/>
              </a:defRPr>
            </a:lvl6pPr>
            <a:lvl7pPr algn="ctr">
              <a:defRPr sz="1650" b="1">
                <a:solidFill>
                  <a:srgbClr val="2F6F4E"/>
                </a:solidFill>
                <a:latin typeface="Aptos"/>
                <a:ea typeface="Aptos"/>
                <a:cs typeface="Aptos"/>
              </a:defRPr>
            </a:lvl7pPr>
            <a:lvl8pPr algn="ctr">
              <a:defRPr sz="1650" b="1">
                <a:solidFill>
                  <a:srgbClr val="2F6F4E"/>
                </a:solidFill>
                <a:latin typeface="Aptos"/>
                <a:ea typeface="Aptos"/>
                <a:cs typeface="Aptos"/>
              </a:defRPr>
            </a:lvl8pPr>
            <a:lvl9pPr algn="ctr">
              <a:defRPr sz="1650" b="1">
                <a:solidFill>
                  <a:srgbClr val="2F6F4E"/>
                </a:solidFill>
                <a:latin typeface="Aptos"/>
                <a:ea typeface="Aptos"/>
                <a:cs typeface="Aptos"/>
              </a:defRPr>
            </a:lvl9pPr>
          </a:lstStyle>
          <a:p>
            <a:pPr algn="ctr">
              <a:defRPr sz="1650" b="1">
                <a:solidFill>
                  <a:srgbClr val="2F6F4E"/>
                </a:solidFill>
                <a:latin typeface="Aptos"/>
                <a:ea typeface="Aptos"/>
                <a:cs typeface="Aptos"/>
              </a:defRPr>
            </a:pPr>
            <a:r>
              <a:rPr sz="1650" b="1">
                <a:solidFill>
                  <a:srgbClr val="2F6F4E"/>
                </a:solidFill>
                <a:latin typeface="Aptos"/>
                <a:ea typeface="Aptos"/>
                <a:cs typeface="Aptos"/>
              </a:rPr>
              <a:t>Notebook: Slide 30 (optional)</a:t>
            </a:r>
          </a:p>
        </p:txBody>
      </p:sp>
    </p:spTree>
    <p:extLst>
      <p:ext uri="{BB962C8B-B14F-4D97-AF65-F5344CB8AC3E}">
        <p14:creationId xmlns:p14="http://schemas.microsoft.com/office/powerpoint/2010/main" val="6946258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F7E158B5-A964-48BF-9EBB-A7980D6CA5E1}"/>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Reporting the warehouse result</a:t>
            </a:r>
          </a:p>
        </p:txBody>
      </p:sp>
      <p:sp>
        <p:nvSpPr>
          <p:cNvPr id="2" name="Straight Connector 1">
            <a:extLst>
              <a:ext uri="{FF2B5EF4-FFF2-40B4-BE49-F238E27FC236}">
                <a16:creationId xmlns:a16="http://schemas.microsoft.com/office/drawing/2014/main" id="{9D7C6288-6052-425D-8926-8EB4A46956E2}"/>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61F40919-50ED-43BB-89D7-B4C72D182CA1}"/>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BF61B507-6997-4C9E-AC1A-08AB999D8DE8}"/>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31</a:t>
            </a:r>
          </a:p>
        </p:txBody>
      </p:sp>
      <p:graphicFrame>
        <p:nvGraphicFramePr>
          <p:cNvPr id="13" name="Table 12"/>
          <p:cNvGraphicFramePr/>
          <p:nvPr/>
        </p:nvGraphicFramePr>
        <p:xfrm>
          <a:off x="857250" y="1695450"/>
          <a:ext cx="10477500" cy="3143250"/>
        </p:xfrm>
        <a:graphic>
          <a:graphicData uri="http://schemas.openxmlformats.org/drawingml/2006/table">
            <a:tbl>
              <a:tblPr firstRow="1"/>
              <a:tblGrid>
                <a:gridCol w="5667375">
                  <a:extLst>
                    <a:ext uri="{9D8B030D-6E8A-4147-A177-3AD203B41FA5}">
                      <a16:colId xmlns:a16="http://schemas.microsoft.com/office/drawing/2014/main" val="20000"/>
                    </a:ext>
                  </a:extLst>
                </a:gridCol>
                <a:gridCol w="4810125">
                  <a:extLst>
                    <a:ext uri="{9D8B030D-6E8A-4147-A177-3AD203B41FA5}">
                      <a16:colId xmlns:a16="http://schemas.microsoft.com/office/drawing/2014/main" val="20001"/>
                    </a:ext>
                  </a:extLst>
                </a:gridCol>
              </a:tblGrid>
              <a:tr h="628650">
                <a:tc>
                  <a:txBody>
                    <a:bodyPr/>
                    <a:lstStyle/>
                    <a:p>
                      <a:r>
                        <a:rPr sz="2175" b="1">
                          <a:solidFill>
                            <a:srgbClr val="FFFFFF"/>
                          </a:solidFill>
                          <a:latin typeface="Aptos"/>
                          <a:ea typeface="Aptos"/>
                          <a:cs typeface="Aptos"/>
                        </a:rPr>
                        <a:t>Simulation</a:t>
                      </a:r>
                    </a:p>
                  </a:txBody>
                  <a:tcPr anchor="ctr">
                    <a:lnL w="6191">
                      <a:solidFill>
                        <a:srgbClr val="DDE5EC"/>
                      </a:solidFill>
                      <a:prstDash val="soli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tc>
                  <a:txBody>
                    <a:bodyPr/>
                    <a:lstStyle/>
                    <a:p>
                      <a:r>
                        <a:rPr sz="2175" b="1">
                          <a:solidFill>
                            <a:srgbClr val="FFFFFF"/>
                          </a:solidFill>
                          <a:latin typeface="Aptos"/>
                          <a:ea typeface="Aptos"/>
                          <a:cs typeface="Aptos"/>
                        </a:rPr>
                        <a:t>Result</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extLst>
                  <a:ext uri="{0D108BD9-81ED-4DB2-BD59-A6C34878D82A}">
                    <a16:rowId xmlns:a16="http://schemas.microsoft.com/office/drawing/2014/main" val="10000"/>
                  </a:ext>
                </a:extLst>
              </a:tr>
              <a:tr h="628650">
                <a:tc>
                  <a:txBody>
                    <a:bodyPr/>
                    <a:lstStyle/>
                    <a:p>
                      <a:r>
                        <a:rPr sz="2175" b="0">
                          <a:solidFill>
                            <a:srgbClr val="17365D"/>
                          </a:solidFill>
                          <a:latin typeface="Aptos"/>
                          <a:ea typeface="Aptos"/>
                          <a:cs typeface="Aptos"/>
                        </a:rPr>
                        <a:t>Independent mornings</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75" b="0">
                          <a:solidFill>
                            <a:srgbClr val="17365D"/>
                          </a:solidFill>
                          <a:latin typeface="Aptos"/>
                          <a:ea typeface="Aptos"/>
                          <a:cs typeface="Aptos"/>
                        </a:rPr>
                        <a:t>100,000</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1"/>
                  </a:ext>
                </a:extLst>
              </a:tr>
              <a:tr h="628650">
                <a:tc>
                  <a:txBody>
                    <a:bodyPr/>
                    <a:lstStyle/>
                    <a:p>
                      <a:r>
                        <a:rPr sz="2175" b="0">
                          <a:solidFill>
                            <a:srgbClr val="17365D"/>
                          </a:solidFill>
                          <a:latin typeface="Aptos"/>
                          <a:ea typeface="Aptos"/>
                          <a:cs typeface="Aptos"/>
                        </a:rPr>
                        <a:t>Estimated probability</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75" b="0">
                          <a:solidFill>
                            <a:srgbClr val="17365D"/>
                          </a:solidFill>
                          <a:latin typeface="Aptos"/>
                          <a:ea typeface="Aptos"/>
                          <a:cs typeface="Aptos"/>
                        </a:rPr>
                        <a:t>0.96818</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2"/>
                  </a:ext>
                </a:extLst>
              </a:tr>
              <a:tr h="628650">
                <a:tc>
                  <a:txBody>
                    <a:bodyPr/>
                    <a:lstStyle/>
                    <a:p>
                      <a:r>
                        <a:rPr sz="2175" b="0">
                          <a:solidFill>
                            <a:srgbClr val="17365D"/>
                          </a:solidFill>
                          <a:latin typeface="Aptos"/>
                          <a:ea typeface="Aptos"/>
                          <a:cs typeface="Aptos"/>
                        </a:rPr>
                        <a:t>Estimated Monte Carlo SE</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75" b="0">
                          <a:solidFill>
                            <a:srgbClr val="17365D"/>
                          </a:solidFill>
                          <a:latin typeface="Aptos"/>
                          <a:ea typeface="Aptos"/>
                          <a:cs typeface="Aptos"/>
                        </a:rPr>
                        <a:t>0.000555</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3"/>
                  </a:ext>
                </a:extLst>
              </a:tr>
              <a:tr h="628650">
                <a:tc>
                  <a:txBody>
                    <a:bodyPr/>
                    <a:lstStyle/>
                    <a:p>
                      <a:r>
                        <a:rPr sz="2175" b="0">
                          <a:solidFill>
                            <a:srgbClr val="17365D"/>
                          </a:solidFill>
                          <a:latin typeface="Aptos"/>
                          <a:ea typeface="Aptos"/>
                          <a:cs typeface="Aptos"/>
                        </a:rPr>
                        <a:t>Approximate 95% interval</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75" b="0">
                          <a:solidFill>
                            <a:srgbClr val="17365D"/>
                          </a:solidFill>
                          <a:latin typeface="Aptos"/>
                          <a:ea typeface="Aptos"/>
                          <a:cs typeface="Aptos"/>
                        </a:rPr>
                        <a:t>[0.96709, 0.96927]</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6" name="text-4">
            <a:extLst>
              <a:ext uri="{FF2B5EF4-FFF2-40B4-BE49-F238E27FC236}">
                <a16:creationId xmlns:a16="http://schemas.microsoft.com/office/drawing/2014/main" id="{D844E08D-7E2A-41E6-90B7-A9ECFE42E169}"/>
              </a:ext>
            </a:extLst>
          </p:cNvPr>
          <p:cNvSpPr>
            <a:spLocks noGrp="1"/>
          </p:cNvSpPr>
          <p:nvPr/>
        </p:nvSpPr>
        <p:spPr>
          <a:xfrm>
            <a:off x="857250" y="5276850"/>
            <a:ext cx="10477500" cy="714375"/>
          </a:xfrm>
          <a:prstGeom prst="rect">
            <a:avLst/>
          </a:prstGeom>
          <a:noFill/>
          <a:ln w="0">
            <a:noFill/>
          </a:ln>
        </p:spPr>
        <p:txBody>
          <a:bodyPr wrap="square" lIns="0" tIns="0" rIns="0" bIns="0" anchor="t">
            <a:noAutofit/>
          </a:bodyPr>
          <a:lstStyle>
            <a:lvl1pPr>
              <a:buNone/>
              <a:defRPr sz="2475" b="0">
                <a:solidFill>
                  <a:srgbClr val="2D75A3"/>
                </a:solidFill>
                <a:latin typeface="Aptos"/>
                <a:ea typeface="Aptos"/>
                <a:cs typeface="Aptos"/>
              </a:defRPr>
            </a:lvl1pPr>
            <a:lvl2pPr>
              <a:buNone/>
              <a:defRPr sz="2475" b="0">
                <a:solidFill>
                  <a:srgbClr val="2D75A3"/>
                </a:solidFill>
                <a:latin typeface="Aptos"/>
                <a:ea typeface="Aptos"/>
                <a:cs typeface="Aptos"/>
              </a:defRPr>
            </a:lvl2pPr>
            <a:lvl3pPr>
              <a:buNone/>
              <a:defRPr sz="2475" b="0">
                <a:solidFill>
                  <a:srgbClr val="2D75A3"/>
                </a:solidFill>
                <a:latin typeface="Aptos"/>
                <a:ea typeface="Aptos"/>
                <a:cs typeface="Aptos"/>
              </a:defRPr>
            </a:lvl3pPr>
            <a:lvl4pPr>
              <a:buNone/>
              <a:defRPr sz="2475" b="0">
                <a:solidFill>
                  <a:srgbClr val="2D75A3"/>
                </a:solidFill>
                <a:latin typeface="Aptos"/>
                <a:ea typeface="Aptos"/>
                <a:cs typeface="Aptos"/>
              </a:defRPr>
            </a:lvl4pPr>
            <a:lvl5pPr>
              <a:buNone/>
              <a:defRPr sz="2475" b="0">
                <a:solidFill>
                  <a:srgbClr val="2D75A3"/>
                </a:solidFill>
                <a:latin typeface="Aptos"/>
                <a:ea typeface="Aptos"/>
                <a:cs typeface="Aptos"/>
              </a:defRPr>
            </a:lvl5pPr>
            <a:lvl6pPr>
              <a:buNone/>
              <a:defRPr sz="2475" b="0">
                <a:solidFill>
                  <a:srgbClr val="2D75A3"/>
                </a:solidFill>
                <a:latin typeface="Aptos"/>
                <a:ea typeface="Aptos"/>
                <a:cs typeface="Aptos"/>
              </a:defRPr>
            </a:lvl6pPr>
            <a:lvl7pPr>
              <a:buNone/>
              <a:defRPr sz="2475" b="0">
                <a:solidFill>
                  <a:srgbClr val="2D75A3"/>
                </a:solidFill>
                <a:latin typeface="Aptos"/>
                <a:ea typeface="Aptos"/>
                <a:cs typeface="Aptos"/>
              </a:defRPr>
            </a:lvl7pPr>
            <a:lvl8pPr>
              <a:buNone/>
              <a:defRPr sz="2475" b="0">
                <a:solidFill>
                  <a:srgbClr val="2D75A3"/>
                </a:solidFill>
                <a:latin typeface="Aptos"/>
                <a:ea typeface="Aptos"/>
                <a:cs typeface="Aptos"/>
              </a:defRPr>
            </a:lvl8pPr>
            <a:lvl9pPr>
              <a:buNone/>
              <a:defRPr sz="2475" b="0">
                <a:solidFill>
                  <a:srgbClr val="2D75A3"/>
                </a:solidFill>
                <a:latin typeface="Aptos"/>
                <a:ea typeface="Aptos"/>
                <a:cs typeface="Aptos"/>
              </a:defRPr>
            </a:lvl9pPr>
          </a:lstStyle>
          <a:p>
            <a:pPr>
              <a:buNone/>
              <a:defRPr sz="2475" b="0">
                <a:solidFill>
                  <a:srgbClr val="2D75A3"/>
                </a:solidFill>
                <a:latin typeface="Aptos"/>
                <a:ea typeface="Aptos"/>
                <a:cs typeface="Aptos"/>
              </a:defRPr>
            </a:pPr>
            <a:r>
              <a:rPr sz="2475" b="0">
                <a:solidFill>
                  <a:srgbClr val="2D75A3"/>
                </a:solidFill>
                <a:latin typeface="Aptos"/>
                <a:ea typeface="Aptos"/>
                <a:cs typeface="Aptos"/>
              </a:rPr>
              <a:t>Under this model, about 96.8% of mornings fit within capacity.</a:t>
            </a:r>
          </a:p>
        </p:txBody>
      </p:sp>
      <p:sp>
        <p:nvSpPr>
          <p:cNvPr id="14" name="notebook-cue-slide-31">
            <a:extLst>
              <a:ext uri="{FF2B5EF4-FFF2-40B4-BE49-F238E27FC236}">
                <a16:creationId xmlns:a16="http://schemas.microsoft.com/office/drawing/2014/main" id="{9911ADC6-F471-458A-9896-1015D2EE8C77}"/>
              </a:ext>
            </a:extLst>
          </p:cNvPr>
          <p:cNvSpPr>
            <a:spLocks noGrp="1"/>
          </p:cNvSpPr>
          <p:nvPr/>
        </p:nvSpPr>
        <p:spPr>
          <a:xfrm>
            <a:off x="2952750" y="6429375"/>
            <a:ext cx="7620000" cy="295275"/>
          </a:xfrm>
          <a:prstGeom prst="rect">
            <a:avLst/>
          </a:prstGeom>
          <a:noFill/>
          <a:ln w="0">
            <a:noFill/>
          </a:ln>
        </p:spPr>
        <p:txBody>
          <a:bodyPr wrap="none" lIns="0" tIns="0" rIns="0" bIns="0" anchor="ctr">
            <a:noAutofit/>
          </a:bodyPr>
          <a:lstStyle>
            <a:defPPr algn="ctr">
              <a:defRPr sz="1650" b="1">
                <a:solidFill>
                  <a:srgbClr val="2F6F4E"/>
                </a:solidFill>
                <a:latin typeface="Aptos"/>
                <a:ea typeface="Aptos"/>
                <a:cs typeface="Aptos"/>
              </a:defRPr>
            </a:defPPr>
            <a:lvl1pPr algn="ctr">
              <a:defRPr sz="1650" b="1">
                <a:solidFill>
                  <a:srgbClr val="2F6F4E"/>
                </a:solidFill>
                <a:latin typeface="Aptos"/>
                <a:ea typeface="Aptos"/>
                <a:cs typeface="Aptos"/>
              </a:defRPr>
            </a:lvl1pPr>
            <a:lvl2pPr algn="ctr">
              <a:defRPr sz="1650" b="1">
                <a:solidFill>
                  <a:srgbClr val="2F6F4E"/>
                </a:solidFill>
                <a:latin typeface="Aptos"/>
                <a:ea typeface="Aptos"/>
                <a:cs typeface="Aptos"/>
              </a:defRPr>
            </a:lvl2pPr>
            <a:lvl3pPr algn="ctr">
              <a:defRPr sz="1650" b="1">
                <a:solidFill>
                  <a:srgbClr val="2F6F4E"/>
                </a:solidFill>
                <a:latin typeface="Aptos"/>
                <a:ea typeface="Aptos"/>
                <a:cs typeface="Aptos"/>
              </a:defRPr>
            </a:lvl3pPr>
            <a:lvl4pPr algn="ctr">
              <a:defRPr sz="1650" b="1">
                <a:solidFill>
                  <a:srgbClr val="2F6F4E"/>
                </a:solidFill>
                <a:latin typeface="Aptos"/>
                <a:ea typeface="Aptos"/>
                <a:cs typeface="Aptos"/>
              </a:defRPr>
            </a:lvl4pPr>
            <a:lvl5pPr algn="ctr">
              <a:defRPr sz="1650" b="1">
                <a:solidFill>
                  <a:srgbClr val="2F6F4E"/>
                </a:solidFill>
                <a:latin typeface="Aptos"/>
                <a:ea typeface="Aptos"/>
                <a:cs typeface="Aptos"/>
              </a:defRPr>
            </a:lvl5pPr>
            <a:lvl6pPr algn="ctr">
              <a:defRPr sz="1650" b="1">
                <a:solidFill>
                  <a:srgbClr val="2F6F4E"/>
                </a:solidFill>
                <a:latin typeface="Aptos"/>
                <a:ea typeface="Aptos"/>
                <a:cs typeface="Aptos"/>
              </a:defRPr>
            </a:lvl6pPr>
            <a:lvl7pPr algn="ctr">
              <a:defRPr sz="1650" b="1">
                <a:solidFill>
                  <a:srgbClr val="2F6F4E"/>
                </a:solidFill>
                <a:latin typeface="Aptos"/>
                <a:ea typeface="Aptos"/>
                <a:cs typeface="Aptos"/>
              </a:defRPr>
            </a:lvl7pPr>
            <a:lvl8pPr algn="ctr">
              <a:defRPr sz="1650" b="1">
                <a:solidFill>
                  <a:srgbClr val="2F6F4E"/>
                </a:solidFill>
                <a:latin typeface="Aptos"/>
                <a:ea typeface="Aptos"/>
                <a:cs typeface="Aptos"/>
              </a:defRPr>
            </a:lvl8pPr>
            <a:lvl9pPr algn="ctr">
              <a:defRPr sz="1650" b="1">
                <a:solidFill>
                  <a:srgbClr val="2F6F4E"/>
                </a:solidFill>
                <a:latin typeface="Aptos"/>
                <a:ea typeface="Aptos"/>
                <a:cs typeface="Aptos"/>
              </a:defRPr>
            </a:lvl9pPr>
          </a:lstStyle>
          <a:p>
            <a:pPr algn="ctr">
              <a:defRPr sz="1650" b="1">
                <a:solidFill>
                  <a:srgbClr val="2F6F4E"/>
                </a:solidFill>
                <a:latin typeface="Aptos"/>
                <a:ea typeface="Aptos"/>
                <a:cs typeface="Aptos"/>
              </a:defRPr>
            </a:pPr>
            <a:r>
              <a:rPr sz="1650" b="1">
                <a:solidFill>
                  <a:srgbClr val="2F6F4E"/>
                </a:solidFill>
                <a:latin typeface="Aptos"/>
                <a:ea typeface="Aptos"/>
                <a:cs typeface="Aptos"/>
              </a:rPr>
              <a:t>Notebook: Slide 31 (optional)</a:t>
            </a:r>
          </a:p>
        </p:txBody>
      </p:sp>
    </p:spTree>
    <p:extLst>
      <p:ext uri="{BB962C8B-B14F-4D97-AF65-F5344CB8AC3E}">
        <p14:creationId xmlns:p14="http://schemas.microsoft.com/office/powerpoint/2010/main" val="16928441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231D83E5-D59D-42C4-8CDE-3443C72C1838}"/>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Choosing the number of Monte Carlo trials</a:t>
            </a:r>
          </a:p>
        </p:txBody>
      </p:sp>
      <p:sp>
        <p:nvSpPr>
          <p:cNvPr id="2" name="Straight Connector 1">
            <a:extLst>
              <a:ext uri="{FF2B5EF4-FFF2-40B4-BE49-F238E27FC236}">
                <a16:creationId xmlns:a16="http://schemas.microsoft.com/office/drawing/2014/main" id="{5F4A0DF4-3104-4C2B-81CC-6EB3EFAB0DB1}"/>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50F240B8-D717-49AD-846D-A07734481E5E}"/>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3305146C-56F3-4065-8D88-927598A67F2D}"/>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32</a:t>
            </a:r>
          </a:p>
        </p:txBody>
      </p:sp>
      <p:sp>
        <p:nvSpPr>
          <p:cNvPr id="5" name="text-4">
            <a:extLst>
              <a:ext uri="{FF2B5EF4-FFF2-40B4-BE49-F238E27FC236}">
                <a16:creationId xmlns:a16="http://schemas.microsoft.com/office/drawing/2014/main" id="{511C013F-AA41-4C9B-A884-5644244521D2}"/>
              </a:ext>
            </a:extLst>
          </p:cNvPr>
          <p:cNvSpPr>
            <a:spLocks noGrp="1"/>
          </p:cNvSpPr>
          <p:nvPr/>
        </p:nvSpPr>
        <p:spPr>
          <a:xfrm>
            <a:off x="857250" y="1685925"/>
            <a:ext cx="10477500" cy="552450"/>
          </a:xfrm>
          <a:prstGeom prst="rect">
            <a:avLst/>
          </a:prstGeom>
          <a:noFill/>
          <a:ln w="0">
            <a:noFill/>
          </a:ln>
        </p:spPr>
        <p:txBody>
          <a:bodyPr wrap="square" lIns="0" tIns="0" rIns="0" bIns="0" anchor="t">
            <a:noAutofit/>
          </a:bodyPr>
          <a:lstStyle>
            <a:lvl1pPr>
              <a:buNone/>
              <a:defRPr sz="2325" b="0">
                <a:solidFill>
                  <a:srgbClr val="17365D"/>
                </a:solidFill>
                <a:latin typeface="Aptos"/>
                <a:ea typeface="Aptos"/>
                <a:cs typeface="Aptos"/>
              </a:defRPr>
            </a:lvl1pPr>
            <a:lvl2pPr>
              <a:buNone/>
              <a:defRPr sz="2325" b="0">
                <a:solidFill>
                  <a:srgbClr val="17365D"/>
                </a:solidFill>
                <a:latin typeface="Aptos"/>
                <a:ea typeface="Aptos"/>
                <a:cs typeface="Aptos"/>
              </a:defRPr>
            </a:lvl2pPr>
            <a:lvl3pPr>
              <a:buNone/>
              <a:defRPr sz="2325" b="0">
                <a:solidFill>
                  <a:srgbClr val="17365D"/>
                </a:solidFill>
                <a:latin typeface="Aptos"/>
                <a:ea typeface="Aptos"/>
                <a:cs typeface="Aptos"/>
              </a:defRPr>
            </a:lvl3pPr>
            <a:lvl4pPr>
              <a:buNone/>
              <a:defRPr sz="2325" b="0">
                <a:solidFill>
                  <a:srgbClr val="17365D"/>
                </a:solidFill>
                <a:latin typeface="Aptos"/>
                <a:ea typeface="Aptos"/>
                <a:cs typeface="Aptos"/>
              </a:defRPr>
            </a:lvl4pPr>
            <a:lvl5pPr>
              <a:buNone/>
              <a:defRPr sz="2325" b="0">
                <a:solidFill>
                  <a:srgbClr val="17365D"/>
                </a:solidFill>
                <a:latin typeface="Aptos"/>
                <a:ea typeface="Aptos"/>
                <a:cs typeface="Aptos"/>
              </a:defRPr>
            </a:lvl5pPr>
            <a:lvl6pPr>
              <a:buNone/>
              <a:defRPr sz="2325" b="0">
                <a:solidFill>
                  <a:srgbClr val="17365D"/>
                </a:solidFill>
                <a:latin typeface="Aptos"/>
                <a:ea typeface="Aptos"/>
                <a:cs typeface="Aptos"/>
              </a:defRPr>
            </a:lvl6pPr>
            <a:lvl7pPr>
              <a:buNone/>
              <a:defRPr sz="2325" b="0">
                <a:solidFill>
                  <a:srgbClr val="17365D"/>
                </a:solidFill>
                <a:latin typeface="Aptos"/>
                <a:ea typeface="Aptos"/>
                <a:cs typeface="Aptos"/>
              </a:defRPr>
            </a:lvl7pPr>
            <a:lvl8pPr>
              <a:buNone/>
              <a:defRPr sz="2325" b="0">
                <a:solidFill>
                  <a:srgbClr val="17365D"/>
                </a:solidFill>
                <a:latin typeface="Aptos"/>
                <a:ea typeface="Aptos"/>
                <a:cs typeface="Aptos"/>
              </a:defRPr>
            </a:lvl8pPr>
            <a:lvl9pPr>
              <a:buNone/>
              <a:defRPr sz="2325" b="0">
                <a:solidFill>
                  <a:srgbClr val="17365D"/>
                </a:solidFill>
                <a:latin typeface="Aptos"/>
                <a:ea typeface="Aptos"/>
                <a:cs typeface="Aptos"/>
              </a:defRPr>
            </a:lvl9pPr>
          </a:lstStyle>
          <a:p>
            <a:pPr>
              <a:buNone/>
              <a:defRPr sz="2325" b="0">
                <a:solidFill>
                  <a:srgbClr val="17365D"/>
                </a:solidFill>
                <a:latin typeface="Aptos"/>
                <a:ea typeface="Aptos"/>
                <a:cs typeface="Aptos"/>
              </a:defRPr>
            </a:pPr>
            <a:r>
              <a:rPr sz="2325" b="0">
                <a:solidFill>
                  <a:srgbClr val="17365D"/>
                </a:solidFill>
                <a:latin typeface="Aptos"/>
                <a:ea typeface="Aptos"/>
                <a:cs typeface="Aptos"/>
              </a:rPr>
              <a:t>For a target standard error a:</a:t>
            </a:r>
          </a:p>
        </p:txBody>
      </p:sp>
      <mc:AlternateContent xmlns:mc="http://schemas.openxmlformats.org/markup-compatibility/2006">
        <mc:Choice xmlns:a14="http://schemas.microsoft.com/office/drawing/2010/main" Requires="a14">
          <p:sp>
            <p:nvSpPr>
              <p:cNvPr id="6" name="EQ_030">
                <a:extLst>
                  <a:ext uri="{FF2B5EF4-FFF2-40B4-BE49-F238E27FC236}">
                    <a16:creationId xmlns:a16="http://schemas.microsoft.com/office/drawing/2014/main" id="{C7CA85BB-B501-4B05-A811-84FB2C5A79FA}"/>
                  </a:ext>
                </a:extLst>
              </p:cNvPr>
              <p:cNvSpPr>
                <a:spLocks noGrp="1"/>
              </p:cNvSpPr>
              <p:nvPr/>
            </p:nvSpPr>
            <p:spPr>
              <a:xfrm>
                <a:off x="857250" y="2352675"/>
                <a:ext cx="10477500" cy="1285875"/>
              </a:xfrm>
              <a:prstGeom prst="rect">
                <a:avLst/>
              </a:prstGeom>
              <a:noFill/>
              <a:ln w="0">
                <a:noFill/>
              </a:ln>
            </p:spPr>
            <p:txBody>
              <a:bodyPr wrap="none" lIns="0" tIns="0" rIns="0" bIns="0" anchor="ctr">
                <a:noAutofit/>
              </a:bodyPr>
              <a:lstStyle>
                <a:lvl1pPr algn="l">
                  <a:buNone/>
                  <a:defRPr sz="3200">
                    <a:solidFill>
                      <a:srgbClr val="17365D"/>
                    </a:solidFill>
                    <a:latin typeface="Cambria Math"/>
                    <a:ea typeface="Cambria Math"/>
                    <a:cs typeface="Cambria Math"/>
                  </a:defRPr>
                </a:lvl1pPr>
                <a:lvl2pPr algn="l">
                  <a:buNone/>
                  <a:defRPr sz="3200">
                    <a:solidFill>
                      <a:srgbClr val="17365D"/>
                    </a:solidFill>
                    <a:latin typeface="Cambria Math"/>
                    <a:ea typeface="Cambria Math"/>
                    <a:cs typeface="Cambria Math"/>
                  </a:defRPr>
                </a:lvl2pPr>
                <a:lvl3pPr algn="l">
                  <a:buNone/>
                  <a:defRPr sz="3200">
                    <a:solidFill>
                      <a:srgbClr val="17365D"/>
                    </a:solidFill>
                    <a:latin typeface="Cambria Math"/>
                    <a:ea typeface="Cambria Math"/>
                    <a:cs typeface="Cambria Math"/>
                  </a:defRPr>
                </a:lvl3pPr>
                <a:lvl4pPr algn="l">
                  <a:buNone/>
                  <a:defRPr sz="3200">
                    <a:solidFill>
                      <a:srgbClr val="17365D"/>
                    </a:solidFill>
                    <a:latin typeface="Cambria Math"/>
                    <a:ea typeface="Cambria Math"/>
                    <a:cs typeface="Cambria Math"/>
                  </a:defRPr>
                </a:lvl4pPr>
                <a:lvl5pPr algn="l">
                  <a:buNone/>
                  <a:defRPr sz="3200">
                    <a:solidFill>
                      <a:srgbClr val="17365D"/>
                    </a:solidFill>
                    <a:latin typeface="Cambria Math"/>
                    <a:ea typeface="Cambria Math"/>
                    <a:cs typeface="Cambria Math"/>
                  </a:defRPr>
                </a:lvl5pPr>
                <a:lvl6pPr algn="l">
                  <a:buNone/>
                  <a:defRPr sz="3200">
                    <a:solidFill>
                      <a:srgbClr val="17365D"/>
                    </a:solidFill>
                    <a:latin typeface="Cambria Math"/>
                    <a:ea typeface="Cambria Math"/>
                    <a:cs typeface="Cambria Math"/>
                  </a:defRPr>
                </a:lvl6pPr>
                <a:lvl7pPr algn="l">
                  <a:buNone/>
                  <a:defRPr sz="3200">
                    <a:solidFill>
                      <a:srgbClr val="17365D"/>
                    </a:solidFill>
                    <a:latin typeface="Cambria Math"/>
                    <a:ea typeface="Cambria Math"/>
                    <a:cs typeface="Cambria Math"/>
                  </a:defRPr>
                </a:lvl7pPr>
                <a:lvl8pPr algn="l">
                  <a:buNone/>
                  <a:defRPr sz="3200">
                    <a:solidFill>
                      <a:srgbClr val="17365D"/>
                    </a:solidFill>
                    <a:latin typeface="Cambria Math"/>
                    <a:ea typeface="Cambria Math"/>
                    <a:cs typeface="Cambria Math"/>
                  </a:defRPr>
                </a:lvl8pPr>
                <a:lvl9pPr algn="l">
                  <a:buNone/>
                  <a:defRPr sz="3200">
                    <a:solidFill>
                      <a:srgbClr val="17365D"/>
                    </a:solidFill>
                    <a:latin typeface="Cambria Math"/>
                    <a:ea typeface="Cambria Math"/>
                    <a:cs typeface="Cambria Math"/>
                  </a:defRPr>
                </a:lvl9pPr>
              </a:lstStyle>
              <a:p>
                <a:pPr>
                  <a:buNone/>
                  <a:defRPr sz="3200">
                    <a:solidFill>
                      <a:srgbClr val="17365D"/>
                    </a:solidFill>
                  </a:defRPr>
                </a:pPr>
                <a14:m>
                  <m:oMathPara xmlns:m="http://schemas.openxmlformats.org/officeDocument/2006/math">
                    <m:oMath>
                      <m:f>
                        <m:fPr>
                          <m:ctrlPr>
                            <a:rPr>
                              <a:latin typeface="Cambria Math" panose="02040503050406030204" pitchFamily="18" charset="0"/>
                            </a:rPr>
                          </m:ctrlPr>
                        </m:fPr>
                        <m:num>
                          <m:sSub>
                            <m:sSubPr>
                              <m:ctrlPr>
                                <a:rPr>
                                  <a:latin typeface="Cambria Math" panose="02040503050406030204" pitchFamily="18" charset="0"/>
                                </a:rPr>
                              </m:ctrlPr>
                            </m:sSubPr>
                            <m:e>
                              <m:r>
                                <a:rPr>
                                  <a:latin typeface="Cambria Math" panose="02040503050406030204" pitchFamily="18" charset="0"/>
                                </a:rPr>
                                <m:t>𝜎</m:t>
                              </m:r>
                            </m:e>
                            <m:sub>
                              <m:r>
                                <a:rPr>
                                  <a:latin typeface="Cambria Math" panose="02040503050406030204" pitchFamily="18" charset="0"/>
                                </a:rPr>
                                <m:t>𝑌</m:t>
                              </m:r>
                            </m:sub>
                          </m:sSub>
                        </m:num>
                        <m:den>
                          <m:rad>
                            <m:radPr>
                              <m:ctrlPr>
                                <a:rPr>
                                  <a:latin typeface="Cambria Math" panose="02040503050406030204" pitchFamily="18" charset="0"/>
                                </a:rPr>
                              </m:ctrlPr>
                            </m:radPr>
                            <m:e>
                              <m:r>
                                <a:rPr>
                                  <a:latin typeface="Cambria Math" panose="02040503050406030204" pitchFamily="18" charset="0"/>
                                </a:rPr>
                                <m:t>𝑁</m:t>
                              </m:r>
                            </m:e>
                          </m:rad>
                        </m:den>
                      </m:f>
                      <m:r>
                        <a:rPr>
                          <a:latin typeface="Cambria Math" panose="02040503050406030204" pitchFamily="18" charset="0"/>
                        </a:rPr>
                        <m:t>≤</m:t>
                      </m:r>
                      <m:r>
                        <a:rPr>
                          <a:latin typeface="Cambria Math" panose="02040503050406030204" pitchFamily="18" charset="0"/>
                        </a:rPr>
                        <m:t>𝑎</m:t>
                      </m:r>
                      <m:r>
                        <a:rPr>
                          <a:latin typeface="Cambria Math" panose="02040503050406030204" pitchFamily="18" charset="0"/>
                        </a:rPr>
                        <m:t>    </m:t>
                      </m:r>
                      <m:r>
                        <a:rPr>
                          <a:latin typeface="Cambria Math" panose="02040503050406030204" pitchFamily="18" charset="0"/>
                        </a:rPr>
                        <m:t>𝑟𝑒𝑞𝑢𝑖𝑟𝑒𝑠</m:t>
                      </m:r>
                      <m:r>
                        <a:rPr>
                          <a:latin typeface="Cambria Math" panose="02040503050406030204" pitchFamily="18" charset="0"/>
                        </a:rPr>
                        <m:t>    </m:t>
                      </m:r>
                      <m:r>
                        <a:rPr>
                          <a:latin typeface="Cambria Math" panose="02040503050406030204" pitchFamily="18" charset="0"/>
                        </a:rPr>
                        <m:t>𝑁</m:t>
                      </m:r>
                      <m:r>
                        <a:rPr>
                          <a:latin typeface="Cambria Math" panose="02040503050406030204" pitchFamily="18" charset="0"/>
                        </a:rPr>
                        <m:t>≥</m:t>
                      </m:r>
                      <m:f>
                        <m:fPr>
                          <m:ctrlPr>
                            <a:rPr i="1">
                              <a:latin typeface="Cambria Math" panose="02040503050406030204" pitchFamily="18" charset="0"/>
                            </a:rPr>
                          </m:ctrlPr>
                        </m:fPr>
                        <m:num>
                          <m:sSup>
                            <m:sSupPr>
                              <m:ctrlPr>
                                <a:rPr i="1">
                                  <a:latin typeface="Cambria Math" panose="02040503050406030204" pitchFamily="18" charset="0"/>
                                </a:rPr>
                              </m:ctrlPr>
                            </m:sSupPr>
                            <m:e>
                              <m:sSub>
                                <m:sSubPr>
                                  <m:ctrlPr>
                                    <a:rPr>
                                      <a:latin typeface="Cambria Math" panose="02040503050406030204" pitchFamily="18" charset="0"/>
                                    </a:rPr>
                                  </m:ctrlPr>
                                </m:sSubPr>
                                <m:e>
                                  <m:r>
                                    <a:rPr>
                                      <a:latin typeface="Cambria Math" panose="02040503050406030204" pitchFamily="18" charset="0"/>
                                    </a:rPr>
                                    <m:t>𝜎</m:t>
                                  </m:r>
                                </m:e>
                                <m:sub>
                                  <m:r>
                                    <a:rPr>
                                      <a:latin typeface="Cambria Math" panose="02040503050406030204" pitchFamily="18" charset="0"/>
                                    </a:rPr>
                                    <m:t>𝑌</m:t>
                                  </m:r>
                                </m:sub>
                              </m:sSub>
                            </m:e>
                            <m:sup>
                              <m:r>
                                <a:rPr>
                                  <a:latin typeface="Cambria Math" panose="02040503050406030204" pitchFamily="18" charset="0"/>
                                </a:rPr>
                                <m:t>2</m:t>
                              </m:r>
                            </m:sup>
                          </m:sSup>
                        </m:num>
                        <m:den>
                          <m:sSup>
                            <m:sSupPr>
                              <m:ctrlPr>
                                <a:rPr>
                                  <a:latin typeface="Cambria Math" panose="02040503050406030204" pitchFamily="18" charset="0"/>
                                </a:rPr>
                              </m:ctrlPr>
                            </m:sSupPr>
                            <m:e>
                              <m:r>
                                <a:rPr>
                                  <a:latin typeface="Cambria Math" panose="02040503050406030204" pitchFamily="18" charset="0"/>
                                </a:rPr>
                                <m:t>𝑎</m:t>
                              </m:r>
                            </m:e>
                            <m:sup>
                              <m:r>
                                <a:rPr>
                                  <a:latin typeface="Cambria Math" panose="02040503050406030204" pitchFamily="18" charset="0"/>
                                </a:rPr>
                                <m:t>2</m:t>
                              </m:r>
                            </m:sup>
                          </m:sSup>
                        </m:den>
                      </m:f>
                    </m:oMath>
                  </m:oMathPara>
                </a14:m>
                <a:endParaRPr/>
              </a:p>
            </p:txBody>
          </p:sp>
        </mc:Choice>
        <mc:Fallback>
          <p:sp>
            <p:nvSpPr>
              <p:cNvPr id="6" name="EQ_030">
                <a:extLst>
                  <a:ext uri="{FF2B5EF4-FFF2-40B4-BE49-F238E27FC236}">
                    <a16:creationId xmlns:a16="http://schemas.microsoft.com/office/drawing/2014/main" id="{C7CA85BB-B501-4B05-A811-84FB2C5A79FA}"/>
                  </a:ext>
                </a:extLst>
              </p:cNvPr>
              <p:cNvSpPr>
                <a:spLocks noGrp="1" noRot="1" noChangeAspect="1" noMove="1" noResize="1" noEditPoints="1" noAdjustHandles="1" noChangeArrowheads="1" noChangeShapeType="1" noTextEdit="1"/>
              </p:cNvSpPr>
              <p:nvPr/>
            </p:nvSpPr>
            <p:spPr>
              <a:xfrm>
                <a:off x="857250" y="2352675"/>
                <a:ext cx="10477500" cy="1285875"/>
              </a:xfrm>
              <a:prstGeom prst="rect">
                <a:avLst/>
              </a:prstGeom>
              <a:blipFill>
                <a:blip r:embed="rId3"/>
                <a:stretch>
                  <a:fillRect/>
                </a:stretch>
              </a:blipFill>
              <a:ln w="0">
                <a:noFill/>
              </a:ln>
            </p:spPr>
            <p:txBody>
              <a:bodyPr/>
              <a:lstStyle/>
              <a:p>
                <a:r>
                  <a:rPr lang="en-GB">
                    <a:noFill/>
                  </a:rPr>
                  <a:t> </a:t>
                </a:r>
              </a:p>
            </p:txBody>
          </p:sp>
        </mc:Fallback>
      </mc:AlternateContent>
      <p:sp>
        <p:nvSpPr>
          <p:cNvPr id="7" name="text-6">
            <a:extLst>
              <a:ext uri="{FF2B5EF4-FFF2-40B4-BE49-F238E27FC236}">
                <a16:creationId xmlns:a16="http://schemas.microsoft.com/office/drawing/2014/main" id="{FBF61C86-509E-4356-B82C-CCE8B71BDE5D}"/>
              </a:ext>
            </a:extLst>
          </p:cNvPr>
          <p:cNvSpPr>
            <a:spLocks noGrp="1"/>
          </p:cNvSpPr>
          <p:nvPr/>
        </p:nvSpPr>
        <p:spPr>
          <a:xfrm>
            <a:off x="857250" y="4057650"/>
            <a:ext cx="10477500" cy="552450"/>
          </a:xfrm>
          <a:prstGeom prst="rect">
            <a:avLst/>
          </a:prstGeom>
          <a:noFill/>
          <a:ln w="0">
            <a:noFill/>
          </a:ln>
        </p:spPr>
        <p:txBody>
          <a:bodyPr wrap="square" lIns="0" tIns="0" rIns="0" bIns="0" anchor="t">
            <a:noAutofit/>
          </a:bodyPr>
          <a:lstStyle>
            <a:lvl1pPr>
              <a:buNone/>
              <a:defRPr sz="2325" b="0">
                <a:solidFill>
                  <a:srgbClr val="17365D"/>
                </a:solidFill>
                <a:latin typeface="Aptos"/>
                <a:ea typeface="Aptos"/>
                <a:cs typeface="Aptos"/>
              </a:defRPr>
            </a:lvl1pPr>
            <a:lvl2pPr>
              <a:buNone/>
              <a:defRPr sz="2325" b="0">
                <a:solidFill>
                  <a:srgbClr val="17365D"/>
                </a:solidFill>
                <a:latin typeface="Aptos"/>
                <a:ea typeface="Aptos"/>
                <a:cs typeface="Aptos"/>
              </a:defRPr>
            </a:lvl2pPr>
            <a:lvl3pPr>
              <a:buNone/>
              <a:defRPr sz="2325" b="0">
                <a:solidFill>
                  <a:srgbClr val="17365D"/>
                </a:solidFill>
                <a:latin typeface="Aptos"/>
                <a:ea typeface="Aptos"/>
                <a:cs typeface="Aptos"/>
              </a:defRPr>
            </a:lvl3pPr>
            <a:lvl4pPr>
              <a:buNone/>
              <a:defRPr sz="2325" b="0">
                <a:solidFill>
                  <a:srgbClr val="17365D"/>
                </a:solidFill>
                <a:latin typeface="Aptos"/>
                <a:ea typeface="Aptos"/>
                <a:cs typeface="Aptos"/>
              </a:defRPr>
            </a:lvl4pPr>
            <a:lvl5pPr>
              <a:buNone/>
              <a:defRPr sz="2325" b="0">
                <a:solidFill>
                  <a:srgbClr val="17365D"/>
                </a:solidFill>
                <a:latin typeface="Aptos"/>
                <a:ea typeface="Aptos"/>
                <a:cs typeface="Aptos"/>
              </a:defRPr>
            </a:lvl5pPr>
            <a:lvl6pPr>
              <a:buNone/>
              <a:defRPr sz="2325" b="0">
                <a:solidFill>
                  <a:srgbClr val="17365D"/>
                </a:solidFill>
                <a:latin typeface="Aptos"/>
                <a:ea typeface="Aptos"/>
                <a:cs typeface="Aptos"/>
              </a:defRPr>
            </a:lvl6pPr>
            <a:lvl7pPr>
              <a:buNone/>
              <a:defRPr sz="2325" b="0">
                <a:solidFill>
                  <a:srgbClr val="17365D"/>
                </a:solidFill>
                <a:latin typeface="Aptos"/>
                <a:ea typeface="Aptos"/>
                <a:cs typeface="Aptos"/>
              </a:defRPr>
            </a:lvl7pPr>
            <a:lvl8pPr>
              <a:buNone/>
              <a:defRPr sz="2325" b="0">
                <a:solidFill>
                  <a:srgbClr val="17365D"/>
                </a:solidFill>
                <a:latin typeface="Aptos"/>
                <a:ea typeface="Aptos"/>
                <a:cs typeface="Aptos"/>
              </a:defRPr>
            </a:lvl8pPr>
            <a:lvl9pPr>
              <a:buNone/>
              <a:defRPr sz="2325" b="0">
                <a:solidFill>
                  <a:srgbClr val="17365D"/>
                </a:solidFill>
                <a:latin typeface="Aptos"/>
                <a:ea typeface="Aptos"/>
                <a:cs typeface="Aptos"/>
              </a:defRPr>
            </a:lvl9pPr>
          </a:lstStyle>
          <a:p>
            <a:pPr>
              <a:buNone/>
              <a:defRPr sz="2325" b="0">
                <a:solidFill>
                  <a:srgbClr val="17365D"/>
                </a:solidFill>
                <a:latin typeface="Aptos"/>
                <a:ea typeface="Aptos"/>
                <a:cs typeface="Aptos"/>
              </a:defRPr>
            </a:pPr>
            <a:r>
              <a:rPr sz="2325" b="0">
                <a:solidFill>
                  <a:srgbClr val="17365D"/>
                </a:solidFill>
                <a:latin typeface="Aptos"/>
                <a:ea typeface="Aptos"/>
                <a:cs typeface="Aptos"/>
              </a:rPr>
              <a:t>For an approximate 95% interval half-width h:</a:t>
            </a:r>
          </a:p>
        </p:txBody>
      </p:sp>
      <mc:AlternateContent xmlns:mc="http://schemas.openxmlformats.org/markup-compatibility/2006">
        <mc:Choice xmlns:a14="http://schemas.microsoft.com/office/drawing/2010/main" Requires="a14">
          <p:sp>
            <p:nvSpPr>
              <p:cNvPr id="8" name="EQ_031">
                <a:extLst>
                  <a:ext uri="{FF2B5EF4-FFF2-40B4-BE49-F238E27FC236}">
                    <a16:creationId xmlns:a16="http://schemas.microsoft.com/office/drawing/2014/main" id="{B38875AE-78BC-4BB6-A655-3DFF42BE44E9}"/>
                  </a:ext>
                </a:extLst>
              </p:cNvPr>
              <p:cNvSpPr>
                <a:spLocks noGrp="1"/>
              </p:cNvSpPr>
              <p:nvPr/>
            </p:nvSpPr>
            <p:spPr>
              <a:xfrm>
                <a:off x="857250" y="4724400"/>
                <a:ext cx="10477500" cy="1095375"/>
              </a:xfrm>
              <a:prstGeom prst="rect">
                <a:avLst/>
              </a:prstGeom>
              <a:noFill/>
              <a:ln w="0">
                <a:noFill/>
              </a:ln>
            </p:spPr>
            <p:txBody>
              <a:bodyPr wrap="none" lIns="0" tIns="0" rIns="0" bIns="0" anchor="ctr">
                <a:noAutofit/>
              </a:bodyPr>
              <a:lstStyle>
                <a:lvl1pPr algn="l">
                  <a:buNone/>
                  <a:defRPr sz="3400">
                    <a:solidFill>
                      <a:srgbClr val="17365D"/>
                    </a:solidFill>
                    <a:latin typeface="Cambria Math"/>
                    <a:ea typeface="Cambria Math"/>
                    <a:cs typeface="Cambria Math"/>
                  </a:defRPr>
                </a:lvl1pPr>
                <a:lvl2pPr algn="l">
                  <a:buNone/>
                  <a:defRPr sz="3400">
                    <a:solidFill>
                      <a:srgbClr val="17365D"/>
                    </a:solidFill>
                    <a:latin typeface="Cambria Math"/>
                    <a:ea typeface="Cambria Math"/>
                    <a:cs typeface="Cambria Math"/>
                  </a:defRPr>
                </a:lvl2pPr>
                <a:lvl3pPr algn="l">
                  <a:buNone/>
                  <a:defRPr sz="3400">
                    <a:solidFill>
                      <a:srgbClr val="17365D"/>
                    </a:solidFill>
                    <a:latin typeface="Cambria Math"/>
                    <a:ea typeface="Cambria Math"/>
                    <a:cs typeface="Cambria Math"/>
                  </a:defRPr>
                </a:lvl3pPr>
                <a:lvl4pPr algn="l">
                  <a:buNone/>
                  <a:defRPr sz="3400">
                    <a:solidFill>
                      <a:srgbClr val="17365D"/>
                    </a:solidFill>
                    <a:latin typeface="Cambria Math"/>
                    <a:ea typeface="Cambria Math"/>
                    <a:cs typeface="Cambria Math"/>
                  </a:defRPr>
                </a:lvl4pPr>
                <a:lvl5pPr algn="l">
                  <a:buNone/>
                  <a:defRPr sz="3400">
                    <a:solidFill>
                      <a:srgbClr val="17365D"/>
                    </a:solidFill>
                    <a:latin typeface="Cambria Math"/>
                    <a:ea typeface="Cambria Math"/>
                    <a:cs typeface="Cambria Math"/>
                  </a:defRPr>
                </a:lvl5pPr>
                <a:lvl6pPr algn="l">
                  <a:buNone/>
                  <a:defRPr sz="3400">
                    <a:solidFill>
                      <a:srgbClr val="17365D"/>
                    </a:solidFill>
                    <a:latin typeface="Cambria Math"/>
                    <a:ea typeface="Cambria Math"/>
                    <a:cs typeface="Cambria Math"/>
                  </a:defRPr>
                </a:lvl6pPr>
                <a:lvl7pPr algn="l">
                  <a:buNone/>
                  <a:defRPr sz="3400">
                    <a:solidFill>
                      <a:srgbClr val="17365D"/>
                    </a:solidFill>
                    <a:latin typeface="Cambria Math"/>
                    <a:ea typeface="Cambria Math"/>
                    <a:cs typeface="Cambria Math"/>
                  </a:defRPr>
                </a:lvl7pPr>
                <a:lvl8pPr algn="l">
                  <a:buNone/>
                  <a:defRPr sz="3400">
                    <a:solidFill>
                      <a:srgbClr val="17365D"/>
                    </a:solidFill>
                    <a:latin typeface="Cambria Math"/>
                    <a:ea typeface="Cambria Math"/>
                    <a:cs typeface="Cambria Math"/>
                  </a:defRPr>
                </a:lvl8pPr>
                <a:lvl9pPr algn="l">
                  <a:buNone/>
                  <a:defRPr sz="3400">
                    <a:solidFill>
                      <a:srgbClr val="17365D"/>
                    </a:solidFill>
                    <a:latin typeface="Cambria Math"/>
                    <a:ea typeface="Cambria Math"/>
                    <a:cs typeface="Cambria Math"/>
                  </a:defRPr>
                </a:lvl9pPr>
              </a:lstStyle>
              <a:p>
                <a:pPr>
                  <a:buNone/>
                  <a:defRPr sz="3400">
                    <a:solidFill>
                      <a:srgbClr val="17365D"/>
                    </a:solidFill>
                  </a:defRPr>
                </a:pPr>
                <a14:m>
                  <m:oMathPara xmlns:m="http://schemas.openxmlformats.org/officeDocument/2006/math">
                    <m:oMath>
                      <m:r>
                        <a:rPr>
                          <a:latin typeface="Cambria Math" panose="02040503050406030204" pitchFamily="18" charset="0"/>
                        </a:rPr>
                        <m:t>𝑁</m:t>
                      </m:r>
                      <m:r>
                        <a:rPr>
                          <a:latin typeface="Cambria Math" panose="02040503050406030204" pitchFamily="18" charset="0"/>
                        </a:rPr>
                        <m:t>≥</m:t>
                      </m:r>
                      <m:f>
                        <m:fPr>
                          <m:ctrlPr>
                            <a:rPr i="1">
                              <a:latin typeface="Cambria Math" panose="02040503050406030204" pitchFamily="18" charset="0"/>
                            </a:rPr>
                          </m:ctrlPr>
                        </m:fPr>
                        <m:num>
                          <m:sSup>
                            <m:sSupPr>
                              <m:ctrlPr>
                                <a:rPr>
                                  <a:latin typeface="Cambria Math" panose="02040503050406030204" pitchFamily="18" charset="0"/>
                                </a:rPr>
                              </m:ctrlPr>
                            </m:sSupPr>
                            <m:e>
                              <m:r>
                                <a:rPr>
                                  <a:latin typeface="Cambria Math" panose="02040503050406030204" pitchFamily="18" charset="0"/>
                                </a:rPr>
                                <m:t>1.96</m:t>
                              </m:r>
                            </m:e>
                            <m:sup>
                              <m:r>
                                <a:rPr>
                                  <a:latin typeface="Cambria Math" panose="02040503050406030204" pitchFamily="18" charset="0"/>
                                </a:rPr>
                                <m:t>2</m:t>
                              </m:r>
                            </m:sup>
                          </m:sSup>
                          <m:sSup>
                            <m:sSupPr>
                              <m:ctrlPr>
                                <a:rPr i="1">
                                  <a:latin typeface="Cambria Math" panose="02040503050406030204" pitchFamily="18" charset="0"/>
                                </a:rPr>
                              </m:ctrlPr>
                            </m:sSupPr>
                            <m:e>
                              <m:sSub>
                                <m:sSubPr>
                                  <m:ctrlPr>
                                    <a:rPr>
                                      <a:latin typeface="Cambria Math" panose="02040503050406030204" pitchFamily="18" charset="0"/>
                                    </a:rPr>
                                  </m:ctrlPr>
                                </m:sSubPr>
                                <m:e>
                                  <m:r>
                                    <a:rPr>
                                      <a:latin typeface="Cambria Math" panose="02040503050406030204" pitchFamily="18" charset="0"/>
                                    </a:rPr>
                                    <m:t>𝜎</m:t>
                                  </m:r>
                                </m:e>
                                <m:sub>
                                  <m:r>
                                    <a:rPr>
                                      <a:latin typeface="Cambria Math" panose="02040503050406030204" pitchFamily="18" charset="0"/>
                                    </a:rPr>
                                    <m:t>𝑌</m:t>
                                  </m:r>
                                </m:sub>
                              </m:sSub>
                            </m:e>
                            <m:sup>
                              <m:r>
                                <a:rPr>
                                  <a:latin typeface="Cambria Math" panose="02040503050406030204" pitchFamily="18" charset="0"/>
                                </a:rPr>
                                <m:t>2</m:t>
                              </m:r>
                            </m:sup>
                          </m:sSup>
                        </m:num>
                        <m:den>
                          <m:sSup>
                            <m:sSupPr>
                              <m:ctrlPr>
                                <a:rPr>
                                  <a:latin typeface="Cambria Math" panose="02040503050406030204" pitchFamily="18" charset="0"/>
                                </a:rPr>
                              </m:ctrlPr>
                            </m:sSupPr>
                            <m:e>
                              <m:r>
                                <a:rPr>
                                  <a:latin typeface="Cambria Math" panose="02040503050406030204" pitchFamily="18" charset="0"/>
                                </a:rPr>
                                <m:t>ℎ</m:t>
                              </m:r>
                            </m:e>
                            <m:sup>
                              <m:r>
                                <a:rPr>
                                  <a:latin typeface="Cambria Math" panose="02040503050406030204" pitchFamily="18" charset="0"/>
                                </a:rPr>
                                <m:t>2</m:t>
                              </m:r>
                            </m:sup>
                          </m:sSup>
                        </m:den>
                      </m:f>
                    </m:oMath>
                  </m:oMathPara>
                </a14:m>
                <a:endParaRPr/>
              </a:p>
            </p:txBody>
          </p:sp>
        </mc:Choice>
        <mc:Fallback>
          <p:sp>
            <p:nvSpPr>
              <p:cNvPr id="8" name="EQ_031">
                <a:extLst>
                  <a:ext uri="{FF2B5EF4-FFF2-40B4-BE49-F238E27FC236}">
                    <a16:creationId xmlns:a16="http://schemas.microsoft.com/office/drawing/2014/main" id="{B38875AE-78BC-4BB6-A655-3DFF42BE44E9}"/>
                  </a:ext>
                </a:extLst>
              </p:cNvPr>
              <p:cNvSpPr>
                <a:spLocks noGrp="1" noRot="1" noChangeAspect="1" noMove="1" noResize="1" noEditPoints="1" noAdjustHandles="1" noChangeArrowheads="1" noChangeShapeType="1" noTextEdit="1"/>
              </p:cNvSpPr>
              <p:nvPr/>
            </p:nvSpPr>
            <p:spPr>
              <a:xfrm>
                <a:off x="857250" y="4724400"/>
                <a:ext cx="10477500" cy="1095375"/>
              </a:xfrm>
              <a:prstGeom prst="rect">
                <a:avLst/>
              </a:prstGeom>
              <a:blipFill>
                <a:blip r:embed="rId4"/>
                <a:stretch>
                  <a:fillRect/>
                </a:stretch>
              </a:blipFill>
              <a:ln w="0">
                <a:noFill/>
              </a:ln>
            </p:spPr>
            <p:txBody>
              <a:bodyPr/>
              <a:lstStyle/>
              <a:p>
                <a:r>
                  <a:rPr lang="en-GB">
                    <a:noFill/>
                  </a:rPr>
                  <a:t> </a:t>
                </a:r>
              </a:p>
            </p:txBody>
          </p:sp>
        </mc:Fallback>
      </mc:AlternateContent>
      <p:sp>
        <p:nvSpPr>
          <p:cNvPr id="9" name="text-8">
            <a:extLst>
              <a:ext uri="{FF2B5EF4-FFF2-40B4-BE49-F238E27FC236}">
                <a16:creationId xmlns:a16="http://schemas.microsoft.com/office/drawing/2014/main" id="{686387EB-1F7F-4316-BBD1-594D8F4AEEC6}"/>
              </a:ext>
            </a:extLst>
          </p:cNvPr>
          <p:cNvSpPr>
            <a:spLocks noGrp="1"/>
          </p:cNvSpPr>
          <p:nvPr/>
        </p:nvSpPr>
        <p:spPr>
          <a:xfrm>
            <a:off x="857250" y="6048375"/>
            <a:ext cx="10477500" cy="352425"/>
          </a:xfrm>
          <a:prstGeom prst="rect">
            <a:avLst/>
          </a:prstGeom>
          <a:noFill/>
          <a:ln w="0">
            <a:noFill/>
          </a:ln>
        </p:spPr>
        <p:txBody>
          <a:bodyPr wrap="square" lIns="0" tIns="0" rIns="0" bIns="0" anchor="t">
            <a:noAutofit/>
          </a:bodyPr>
          <a:lstStyle>
            <a:lvl1pPr>
              <a:buNone/>
              <a:defRPr sz="1875" b="0">
                <a:solidFill>
                  <a:srgbClr val="526171"/>
                </a:solidFill>
                <a:latin typeface="Aptos"/>
                <a:ea typeface="Aptos"/>
                <a:cs typeface="Aptos"/>
              </a:defRPr>
            </a:lvl1pPr>
            <a:lvl2pPr>
              <a:buNone/>
              <a:defRPr sz="1875" b="0">
                <a:solidFill>
                  <a:srgbClr val="526171"/>
                </a:solidFill>
                <a:latin typeface="Aptos"/>
                <a:ea typeface="Aptos"/>
                <a:cs typeface="Aptos"/>
              </a:defRPr>
            </a:lvl2pPr>
            <a:lvl3pPr>
              <a:buNone/>
              <a:defRPr sz="1875" b="0">
                <a:solidFill>
                  <a:srgbClr val="526171"/>
                </a:solidFill>
                <a:latin typeface="Aptos"/>
                <a:ea typeface="Aptos"/>
                <a:cs typeface="Aptos"/>
              </a:defRPr>
            </a:lvl3pPr>
            <a:lvl4pPr>
              <a:buNone/>
              <a:defRPr sz="1875" b="0">
                <a:solidFill>
                  <a:srgbClr val="526171"/>
                </a:solidFill>
                <a:latin typeface="Aptos"/>
                <a:ea typeface="Aptos"/>
                <a:cs typeface="Aptos"/>
              </a:defRPr>
            </a:lvl4pPr>
            <a:lvl5pPr>
              <a:buNone/>
              <a:defRPr sz="1875" b="0">
                <a:solidFill>
                  <a:srgbClr val="526171"/>
                </a:solidFill>
                <a:latin typeface="Aptos"/>
                <a:ea typeface="Aptos"/>
                <a:cs typeface="Aptos"/>
              </a:defRPr>
            </a:lvl5pPr>
            <a:lvl6pPr>
              <a:buNone/>
              <a:defRPr sz="1875" b="0">
                <a:solidFill>
                  <a:srgbClr val="526171"/>
                </a:solidFill>
                <a:latin typeface="Aptos"/>
                <a:ea typeface="Aptos"/>
                <a:cs typeface="Aptos"/>
              </a:defRPr>
            </a:lvl6pPr>
            <a:lvl7pPr>
              <a:buNone/>
              <a:defRPr sz="1875" b="0">
                <a:solidFill>
                  <a:srgbClr val="526171"/>
                </a:solidFill>
                <a:latin typeface="Aptos"/>
                <a:ea typeface="Aptos"/>
                <a:cs typeface="Aptos"/>
              </a:defRPr>
            </a:lvl7pPr>
            <a:lvl8pPr>
              <a:buNone/>
              <a:defRPr sz="1875" b="0">
                <a:solidFill>
                  <a:srgbClr val="526171"/>
                </a:solidFill>
                <a:latin typeface="Aptos"/>
                <a:ea typeface="Aptos"/>
                <a:cs typeface="Aptos"/>
              </a:defRPr>
            </a:lvl8pPr>
            <a:lvl9pPr>
              <a:buNone/>
              <a:defRPr sz="1875" b="0">
                <a:solidFill>
                  <a:srgbClr val="526171"/>
                </a:solidFill>
                <a:latin typeface="Aptos"/>
                <a:ea typeface="Aptos"/>
                <a:cs typeface="Aptos"/>
              </a:defRPr>
            </a:lvl9pPr>
          </a:lstStyle>
          <a:p>
            <a:pPr>
              <a:buNone/>
              <a:defRPr sz="1875" b="0">
                <a:solidFill>
                  <a:srgbClr val="526171"/>
                </a:solidFill>
                <a:latin typeface="Aptos"/>
                <a:ea typeface="Aptos"/>
                <a:cs typeface="Aptos"/>
              </a:defRPr>
            </a:pPr>
            <a:r>
              <a:rPr sz="1875" b="0">
                <a:solidFill>
                  <a:srgbClr val="526171"/>
                </a:solidFill>
                <a:latin typeface="Aptos"/>
                <a:ea typeface="Aptos"/>
                <a:cs typeface="Aptos"/>
              </a:rPr>
              <a:t>A pilot run is a preliminary simulation used to estimate the output variance.</a:t>
            </a:r>
          </a:p>
        </p:txBody>
      </p:sp>
      <p:sp>
        <p:nvSpPr>
          <p:cNvPr id="11" name="notebook-cue-slide-32">
            <a:extLst>
              <a:ext uri="{FF2B5EF4-FFF2-40B4-BE49-F238E27FC236}">
                <a16:creationId xmlns:a16="http://schemas.microsoft.com/office/drawing/2014/main" id="{497117AD-FA51-4795-BCD4-DFD2B312B161}"/>
              </a:ext>
            </a:extLst>
          </p:cNvPr>
          <p:cNvSpPr>
            <a:spLocks noGrp="1"/>
          </p:cNvSpPr>
          <p:nvPr/>
        </p:nvSpPr>
        <p:spPr>
          <a:xfrm>
            <a:off x="2952750" y="6429375"/>
            <a:ext cx="7620000" cy="295275"/>
          </a:xfrm>
          <a:prstGeom prst="rect">
            <a:avLst/>
          </a:prstGeom>
          <a:noFill/>
          <a:ln w="0">
            <a:noFill/>
          </a:ln>
        </p:spPr>
        <p:txBody>
          <a:bodyPr wrap="none" lIns="0" tIns="0" rIns="0" bIns="0" anchor="ctr">
            <a:noAutofit/>
          </a:bodyPr>
          <a:lstStyle>
            <a:defPPr algn="ctr">
              <a:defRPr sz="1650" b="1">
                <a:solidFill>
                  <a:srgbClr val="2F6F4E"/>
                </a:solidFill>
                <a:latin typeface="Aptos"/>
                <a:ea typeface="Aptos"/>
                <a:cs typeface="Aptos"/>
              </a:defRPr>
            </a:defPPr>
            <a:lvl1pPr algn="ctr">
              <a:defRPr sz="1650" b="1">
                <a:solidFill>
                  <a:srgbClr val="2F6F4E"/>
                </a:solidFill>
                <a:latin typeface="Aptos"/>
                <a:ea typeface="Aptos"/>
                <a:cs typeface="Aptos"/>
              </a:defRPr>
            </a:lvl1pPr>
            <a:lvl2pPr algn="ctr">
              <a:defRPr sz="1650" b="1">
                <a:solidFill>
                  <a:srgbClr val="2F6F4E"/>
                </a:solidFill>
                <a:latin typeface="Aptos"/>
                <a:ea typeface="Aptos"/>
                <a:cs typeface="Aptos"/>
              </a:defRPr>
            </a:lvl2pPr>
            <a:lvl3pPr algn="ctr">
              <a:defRPr sz="1650" b="1">
                <a:solidFill>
                  <a:srgbClr val="2F6F4E"/>
                </a:solidFill>
                <a:latin typeface="Aptos"/>
                <a:ea typeface="Aptos"/>
                <a:cs typeface="Aptos"/>
              </a:defRPr>
            </a:lvl3pPr>
            <a:lvl4pPr algn="ctr">
              <a:defRPr sz="1650" b="1">
                <a:solidFill>
                  <a:srgbClr val="2F6F4E"/>
                </a:solidFill>
                <a:latin typeface="Aptos"/>
                <a:ea typeface="Aptos"/>
                <a:cs typeface="Aptos"/>
              </a:defRPr>
            </a:lvl4pPr>
            <a:lvl5pPr algn="ctr">
              <a:defRPr sz="1650" b="1">
                <a:solidFill>
                  <a:srgbClr val="2F6F4E"/>
                </a:solidFill>
                <a:latin typeface="Aptos"/>
                <a:ea typeface="Aptos"/>
                <a:cs typeface="Aptos"/>
              </a:defRPr>
            </a:lvl5pPr>
            <a:lvl6pPr algn="ctr">
              <a:defRPr sz="1650" b="1">
                <a:solidFill>
                  <a:srgbClr val="2F6F4E"/>
                </a:solidFill>
                <a:latin typeface="Aptos"/>
                <a:ea typeface="Aptos"/>
                <a:cs typeface="Aptos"/>
              </a:defRPr>
            </a:lvl6pPr>
            <a:lvl7pPr algn="ctr">
              <a:defRPr sz="1650" b="1">
                <a:solidFill>
                  <a:srgbClr val="2F6F4E"/>
                </a:solidFill>
                <a:latin typeface="Aptos"/>
                <a:ea typeface="Aptos"/>
                <a:cs typeface="Aptos"/>
              </a:defRPr>
            </a:lvl7pPr>
            <a:lvl8pPr algn="ctr">
              <a:defRPr sz="1650" b="1">
                <a:solidFill>
                  <a:srgbClr val="2F6F4E"/>
                </a:solidFill>
                <a:latin typeface="Aptos"/>
                <a:ea typeface="Aptos"/>
                <a:cs typeface="Aptos"/>
              </a:defRPr>
            </a:lvl8pPr>
            <a:lvl9pPr algn="ctr">
              <a:defRPr sz="1650" b="1">
                <a:solidFill>
                  <a:srgbClr val="2F6F4E"/>
                </a:solidFill>
                <a:latin typeface="Aptos"/>
                <a:ea typeface="Aptos"/>
                <a:cs typeface="Aptos"/>
              </a:defRPr>
            </a:lvl9pPr>
          </a:lstStyle>
          <a:p>
            <a:pPr algn="ctr">
              <a:defRPr sz="1650" b="1">
                <a:solidFill>
                  <a:srgbClr val="2F6F4E"/>
                </a:solidFill>
                <a:latin typeface="Aptos"/>
                <a:ea typeface="Aptos"/>
                <a:cs typeface="Aptos"/>
              </a:defRPr>
            </a:pPr>
            <a:r>
              <a:rPr sz="1650" b="1">
                <a:solidFill>
                  <a:srgbClr val="2F6F4E"/>
                </a:solidFill>
                <a:latin typeface="Aptos"/>
                <a:ea typeface="Aptos"/>
                <a:cs typeface="Aptos"/>
              </a:rPr>
              <a:t>Notebook: Slide 32 (optional)</a:t>
            </a:r>
          </a:p>
        </p:txBody>
      </p:sp>
    </p:spTree>
    <p:extLst>
      <p:ext uri="{BB962C8B-B14F-4D97-AF65-F5344CB8AC3E}">
        <p14:creationId xmlns:p14="http://schemas.microsoft.com/office/powerpoint/2010/main" val="18207207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5DAD39D2-BCA6-453B-AE2F-C5DB713A8E7A}"/>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The square-root rate</a:t>
            </a:r>
          </a:p>
        </p:txBody>
      </p:sp>
      <p:sp>
        <p:nvSpPr>
          <p:cNvPr id="2" name="Straight Connector 1">
            <a:extLst>
              <a:ext uri="{FF2B5EF4-FFF2-40B4-BE49-F238E27FC236}">
                <a16:creationId xmlns:a16="http://schemas.microsoft.com/office/drawing/2014/main" id="{AC6B6771-5EAE-44F0-92B4-D2639A6FF316}"/>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01A7EB20-1B8E-46C6-9E5F-A46DC626FE3F}"/>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5B3E575B-5C11-405F-A0BF-45BAEEB7E3CB}"/>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33</a:t>
            </a:r>
          </a:p>
        </p:txBody>
      </p:sp>
      <p:graphicFrame>
        <p:nvGraphicFramePr>
          <p:cNvPr id="14" name="Table 13"/>
          <p:cNvGraphicFramePr/>
          <p:nvPr/>
        </p:nvGraphicFramePr>
        <p:xfrm>
          <a:off x="857250" y="1724025"/>
          <a:ext cx="10477500" cy="2714625"/>
        </p:xfrm>
        <a:graphic>
          <a:graphicData uri="http://schemas.openxmlformats.org/drawingml/2006/table">
            <a:tbl>
              <a:tblPr firstRow="1"/>
              <a:tblGrid>
                <a:gridCol w="4286250">
                  <a:extLst>
                    <a:ext uri="{9D8B030D-6E8A-4147-A177-3AD203B41FA5}">
                      <a16:colId xmlns:a16="http://schemas.microsoft.com/office/drawing/2014/main" val="20000"/>
                    </a:ext>
                  </a:extLst>
                </a:gridCol>
                <a:gridCol w="6191250">
                  <a:extLst>
                    <a:ext uri="{9D8B030D-6E8A-4147-A177-3AD203B41FA5}">
                      <a16:colId xmlns:a16="http://schemas.microsoft.com/office/drawing/2014/main" val="20001"/>
                    </a:ext>
                  </a:extLst>
                </a:gridCol>
              </a:tblGrid>
              <a:tr h="678656">
                <a:tc>
                  <a:txBody>
                    <a:bodyPr/>
                    <a:lstStyle/>
                    <a:p>
                      <a:r>
                        <a:rPr sz="2325" b="1">
                          <a:solidFill>
                            <a:srgbClr val="FFFFFF"/>
                          </a:solidFill>
                          <a:latin typeface="Aptos"/>
                          <a:ea typeface="Aptos"/>
                          <a:cs typeface="Aptos"/>
                        </a:rPr>
                        <a:t>Trials N</a:t>
                      </a:r>
                    </a:p>
                  </a:txBody>
                  <a:tcPr anchor="ctr">
                    <a:lnL w="6191">
                      <a:solidFill>
                        <a:srgbClr val="DDE5EC"/>
                      </a:solidFill>
                      <a:prstDash val="soli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tc>
                  <a:txBody>
                    <a:bodyPr/>
                    <a:lstStyle/>
                    <a:p>
                      <a:r>
                        <a:rPr sz="2325" b="1">
                          <a:solidFill>
                            <a:srgbClr val="FFFFFF"/>
                          </a:solidFill>
                          <a:latin typeface="Aptos"/>
                          <a:ea typeface="Aptos"/>
                          <a:cs typeface="Aptos"/>
                        </a:rPr>
                        <a:t>SE for the mean of eᵁ</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extLst>
                  <a:ext uri="{0D108BD9-81ED-4DB2-BD59-A6C34878D82A}">
                    <a16:rowId xmlns:a16="http://schemas.microsoft.com/office/drawing/2014/main" val="10000"/>
                  </a:ext>
                </a:extLst>
              </a:tr>
              <a:tr h="678656">
                <a:tc>
                  <a:txBody>
                    <a:bodyPr/>
                    <a:lstStyle/>
                    <a:p>
                      <a:r>
                        <a:rPr sz="2325" b="0">
                          <a:solidFill>
                            <a:srgbClr val="17365D"/>
                          </a:solidFill>
                          <a:latin typeface="Aptos"/>
                          <a:ea typeface="Aptos"/>
                          <a:cs typeface="Aptos"/>
                        </a:rPr>
                        <a:t>100</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325" b="0">
                          <a:solidFill>
                            <a:srgbClr val="17365D"/>
                          </a:solidFill>
                          <a:latin typeface="Aptos"/>
                          <a:ea typeface="Aptos"/>
                          <a:cs typeface="Aptos"/>
                        </a:rPr>
                        <a:t>0.04920</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1"/>
                  </a:ext>
                </a:extLst>
              </a:tr>
              <a:tr h="678656">
                <a:tc>
                  <a:txBody>
                    <a:bodyPr/>
                    <a:lstStyle/>
                    <a:p>
                      <a:r>
                        <a:rPr sz="2325" b="0">
                          <a:solidFill>
                            <a:srgbClr val="17365D"/>
                          </a:solidFill>
                          <a:latin typeface="Aptos"/>
                          <a:ea typeface="Aptos"/>
                          <a:cs typeface="Aptos"/>
                        </a:rPr>
                        <a:t>1,000</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325" b="0">
                          <a:solidFill>
                            <a:srgbClr val="17365D"/>
                          </a:solidFill>
                          <a:latin typeface="Aptos"/>
                          <a:ea typeface="Aptos"/>
                          <a:cs typeface="Aptos"/>
                        </a:rPr>
                        <a:t>0.01556</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2"/>
                  </a:ext>
                </a:extLst>
              </a:tr>
              <a:tr h="678656">
                <a:tc>
                  <a:txBody>
                    <a:bodyPr/>
                    <a:lstStyle/>
                    <a:p>
                      <a:r>
                        <a:rPr sz="2325" b="0">
                          <a:solidFill>
                            <a:srgbClr val="17365D"/>
                          </a:solidFill>
                          <a:latin typeface="Aptos"/>
                          <a:ea typeface="Aptos"/>
                          <a:cs typeface="Aptos"/>
                        </a:rPr>
                        <a:t>10,000</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325" b="0">
                          <a:solidFill>
                            <a:srgbClr val="17365D"/>
                          </a:solidFill>
                          <a:latin typeface="Aptos"/>
                          <a:ea typeface="Aptos"/>
                          <a:cs typeface="Aptos"/>
                        </a:rPr>
                        <a:t>0.004920</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3"/>
                  </a:ext>
                </a:extLst>
              </a:tr>
            </a:tbl>
          </a:graphicData>
        </a:graphic>
      </p:graphicFrame>
      <mc:AlternateContent xmlns:mc="http://schemas.openxmlformats.org/markup-compatibility/2006">
        <mc:Choice xmlns:a14="http://schemas.microsoft.com/office/drawing/2010/main" Requires="a14">
          <p:sp>
            <p:nvSpPr>
              <p:cNvPr id="6" name="EQ_032">
                <a:extLst>
                  <a:ext uri="{FF2B5EF4-FFF2-40B4-BE49-F238E27FC236}">
                    <a16:creationId xmlns:a16="http://schemas.microsoft.com/office/drawing/2014/main" id="{4DFF93F5-7F6B-49C6-AE99-F533C5C22299}"/>
                  </a:ext>
                </a:extLst>
              </p:cNvPr>
              <p:cNvSpPr>
                <a:spLocks noGrp="1"/>
              </p:cNvSpPr>
              <p:nvPr/>
            </p:nvSpPr>
            <p:spPr>
              <a:xfrm>
                <a:off x="857250" y="4648200"/>
                <a:ext cx="10477500" cy="904875"/>
              </a:xfrm>
              <a:prstGeom prst="rect">
                <a:avLst/>
              </a:prstGeom>
              <a:noFill/>
              <a:ln w="0">
                <a:noFill/>
              </a:ln>
            </p:spPr>
            <p:txBody>
              <a:bodyPr wrap="none" lIns="0" tIns="0" rIns="0" bIns="0" anchor="ctr">
                <a:noAutofit/>
              </a:bodyPr>
              <a:lstStyle>
                <a:lvl1pPr algn="l">
                  <a:buNone/>
                  <a:defRPr sz="3800">
                    <a:solidFill>
                      <a:srgbClr val="17365D"/>
                    </a:solidFill>
                    <a:latin typeface="Cambria Math"/>
                    <a:ea typeface="Cambria Math"/>
                    <a:cs typeface="Cambria Math"/>
                  </a:defRPr>
                </a:lvl1pPr>
                <a:lvl2pPr algn="l">
                  <a:buNone/>
                  <a:defRPr sz="3800">
                    <a:solidFill>
                      <a:srgbClr val="17365D"/>
                    </a:solidFill>
                    <a:latin typeface="Cambria Math"/>
                    <a:ea typeface="Cambria Math"/>
                    <a:cs typeface="Cambria Math"/>
                  </a:defRPr>
                </a:lvl2pPr>
                <a:lvl3pPr algn="l">
                  <a:buNone/>
                  <a:defRPr sz="3800">
                    <a:solidFill>
                      <a:srgbClr val="17365D"/>
                    </a:solidFill>
                    <a:latin typeface="Cambria Math"/>
                    <a:ea typeface="Cambria Math"/>
                    <a:cs typeface="Cambria Math"/>
                  </a:defRPr>
                </a:lvl3pPr>
                <a:lvl4pPr algn="l">
                  <a:buNone/>
                  <a:defRPr sz="3800">
                    <a:solidFill>
                      <a:srgbClr val="17365D"/>
                    </a:solidFill>
                    <a:latin typeface="Cambria Math"/>
                    <a:ea typeface="Cambria Math"/>
                    <a:cs typeface="Cambria Math"/>
                  </a:defRPr>
                </a:lvl4pPr>
                <a:lvl5pPr algn="l">
                  <a:buNone/>
                  <a:defRPr sz="3800">
                    <a:solidFill>
                      <a:srgbClr val="17365D"/>
                    </a:solidFill>
                    <a:latin typeface="Cambria Math"/>
                    <a:ea typeface="Cambria Math"/>
                    <a:cs typeface="Cambria Math"/>
                  </a:defRPr>
                </a:lvl5pPr>
                <a:lvl6pPr algn="l">
                  <a:buNone/>
                  <a:defRPr sz="3800">
                    <a:solidFill>
                      <a:srgbClr val="17365D"/>
                    </a:solidFill>
                    <a:latin typeface="Cambria Math"/>
                    <a:ea typeface="Cambria Math"/>
                    <a:cs typeface="Cambria Math"/>
                  </a:defRPr>
                </a:lvl6pPr>
                <a:lvl7pPr algn="l">
                  <a:buNone/>
                  <a:defRPr sz="3800">
                    <a:solidFill>
                      <a:srgbClr val="17365D"/>
                    </a:solidFill>
                    <a:latin typeface="Cambria Math"/>
                    <a:ea typeface="Cambria Math"/>
                    <a:cs typeface="Cambria Math"/>
                  </a:defRPr>
                </a:lvl7pPr>
                <a:lvl8pPr algn="l">
                  <a:buNone/>
                  <a:defRPr sz="3800">
                    <a:solidFill>
                      <a:srgbClr val="17365D"/>
                    </a:solidFill>
                    <a:latin typeface="Cambria Math"/>
                    <a:ea typeface="Cambria Math"/>
                    <a:cs typeface="Cambria Math"/>
                  </a:defRPr>
                </a:lvl8pPr>
                <a:lvl9pPr algn="l">
                  <a:buNone/>
                  <a:defRPr sz="3800">
                    <a:solidFill>
                      <a:srgbClr val="17365D"/>
                    </a:solidFill>
                    <a:latin typeface="Cambria Math"/>
                    <a:ea typeface="Cambria Math"/>
                    <a:cs typeface="Cambria Math"/>
                  </a:defRPr>
                </a:lvl9pPr>
              </a:lstStyle>
              <a:p>
                <a:pPr>
                  <a:buNone/>
                  <a:defRPr sz="3800">
                    <a:solidFill>
                      <a:srgbClr val="17365D"/>
                    </a:solidFill>
                  </a:defRPr>
                </a:pPr>
                <a14:m>
                  <m:oMathPara xmlns:m="http://schemas.openxmlformats.org/officeDocument/2006/math">
                    <m:oMath>
                      <m:r>
                        <a:rPr>
                          <a:latin typeface="Cambria Math" panose="02040503050406030204" pitchFamily="18" charset="0"/>
                        </a:rPr>
                        <m:t>𝑆𝐸</m:t>
                      </m:r>
                      <m:d>
                        <m:dPr>
                          <m:ctrlPr>
                            <a:rPr i="1">
                              <a:latin typeface="Cambria Math" panose="02040503050406030204" pitchFamily="18" charset="0"/>
                            </a:rPr>
                          </m:ctrlPr>
                        </m:dPr>
                        <m:e>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𝜃</m:t>
                                  </m:r>
                                </m:e>
                              </m:acc>
                            </m:e>
                            <m:sub>
                              <m:r>
                                <a:rPr>
                                  <a:latin typeface="Cambria Math" panose="02040503050406030204" pitchFamily="18" charset="0"/>
                                </a:rPr>
                                <m:t>𝑁</m:t>
                              </m:r>
                            </m:sub>
                          </m:sSub>
                        </m:e>
                      </m:d>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1</m:t>
                          </m:r>
                        </m:num>
                        <m:den>
                          <m:rad>
                            <m:radPr>
                              <m:ctrlPr>
                                <a:rPr>
                                  <a:latin typeface="Cambria Math" panose="02040503050406030204" pitchFamily="18" charset="0"/>
                                </a:rPr>
                              </m:ctrlPr>
                            </m:radPr>
                            <m:e>
                              <m:r>
                                <a:rPr>
                                  <a:latin typeface="Cambria Math" panose="02040503050406030204" pitchFamily="18" charset="0"/>
                                </a:rPr>
                                <m:t>𝑁</m:t>
                              </m:r>
                            </m:e>
                          </m:rad>
                        </m:den>
                      </m:f>
                    </m:oMath>
                  </m:oMathPara>
                </a14:m>
                <a:endParaRPr/>
              </a:p>
            </p:txBody>
          </p:sp>
        </mc:Choice>
        <mc:Fallback>
          <p:sp>
            <p:nvSpPr>
              <p:cNvPr id="6" name="EQ_032">
                <a:extLst>
                  <a:ext uri="{FF2B5EF4-FFF2-40B4-BE49-F238E27FC236}">
                    <a16:creationId xmlns:a16="http://schemas.microsoft.com/office/drawing/2014/main" id="{4DFF93F5-7F6B-49C6-AE99-F533C5C22299}"/>
                  </a:ext>
                </a:extLst>
              </p:cNvPr>
              <p:cNvSpPr>
                <a:spLocks noGrp="1" noRot="1" noChangeAspect="1" noMove="1" noResize="1" noEditPoints="1" noAdjustHandles="1" noChangeArrowheads="1" noChangeShapeType="1" noTextEdit="1"/>
              </p:cNvSpPr>
              <p:nvPr/>
            </p:nvSpPr>
            <p:spPr>
              <a:xfrm>
                <a:off x="857250" y="4648200"/>
                <a:ext cx="10477500" cy="904875"/>
              </a:xfrm>
              <a:prstGeom prst="rect">
                <a:avLst/>
              </a:prstGeom>
              <a:blipFill>
                <a:blip r:embed="rId3"/>
                <a:stretch>
                  <a:fillRect t="-8784" b="-16892"/>
                </a:stretch>
              </a:blipFill>
              <a:ln w="0">
                <a:noFill/>
              </a:ln>
            </p:spPr>
            <p:txBody>
              <a:bodyPr/>
              <a:lstStyle/>
              <a:p>
                <a:r>
                  <a:rPr lang="en-GB">
                    <a:noFill/>
                  </a:rPr>
                  <a:t> </a:t>
                </a:r>
              </a:p>
            </p:txBody>
          </p:sp>
        </mc:Fallback>
      </mc:AlternateContent>
      <p:sp>
        <p:nvSpPr>
          <p:cNvPr id="7" name="text-5">
            <a:extLst>
              <a:ext uri="{FF2B5EF4-FFF2-40B4-BE49-F238E27FC236}">
                <a16:creationId xmlns:a16="http://schemas.microsoft.com/office/drawing/2014/main" id="{CB5507BA-D8F1-414F-AB72-E69C023E8230}"/>
              </a:ext>
            </a:extLst>
          </p:cNvPr>
          <p:cNvSpPr>
            <a:spLocks noGrp="1"/>
          </p:cNvSpPr>
          <p:nvPr/>
        </p:nvSpPr>
        <p:spPr>
          <a:xfrm>
            <a:off x="857250" y="5734050"/>
            <a:ext cx="10477500" cy="571500"/>
          </a:xfrm>
          <a:prstGeom prst="rect">
            <a:avLst/>
          </a:prstGeom>
          <a:noFill/>
          <a:ln w="0">
            <a:noFill/>
          </a:ln>
        </p:spPr>
        <p:txBody>
          <a:bodyPr wrap="square" lIns="0" tIns="0" rIns="0" bIns="0" anchor="t">
            <a:noAutofit/>
          </a:bodyPr>
          <a:lstStyle>
            <a:lvl1pPr>
              <a:buNone/>
              <a:defRPr sz="2325" b="0">
                <a:solidFill>
                  <a:srgbClr val="2D75A3"/>
                </a:solidFill>
                <a:latin typeface="Aptos"/>
                <a:ea typeface="Aptos"/>
                <a:cs typeface="Aptos"/>
              </a:defRPr>
            </a:lvl1pPr>
            <a:lvl2pPr>
              <a:buNone/>
              <a:defRPr sz="2325" b="0">
                <a:solidFill>
                  <a:srgbClr val="2D75A3"/>
                </a:solidFill>
                <a:latin typeface="Aptos"/>
                <a:ea typeface="Aptos"/>
                <a:cs typeface="Aptos"/>
              </a:defRPr>
            </a:lvl2pPr>
            <a:lvl3pPr>
              <a:buNone/>
              <a:defRPr sz="2325" b="0">
                <a:solidFill>
                  <a:srgbClr val="2D75A3"/>
                </a:solidFill>
                <a:latin typeface="Aptos"/>
                <a:ea typeface="Aptos"/>
                <a:cs typeface="Aptos"/>
              </a:defRPr>
            </a:lvl3pPr>
            <a:lvl4pPr>
              <a:buNone/>
              <a:defRPr sz="2325" b="0">
                <a:solidFill>
                  <a:srgbClr val="2D75A3"/>
                </a:solidFill>
                <a:latin typeface="Aptos"/>
                <a:ea typeface="Aptos"/>
                <a:cs typeface="Aptos"/>
              </a:defRPr>
            </a:lvl4pPr>
            <a:lvl5pPr>
              <a:buNone/>
              <a:defRPr sz="2325" b="0">
                <a:solidFill>
                  <a:srgbClr val="2D75A3"/>
                </a:solidFill>
                <a:latin typeface="Aptos"/>
                <a:ea typeface="Aptos"/>
                <a:cs typeface="Aptos"/>
              </a:defRPr>
            </a:lvl5pPr>
            <a:lvl6pPr>
              <a:buNone/>
              <a:defRPr sz="2325" b="0">
                <a:solidFill>
                  <a:srgbClr val="2D75A3"/>
                </a:solidFill>
                <a:latin typeface="Aptos"/>
                <a:ea typeface="Aptos"/>
                <a:cs typeface="Aptos"/>
              </a:defRPr>
            </a:lvl6pPr>
            <a:lvl7pPr>
              <a:buNone/>
              <a:defRPr sz="2325" b="0">
                <a:solidFill>
                  <a:srgbClr val="2D75A3"/>
                </a:solidFill>
                <a:latin typeface="Aptos"/>
                <a:ea typeface="Aptos"/>
                <a:cs typeface="Aptos"/>
              </a:defRPr>
            </a:lvl7pPr>
            <a:lvl8pPr>
              <a:buNone/>
              <a:defRPr sz="2325" b="0">
                <a:solidFill>
                  <a:srgbClr val="2D75A3"/>
                </a:solidFill>
                <a:latin typeface="Aptos"/>
                <a:ea typeface="Aptos"/>
                <a:cs typeface="Aptos"/>
              </a:defRPr>
            </a:lvl8pPr>
            <a:lvl9pPr>
              <a:buNone/>
              <a:defRPr sz="2325" b="0">
                <a:solidFill>
                  <a:srgbClr val="2D75A3"/>
                </a:solidFill>
                <a:latin typeface="Aptos"/>
                <a:ea typeface="Aptos"/>
                <a:cs typeface="Aptos"/>
              </a:defRPr>
            </a:lvl9pPr>
          </a:lstStyle>
          <a:p>
            <a:pPr>
              <a:buNone/>
              <a:defRPr sz="2325" b="0">
                <a:solidFill>
                  <a:srgbClr val="2D75A3"/>
                </a:solidFill>
                <a:latin typeface="Aptos"/>
                <a:ea typeface="Aptos"/>
                <a:cs typeface="Aptos"/>
              </a:defRPr>
            </a:pPr>
            <a:r>
              <a:rPr sz="2325" b="0">
                <a:solidFill>
                  <a:srgbClr val="2D75A3"/>
                </a:solidFill>
                <a:latin typeface="Aptos"/>
                <a:ea typeface="Aptos"/>
                <a:cs typeface="Aptos"/>
              </a:rPr>
              <a:t>Four times as many trials approximately halve the standard error.</a:t>
            </a:r>
          </a:p>
        </p:txBody>
      </p:sp>
    </p:spTree>
    <p:extLst>
      <p:ext uri="{BB962C8B-B14F-4D97-AF65-F5344CB8AC3E}">
        <p14:creationId xmlns:p14="http://schemas.microsoft.com/office/powerpoint/2010/main" val="19798676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D4114F37-817B-4741-8A1F-2908ED3D7F37}"/>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Estimating an expectation</a:t>
            </a:r>
          </a:p>
        </p:txBody>
      </p:sp>
      <p:sp>
        <p:nvSpPr>
          <p:cNvPr id="2" name="Straight Connector 1">
            <a:extLst>
              <a:ext uri="{FF2B5EF4-FFF2-40B4-BE49-F238E27FC236}">
                <a16:creationId xmlns:a16="http://schemas.microsoft.com/office/drawing/2014/main" id="{22F7CE79-A584-42A4-8F24-48FF8EBEAA9D}"/>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35DBC91E-3151-4D3E-A693-E3D5EEFC71CC}"/>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1861F7D2-2566-451C-835D-CBFF5D3103E4}"/>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34</a:t>
            </a:r>
          </a:p>
        </p:txBody>
      </p:sp>
      <mc:AlternateContent xmlns:mc="http://schemas.openxmlformats.org/markup-compatibility/2006">
        <mc:Choice xmlns:a14="http://schemas.microsoft.com/office/drawing/2010/main" Requires="a14">
          <p:sp>
            <p:nvSpPr>
              <p:cNvPr id="5" name="EQ_013">
                <a:extLst>
                  <a:ext uri="{FF2B5EF4-FFF2-40B4-BE49-F238E27FC236}">
                    <a16:creationId xmlns:a16="http://schemas.microsoft.com/office/drawing/2014/main" id="{781E84F8-402C-49B1-9098-D4A56084F88F}"/>
                  </a:ext>
                </a:extLst>
              </p:cNvPr>
              <p:cNvSpPr>
                <a:spLocks noGrp="1"/>
              </p:cNvSpPr>
              <p:nvPr/>
            </p:nvSpPr>
            <p:spPr>
              <a:xfrm>
                <a:off x="857250" y="1619250"/>
                <a:ext cx="10477500" cy="952500"/>
              </a:xfrm>
              <a:prstGeom prst="rect">
                <a:avLst/>
              </a:prstGeom>
              <a:noFill/>
              <a:ln w="0">
                <a:noFill/>
              </a:ln>
            </p:spPr>
            <p:txBody>
              <a:bodyPr wrap="none" lIns="0" tIns="0" rIns="0" bIns="0" anchor="ctr">
                <a:noAutofit/>
              </a:bodyPr>
              <a:lstStyle>
                <a:lvl1pPr algn="l">
                  <a:buNone/>
                  <a:defRPr sz="3200">
                    <a:solidFill>
                      <a:srgbClr val="17365D"/>
                    </a:solidFill>
                    <a:latin typeface="Cambria Math"/>
                    <a:ea typeface="Cambria Math"/>
                    <a:cs typeface="Cambria Math"/>
                  </a:defRPr>
                </a:lvl1pPr>
                <a:lvl2pPr algn="l">
                  <a:buNone/>
                  <a:defRPr sz="3200">
                    <a:solidFill>
                      <a:srgbClr val="17365D"/>
                    </a:solidFill>
                    <a:latin typeface="Cambria Math"/>
                    <a:ea typeface="Cambria Math"/>
                    <a:cs typeface="Cambria Math"/>
                  </a:defRPr>
                </a:lvl2pPr>
                <a:lvl3pPr algn="l">
                  <a:buNone/>
                  <a:defRPr sz="3200">
                    <a:solidFill>
                      <a:srgbClr val="17365D"/>
                    </a:solidFill>
                    <a:latin typeface="Cambria Math"/>
                    <a:ea typeface="Cambria Math"/>
                    <a:cs typeface="Cambria Math"/>
                  </a:defRPr>
                </a:lvl3pPr>
                <a:lvl4pPr algn="l">
                  <a:buNone/>
                  <a:defRPr sz="3200">
                    <a:solidFill>
                      <a:srgbClr val="17365D"/>
                    </a:solidFill>
                    <a:latin typeface="Cambria Math"/>
                    <a:ea typeface="Cambria Math"/>
                    <a:cs typeface="Cambria Math"/>
                  </a:defRPr>
                </a:lvl4pPr>
                <a:lvl5pPr algn="l">
                  <a:buNone/>
                  <a:defRPr sz="3200">
                    <a:solidFill>
                      <a:srgbClr val="17365D"/>
                    </a:solidFill>
                    <a:latin typeface="Cambria Math"/>
                    <a:ea typeface="Cambria Math"/>
                    <a:cs typeface="Cambria Math"/>
                  </a:defRPr>
                </a:lvl5pPr>
                <a:lvl6pPr algn="l">
                  <a:buNone/>
                  <a:defRPr sz="3200">
                    <a:solidFill>
                      <a:srgbClr val="17365D"/>
                    </a:solidFill>
                    <a:latin typeface="Cambria Math"/>
                    <a:ea typeface="Cambria Math"/>
                    <a:cs typeface="Cambria Math"/>
                  </a:defRPr>
                </a:lvl6pPr>
                <a:lvl7pPr algn="l">
                  <a:buNone/>
                  <a:defRPr sz="3200">
                    <a:solidFill>
                      <a:srgbClr val="17365D"/>
                    </a:solidFill>
                    <a:latin typeface="Cambria Math"/>
                    <a:ea typeface="Cambria Math"/>
                    <a:cs typeface="Cambria Math"/>
                  </a:defRPr>
                </a:lvl7pPr>
                <a:lvl8pPr algn="l">
                  <a:buNone/>
                  <a:defRPr sz="3200">
                    <a:solidFill>
                      <a:srgbClr val="17365D"/>
                    </a:solidFill>
                    <a:latin typeface="Cambria Math"/>
                    <a:ea typeface="Cambria Math"/>
                    <a:cs typeface="Cambria Math"/>
                  </a:defRPr>
                </a:lvl8pPr>
                <a:lvl9pPr algn="l">
                  <a:buNone/>
                  <a:defRPr sz="3200">
                    <a:solidFill>
                      <a:srgbClr val="17365D"/>
                    </a:solidFill>
                    <a:latin typeface="Cambria Math"/>
                    <a:ea typeface="Cambria Math"/>
                    <a:cs typeface="Cambria Math"/>
                  </a:defRPr>
                </a:lvl9pPr>
              </a:lstStyle>
              <a:p>
                <a:pPr>
                  <a:buNone/>
                  <a:defRPr sz="3200">
                    <a:solidFill>
                      <a:srgbClr val="17365D"/>
                    </a:solidFill>
                  </a:defRPr>
                </a:pPr>
                <a14:m>
                  <m:oMathPara xmlns:m="http://schemas.openxmlformats.org/officeDocument/2006/math">
                    <m:oMath>
                      <m:r>
                        <a:rPr>
                          <a:latin typeface="Cambria Math" panose="02040503050406030204" pitchFamily="18" charset="0"/>
                        </a:rPr>
                        <m:t>𝑈</m:t>
                      </m:r>
                      <m:r>
                        <a:rPr>
                          <a:latin typeface="Cambria Math" panose="02040503050406030204" pitchFamily="18" charset="0"/>
                        </a:rPr>
                        <m:t>∼</m:t>
                      </m:r>
                      <m:r>
                        <a:rPr>
                          <a:latin typeface="Cambria Math" panose="02040503050406030204" pitchFamily="18" charset="0"/>
                        </a:rPr>
                        <m:t>𝑈𝑛𝑖𝑓𝑜𝑟𝑚</m:t>
                      </m:r>
                      <m:d>
                        <m:dPr>
                          <m:ctrlPr>
                            <a:rPr>
                              <a:latin typeface="Cambria Math" panose="02040503050406030204" pitchFamily="18" charset="0"/>
                            </a:rPr>
                          </m:ctrlPr>
                        </m:dPr>
                        <m:e>
                          <m:r>
                            <a:rPr>
                              <a:latin typeface="Cambria Math" panose="02040503050406030204" pitchFamily="18" charset="0"/>
                            </a:rPr>
                            <m:t>0,1</m:t>
                          </m:r>
                        </m:e>
                      </m:d>
                      <m:r>
                        <a:rPr>
                          <a:latin typeface="Cambria Math" panose="02040503050406030204" pitchFamily="18" charset="0"/>
                        </a:rPr>
                        <m:t>,    </m:t>
                      </m:r>
                      <m:r>
                        <a:rPr>
                          <a:latin typeface="Cambria Math" panose="02040503050406030204" pitchFamily="18" charset="0"/>
                        </a:rPr>
                        <m:t>𝑌</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𝑈</m:t>
                          </m:r>
                        </m:sup>
                      </m:sSup>
                    </m:oMath>
                  </m:oMathPara>
                </a14:m>
                <a:endParaRPr/>
              </a:p>
            </p:txBody>
          </p:sp>
        </mc:Choice>
        <mc:Fallback>
          <p:sp>
            <p:nvSpPr>
              <p:cNvPr id="5" name="EQ_013">
                <a:extLst>
                  <a:ext uri="{FF2B5EF4-FFF2-40B4-BE49-F238E27FC236}">
                    <a16:creationId xmlns:a16="http://schemas.microsoft.com/office/drawing/2014/main" id="{781E84F8-402C-49B1-9098-D4A56084F88F}"/>
                  </a:ext>
                </a:extLst>
              </p:cNvPr>
              <p:cNvSpPr>
                <a:spLocks noGrp="1" noRot="1" noChangeAspect="1" noMove="1" noResize="1" noEditPoints="1" noAdjustHandles="1" noChangeArrowheads="1" noChangeShapeType="1" noTextEdit="1"/>
              </p:cNvSpPr>
              <p:nvPr/>
            </p:nvSpPr>
            <p:spPr>
              <a:xfrm>
                <a:off x="857250" y="1619250"/>
                <a:ext cx="10477500" cy="952500"/>
              </a:xfrm>
              <a:prstGeom prst="rect">
                <a:avLst/>
              </a:prstGeom>
              <a:blipFill>
                <a:blip r:embed="rId3"/>
                <a:stretch>
                  <a:fillRect/>
                </a:stretch>
              </a:blipFill>
              <a:ln w="0">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6" name="EQ_014">
                <a:extLst>
                  <a:ext uri="{FF2B5EF4-FFF2-40B4-BE49-F238E27FC236}">
                    <a16:creationId xmlns:a16="http://schemas.microsoft.com/office/drawing/2014/main" id="{9D5CCF90-E115-44A5-80E6-FB6DE1391DFF}"/>
                  </a:ext>
                </a:extLst>
              </p:cNvPr>
              <p:cNvSpPr>
                <a:spLocks noGrp="1"/>
              </p:cNvSpPr>
              <p:nvPr/>
            </p:nvSpPr>
            <p:spPr>
              <a:xfrm>
                <a:off x="857250" y="2809875"/>
                <a:ext cx="10477500" cy="1095375"/>
              </a:xfrm>
              <a:prstGeom prst="rect">
                <a:avLst/>
              </a:prstGeom>
              <a:noFill/>
              <a:ln w="0">
                <a:noFill/>
              </a:ln>
            </p:spPr>
            <p:txBody>
              <a:bodyPr wrap="none" lIns="0" tIns="0" rIns="0" bIns="0" anchor="ctr">
                <a:noAutofit/>
              </a:bodyPr>
              <a:lstStyle>
                <a:lvl1pPr algn="l">
                  <a:buNone/>
                  <a:defRPr sz="3100">
                    <a:solidFill>
                      <a:srgbClr val="17365D"/>
                    </a:solidFill>
                    <a:latin typeface="Cambria Math"/>
                    <a:ea typeface="Cambria Math"/>
                    <a:cs typeface="Cambria Math"/>
                  </a:defRPr>
                </a:lvl1pPr>
                <a:lvl2pPr algn="l">
                  <a:buNone/>
                  <a:defRPr sz="3100">
                    <a:solidFill>
                      <a:srgbClr val="17365D"/>
                    </a:solidFill>
                    <a:latin typeface="Cambria Math"/>
                    <a:ea typeface="Cambria Math"/>
                    <a:cs typeface="Cambria Math"/>
                  </a:defRPr>
                </a:lvl2pPr>
                <a:lvl3pPr algn="l">
                  <a:buNone/>
                  <a:defRPr sz="3100">
                    <a:solidFill>
                      <a:srgbClr val="17365D"/>
                    </a:solidFill>
                    <a:latin typeface="Cambria Math"/>
                    <a:ea typeface="Cambria Math"/>
                    <a:cs typeface="Cambria Math"/>
                  </a:defRPr>
                </a:lvl3pPr>
                <a:lvl4pPr algn="l">
                  <a:buNone/>
                  <a:defRPr sz="3100">
                    <a:solidFill>
                      <a:srgbClr val="17365D"/>
                    </a:solidFill>
                    <a:latin typeface="Cambria Math"/>
                    <a:ea typeface="Cambria Math"/>
                    <a:cs typeface="Cambria Math"/>
                  </a:defRPr>
                </a:lvl4pPr>
                <a:lvl5pPr algn="l">
                  <a:buNone/>
                  <a:defRPr sz="3100">
                    <a:solidFill>
                      <a:srgbClr val="17365D"/>
                    </a:solidFill>
                    <a:latin typeface="Cambria Math"/>
                    <a:ea typeface="Cambria Math"/>
                    <a:cs typeface="Cambria Math"/>
                  </a:defRPr>
                </a:lvl5pPr>
                <a:lvl6pPr algn="l">
                  <a:buNone/>
                  <a:defRPr sz="3100">
                    <a:solidFill>
                      <a:srgbClr val="17365D"/>
                    </a:solidFill>
                    <a:latin typeface="Cambria Math"/>
                    <a:ea typeface="Cambria Math"/>
                    <a:cs typeface="Cambria Math"/>
                  </a:defRPr>
                </a:lvl6pPr>
                <a:lvl7pPr algn="l">
                  <a:buNone/>
                  <a:defRPr sz="3100">
                    <a:solidFill>
                      <a:srgbClr val="17365D"/>
                    </a:solidFill>
                    <a:latin typeface="Cambria Math"/>
                    <a:ea typeface="Cambria Math"/>
                    <a:cs typeface="Cambria Math"/>
                  </a:defRPr>
                </a:lvl7pPr>
                <a:lvl8pPr algn="l">
                  <a:buNone/>
                  <a:defRPr sz="3100">
                    <a:solidFill>
                      <a:srgbClr val="17365D"/>
                    </a:solidFill>
                    <a:latin typeface="Cambria Math"/>
                    <a:ea typeface="Cambria Math"/>
                    <a:cs typeface="Cambria Math"/>
                  </a:defRPr>
                </a:lvl8pPr>
                <a:lvl9pPr algn="l">
                  <a:buNone/>
                  <a:defRPr sz="3100">
                    <a:solidFill>
                      <a:srgbClr val="17365D"/>
                    </a:solidFill>
                    <a:latin typeface="Cambria Math"/>
                    <a:ea typeface="Cambria Math"/>
                    <a:cs typeface="Cambria Math"/>
                  </a:defRPr>
                </a:lvl9pPr>
              </a:lstStyle>
              <a:p>
                <a:pPr>
                  <a:buNone/>
                  <a:defRPr sz="3100">
                    <a:solidFill>
                      <a:srgbClr val="17365D"/>
                    </a:solidFill>
                  </a:defRPr>
                </a:pPr>
                <a14:m>
                  <m:oMathPara xmlns:m="http://schemas.openxmlformats.org/officeDocument/2006/math">
                    <m:oMath>
                      <m:r>
                        <a:rPr>
                          <a:latin typeface="Cambria Math" panose="02040503050406030204" pitchFamily="18" charset="0"/>
                        </a:rPr>
                        <m:t>𝐸</m:t>
                      </m:r>
                      <m:d>
                        <m:dPr>
                          <m:begChr m:val="["/>
                          <m:endChr m:val="]"/>
                          <m:ctrlPr>
                            <a:rPr i="1">
                              <a:latin typeface="Cambria Math" panose="02040503050406030204" pitchFamily="18" charset="0"/>
                            </a:rPr>
                          </m:ctrlPr>
                        </m:dPr>
                        <m:e>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𝑈</m:t>
                              </m:r>
                            </m:sup>
                          </m:sSup>
                        </m:e>
                      </m:d>
                      <m:r>
                        <a:rPr>
                          <a:latin typeface="Cambria Math" panose="02040503050406030204" pitchFamily="18" charset="0"/>
                        </a:rPr>
                        <m:t>=</m:t>
                      </m:r>
                      <m:nary>
                        <m:naryPr>
                          <m:limLoc m:val="subSup"/>
                          <m:ctrlPr>
                            <a:rPr>
                              <a:latin typeface="Cambria Math" panose="02040503050406030204" pitchFamily="18" charset="0"/>
                            </a:rPr>
                          </m:ctrlPr>
                        </m:naryPr>
                        <m:sub>
                          <m:r>
                            <a:rPr>
                              <a:latin typeface="Cambria Math" panose="02040503050406030204" pitchFamily="18" charset="0"/>
                            </a:rPr>
                            <m:t>0</m:t>
                          </m:r>
                        </m:sub>
                        <m:sup>
                          <m:r>
                            <a:rPr>
                              <a:latin typeface="Cambria Math" panose="02040503050406030204" pitchFamily="18" charset="0"/>
                            </a:rPr>
                            <m:t>1</m:t>
                          </m:r>
                        </m:sup>
                        <m:e>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𝑢</m:t>
                              </m:r>
                            </m:sup>
                          </m:sSup>
                        </m:e>
                      </m:nary>
                      <m:r>
                        <a:rPr>
                          <a:latin typeface="Cambria Math" panose="02040503050406030204" pitchFamily="18" charset="0"/>
                        </a:rPr>
                        <m:t>𝑑𝑢</m:t>
                      </m:r>
                      <m:r>
                        <a:rPr>
                          <a:latin typeface="Cambria Math" panose="02040503050406030204" pitchFamily="18" charset="0"/>
                        </a:rPr>
                        <m:t>=</m:t>
                      </m:r>
                      <m:r>
                        <a:rPr>
                          <a:latin typeface="Cambria Math" panose="02040503050406030204" pitchFamily="18" charset="0"/>
                        </a:rPr>
                        <m:t>𝑒</m:t>
                      </m:r>
                      <m:r>
                        <a:rPr>
                          <a:latin typeface="Cambria Math" panose="02040503050406030204" pitchFamily="18" charset="0"/>
                        </a:rPr>
                        <m:t>−1</m:t>
                      </m:r>
                    </m:oMath>
                  </m:oMathPara>
                </a14:m>
                <a:endParaRPr/>
              </a:p>
            </p:txBody>
          </p:sp>
        </mc:Choice>
        <mc:Fallback>
          <p:sp>
            <p:nvSpPr>
              <p:cNvPr id="6" name="EQ_014">
                <a:extLst>
                  <a:ext uri="{FF2B5EF4-FFF2-40B4-BE49-F238E27FC236}">
                    <a16:creationId xmlns:a16="http://schemas.microsoft.com/office/drawing/2014/main" id="{9D5CCF90-E115-44A5-80E6-FB6DE1391DFF}"/>
                  </a:ext>
                </a:extLst>
              </p:cNvPr>
              <p:cNvSpPr>
                <a:spLocks noGrp="1" noRot="1" noChangeAspect="1" noMove="1" noResize="1" noEditPoints="1" noAdjustHandles="1" noChangeArrowheads="1" noChangeShapeType="1" noTextEdit="1"/>
              </p:cNvSpPr>
              <p:nvPr/>
            </p:nvSpPr>
            <p:spPr>
              <a:xfrm>
                <a:off x="857250" y="2809875"/>
                <a:ext cx="10477500" cy="1095375"/>
              </a:xfrm>
              <a:prstGeom prst="rect">
                <a:avLst/>
              </a:prstGeom>
              <a:blipFill>
                <a:blip r:embed="rId4"/>
                <a:stretch>
                  <a:fillRect/>
                </a:stretch>
              </a:blipFill>
              <a:ln w="0">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7" name="EQ_015">
                <a:extLst>
                  <a:ext uri="{FF2B5EF4-FFF2-40B4-BE49-F238E27FC236}">
                    <a16:creationId xmlns:a16="http://schemas.microsoft.com/office/drawing/2014/main" id="{EC953FBA-35BC-47C2-AF31-CD5AF57641B9}"/>
                  </a:ext>
                </a:extLst>
              </p:cNvPr>
              <p:cNvSpPr>
                <a:spLocks noGrp="1"/>
              </p:cNvSpPr>
              <p:nvPr/>
            </p:nvSpPr>
            <p:spPr>
              <a:xfrm>
                <a:off x="857250" y="4124325"/>
                <a:ext cx="10477500" cy="1095375"/>
              </a:xfrm>
              <a:prstGeom prst="rect">
                <a:avLst/>
              </a:prstGeom>
              <a:noFill/>
              <a:ln w="0">
                <a:noFill/>
              </a:ln>
            </p:spPr>
            <p:txBody>
              <a:bodyPr wrap="none" lIns="0" tIns="0" rIns="0" bIns="0" anchor="ctr">
                <a:noAutofit/>
              </a:bodyPr>
              <a:lstStyle>
                <a:lvl1pPr algn="l">
                  <a:buNone/>
                  <a:defRPr sz="3300">
                    <a:solidFill>
                      <a:srgbClr val="17365D"/>
                    </a:solidFill>
                    <a:latin typeface="Cambria Math"/>
                    <a:ea typeface="Cambria Math"/>
                    <a:cs typeface="Cambria Math"/>
                  </a:defRPr>
                </a:lvl1pPr>
                <a:lvl2pPr algn="l">
                  <a:buNone/>
                  <a:defRPr sz="3300">
                    <a:solidFill>
                      <a:srgbClr val="17365D"/>
                    </a:solidFill>
                    <a:latin typeface="Cambria Math"/>
                    <a:ea typeface="Cambria Math"/>
                    <a:cs typeface="Cambria Math"/>
                  </a:defRPr>
                </a:lvl2pPr>
                <a:lvl3pPr algn="l">
                  <a:buNone/>
                  <a:defRPr sz="3300">
                    <a:solidFill>
                      <a:srgbClr val="17365D"/>
                    </a:solidFill>
                    <a:latin typeface="Cambria Math"/>
                    <a:ea typeface="Cambria Math"/>
                    <a:cs typeface="Cambria Math"/>
                  </a:defRPr>
                </a:lvl3pPr>
                <a:lvl4pPr algn="l">
                  <a:buNone/>
                  <a:defRPr sz="3300">
                    <a:solidFill>
                      <a:srgbClr val="17365D"/>
                    </a:solidFill>
                    <a:latin typeface="Cambria Math"/>
                    <a:ea typeface="Cambria Math"/>
                    <a:cs typeface="Cambria Math"/>
                  </a:defRPr>
                </a:lvl4pPr>
                <a:lvl5pPr algn="l">
                  <a:buNone/>
                  <a:defRPr sz="3300">
                    <a:solidFill>
                      <a:srgbClr val="17365D"/>
                    </a:solidFill>
                    <a:latin typeface="Cambria Math"/>
                    <a:ea typeface="Cambria Math"/>
                    <a:cs typeface="Cambria Math"/>
                  </a:defRPr>
                </a:lvl5pPr>
                <a:lvl6pPr algn="l">
                  <a:buNone/>
                  <a:defRPr sz="3300">
                    <a:solidFill>
                      <a:srgbClr val="17365D"/>
                    </a:solidFill>
                    <a:latin typeface="Cambria Math"/>
                    <a:ea typeface="Cambria Math"/>
                    <a:cs typeface="Cambria Math"/>
                  </a:defRPr>
                </a:lvl6pPr>
                <a:lvl7pPr algn="l">
                  <a:buNone/>
                  <a:defRPr sz="3300">
                    <a:solidFill>
                      <a:srgbClr val="17365D"/>
                    </a:solidFill>
                    <a:latin typeface="Cambria Math"/>
                    <a:ea typeface="Cambria Math"/>
                    <a:cs typeface="Cambria Math"/>
                  </a:defRPr>
                </a:lvl7pPr>
                <a:lvl8pPr algn="l">
                  <a:buNone/>
                  <a:defRPr sz="3300">
                    <a:solidFill>
                      <a:srgbClr val="17365D"/>
                    </a:solidFill>
                    <a:latin typeface="Cambria Math"/>
                    <a:ea typeface="Cambria Math"/>
                    <a:cs typeface="Cambria Math"/>
                  </a:defRPr>
                </a:lvl8pPr>
                <a:lvl9pPr algn="l">
                  <a:buNone/>
                  <a:defRPr sz="3300">
                    <a:solidFill>
                      <a:srgbClr val="17365D"/>
                    </a:solidFill>
                    <a:latin typeface="Cambria Math"/>
                    <a:ea typeface="Cambria Math"/>
                    <a:cs typeface="Cambria Math"/>
                  </a:defRPr>
                </a:lvl9pPr>
              </a:lstStyle>
              <a:p>
                <a:pPr>
                  <a:buNone/>
                  <a:defRPr sz="3300">
                    <a:solidFill>
                      <a:srgbClr val="17365D"/>
                    </a:solidFill>
                  </a:defRPr>
                </a:pPr>
                <a14:m>
                  <m:oMathPara xmlns:m="http://schemas.openxmlformats.org/officeDocument/2006/math">
                    <m:oMath>
                      <m:sSub>
                        <m:sSubPr>
                          <m:ctrlPr>
                            <a:rPr>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𝜃</m:t>
                              </m:r>
                            </m:e>
                          </m:acc>
                        </m:e>
                        <m:sub>
                          <m:r>
                            <a:rPr>
                              <a:latin typeface="Cambria Math" panose="02040503050406030204" pitchFamily="18" charset="0"/>
                            </a:rPr>
                            <m:t>𝑁</m:t>
                          </m:r>
                        </m:sub>
                      </m:sSub>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𝑁</m:t>
                          </m:r>
                        </m:den>
                      </m:f>
                      <m:nary>
                        <m:naryPr>
                          <m:chr m:val="∑"/>
                          <m:limLoc m:val="undOvr"/>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𝑁</m:t>
                          </m:r>
                        </m:sup>
                        <m:e>
                          <m:sSup>
                            <m:sSupPr>
                              <m:ctrlPr>
                                <a:rPr>
                                  <a:latin typeface="Cambria Math" panose="02040503050406030204" pitchFamily="18" charset="0"/>
                                </a:rPr>
                              </m:ctrlPr>
                            </m:sSupPr>
                            <m:e>
                              <m:r>
                                <a:rPr>
                                  <a:latin typeface="Cambria Math" panose="02040503050406030204" pitchFamily="18" charset="0"/>
                                </a:rPr>
                                <m:t>𝑒</m:t>
                              </m:r>
                            </m:e>
                            <m:sup>
                              <m:sSub>
                                <m:sSubPr>
                                  <m:ctrlPr>
                                    <a:rPr>
                                      <a:latin typeface="Cambria Math" panose="02040503050406030204" pitchFamily="18" charset="0"/>
                                    </a:rPr>
                                  </m:ctrlPr>
                                </m:sSubPr>
                                <m:e>
                                  <m:r>
                                    <a:rPr>
                                      <a:latin typeface="Cambria Math" panose="02040503050406030204" pitchFamily="18" charset="0"/>
                                    </a:rPr>
                                    <m:t>𝑈</m:t>
                                  </m:r>
                                </m:e>
                                <m:sub>
                                  <m:r>
                                    <a:rPr>
                                      <a:latin typeface="Cambria Math" panose="02040503050406030204" pitchFamily="18" charset="0"/>
                                    </a:rPr>
                                    <m:t>𝑖</m:t>
                                  </m:r>
                                </m:sub>
                              </m:sSub>
                            </m:sup>
                          </m:sSup>
                        </m:e>
                      </m:nary>
                    </m:oMath>
                  </m:oMathPara>
                </a14:m>
                <a:endParaRPr/>
              </a:p>
            </p:txBody>
          </p:sp>
        </mc:Choice>
        <mc:Fallback>
          <p:sp>
            <p:nvSpPr>
              <p:cNvPr id="7" name="EQ_015">
                <a:extLst>
                  <a:ext uri="{FF2B5EF4-FFF2-40B4-BE49-F238E27FC236}">
                    <a16:creationId xmlns:a16="http://schemas.microsoft.com/office/drawing/2014/main" id="{EC953FBA-35BC-47C2-AF31-CD5AF57641B9}"/>
                  </a:ext>
                </a:extLst>
              </p:cNvPr>
              <p:cNvSpPr>
                <a:spLocks noGrp="1" noRot="1" noChangeAspect="1" noMove="1" noResize="1" noEditPoints="1" noAdjustHandles="1" noChangeArrowheads="1" noChangeShapeType="1" noTextEdit="1"/>
              </p:cNvSpPr>
              <p:nvPr/>
            </p:nvSpPr>
            <p:spPr>
              <a:xfrm>
                <a:off x="857250" y="4124325"/>
                <a:ext cx="10477500" cy="1095375"/>
              </a:xfrm>
              <a:prstGeom prst="rect">
                <a:avLst/>
              </a:prstGeom>
              <a:blipFill>
                <a:blip r:embed="rId5"/>
                <a:stretch>
                  <a:fillRect t="-10056" b="-15642"/>
                </a:stretch>
              </a:blipFill>
              <a:ln w="0">
                <a:noFill/>
              </a:ln>
            </p:spPr>
            <p:txBody>
              <a:bodyPr/>
              <a:lstStyle/>
              <a:p>
                <a:r>
                  <a:rPr lang="en-GB">
                    <a:noFill/>
                  </a:rPr>
                  <a:t> </a:t>
                </a:r>
              </a:p>
            </p:txBody>
          </p:sp>
        </mc:Fallback>
      </mc:AlternateContent>
      <p:sp>
        <p:nvSpPr>
          <p:cNvPr id="8" name="text-7">
            <a:extLst>
              <a:ext uri="{FF2B5EF4-FFF2-40B4-BE49-F238E27FC236}">
                <a16:creationId xmlns:a16="http://schemas.microsoft.com/office/drawing/2014/main" id="{085DDB09-1595-4FC6-9381-1CE268831619}"/>
              </a:ext>
            </a:extLst>
          </p:cNvPr>
          <p:cNvSpPr>
            <a:spLocks noGrp="1"/>
          </p:cNvSpPr>
          <p:nvPr/>
        </p:nvSpPr>
        <p:spPr>
          <a:xfrm>
            <a:off x="857250" y="5676900"/>
            <a:ext cx="10477500" cy="552450"/>
          </a:xfrm>
          <a:prstGeom prst="rect">
            <a:avLst/>
          </a:prstGeom>
          <a:noFill/>
          <a:ln w="0">
            <a:noFill/>
          </a:ln>
        </p:spPr>
        <p:txBody>
          <a:bodyPr wrap="square" lIns="0" tIns="0" rIns="0" bIns="0" anchor="t">
            <a:noAutofit/>
          </a:bodyPr>
          <a:lstStyle>
            <a:lvl1pPr>
              <a:buNone/>
              <a:defRPr sz="2325" b="0">
                <a:solidFill>
                  <a:srgbClr val="2D75A3"/>
                </a:solidFill>
                <a:latin typeface="Aptos"/>
                <a:ea typeface="Aptos"/>
                <a:cs typeface="Aptos"/>
              </a:defRPr>
            </a:lvl1pPr>
            <a:lvl2pPr>
              <a:buNone/>
              <a:defRPr sz="2325" b="0">
                <a:solidFill>
                  <a:srgbClr val="2D75A3"/>
                </a:solidFill>
                <a:latin typeface="Aptos"/>
                <a:ea typeface="Aptos"/>
                <a:cs typeface="Aptos"/>
              </a:defRPr>
            </a:lvl2pPr>
            <a:lvl3pPr>
              <a:buNone/>
              <a:defRPr sz="2325" b="0">
                <a:solidFill>
                  <a:srgbClr val="2D75A3"/>
                </a:solidFill>
                <a:latin typeface="Aptos"/>
                <a:ea typeface="Aptos"/>
                <a:cs typeface="Aptos"/>
              </a:defRPr>
            </a:lvl3pPr>
            <a:lvl4pPr>
              <a:buNone/>
              <a:defRPr sz="2325" b="0">
                <a:solidFill>
                  <a:srgbClr val="2D75A3"/>
                </a:solidFill>
                <a:latin typeface="Aptos"/>
                <a:ea typeface="Aptos"/>
                <a:cs typeface="Aptos"/>
              </a:defRPr>
            </a:lvl4pPr>
            <a:lvl5pPr>
              <a:buNone/>
              <a:defRPr sz="2325" b="0">
                <a:solidFill>
                  <a:srgbClr val="2D75A3"/>
                </a:solidFill>
                <a:latin typeface="Aptos"/>
                <a:ea typeface="Aptos"/>
                <a:cs typeface="Aptos"/>
              </a:defRPr>
            </a:lvl5pPr>
            <a:lvl6pPr>
              <a:buNone/>
              <a:defRPr sz="2325" b="0">
                <a:solidFill>
                  <a:srgbClr val="2D75A3"/>
                </a:solidFill>
                <a:latin typeface="Aptos"/>
                <a:ea typeface="Aptos"/>
                <a:cs typeface="Aptos"/>
              </a:defRPr>
            </a:lvl6pPr>
            <a:lvl7pPr>
              <a:buNone/>
              <a:defRPr sz="2325" b="0">
                <a:solidFill>
                  <a:srgbClr val="2D75A3"/>
                </a:solidFill>
                <a:latin typeface="Aptos"/>
                <a:ea typeface="Aptos"/>
                <a:cs typeface="Aptos"/>
              </a:defRPr>
            </a:lvl7pPr>
            <a:lvl8pPr>
              <a:buNone/>
              <a:defRPr sz="2325" b="0">
                <a:solidFill>
                  <a:srgbClr val="2D75A3"/>
                </a:solidFill>
                <a:latin typeface="Aptos"/>
                <a:ea typeface="Aptos"/>
                <a:cs typeface="Aptos"/>
              </a:defRPr>
            </a:lvl8pPr>
            <a:lvl9pPr>
              <a:buNone/>
              <a:defRPr sz="2325" b="0">
                <a:solidFill>
                  <a:srgbClr val="2D75A3"/>
                </a:solidFill>
                <a:latin typeface="Aptos"/>
                <a:ea typeface="Aptos"/>
                <a:cs typeface="Aptos"/>
              </a:defRPr>
            </a:lvl9pPr>
          </a:lstStyle>
          <a:p>
            <a:pPr>
              <a:buNone/>
              <a:defRPr sz="2325" b="0">
                <a:solidFill>
                  <a:srgbClr val="2D75A3"/>
                </a:solidFill>
                <a:latin typeface="Aptos"/>
                <a:ea typeface="Aptos"/>
                <a:cs typeface="Aptos"/>
              </a:defRPr>
            </a:pPr>
            <a:r>
              <a:rPr sz="2325" b="0">
                <a:solidFill>
                  <a:srgbClr val="2D75A3"/>
                </a:solidFill>
                <a:latin typeface="Aptos"/>
                <a:ea typeface="Aptos"/>
                <a:cs typeface="Aptos"/>
              </a:rPr>
              <a:t>Transform every draw, then average the transformed values.</a:t>
            </a:r>
          </a:p>
        </p:txBody>
      </p:sp>
      <p:sp>
        <p:nvSpPr>
          <p:cNvPr id="10" name="notebook-cue-slide-34">
            <a:extLst>
              <a:ext uri="{FF2B5EF4-FFF2-40B4-BE49-F238E27FC236}">
                <a16:creationId xmlns:a16="http://schemas.microsoft.com/office/drawing/2014/main" id="{15627B80-116A-4CAC-9C0E-809A1A054E7D}"/>
              </a:ext>
            </a:extLst>
          </p:cNvPr>
          <p:cNvSpPr>
            <a:spLocks noGrp="1"/>
          </p:cNvSpPr>
          <p:nvPr/>
        </p:nvSpPr>
        <p:spPr>
          <a:xfrm>
            <a:off x="2952750" y="6429375"/>
            <a:ext cx="7620000" cy="295275"/>
          </a:xfrm>
          <a:prstGeom prst="rect">
            <a:avLst/>
          </a:prstGeom>
          <a:noFill/>
          <a:ln w="0">
            <a:noFill/>
          </a:ln>
        </p:spPr>
        <p:txBody>
          <a:bodyPr wrap="none" lIns="0" tIns="0" rIns="0" bIns="0" anchor="ctr">
            <a:noAutofit/>
          </a:bodyPr>
          <a:lstStyle>
            <a:defPPr algn="ctr">
              <a:defRPr sz="1650" b="1">
                <a:solidFill>
                  <a:srgbClr val="2F6F4E"/>
                </a:solidFill>
                <a:latin typeface="Aptos"/>
                <a:ea typeface="Aptos"/>
                <a:cs typeface="Aptos"/>
              </a:defRPr>
            </a:defPPr>
            <a:lvl1pPr algn="ctr">
              <a:defRPr sz="1650" b="1">
                <a:solidFill>
                  <a:srgbClr val="2F6F4E"/>
                </a:solidFill>
                <a:latin typeface="Aptos"/>
                <a:ea typeface="Aptos"/>
                <a:cs typeface="Aptos"/>
              </a:defRPr>
            </a:lvl1pPr>
            <a:lvl2pPr algn="ctr">
              <a:defRPr sz="1650" b="1">
                <a:solidFill>
                  <a:srgbClr val="2F6F4E"/>
                </a:solidFill>
                <a:latin typeface="Aptos"/>
                <a:ea typeface="Aptos"/>
                <a:cs typeface="Aptos"/>
              </a:defRPr>
            </a:lvl2pPr>
            <a:lvl3pPr algn="ctr">
              <a:defRPr sz="1650" b="1">
                <a:solidFill>
                  <a:srgbClr val="2F6F4E"/>
                </a:solidFill>
                <a:latin typeface="Aptos"/>
                <a:ea typeface="Aptos"/>
                <a:cs typeface="Aptos"/>
              </a:defRPr>
            </a:lvl3pPr>
            <a:lvl4pPr algn="ctr">
              <a:defRPr sz="1650" b="1">
                <a:solidFill>
                  <a:srgbClr val="2F6F4E"/>
                </a:solidFill>
                <a:latin typeface="Aptos"/>
                <a:ea typeface="Aptos"/>
                <a:cs typeface="Aptos"/>
              </a:defRPr>
            </a:lvl4pPr>
            <a:lvl5pPr algn="ctr">
              <a:defRPr sz="1650" b="1">
                <a:solidFill>
                  <a:srgbClr val="2F6F4E"/>
                </a:solidFill>
                <a:latin typeface="Aptos"/>
                <a:ea typeface="Aptos"/>
                <a:cs typeface="Aptos"/>
              </a:defRPr>
            </a:lvl5pPr>
            <a:lvl6pPr algn="ctr">
              <a:defRPr sz="1650" b="1">
                <a:solidFill>
                  <a:srgbClr val="2F6F4E"/>
                </a:solidFill>
                <a:latin typeface="Aptos"/>
                <a:ea typeface="Aptos"/>
                <a:cs typeface="Aptos"/>
              </a:defRPr>
            </a:lvl6pPr>
            <a:lvl7pPr algn="ctr">
              <a:defRPr sz="1650" b="1">
                <a:solidFill>
                  <a:srgbClr val="2F6F4E"/>
                </a:solidFill>
                <a:latin typeface="Aptos"/>
                <a:ea typeface="Aptos"/>
                <a:cs typeface="Aptos"/>
              </a:defRPr>
            </a:lvl7pPr>
            <a:lvl8pPr algn="ctr">
              <a:defRPr sz="1650" b="1">
                <a:solidFill>
                  <a:srgbClr val="2F6F4E"/>
                </a:solidFill>
                <a:latin typeface="Aptos"/>
                <a:ea typeface="Aptos"/>
                <a:cs typeface="Aptos"/>
              </a:defRPr>
            </a:lvl8pPr>
            <a:lvl9pPr algn="ctr">
              <a:defRPr sz="1650" b="1">
                <a:solidFill>
                  <a:srgbClr val="2F6F4E"/>
                </a:solidFill>
                <a:latin typeface="Aptos"/>
                <a:ea typeface="Aptos"/>
                <a:cs typeface="Aptos"/>
              </a:defRPr>
            </a:lvl9pPr>
          </a:lstStyle>
          <a:p>
            <a:pPr algn="ctr">
              <a:defRPr sz="1650" b="1">
                <a:solidFill>
                  <a:srgbClr val="2F6F4E"/>
                </a:solidFill>
                <a:latin typeface="Aptos"/>
                <a:ea typeface="Aptos"/>
                <a:cs typeface="Aptos"/>
              </a:defRPr>
            </a:pPr>
            <a:r>
              <a:rPr sz="1650" b="1">
                <a:solidFill>
                  <a:srgbClr val="2F6F4E"/>
                </a:solidFill>
                <a:latin typeface="Aptos"/>
                <a:ea typeface="Aptos"/>
                <a:cs typeface="Aptos"/>
              </a:rPr>
              <a:t>Notebook: Slide 34</a:t>
            </a:r>
          </a:p>
        </p:txBody>
      </p:sp>
    </p:spTree>
    <p:extLst>
      <p:ext uri="{BB962C8B-B14F-4D97-AF65-F5344CB8AC3E}">
        <p14:creationId xmlns:p14="http://schemas.microsoft.com/office/powerpoint/2010/main" val="11031479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98BF7CE9-5CA6-4EE9-ABF8-A9A2C0DEBEB0}"/>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Estimating π with random points</a:t>
            </a:r>
          </a:p>
        </p:txBody>
      </p:sp>
      <p:sp>
        <p:nvSpPr>
          <p:cNvPr id="2" name="Straight Connector 1">
            <a:extLst>
              <a:ext uri="{FF2B5EF4-FFF2-40B4-BE49-F238E27FC236}">
                <a16:creationId xmlns:a16="http://schemas.microsoft.com/office/drawing/2014/main" id="{9255A1ED-5398-4116-A3B5-F580575E16B0}"/>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71E36F73-9071-48F3-B05E-29DBCA8326EF}"/>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BB0E0906-DDBA-464B-A06A-442A3E8B6D05}"/>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35</a:t>
            </a:r>
          </a:p>
        </p:txBody>
      </p:sp>
      <p:graphicFrame>
        <p:nvGraphicFramePr>
          <p:cNvPr id="16" name="Chart"/>
          <p:cNvGraphicFramePr/>
          <p:nvPr/>
        </p:nvGraphicFramePr>
        <p:xfrm>
          <a:off x="857250" y="1543050"/>
          <a:ext cx="4476750" cy="447675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4">
            <a:extLst>
              <a:ext uri="{FF2B5EF4-FFF2-40B4-BE49-F238E27FC236}">
                <a16:creationId xmlns:a16="http://schemas.microsoft.com/office/drawing/2014/main" id="{C43772DC-76B4-4395-8B56-54925815D13B}"/>
              </a:ext>
            </a:extLst>
          </p:cNvPr>
          <p:cNvSpPr>
            <a:spLocks noGrp="1"/>
          </p:cNvSpPr>
          <p:nvPr/>
        </p:nvSpPr>
        <p:spPr>
          <a:xfrm>
            <a:off x="6667500" y="1819275"/>
            <a:ext cx="4667250" cy="1047750"/>
          </a:xfrm>
          <a:prstGeom prst="rect">
            <a:avLst/>
          </a:prstGeom>
          <a:noFill/>
          <a:ln w="0">
            <a:noFill/>
          </a:ln>
        </p:spPr>
        <p:txBody>
          <a:bodyPr wrap="square" lIns="0" tIns="0" rIns="0" bIns="0" anchor="t">
            <a:noAutofit/>
          </a:bodyPr>
          <a:lstStyle>
            <a:lvl1pPr>
              <a:buNone/>
              <a:defRPr sz="2250" b="0">
                <a:solidFill>
                  <a:srgbClr val="17365D"/>
                </a:solidFill>
                <a:latin typeface="Aptos"/>
                <a:ea typeface="Aptos"/>
                <a:cs typeface="Aptos"/>
              </a:defRPr>
            </a:lvl1pPr>
            <a:lvl2pPr>
              <a:buNone/>
              <a:defRPr sz="2250" b="0">
                <a:solidFill>
                  <a:srgbClr val="17365D"/>
                </a:solidFill>
                <a:latin typeface="Aptos"/>
                <a:ea typeface="Aptos"/>
                <a:cs typeface="Aptos"/>
              </a:defRPr>
            </a:lvl2pPr>
            <a:lvl3pPr>
              <a:buNone/>
              <a:defRPr sz="2250" b="0">
                <a:solidFill>
                  <a:srgbClr val="17365D"/>
                </a:solidFill>
                <a:latin typeface="Aptos"/>
                <a:ea typeface="Aptos"/>
                <a:cs typeface="Aptos"/>
              </a:defRPr>
            </a:lvl3pPr>
            <a:lvl4pPr>
              <a:buNone/>
              <a:defRPr sz="2250" b="0">
                <a:solidFill>
                  <a:srgbClr val="17365D"/>
                </a:solidFill>
                <a:latin typeface="Aptos"/>
                <a:ea typeface="Aptos"/>
                <a:cs typeface="Aptos"/>
              </a:defRPr>
            </a:lvl4pPr>
            <a:lvl5pPr>
              <a:buNone/>
              <a:defRPr sz="2250" b="0">
                <a:solidFill>
                  <a:srgbClr val="17365D"/>
                </a:solidFill>
                <a:latin typeface="Aptos"/>
                <a:ea typeface="Aptos"/>
                <a:cs typeface="Aptos"/>
              </a:defRPr>
            </a:lvl5pPr>
            <a:lvl6pPr>
              <a:buNone/>
              <a:defRPr sz="2250" b="0">
                <a:solidFill>
                  <a:srgbClr val="17365D"/>
                </a:solidFill>
                <a:latin typeface="Aptos"/>
                <a:ea typeface="Aptos"/>
                <a:cs typeface="Aptos"/>
              </a:defRPr>
            </a:lvl6pPr>
            <a:lvl7pPr>
              <a:buNone/>
              <a:defRPr sz="2250" b="0">
                <a:solidFill>
                  <a:srgbClr val="17365D"/>
                </a:solidFill>
                <a:latin typeface="Aptos"/>
                <a:ea typeface="Aptos"/>
                <a:cs typeface="Aptos"/>
              </a:defRPr>
            </a:lvl7pPr>
            <a:lvl8pPr>
              <a:buNone/>
              <a:defRPr sz="2250" b="0">
                <a:solidFill>
                  <a:srgbClr val="17365D"/>
                </a:solidFill>
                <a:latin typeface="Aptos"/>
                <a:ea typeface="Aptos"/>
                <a:cs typeface="Aptos"/>
              </a:defRPr>
            </a:lvl8pPr>
            <a:lvl9pPr>
              <a:buNone/>
              <a:defRPr sz="2250" b="0">
                <a:solidFill>
                  <a:srgbClr val="17365D"/>
                </a:solidFill>
                <a:latin typeface="Aptos"/>
                <a:ea typeface="Aptos"/>
                <a:cs typeface="Aptos"/>
              </a:defRPr>
            </a:lvl9pPr>
          </a:lstStyle>
          <a:p>
            <a:pPr>
              <a:buNone/>
              <a:defRPr sz="2250" b="0">
                <a:solidFill>
                  <a:srgbClr val="17365D"/>
                </a:solidFill>
                <a:latin typeface="Aptos"/>
                <a:ea typeface="Aptos"/>
                <a:cs typeface="Aptos"/>
              </a:defRPr>
            </a:pPr>
            <a:r>
              <a:rPr sz="2250" b="0">
                <a:solidFill>
                  <a:srgbClr val="17365D"/>
                </a:solidFill>
                <a:latin typeface="Aptos"/>
                <a:ea typeface="Aptos"/>
                <a:cs typeface="Aptos"/>
              </a:rPr>
              <a:t>Draw U and V independently, each uniformly from −1 to 1.</a:t>
            </a:r>
          </a:p>
        </p:txBody>
      </p:sp>
      <mc:AlternateContent xmlns:mc="http://schemas.openxmlformats.org/markup-compatibility/2006">
        <mc:Choice xmlns:a14="http://schemas.microsoft.com/office/drawing/2010/main" Requires="a14">
          <p:sp>
            <p:nvSpPr>
              <p:cNvPr id="7" name="EQ_033">
                <a:extLst>
                  <a:ext uri="{FF2B5EF4-FFF2-40B4-BE49-F238E27FC236}">
                    <a16:creationId xmlns:a16="http://schemas.microsoft.com/office/drawing/2014/main" id="{414D698E-B8E2-4CEC-A4F0-585C7C074AA8}"/>
                  </a:ext>
                </a:extLst>
              </p:cNvPr>
              <p:cNvSpPr>
                <a:spLocks noGrp="1"/>
              </p:cNvSpPr>
              <p:nvPr/>
            </p:nvSpPr>
            <p:spPr>
              <a:xfrm>
                <a:off x="6667500" y="2981325"/>
                <a:ext cx="4667250" cy="904875"/>
              </a:xfrm>
              <a:prstGeom prst="rect">
                <a:avLst/>
              </a:prstGeom>
              <a:noFill/>
              <a:ln w="0">
                <a:noFill/>
              </a:ln>
            </p:spPr>
            <p:txBody>
              <a:bodyPr wrap="none" lIns="0" tIns="0" rIns="0" bIns="0" anchor="ctr">
                <a:noAutofit/>
              </a:bodyPr>
              <a:lstStyle>
                <a:lvl1pPr algn="l">
                  <a:buNone/>
                  <a:defRPr sz="2900">
                    <a:solidFill>
                      <a:srgbClr val="17365D"/>
                    </a:solidFill>
                    <a:latin typeface="Cambria Math"/>
                    <a:ea typeface="Cambria Math"/>
                    <a:cs typeface="Cambria Math"/>
                  </a:defRPr>
                </a:lvl1pPr>
                <a:lvl2pPr algn="l">
                  <a:buNone/>
                  <a:defRPr sz="2900">
                    <a:solidFill>
                      <a:srgbClr val="17365D"/>
                    </a:solidFill>
                    <a:latin typeface="Cambria Math"/>
                    <a:ea typeface="Cambria Math"/>
                    <a:cs typeface="Cambria Math"/>
                  </a:defRPr>
                </a:lvl2pPr>
                <a:lvl3pPr algn="l">
                  <a:buNone/>
                  <a:defRPr sz="2900">
                    <a:solidFill>
                      <a:srgbClr val="17365D"/>
                    </a:solidFill>
                    <a:latin typeface="Cambria Math"/>
                    <a:ea typeface="Cambria Math"/>
                    <a:cs typeface="Cambria Math"/>
                  </a:defRPr>
                </a:lvl3pPr>
                <a:lvl4pPr algn="l">
                  <a:buNone/>
                  <a:defRPr sz="2900">
                    <a:solidFill>
                      <a:srgbClr val="17365D"/>
                    </a:solidFill>
                    <a:latin typeface="Cambria Math"/>
                    <a:ea typeface="Cambria Math"/>
                    <a:cs typeface="Cambria Math"/>
                  </a:defRPr>
                </a:lvl4pPr>
                <a:lvl5pPr algn="l">
                  <a:buNone/>
                  <a:defRPr sz="2900">
                    <a:solidFill>
                      <a:srgbClr val="17365D"/>
                    </a:solidFill>
                    <a:latin typeface="Cambria Math"/>
                    <a:ea typeface="Cambria Math"/>
                    <a:cs typeface="Cambria Math"/>
                  </a:defRPr>
                </a:lvl5pPr>
                <a:lvl6pPr algn="l">
                  <a:buNone/>
                  <a:defRPr sz="2900">
                    <a:solidFill>
                      <a:srgbClr val="17365D"/>
                    </a:solidFill>
                    <a:latin typeface="Cambria Math"/>
                    <a:ea typeface="Cambria Math"/>
                    <a:cs typeface="Cambria Math"/>
                  </a:defRPr>
                </a:lvl6pPr>
                <a:lvl7pPr algn="l">
                  <a:buNone/>
                  <a:defRPr sz="2900">
                    <a:solidFill>
                      <a:srgbClr val="17365D"/>
                    </a:solidFill>
                    <a:latin typeface="Cambria Math"/>
                    <a:ea typeface="Cambria Math"/>
                    <a:cs typeface="Cambria Math"/>
                  </a:defRPr>
                </a:lvl7pPr>
                <a:lvl8pPr algn="l">
                  <a:buNone/>
                  <a:defRPr sz="2900">
                    <a:solidFill>
                      <a:srgbClr val="17365D"/>
                    </a:solidFill>
                    <a:latin typeface="Cambria Math"/>
                    <a:ea typeface="Cambria Math"/>
                    <a:cs typeface="Cambria Math"/>
                  </a:defRPr>
                </a:lvl8pPr>
                <a:lvl9pPr algn="l">
                  <a:buNone/>
                  <a:defRPr sz="2900">
                    <a:solidFill>
                      <a:srgbClr val="17365D"/>
                    </a:solidFill>
                    <a:latin typeface="Cambria Math"/>
                    <a:ea typeface="Cambria Math"/>
                    <a:cs typeface="Cambria Math"/>
                  </a:defRPr>
                </a:lvl9pPr>
              </a:lstStyle>
              <a:p>
                <a:pPr>
                  <a:buNone/>
                  <a:defRPr sz="2900">
                    <a:solidFill>
                      <a:srgbClr val="17365D"/>
                    </a:solidFill>
                  </a:defRPr>
                </a:pPr>
                <a14:m>
                  <m:oMathPara xmlns:m="http://schemas.openxmlformats.org/officeDocument/2006/math">
                    <m:oMath>
                      <m:sSup>
                        <m:sSupPr>
                          <m:ctrlPr>
                            <a:rPr>
                              <a:latin typeface="Cambria Math" panose="02040503050406030204" pitchFamily="18" charset="0"/>
                            </a:rPr>
                          </m:ctrlPr>
                        </m:sSupPr>
                        <m:e>
                          <m:r>
                            <a:rPr>
                              <a:latin typeface="Cambria Math" panose="02040503050406030204" pitchFamily="18" charset="0"/>
                            </a:rPr>
                            <m:t>𝑈</m:t>
                          </m:r>
                        </m:e>
                        <m:sup>
                          <m:r>
                            <a:rPr>
                              <a:latin typeface="Cambria Math" panose="02040503050406030204" pitchFamily="18" charset="0"/>
                            </a:rPr>
                            <m:t>2</m:t>
                          </m:r>
                        </m:sup>
                      </m:s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𝑉</m:t>
                          </m:r>
                        </m:e>
                        <m:sup>
                          <m:r>
                            <a:rPr>
                              <a:latin typeface="Cambria Math" panose="02040503050406030204" pitchFamily="18" charset="0"/>
                            </a:rPr>
                            <m:t>2</m:t>
                          </m:r>
                        </m:sup>
                      </m:sSup>
                      <m:r>
                        <a:rPr>
                          <a:latin typeface="Cambria Math" panose="02040503050406030204" pitchFamily="18" charset="0"/>
                        </a:rPr>
                        <m:t>≤1</m:t>
                      </m:r>
                    </m:oMath>
                  </m:oMathPara>
                </a14:m>
                <a:endParaRPr/>
              </a:p>
            </p:txBody>
          </p:sp>
        </mc:Choice>
        <mc:Fallback>
          <p:sp>
            <p:nvSpPr>
              <p:cNvPr id="7" name="EQ_033">
                <a:extLst>
                  <a:ext uri="{FF2B5EF4-FFF2-40B4-BE49-F238E27FC236}">
                    <a16:creationId xmlns:a16="http://schemas.microsoft.com/office/drawing/2014/main" id="{414D698E-B8E2-4CEC-A4F0-585C7C074AA8}"/>
                  </a:ext>
                </a:extLst>
              </p:cNvPr>
              <p:cNvSpPr>
                <a:spLocks noGrp="1" noRot="1" noChangeAspect="1" noMove="1" noResize="1" noEditPoints="1" noAdjustHandles="1" noChangeArrowheads="1" noChangeShapeType="1" noTextEdit="1"/>
              </p:cNvSpPr>
              <p:nvPr/>
            </p:nvSpPr>
            <p:spPr>
              <a:xfrm>
                <a:off x="6667500" y="2981325"/>
                <a:ext cx="4667250" cy="904875"/>
              </a:xfrm>
              <a:prstGeom prst="rect">
                <a:avLst/>
              </a:prstGeom>
              <a:blipFill>
                <a:blip r:embed="rId4"/>
                <a:stretch>
                  <a:fillRect/>
                </a:stretch>
              </a:blipFill>
              <a:ln w="0">
                <a:noFill/>
              </a:ln>
            </p:spPr>
            <p:txBody>
              <a:bodyPr/>
              <a:lstStyle/>
              <a:p>
                <a:r>
                  <a:rPr lang="en-GB">
                    <a:noFill/>
                  </a:rPr>
                  <a:t> </a:t>
                </a:r>
              </a:p>
            </p:txBody>
          </p:sp>
        </mc:Fallback>
      </mc:AlternateContent>
      <p:sp>
        <p:nvSpPr>
          <p:cNvPr id="8" name="text-6">
            <a:extLst>
              <a:ext uri="{FF2B5EF4-FFF2-40B4-BE49-F238E27FC236}">
                <a16:creationId xmlns:a16="http://schemas.microsoft.com/office/drawing/2014/main" id="{0EA0CE8E-9FD3-487D-80EE-5D6D5D0B1E94}"/>
              </a:ext>
            </a:extLst>
          </p:cNvPr>
          <p:cNvSpPr>
            <a:spLocks noGrp="1"/>
          </p:cNvSpPr>
          <p:nvPr/>
        </p:nvSpPr>
        <p:spPr>
          <a:xfrm>
            <a:off x="6667500" y="4181475"/>
            <a:ext cx="4572000" cy="762000"/>
          </a:xfrm>
          <a:prstGeom prst="rect">
            <a:avLst/>
          </a:prstGeom>
          <a:noFill/>
          <a:ln w="0">
            <a:noFill/>
          </a:ln>
        </p:spPr>
        <p:txBody>
          <a:bodyPr wrap="square" lIns="0" tIns="0" rIns="0" bIns="0" anchor="t">
            <a:noAutofit/>
          </a:bodyPr>
          <a:lstStyle>
            <a:lvl1pPr>
              <a:buNone/>
              <a:defRPr sz="2325" b="1">
                <a:solidFill>
                  <a:srgbClr val="2F6F4E"/>
                </a:solidFill>
                <a:latin typeface="Aptos"/>
                <a:ea typeface="Aptos"/>
                <a:cs typeface="Aptos"/>
              </a:defRPr>
            </a:lvl1pPr>
            <a:lvl2pPr>
              <a:buNone/>
              <a:defRPr sz="2325" b="1">
                <a:solidFill>
                  <a:srgbClr val="2F6F4E"/>
                </a:solidFill>
                <a:latin typeface="Aptos"/>
                <a:ea typeface="Aptos"/>
                <a:cs typeface="Aptos"/>
              </a:defRPr>
            </a:lvl2pPr>
            <a:lvl3pPr>
              <a:buNone/>
              <a:defRPr sz="2325" b="1">
                <a:solidFill>
                  <a:srgbClr val="2F6F4E"/>
                </a:solidFill>
                <a:latin typeface="Aptos"/>
                <a:ea typeface="Aptos"/>
                <a:cs typeface="Aptos"/>
              </a:defRPr>
            </a:lvl3pPr>
            <a:lvl4pPr>
              <a:buNone/>
              <a:defRPr sz="2325" b="1">
                <a:solidFill>
                  <a:srgbClr val="2F6F4E"/>
                </a:solidFill>
                <a:latin typeface="Aptos"/>
                <a:ea typeface="Aptos"/>
                <a:cs typeface="Aptos"/>
              </a:defRPr>
            </a:lvl4pPr>
            <a:lvl5pPr>
              <a:buNone/>
              <a:defRPr sz="2325" b="1">
                <a:solidFill>
                  <a:srgbClr val="2F6F4E"/>
                </a:solidFill>
                <a:latin typeface="Aptos"/>
                <a:ea typeface="Aptos"/>
                <a:cs typeface="Aptos"/>
              </a:defRPr>
            </a:lvl5pPr>
            <a:lvl6pPr>
              <a:buNone/>
              <a:defRPr sz="2325" b="1">
                <a:solidFill>
                  <a:srgbClr val="2F6F4E"/>
                </a:solidFill>
                <a:latin typeface="Aptos"/>
                <a:ea typeface="Aptos"/>
                <a:cs typeface="Aptos"/>
              </a:defRPr>
            </a:lvl6pPr>
            <a:lvl7pPr>
              <a:buNone/>
              <a:defRPr sz="2325" b="1">
                <a:solidFill>
                  <a:srgbClr val="2F6F4E"/>
                </a:solidFill>
                <a:latin typeface="Aptos"/>
                <a:ea typeface="Aptos"/>
                <a:cs typeface="Aptos"/>
              </a:defRPr>
            </a:lvl7pPr>
            <a:lvl8pPr>
              <a:buNone/>
              <a:defRPr sz="2325" b="1">
                <a:solidFill>
                  <a:srgbClr val="2F6F4E"/>
                </a:solidFill>
                <a:latin typeface="Aptos"/>
                <a:ea typeface="Aptos"/>
                <a:cs typeface="Aptos"/>
              </a:defRPr>
            </a:lvl8pPr>
            <a:lvl9pPr>
              <a:buNone/>
              <a:defRPr sz="2325" b="1">
                <a:solidFill>
                  <a:srgbClr val="2F6F4E"/>
                </a:solidFill>
                <a:latin typeface="Aptos"/>
                <a:ea typeface="Aptos"/>
                <a:cs typeface="Aptos"/>
              </a:defRPr>
            </a:lvl9pPr>
          </a:lstStyle>
          <a:p>
            <a:pPr>
              <a:buNone/>
              <a:defRPr sz="2325" b="1">
                <a:solidFill>
                  <a:srgbClr val="2F6F4E"/>
                </a:solidFill>
                <a:latin typeface="Aptos"/>
                <a:ea typeface="Aptos"/>
                <a:cs typeface="Aptos"/>
              </a:defRPr>
            </a:pPr>
            <a:r>
              <a:rPr sz="2325" b="1">
                <a:solidFill>
                  <a:srgbClr val="2F6F4E"/>
                </a:solidFill>
                <a:latin typeface="Aptos"/>
                <a:ea typeface="Aptos"/>
                <a:cs typeface="Aptos"/>
              </a:rPr>
              <a:t>Count the points inside.</a:t>
            </a:r>
          </a:p>
        </p:txBody>
      </p:sp>
      <p:sp>
        <p:nvSpPr>
          <p:cNvPr id="9" name="text-7">
            <a:extLst>
              <a:ext uri="{FF2B5EF4-FFF2-40B4-BE49-F238E27FC236}">
                <a16:creationId xmlns:a16="http://schemas.microsoft.com/office/drawing/2014/main" id="{B60D0AEF-C253-4BA8-AAD0-2359A899A34C}"/>
              </a:ext>
            </a:extLst>
          </p:cNvPr>
          <p:cNvSpPr>
            <a:spLocks noGrp="1"/>
          </p:cNvSpPr>
          <p:nvPr/>
        </p:nvSpPr>
        <p:spPr>
          <a:xfrm>
            <a:off x="857250" y="6048375"/>
            <a:ext cx="10477500" cy="304800"/>
          </a:xfrm>
          <a:prstGeom prst="rect">
            <a:avLst/>
          </a:prstGeom>
          <a:noFill/>
          <a:ln w="0">
            <a:noFill/>
          </a:ln>
        </p:spPr>
        <p:txBody>
          <a:bodyPr wrap="square" lIns="0" tIns="0" rIns="0" bIns="0" anchor="t">
            <a:noAutofit/>
          </a:bodyPr>
          <a:lstStyle>
            <a:lvl1pPr>
              <a:buNone/>
              <a:defRPr sz="1650" b="0">
                <a:solidFill>
                  <a:srgbClr val="526171"/>
                </a:solidFill>
                <a:latin typeface="Aptos"/>
                <a:ea typeface="Aptos"/>
                <a:cs typeface="Aptos"/>
              </a:defRPr>
            </a:lvl1pPr>
            <a:lvl2pPr>
              <a:buNone/>
              <a:defRPr sz="1650" b="0">
                <a:solidFill>
                  <a:srgbClr val="526171"/>
                </a:solidFill>
                <a:latin typeface="Aptos"/>
                <a:ea typeface="Aptos"/>
                <a:cs typeface="Aptos"/>
              </a:defRPr>
            </a:lvl2pPr>
            <a:lvl3pPr>
              <a:buNone/>
              <a:defRPr sz="1650" b="0">
                <a:solidFill>
                  <a:srgbClr val="526171"/>
                </a:solidFill>
                <a:latin typeface="Aptos"/>
                <a:ea typeface="Aptos"/>
                <a:cs typeface="Aptos"/>
              </a:defRPr>
            </a:lvl3pPr>
            <a:lvl4pPr>
              <a:buNone/>
              <a:defRPr sz="1650" b="0">
                <a:solidFill>
                  <a:srgbClr val="526171"/>
                </a:solidFill>
                <a:latin typeface="Aptos"/>
                <a:ea typeface="Aptos"/>
                <a:cs typeface="Aptos"/>
              </a:defRPr>
            </a:lvl4pPr>
            <a:lvl5pPr>
              <a:buNone/>
              <a:defRPr sz="1650" b="0">
                <a:solidFill>
                  <a:srgbClr val="526171"/>
                </a:solidFill>
                <a:latin typeface="Aptos"/>
                <a:ea typeface="Aptos"/>
                <a:cs typeface="Aptos"/>
              </a:defRPr>
            </a:lvl5pPr>
            <a:lvl6pPr>
              <a:buNone/>
              <a:defRPr sz="1650" b="0">
                <a:solidFill>
                  <a:srgbClr val="526171"/>
                </a:solidFill>
                <a:latin typeface="Aptos"/>
                <a:ea typeface="Aptos"/>
                <a:cs typeface="Aptos"/>
              </a:defRPr>
            </a:lvl6pPr>
            <a:lvl7pPr>
              <a:buNone/>
              <a:defRPr sz="1650" b="0">
                <a:solidFill>
                  <a:srgbClr val="526171"/>
                </a:solidFill>
                <a:latin typeface="Aptos"/>
                <a:ea typeface="Aptos"/>
                <a:cs typeface="Aptos"/>
              </a:defRPr>
            </a:lvl7pPr>
            <a:lvl8pPr>
              <a:buNone/>
              <a:defRPr sz="1650" b="0">
                <a:solidFill>
                  <a:srgbClr val="526171"/>
                </a:solidFill>
                <a:latin typeface="Aptos"/>
                <a:ea typeface="Aptos"/>
                <a:cs typeface="Aptos"/>
              </a:defRPr>
            </a:lvl8pPr>
            <a:lvl9pPr>
              <a:buNone/>
              <a:defRPr sz="1650" b="0">
                <a:solidFill>
                  <a:srgbClr val="526171"/>
                </a:solidFill>
                <a:latin typeface="Aptos"/>
                <a:ea typeface="Aptos"/>
                <a:cs typeface="Aptos"/>
              </a:defRPr>
            </a:lvl9pPr>
          </a:lstStyle>
          <a:p>
            <a:pPr>
              <a:buNone/>
              <a:defRPr sz="1650" b="0">
                <a:solidFill>
                  <a:srgbClr val="526171"/>
                </a:solidFill>
                <a:latin typeface="Aptos"/>
                <a:ea typeface="Aptos"/>
                <a:cs typeface="Aptos"/>
              </a:defRPr>
            </a:pPr>
            <a:r>
              <a:rPr sz="1650" b="0">
                <a:solidFill>
                  <a:srgbClr val="526171"/>
                </a:solidFill>
                <a:latin typeface="Aptos"/>
                <a:ea typeface="Aptos"/>
                <a:cs typeface="Aptos"/>
              </a:rPr>
              <a:t>80 points shown</a:t>
            </a:r>
          </a:p>
        </p:txBody>
      </p:sp>
      <p:sp>
        <p:nvSpPr>
          <p:cNvPr id="17" name="notebook-cue-slide-35">
            <a:extLst>
              <a:ext uri="{FF2B5EF4-FFF2-40B4-BE49-F238E27FC236}">
                <a16:creationId xmlns:a16="http://schemas.microsoft.com/office/drawing/2014/main" id="{8DA9C3C2-0C60-45A5-AB49-6CB81DD4A545}"/>
              </a:ext>
            </a:extLst>
          </p:cNvPr>
          <p:cNvSpPr>
            <a:spLocks noGrp="1"/>
          </p:cNvSpPr>
          <p:nvPr/>
        </p:nvSpPr>
        <p:spPr>
          <a:xfrm>
            <a:off x="2952750" y="6429375"/>
            <a:ext cx="7620000" cy="295275"/>
          </a:xfrm>
          <a:prstGeom prst="rect">
            <a:avLst/>
          </a:prstGeom>
          <a:noFill/>
          <a:ln w="0">
            <a:noFill/>
          </a:ln>
        </p:spPr>
        <p:txBody>
          <a:bodyPr wrap="none" lIns="0" tIns="0" rIns="0" bIns="0" anchor="ctr">
            <a:noAutofit/>
          </a:bodyPr>
          <a:lstStyle>
            <a:defPPr algn="ctr">
              <a:defRPr sz="1650" b="1">
                <a:solidFill>
                  <a:srgbClr val="2F6F4E"/>
                </a:solidFill>
                <a:latin typeface="Aptos"/>
                <a:ea typeface="Aptos"/>
                <a:cs typeface="Aptos"/>
              </a:defRPr>
            </a:defPPr>
            <a:lvl1pPr algn="ctr">
              <a:defRPr sz="1650" b="1">
                <a:solidFill>
                  <a:srgbClr val="2F6F4E"/>
                </a:solidFill>
                <a:latin typeface="Aptos"/>
                <a:ea typeface="Aptos"/>
                <a:cs typeface="Aptos"/>
              </a:defRPr>
            </a:lvl1pPr>
            <a:lvl2pPr algn="ctr">
              <a:defRPr sz="1650" b="1">
                <a:solidFill>
                  <a:srgbClr val="2F6F4E"/>
                </a:solidFill>
                <a:latin typeface="Aptos"/>
                <a:ea typeface="Aptos"/>
                <a:cs typeface="Aptos"/>
              </a:defRPr>
            </a:lvl2pPr>
            <a:lvl3pPr algn="ctr">
              <a:defRPr sz="1650" b="1">
                <a:solidFill>
                  <a:srgbClr val="2F6F4E"/>
                </a:solidFill>
                <a:latin typeface="Aptos"/>
                <a:ea typeface="Aptos"/>
                <a:cs typeface="Aptos"/>
              </a:defRPr>
            </a:lvl3pPr>
            <a:lvl4pPr algn="ctr">
              <a:defRPr sz="1650" b="1">
                <a:solidFill>
                  <a:srgbClr val="2F6F4E"/>
                </a:solidFill>
                <a:latin typeface="Aptos"/>
                <a:ea typeface="Aptos"/>
                <a:cs typeface="Aptos"/>
              </a:defRPr>
            </a:lvl4pPr>
            <a:lvl5pPr algn="ctr">
              <a:defRPr sz="1650" b="1">
                <a:solidFill>
                  <a:srgbClr val="2F6F4E"/>
                </a:solidFill>
                <a:latin typeface="Aptos"/>
                <a:ea typeface="Aptos"/>
                <a:cs typeface="Aptos"/>
              </a:defRPr>
            </a:lvl5pPr>
            <a:lvl6pPr algn="ctr">
              <a:defRPr sz="1650" b="1">
                <a:solidFill>
                  <a:srgbClr val="2F6F4E"/>
                </a:solidFill>
                <a:latin typeface="Aptos"/>
                <a:ea typeface="Aptos"/>
                <a:cs typeface="Aptos"/>
              </a:defRPr>
            </a:lvl6pPr>
            <a:lvl7pPr algn="ctr">
              <a:defRPr sz="1650" b="1">
                <a:solidFill>
                  <a:srgbClr val="2F6F4E"/>
                </a:solidFill>
                <a:latin typeface="Aptos"/>
                <a:ea typeface="Aptos"/>
                <a:cs typeface="Aptos"/>
              </a:defRPr>
            </a:lvl7pPr>
            <a:lvl8pPr algn="ctr">
              <a:defRPr sz="1650" b="1">
                <a:solidFill>
                  <a:srgbClr val="2F6F4E"/>
                </a:solidFill>
                <a:latin typeface="Aptos"/>
                <a:ea typeface="Aptos"/>
                <a:cs typeface="Aptos"/>
              </a:defRPr>
            </a:lvl8pPr>
            <a:lvl9pPr algn="ctr">
              <a:defRPr sz="1650" b="1">
                <a:solidFill>
                  <a:srgbClr val="2F6F4E"/>
                </a:solidFill>
                <a:latin typeface="Aptos"/>
                <a:ea typeface="Aptos"/>
                <a:cs typeface="Aptos"/>
              </a:defRPr>
            </a:lvl9pPr>
          </a:lstStyle>
          <a:p>
            <a:pPr algn="ctr">
              <a:defRPr sz="1650" b="1">
                <a:solidFill>
                  <a:srgbClr val="2F6F4E"/>
                </a:solidFill>
                <a:latin typeface="Aptos"/>
                <a:ea typeface="Aptos"/>
                <a:cs typeface="Aptos"/>
              </a:defRPr>
            </a:pPr>
            <a:r>
              <a:rPr sz="1650" b="1">
                <a:solidFill>
                  <a:srgbClr val="2F6F4E"/>
                </a:solidFill>
                <a:latin typeface="Aptos"/>
                <a:ea typeface="Aptos"/>
                <a:cs typeface="Aptos"/>
              </a:rPr>
              <a:t>Notebook: Slide 35 (optional)</a:t>
            </a:r>
          </a:p>
        </p:txBody>
      </p:sp>
    </p:spTree>
    <p:extLst>
      <p:ext uri="{BB962C8B-B14F-4D97-AF65-F5344CB8AC3E}">
        <p14:creationId xmlns:p14="http://schemas.microsoft.com/office/powerpoint/2010/main" val="19442738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B31196ED-05A4-46BD-8083-E89CF986EB29}"/>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The π estimator and its standard error</a:t>
            </a:r>
          </a:p>
        </p:txBody>
      </p:sp>
      <p:sp>
        <p:nvSpPr>
          <p:cNvPr id="2" name="Straight Connector 1">
            <a:extLst>
              <a:ext uri="{FF2B5EF4-FFF2-40B4-BE49-F238E27FC236}">
                <a16:creationId xmlns:a16="http://schemas.microsoft.com/office/drawing/2014/main" id="{EB7F67E1-D33A-4B40-8A6C-C235EEA1BD3A}"/>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62E2E778-DCCA-4EDE-97F5-7F6DF21C7E8C}"/>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4E3C0BD0-0EC7-41ED-BD77-7FF0F394BF2A}"/>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36</a:t>
            </a:r>
          </a:p>
        </p:txBody>
      </p:sp>
      <mc:AlternateContent xmlns:mc="http://schemas.openxmlformats.org/markup-compatibility/2006">
        <mc:Choice xmlns:a14="http://schemas.microsoft.com/office/drawing/2010/main" Requires="a14">
          <p:sp>
            <p:nvSpPr>
              <p:cNvPr id="5" name="EQ_034">
                <a:extLst>
                  <a:ext uri="{FF2B5EF4-FFF2-40B4-BE49-F238E27FC236}">
                    <a16:creationId xmlns:a16="http://schemas.microsoft.com/office/drawing/2014/main" id="{07333B2D-DAB4-4213-9454-368617D56E77}"/>
                  </a:ext>
                </a:extLst>
              </p:cNvPr>
              <p:cNvSpPr>
                <a:spLocks noGrp="1"/>
              </p:cNvSpPr>
              <p:nvPr/>
            </p:nvSpPr>
            <p:spPr>
              <a:xfrm>
                <a:off x="857250" y="1666875"/>
                <a:ext cx="10477500" cy="1047750"/>
              </a:xfrm>
              <a:prstGeom prst="rect">
                <a:avLst/>
              </a:prstGeom>
              <a:noFill/>
              <a:ln w="0">
                <a:noFill/>
              </a:ln>
            </p:spPr>
            <p:txBody>
              <a:bodyPr wrap="none" lIns="0" tIns="0" rIns="0" bIns="0" anchor="ctr">
                <a:noAutofit/>
              </a:bodyPr>
              <a:lstStyle>
                <a:lvl1pPr algn="l">
                  <a:buNone/>
                  <a:defRPr sz="3000">
                    <a:solidFill>
                      <a:srgbClr val="17365D"/>
                    </a:solidFill>
                    <a:latin typeface="Cambria Math"/>
                    <a:ea typeface="Cambria Math"/>
                    <a:cs typeface="Cambria Math"/>
                  </a:defRPr>
                </a:lvl1pPr>
                <a:lvl2pPr algn="l">
                  <a:buNone/>
                  <a:defRPr sz="3000">
                    <a:solidFill>
                      <a:srgbClr val="17365D"/>
                    </a:solidFill>
                    <a:latin typeface="Cambria Math"/>
                    <a:ea typeface="Cambria Math"/>
                    <a:cs typeface="Cambria Math"/>
                  </a:defRPr>
                </a:lvl2pPr>
                <a:lvl3pPr algn="l">
                  <a:buNone/>
                  <a:defRPr sz="3000">
                    <a:solidFill>
                      <a:srgbClr val="17365D"/>
                    </a:solidFill>
                    <a:latin typeface="Cambria Math"/>
                    <a:ea typeface="Cambria Math"/>
                    <a:cs typeface="Cambria Math"/>
                  </a:defRPr>
                </a:lvl3pPr>
                <a:lvl4pPr algn="l">
                  <a:buNone/>
                  <a:defRPr sz="3000">
                    <a:solidFill>
                      <a:srgbClr val="17365D"/>
                    </a:solidFill>
                    <a:latin typeface="Cambria Math"/>
                    <a:ea typeface="Cambria Math"/>
                    <a:cs typeface="Cambria Math"/>
                  </a:defRPr>
                </a:lvl4pPr>
                <a:lvl5pPr algn="l">
                  <a:buNone/>
                  <a:defRPr sz="3000">
                    <a:solidFill>
                      <a:srgbClr val="17365D"/>
                    </a:solidFill>
                    <a:latin typeface="Cambria Math"/>
                    <a:ea typeface="Cambria Math"/>
                    <a:cs typeface="Cambria Math"/>
                  </a:defRPr>
                </a:lvl5pPr>
                <a:lvl6pPr algn="l">
                  <a:buNone/>
                  <a:defRPr sz="3000">
                    <a:solidFill>
                      <a:srgbClr val="17365D"/>
                    </a:solidFill>
                    <a:latin typeface="Cambria Math"/>
                    <a:ea typeface="Cambria Math"/>
                    <a:cs typeface="Cambria Math"/>
                  </a:defRPr>
                </a:lvl6pPr>
                <a:lvl7pPr algn="l">
                  <a:buNone/>
                  <a:defRPr sz="3000">
                    <a:solidFill>
                      <a:srgbClr val="17365D"/>
                    </a:solidFill>
                    <a:latin typeface="Cambria Math"/>
                    <a:ea typeface="Cambria Math"/>
                    <a:cs typeface="Cambria Math"/>
                  </a:defRPr>
                </a:lvl7pPr>
                <a:lvl8pPr algn="l">
                  <a:buNone/>
                  <a:defRPr sz="3000">
                    <a:solidFill>
                      <a:srgbClr val="17365D"/>
                    </a:solidFill>
                    <a:latin typeface="Cambria Math"/>
                    <a:ea typeface="Cambria Math"/>
                    <a:cs typeface="Cambria Math"/>
                  </a:defRPr>
                </a:lvl8pPr>
                <a:lvl9pPr algn="l">
                  <a:buNone/>
                  <a:defRPr sz="3000">
                    <a:solidFill>
                      <a:srgbClr val="17365D"/>
                    </a:solidFill>
                    <a:latin typeface="Cambria Math"/>
                    <a:ea typeface="Cambria Math"/>
                    <a:cs typeface="Cambria Math"/>
                  </a:defRPr>
                </a:lvl9pPr>
              </a:lstStyle>
              <a:p>
                <a:pPr>
                  <a:buNone/>
                  <a:defRPr sz="3000">
                    <a:solidFill>
                      <a:srgbClr val="17365D"/>
                    </a:solidFill>
                  </a:defRPr>
                </a:pPr>
                <a14:m>
                  <m:oMathPara xmlns:m="http://schemas.openxmlformats.org/officeDocument/2006/math">
                    <m:oMath>
                      <m:r>
                        <a:rPr>
                          <a:latin typeface="Cambria Math" panose="02040503050406030204" pitchFamily="18" charset="0"/>
                        </a:rPr>
                        <m:t>𝑝</m:t>
                      </m:r>
                      <m:r>
                        <a:rPr>
                          <a:latin typeface="Cambria Math" panose="02040503050406030204" pitchFamily="18" charset="0"/>
                        </a:rPr>
                        <m:t>=</m:t>
                      </m:r>
                      <m:r>
                        <a:rPr>
                          <a:latin typeface="Cambria Math" panose="02040503050406030204" pitchFamily="18" charset="0"/>
                        </a:rPr>
                        <m:t>𝑃</m:t>
                      </m:r>
                      <m:d>
                        <m:dPr>
                          <m:ctrlPr>
                            <a:rPr i="1">
                              <a:latin typeface="Cambria Math" panose="02040503050406030204" pitchFamily="18" charset="0"/>
                            </a:rPr>
                          </m:ctrlPr>
                        </m:dPr>
                        <m:e>
                          <m:sSup>
                            <m:sSupPr>
                              <m:ctrlPr>
                                <a:rPr>
                                  <a:latin typeface="Cambria Math" panose="02040503050406030204" pitchFamily="18" charset="0"/>
                                </a:rPr>
                              </m:ctrlPr>
                            </m:sSupPr>
                            <m:e>
                              <m:r>
                                <a:rPr>
                                  <a:latin typeface="Cambria Math" panose="02040503050406030204" pitchFamily="18" charset="0"/>
                                </a:rPr>
                                <m:t>𝑈</m:t>
                              </m:r>
                            </m:e>
                            <m:sup>
                              <m:r>
                                <a:rPr>
                                  <a:latin typeface="Cambria Math" panose="02040503050406030204" pitchFamily="18" charset="0"/>
                                </a:rPr>
                                <m:t>2</m:t>
                              </m:r>
                            </m:sup>
                          </m:s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𝑉</m:t>
                              </m:r>
                            </m:e>
                            <m:sup>
                              <m:r>
                                <a:rPr>
                                  <a:latin typeface="Cambria Math" panose="02040503050406030204" pitchFamily="18" charset="0"/>
                                </a:rPr>
                                <m:t>2</m:t>
                              </m:r>
                            </m:sup>
                          </m:sSup>
                          <m:r>
                            <a:rPr>
                              <a:latin typeface="Cambria Math" panose="02040503050406030204" pitchFamily="18" charset="0"/>
                            </a:rPr>
                            <m:t>≤1</m:t>
                          </m:r>
                        </m:e>
                      </m:d>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𝜋</m:t>
                          </m:r>
                        </m:num>
                        <m:den>
                          <m:r>
                            <a:rPr>
                              <a:latin typeface="Cambria Math" panose="02040503050406030204" pitchFamily="18" charset="0"/>
                            </a:rPr>
                            <m:t>4</m:t>
                          </m:r>
                        </m:den>
                      </m:f>
                    </m:oMath>
                  </m:oMathPara>
                </a14:m>
                <a:endParaRPr/>
              </a:p>
            </p:txBody>
          </p:sp>
        </mc:Choice>
        <mc:Fallback>
          <p:sp>
            <p:nvSpPr>
              <p:cNvPr id="5" name="EQ_034">
                <a:extLst>
                  <a:ext uri="{FF2B5EF4-FFF2-40B4-BE49-F238E27FC236}">
                    <a16:creationId xmlns:a16="http://schemas.microsoft.com/office/drawing/2014/main" id="{07333B2D-DAB4-4213-9454-368617D56E77}"/>
                  </a:ext>
                </a:extLst>
              </p:cNvPr>
              <p:cNvSpPr>
                <a:spLocks noGrp="1" noRot="1" noChangeAspect="1" noMove="1" noResize="1" noEditPoints="1" noAdjustHandles="1" noChangeArrowheads="1" noChangeShapeType="1" noTextEdit="1"/>
              </p:cNvSpPr>
              <p:nvPr/>
            </p:nvSpPr>
            <p:spPr>
              <a:xfrm>
                <a:off x="857250" y="1666875"/>
                <a:ext cx="10477500" cy="1047750"/>
              </a:xfrm>
              <a:prstGeom prst="rect">
                <a:avLst/>
              </a:prstGeom>
              <a:blipFill>
                <a:blip r:embed="rId3"/>
                <a:stretch>
                  <a:fillRect/>
                </a:stretch>
              </a:blipFill>
              <a:ln w="0">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6" name="EQ_035">
                <a:extLst>
                  <a:ext uri="{FF2B5EF4-FFF2-40B4-BE49-F238E27FC236}">
                    <a16:creationId xmlns:a16="http://schemas.microsoft.com/office/drawing/2014/main" id="{DFADE85E-77AC-41E8-AC33-E46F987E71A1}"/>
                  </a:ext>
                </a:extLst>
              </p:cNvPr>
              <p:cNvSpPr>
                <a:spLocks noGrp="1"/>
              </p:cNvSpPr>
              <p:nvPr/>
            </p:nvSpPr>
            <p:spPr>
              <a:xfrm>
                <a:off x="857250" y="2924175"/>
                <a:ext cx="10477500" cy="1047750"/>
              </a:xfrm>
              <a:prstGeom prst="rect">
                <a:avLst/>
              </a:prstGeom>
              <a:noFill/>
              <a:ln w="0">
                <a:noFill/>
              </a:ln>
            </p:spPr>
            <p:txBody>
              <a:bodyPr wrap="none" lIns="0" tIns="0" rIns="0" bIns="0" anchor="ctr">
                <a:noAutofit/>
              </a:bodyPr>
              <a:lstStyle>
                <a:lvl1pPr algn="l">
                  <a:buNone/>
                  <a:defRPr sz="3500">
                    <a:solidFill>
                      <a:srgbClr val="17365D"/>
                    </a:solidFill>
                    <a:latin typeface="Cambria Math"/>
                    <a:ea typeface="Cambria Math"/>
                    <a:cs typeface="Cambria Math"/>
                  </a:defRPr>
                </a:lvl1pPr>
                <a:lvl2pPr algn="l">
                  <a:buNone/>
                  <a:defRPr sz="3500">
                    <a:solidFill>
                      <a:srgbClr val="17365D"/>
                    </a:solidFill>
                    <a:latin typeface="Cambria Math"/>
                    <a:ea typeface="Cambria Math"/>
                    <a:cs typeface="Cambria Math"/>
                  </a:defRPr>
                </a:lvl2pPr>
                <a:lvl3pPr algn="l">
                  <a:buNone/>
                  <a:defRPr sz="3500">
                    <a:solidFill>
                      <a:srgbClr val="17365D"/>
                    </a:solidFill>
                    <a:latin typeface="Cambria Math"/>
                    <a:ea typeface="Cambria Math"/>
                    <a:cs typeface="Cambria Math"/>
                  </a:defRPr>
                </a:lvl3pPr>
                <a:lvl4pPr algn="l">
                  <a:buNone/>
                  <a:defRPr sz="3500">
                    <a:solidFill>
                      <a:srgbClr val="17365D"/>
                    </a:solidFill>
                    <a:latin typeface="Cambria Math"/>
                    <a:ea typeface="Cambria Math"/>
                    <a:cs typeface="Cambria Math"/>
                  </a:defRPr>
                </a:lvl4pPr>
                <a:lvl5pPr algn="l">
                  <a:buNone/>
                  <a:defRPr sz="3500">
                    <a:solidFill>
                      <a:srgbClr val="17365D"/>
                    </a:solidFill>
                    <a:latin typeface="Cambria Math"/>
                    <a:ea typeface="Cambria Math"/>
                    <a:cs typeface="Cambria Math"/>
                  </a:defRPr>
                </a:lvl5pPr>
                <a:lvl6pPr algn="l">
                  <a:buNone/>
                  <a:defRPr sz="3500">
                    <a:solidFill>
                      <a:srgbClr val="17365D"/>
                    </a:solidFill>
                    <a:latin typeface="Cambria Math"/>
                    <a:ea typeface="Cambria Math"/>
                    <a:cs typeface="Cambria Math"/>
                  </a:defRPr>
                </a:lvl6pPr>
                <a:lvl7pPr algn="l">
                  <a:buNone/>
                  <a:defRPr sz="3500">
                    <a:solidFill>
                      <a:srgbClr val="17365D"/>
                    </a:solidFill>
                    <a:latin typeface="Cambria Math"/>
                    <a:ea typeface="Cambria Math"/>
                    <a:cs typeface="Cambria Math"/>
                  </a:defRPr>
                </a:lvl7pPr>
                <a:lvl8pPr algn="l">
                  <a:buNone/>
                  <a:defRPr sz="3500">
                    <a:solidFill>
                      <a:srgbClr val="17365D"/>
                    </a:solidFill>
                    <a:latin typeface="Cambria Math"/>
                    <a:ea typeface="Cambria Math"/>
                    <a:cs typeface="Cambria Math"/>
                  </a:defRPr>
                </a:lvl8pPr>
                <a:lvl9pPr algn="l">
                  <a:buNone/>
                  <a:defRPr sz="3500">
                    <a:solidFill>
                      <a:srgbClr val="17365D"/>
                    </a:solidFill>
                    <a:latin typeface="Cambria Math"/>
                    <a:ea typeface="Cambria Math"/>
                    <a:cs typeface="Cambria Math"/>
                  </a:defRPr>
                </a:lvl9pPr>
              </a:lstStyle>
              <a:p>
                <a:pPr>
                  <a:buNone/>
                  <a:defRPr sz="3500">
                    <a:solidFill>
                      <a:srgbClr val="17365D"/>
                    </a:solidFill>
                  </a:defRPr>
                </a:pPr>
                <a14:m>
                  <m:oMathPara xmlns:m="http://schemas.openxmlformats.org/officeDocument/2006/math">
                    <m:oMath>
                      <m:acc>
                        <m:accPr>
                          <m:chr m:val="̂"/>
                          <m:ctrlPr>
                            <a:rPr>
                              <a:latin typeface="Cambria Math" panose="02040503050406030204" pitchFamily="18" charset="0"/>
                            </a:rPr>
                          </m:ctrlPr>
                        </m:accPr>
                        <m:e>
                          <m:r>
                            <a:rPr>
                              <a:latin typeface="Cambria Math" panose="02040503050406030204" pitchFamily="18" charset="0"/>
                            </a:rPr>
                            <m:t>𝜋</m:t>
                          </m:r>
                        </m:e>
                      </m:acc>
                      <m:r>
                        <a:rPr>
                          <a:latin typeface="Cambria Math" panose="02040503050406030204" pitchFamily="18" charset="0"/>
                        </a:rPr>
                        <m:t>=4</m:t>
                      </m:r>
                      <m:f>
                        <m:fPr>
                          <m:ctrlPr>
                            <a:rPr>
                              <a:latin typeface="Cambria Math" panose="02040503050406030204" pitchFamily="18" charset="0"/>
                            </a:rPr>
                          </m:ctrlPr>
                        </m:fPr>
                        <m:num>
                          <m:r>
                            <a:rPr>
                              <a:latin typeface="Cambria Math" panose="02040503050406030204" pitchFamily="18" charset="0"/>
                            </a:rPr>
                            <m:t>𝐾</m:t>
                          </m:r>
                        </m:num>
                        <m:den>
                          <m:r>
                            <a:rPr>
                              <a:latin typeface="Cambria Math" panose="02040503050406030204" pitchFamily="18" charset="0"/>
                            </a:rPr>
                            <m:t>𝑁</m:t>
                          </m:r>
                        </m:den>
                      </m:f>
                      <m:r>
                        <a:rPr>
                          <a:latin typeface="Cambria Math" panose="02040503050406030204" pitchFamily="18" charset="0"/>
                        </a:rPr>
                        <m:t>=4</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𝑝</m:t>
                              </m:r>
                            </m:e>
                          </m:acc>
                        </m:e>
                        <m:sub>
                          <m:r>
                            <a:rPr>
                              <a:latin typeface="Cambria Math" panose="02040503050406030204" pitchFamily="18" charset="0"/>
                            </a:rPr>
                            <m:t>𝑁</m:t>
                          </m:r>
                        </m:sub>
                      </m:sSub>
                    </m:oMath>
                  </m:oMathPara>
                </a14:m>
                <a:endParaRPr/>
              </a:p>
            </p:txBody>
          </p:sp>
        </mc:Choice>
        <mc:Fallback>
          <p:sp>
            <p:nvSpPr>
              <p:cNvPr id="6" name="EQ_035">
                <a:extLst>
                  <a:ext uri="{FF2B5EF4-FFF2-40B4-BE49-F238E27FC236}">
                    <a16:creationId xmlns:a16="http://schemas.microsoft.com/office/drawing/2014/main" id="{DFADE85E-77AC-41E8-AC33-E46F987E71A1}"/>
                  </a:ext>
                </a:extLst>
              </p:cNvPr>
              <p:cNvSpPr>
                <a:spLocks noGrp="1" noRot="1" noChangeAspect="1" noMove="1" noResize="1" noEditPoints="1" noAdjustHandles="1" noChangeArrowheads="1" noChangeShapeType="1" noTextEdit="1"/>
              </p:cNvSpPr>
              <p:nvPr/>
            </p:nvSpPr>
            <p:spPr>
              <a:xfrm>
                <a:off x="857250" y="2924175"/>
                <a:ext cx="10477500" cy="1047750"/>
              </a:xfrm>
              <a:prstGeom prst="rect">
                <a:avLst/>
              </a:prstGeom>
              <a:blipFill>
                <a:blip r:embed="rId4"/>
                <a:stretch>
                  <a:fillRect/>
                </a:stretch>
              </a:blipFill>
              <a:ln w="0">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7" name="EQ_036">
                <a:extLst>
                  <a:ext uri="{FF2B5EF4-FFF2-40B4-BE49-F238E27FC236}">
                    <a16:creationId xmlns:a16="http://schemas.microsoft.com/office/drawing/2014/main" id="{BC3EBB10-A878-4257-97C4-E1C227E865E6}"/>
                  </a:ext>
                </a:extLst>
              </p:cNvPr>
              <p:cNvSpPr>
                <a:spLocks noGrp="1"/>
              </p:cNvSpPr>
              <p:nvPr/>
            </p:nvSpPr>
            <p:spPr>
              <a:xfrm>
                <a:off x="857250" y="4200525"/>
                <a:ext cx="10477500" cy="1143000"/>
              </a:xfrm>
              <a:prstGeom prst="rect">
                <a:avLst/>
              </a:prstGeom>
              <a:noFill/>
              <a:ln w="0">
                <a:noFill/>
              </a:ln>
            </p:spPr>
            <p:txBody>
              <a:bodyPr wrap="none" lIns="0" tIns="0" rIns="0" bIns="0" anchor="ctr">
                <a:noAutofit/>
              </a:bodyPr>
              <a:lstStyle>
                <a:lvl1pPr algn="l">
                  <a:buNone/>
                  <a:defRPr sz="3000">
                    <a:solidFill>
                      <a:srgbClr val="17365D"/>
                    </a:solidFill>
                    <a:latin typeface="Cambria Math"/>
                    <a:ea typeface="Cambria Math"/>
                    <a:cs typeface="Cambria Math"/>
                  </a:defRPr>
                </a:lvl1pPr>
                <a:lvl2pPr algn="l">
                  <a:buNone/>
                  <a:defRPr sz="3000">
                    <a:solidFill>
                      <a:srgbClr val="17365D"/>
                    </a:solidFill>
                    <a:latin typeface="Cambria Math"/>
                    <a:ea typeface="Cambria Math"/>
                    <a:cs typeface="Cambria Math"/>
                  </a:defRPr>
                </a:lvl2pPr>
                <a:lvl3pPr algn="l">
                  <a:buNone/>
                  <a:defRPr sz="3000">
                    <a:solidFill>
                      <a:srgbClr val="17365D"/>
                    </a:solidFill>
                    <a:latin typeface="Cambria Math"/>
                    <a:ea typeface="Cambria Math"/>
                    <a:cs typeface="Cambria Math"/>
                  </a:defRPr>
                </a:lvl3pPr>
                <a:lvl4pPr algn="l">
                  <a:buNone/>
                  <a:defRPr sz="3000">
                    <a:solidFill>
                      <a:srgbClr val="17365D"/>
                    </a:solidFill>
                    <a:latin typeface="Cambria Math"/>
                    <a:ea typeface="Cambria Math"/>
                    <a:cs typeface="Cambria Math"/>
                  </a:defRPr>
                </a:lvl4pPr>
                <a:lvl5pPr algn="l">
                  <a:buNone/>
                  <a:defRPr sz="3000">
                    <a:solidFill>
                      <a:srgbClr val="17365D"/>
                    </a:solidFill>
                    <a:latin typeface="Cambria Math"/>
                    <a:ea typeface="Cambria Math"/>
                    <a:cs typeface="Cambria Math"/>
                  </a:defRPr>
                </a:lvl5pPr>
                <a:lvl6pPr algn="l">
                  <a:buNone/>
                  <a:defRPr sz="3000">
                    <a:solidFill>
                      <a:srgbClr val="17365D"/>
                    </a:solidFill>
                    <a:latin typeface="Cambria Math"/>
                    <a:ea typeface="Cambria Math"/>
                    <a:cs typeface="Cambria Math"/>
                  </a:defRPr>
                </a:lvl6pPr>
                <a:lvl7pPr algn="l">
                  <a:buNone/>
                  <a:defRPr sz="3000">
                    <a:solidFill>
                      <a:srgbClr val="17365D"/>
                    </a:solidFill>
                    <a:latin typeface="Cambria Math"/>
                    <a:ea typeface="Cambria Math"/>
                    <a:cs typeface="Cambria Math"/>
                  </a:defRPr>
                </a:lvl7pPr>
                <a:lvl8pPr algn="l">
                  <a:buNone/>
                  <a:defRPr sz="3000">
                    <a:solidFill>
                      <a:srgbClr val="17365D"/>
                    </a:solidFill>
                    <a:latin typeface="Cambria Math"/>
                    <a:ea typeface="Cambria Math"/>
                    <a:cs typeface="Cambria Math"/>
                  </a:defRPr>
                </a:lvl8pPr>
                <a:lvl9pPr algn="l">
                  <a:buNone/>
                  <a:defRPr sz="3000">
                    <a:solidFill>
                      <a:srgbClr val="17365D"/>
                    </a:solidFill>
                    <a:latin typeface="Cambria Math"/>
                    <a:ea typeface="Cambria Math"/>
                    <a:cs typeface="Cambria Math"/>
                  </a:defRPr>
                </a:lvl9pPr>
              </a:lstStyle>
              <a:p>
                <a:pPr>
                  <a:buNone/>
                  <a:defRPr sz="3000">
                    <a:solidFill>
                      <a:srgbClr val="17365D"/>
                    </a:solidFill>
                  </a:defRPr>
                </a:pPr>
                <a14:m>
                  <m:oMathPara xmlns:m="http://schemas.openxmlformats.org/officeDocument/2006/math">
                    <m:oMath>
                      <m:acc>
                        <m:accPr>
                          <m:chr m:val="̂"/>
                          <m:ctrlPr>
                            <a:rPr>
                              <a:latin typeface="Cambria Math" panose="02040503050406030204" pitchFamily="18" charset="0"/>
                            </a:rPr>
                          </m:ctrlPr>
                        </m:accPr>
                        <m:e>
                          <m:r>
                            <a:rPr>
                              <a:latin typeface="Cambria Math" panose="02040503050406030204" pitchFamily="18" charset="0"/>
                            </a:rPr>
                            <m:t>𝑆𝐸</m:t>
                          </m:r>
                        </m:e>
                      </m:acc>
                      <m:d>
                        <m:dPr>
                          <m:ctrlPr>
                            <a:rPr i="1">
                              <a:latin typeface="Cambria Math" panose="02040503050406030204" pitchFamily="18" charset="0"/>
                            </a:rPr>
                          </m:ctrlPr>
                        </m:dPr>
                        <m:e>
                          <m:acc>
                            <m:accPr>
                              <m:chr m:val="̂"/>
                              <m:ctrlPr>
                                <a:rPr>
                                  <a:latin typeface="Cambria Math" panose="02040503050406030204" pitchFamily="18" charset="0"/>
                                </a:rPr>
                              </m:ctrlPr>
                            </m:accPr>
                            <m:e>
                              <m:r>
                                <a:rPr>
                                  <a:latin typeface="Cambria Math" panose="02040503050406030204" pitchFamily="18" charset="0"/>
                                </a:rPr>
                                <m:t>𝜋</m:t>
                              </m:r>
                            </m:e>
                          </m:acc>
                        </m:e>
                      </m:d>
                      <m:r>
                        <a:rPr>
                          <a:latin typeface="Cambria Math" panose="02040503050406030204" pitchFamily="18" charset="0"/>
                        </a:rPr>
                        <m:t>=4</m:t>
                      </m:r>
                      <m:rad>
                        <m:radPr>
                          <m:ctrlPr>
                            <a:rPr i="1">
                              <a:latin typeface="Cambria Math" panose="02040503050406030204" pitchFamily="18" charset="0"/>
                            </a:rPr>
                          </m:ctrlPr>
                        </m:radPr>
                        <m:e>
                          <m:f>
                            <m:fPr>
                              <m:ctrlPr>
                                <a:rPr i="1">
                                  <a:latin typeface="Cambria Math" panose="02040503050406030204" pitchFamily="18" charset="0"/>
                                </a:rPr>
                              </m:ctrlPr>
                            </m:fPr>
                            <m:num>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𝑝</m:t>
                                      </m:r>
                                    </m:e>
                                  </m:acc>
                                </m:e>
                                <m:sub>
                                  <m:r>
                                    <a:rPr>
                                      <a:latin typeface="Cambria Math" panose="02040503050406030204" pitchFamily="18" charset="0"/>
                                    </a:rPr>
                                    <m:t>𝑁</m:t>
                                  </m:r>
                                </m:sub>
                              </m:sSub>
                              <m:d>
                                <m:dPr>
                                  <m:ctrlPr>
                                    <a:rPr>
                                      <a:latin typeface="Cambria Math" panose="02040503050406030204" pitchFamily="18" charset="0"/>
                                    </a:rPr>
                                  </m:ctrlPr>
                                </m:dPr>
                                <m:e>
                                  <m:r>
                                    <a:rPr>
                                      <a:latin typeface="Cambria Math" panose="02040503050406030204" pitchFamily="18" charset="0"/>
                                    </a:rPr>
                                    <m:t>1−</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𝑝</m:t>
                                          </m:r>
                                        </m:e>
                                      </m:acc>
                                    </m:e>
                                    <m:sub>
                                      <m:r>
                                        <a:rPr>
                                          <a:latin typeface="Cambria Math" panose="02040503050406030204" pitchFamily="18" charset="0"/>
                                        </a:rPr>
                                        <m:t>𝑁</m:t>
                                      </m:r>
                                    </m:sub>
                                  </m:sSub>
                                </m:e>
                              </m:d>
                            </m:num>
                            <m:den>
                              <m:r>
                                <a:rPr>
                                  <a:latin typeface="Cambria Math" panose="02040503050406030204" pitchFamily="18" charset="0"/>
                                </a:rPr>
                                <m:t>𝑁</m:t>
                              </m:r>
                            </m:den>
                          </m:f>
                        </m:e>
                      </m:rad>
                    </m:oMath>
                  </m:oMathPara>
                </a14:m>
                <a:endParaRPr/>
              </a:p>
            </p:txBody>
          </p:sp>
        </mc:Choice>
        <mc:Fallback>
          <p:sp>
            <p:nvSpPr>
              <p:cNvPr id="7" name="EQ_036">
                <a:extLst>
                  <a:ext uri="{FF2B5EF4-FFF2-40B4-BE49-F238E27FC236}">
                    <a16:creationId xmlns:a16="http://schemas.microsoft.com/office/drawing/2014/main" id="{BC3EBB10-A878-4257-97C4-E1C227E865E6}"/>
                  </a:ext>
                </a:extLst>
              </p:cNvPr>
              <p:cNvSpPr>
                <a:spLocks noGrp="1" noRot="1" noChangeAspect="1" noMove="1" noResize="1" noEditPoints="1" noAdjustHandles="1" noChangeArrowheads="1" noChangeShapeType="1" noTextEdit="1"/>
              </p:cNvSpPr>
              <p:nvPr/>
            </p:nvSpPr>
            <p:spPr>
              <a:xfrm>
                <a:off x="857250" y="4200525"/>
                <a:ext cx="10477500" cy="1143000"/>
              </a:xfrm>
              <a:prstGeom prst="rect">
                <a:avLst/>
              </a:prstGeom>
              <a:blipFill>
                <a:blip r:embed="rId5"/>
                <a:stretch>
                  <a:fillRect t="-2128" b="-10106"/>
                </a:stretch>
              </a:blipFill>
              <a:ln w="0">
                <a:noFill/>
              </a:ln>
            </p:spPr>
            <p:txBody>
              <a:bodyPr/>
              <a:lstStyle/>
              <a:p>
                <a:r>
                  <a:rPr lang="en-GB">
                    <a:noFill/>
                  </a:rPr>
                  <a:t> </a:t>
                </a:r>
              </a:p>
            </p:txBody>
          </p:sp>
        </mc:Fallback>
      </mc:AlternateContent>
      <p:sp>
        <p:nvSpPr>
          <p:cNvPr id="8" name="text-7">
            <a:extLst>
              <a:ext uri="{FF2B5EF4-FFF2-40B4-BE49-F238E27FC236}">
                <a16:creationId xmlns:a16="http://schemas.microsoft.com/office/drawing/2014/main" id="{C22B56C7-A99A-4564-AA6B-55F9EF21C212}"/>
              </a:ext>
            </a:extLst>
          </p:cNvPr>
          <p:cNvSpPr>
            <a:spLocks noGrp="1"/>
          </p:cNvSpPr>
          <p:nvPr/>
        </p:nvSpPr>
        <p:spPr>
          <a:xfrm>
            <a:off x="857250" y="5753100"/>
            <a:ext cx="10477500" cy="542925"/>
          </a:xfrm>
          <a:prstGeom prst="rect">
            <a:avLst/>
          </a:prstGeom>
          <a:noFill/>
          <a:ln w="0">
            <a:noFill/>
          </a:ln>
        </p:spPr>
        <p:txBody>
          <a:bodyPr wrap="square" lIns="0" tIns="0" rIns="0" bIns="0" anchor="t">
            <a:noAutofit/>
          </a:bodyPr>
          <a:lstStyle>
            <a:lvl1pPr>
              <a:buNone/>
              <a:defRPr sz="2250" b="0">
                <a:solidFill>
                  <a:srgbClr val="2D75A3"/>
                </a:solidFill>
                <a:latin typeface="Aptos"/>
                <a:ea typeface="Aptos"/>
                <a:cs typeface="Aptos"/>
              </a:defRPr>
            </a:lvl1pPr>
            <a:lvl2pPr>
              <a:buNone/>
              <a:defRPr sz="2250" b="0">
                <a:solidFill>
                  <a:srgbClr val="2D75A3"/>
                </a:solidFill>
                <a:latin typeface="Aptos"/>
                <a:ea typeface="Aptos"/>
                <a:cs typeface="Aptos"/>
              </a:defRPr>
            </a:lvl2pPr>
            <a:lvl3pPr>
              <a:buNone/>
              <a:defRPr sz="2250" b="0">
                <a:solidFill>
                  <a:srgbClr val="2D75A3"/>
                </a:solidFill>
                <a:latin typeface="Aptos"/>
                <a:ea typeface="Aptos"/>
                <a:cs typeface="Aptos"/>
              </a:defRPr>
            </a:lvl3pPr>
            <a:lvl4pPr>
              <a:buNone/>
              <a:defRPr sz="2250" b="0">
                <a:solidFill>
                  <a:srgbClr val="2D75A3"/>
                </a:solidFill>
                <a:latin typeface="Aptos"/>
                <a:ea typeface="Aptos"/>
                <a:cs typeface="Aptos"/>
              </a:defRPr>
            </a:lvl4pPr>
            <a:lvl5pPr>
              <a:buNone/>
              <a:defRPr sz="2250" b="0">
                <a:solidFill>
                  <a:srgbClr val="2D75A3"/>
                </a:solidFill>
                <a:latin typeface="Aptos"/>
                <a:ea typeface="Aptos"/>
                <a:cs typeface="Aptos"/>
              </a:defRPr>
            </a:lvl5pPr>
            <a:lvl6pPr>
              <a:buNone/>
              <a:defRPr sz="2250" b="0">
                <a:solidFill>
                  <a:srgbClr val="2D75A3"/>
                </a:solidFill>
                <a:latin typeface="Aptos"/>
                <a:ea typeface="Aptos"/>
                <a:cs typeface="Aptos"/>
              </a:defRPr>
            </a:lvl6pPr>
            <a:lvl7pPr>
              <a:buNone/>
              <a:defRPr sz="2250" b="0">
                <a:solidFill>
                  <a:srgbClr val="2D75A3"/>
                </a:solidFill>
                <a:latin typeface="Aptos"/>
                <a:ea typeface="Aptos"/>
                <a:cs typeface="Aptos"/>
              </a:defRPr>
            </a:lvl7pPr>
            <a:lvl8pPr>
              <a:buNone/>
              <a:defRPr sz="2250" b="0">
                <a:solidFill>
                  <a:srgbClr val="2D75A3"/>
                </a:solidFill>
                <a:latin typeface="Aptos"/>
                <a:ea typeface="Aptos"/>
                <a:cs typeface="Aptos"/>
              </a:defRPr>
            </a:lvl8pPr>
            <a:lvl9pPr>
              <a:buNone/>
              <a:defRPr sz="2250" b="0">
                <a:solidFill>
                  <a:srgbClr val="2D75A3"/>
                </a:solidFill>
                <a:latin typeface="Aptos"/>
                <a:ea typeface="Aptos"/>
                <a:cs typeface="Aptos"/>
              </a:defRPr>
            </a:lvl9pPr>
          </a:lstStyle>
          <a:p>
            <a:pPr>
              <a:buNone/>
              <a:defRPr sz="2250" b="0">
                <a:solidFill>
                  <a:srgbClr val="2D75A3"/>
                </a:solidFill>
                <a:latin typeface="Aptos"/>
                <a:ea typeface="Aptos"/>
                <a:cs typeface="Aptos"/>
              </a:defRPr>
            </a:pPr>
            <a:r>
              <a:rPr sz="2250" b="0">
                <a:solidFill>
                  <a:srgbClr val="2D75A3"/>
                </a:solidFill>
                <a:latin typeface="Aptos"/>
                <a:ea typeface="Aptos"/>
                <a:cs typeface="Aptos"/>
              </a:rPr>
              <a:t>10,000 points: estimate 3.1664 with estimated SE 0.01625.</a:t>
            </a:r>
          </a:p>
        </p:txBody>
      </p:sp>
      <p:sp>
        <p:nvSpPr>
          <p:cNvPr id="10" name="notebook-cue-slide-36">
            <a:extLst>
              <a:ext uri="{FF2B5EF4-FFF2-40B4-BE49-F238E27FC236}">
                <a16:creationId xmlns:a16="http://schemas.microsoft.com/office/drawing/2014/main" id="{67D87C47-2467-41B2-ACBB-76259623AA86}"/>
              </a:ext>
            </a:extLst>
          </p:cNvPr>
          <p:cNvSpPr>
            <a:spLocks noGrp="1"/>
          </p:cNvSpPr>
          <p:nvPr/>
        </p:nvSpPr>
        <p:spPr>
          <a:xfrm>
            <a:off x="2952750" y="6429375"/>
            <a:ext cx="7620000" cy="295275"/>
          </a:xfrm>
          <a:prstGeom prst="rect">
            <a:avLst/>
          </a:prstGeom>
          <a:noFill/>
          <a:ln w="0">
            <a:noFill/>
          </a:ln>
        </p:spPr>
        <p:txBody>
          <a:bodyPr wrap="none" lIns="0" tIns="0" rIns="0" bIns="0" anchor="ctr">
            <a:noAutofit/>
          </a:bodyPr>
          <a:lstStyle>
            <a:defPPr algn="ctr">
              <a:defRPr sz="1650" b="1">
                <a:solidFill>
                  <a:srgbClr val="2F6F4E"/>
                </a:solidFill>
                <a:latin typeface="Aptos"/>
                <a:ea typeface="Aptos"/>
                <a:cs typeface="Aptos"/>
              </a:defRPr>
            </a:defPPr>
            <a:lvl1pPr algn="ctr">
              <a:defRPr sz="1650" b="1">
                <a:solidFill>
                  <a:srgbClr val="2F6F4E"/>
                </a:solidFill>
                <a:latin typeface="Aptos"/>
                <a:ea typeface="Aptos"/>
                <a:cs typeface="Aptos"/>
              </a:defRPr>
            </a:lvl1pPr>
            <a:lvl2pPr algn="ctr">
              <a:defRPr sz="1650" b="1">
                <a:solidFill>
                  <a:srgbClr val="2F6F4E"/>
                </a:solidFill>
                <a:latin typeface="Aptos"/>
                <a:ea typeface="Aptos"/>
                <a:cs typeface="Aptos"/>
              </a:defRPr>
            </a:lvl2pPr>
            <a:lvl3pPr algn="ctr">
              <a:defRPr sz="1650" b="1">
                <a:solidFill>
                  <a:srgbClr val="2F6F4E"/>
                </a:solidFill>
                <a:latin typeface="Aptos"/>
                <a:ea typeface="Aptos"/>
                <a:cs typeface="Aptos"/>
              </a:defRPr>
            </a:lvl3pPr>
            <a:lvl4pPr algn="ctr">
              <a:defRPr sz="1650" b="1">
                <a:solidFill>
                  <a:srgbClr val="2F6F4E"/>
                </a:solidFill>
                <a:latin typeface="Aptos"/>
                <a:ea typeface="Aptos"/>
                <a:cs typeface="Aptos"/>
              </a:defRPr>
            </a:lvl4pPr>
            <a:lvl5pPr algn="ctr">
              <a:defRPr sz="1650" b="1">
                <a:solidFill>
                  <a:srgbClr val="2F6F4E"/>
                </a:solidFill>
                <a:latin typeface="Aptos"/>
                <a:ea typeface="Aptos"/>
                <a:cs typeface="Aptos"/>
              </a:defRPr>
            </a:lvl5pPr>
            <a:lvl6pPr algn="ctr">
              <a:defRPr sz="1650" b="1">
                <a:solidFill>
                  <a:srgbClr val="2F6F4E"/>
                </a:solidFill>
                <a:latin typeface="Aptos"/>
                <a:ea typeface="Aptos"/>
                <a:cs typeface="Aptos"/>
              </a:defRPr>
            </a:lvl6pPr>
            <a:lvl7pPr algn="ctr">
              <a:defRPr sz="1650" b="1">
                <a:solidFill>
                  <a:srgbClr val="2F6F4E"/>
                </a:solidFill>
                <a:latin typeface="Aptos"/>
                <a:ea typeface="Aptos"/>
                <a:cs typeface="Aptos"/>
              </a:defRPr>
            </a:lvl7pPr>
            <a:lvl8pPr algn="ctr">
              <a:defRPr sz="1650" b="1">
                <a:solidFill>
                  <a:srgbClr val="2F6F4E"/>
                </a:solidFill>
                <a:latin typeface="Aptos"/>
                <a:ea typeface="Aptos"/>
                <a:cs typeface="Aptos"/>
              </a:defRPr>
            </a:lvl8pPr>
            <a:lvl9pPr algn="ctr">
              <a:defRPr sz="1650" b="1">
                <a:solidFill>
                  <a:srgbClr val="2F6F4E"/>
                </a:solidFill>
                <a:latin typeface="Aptos"/>
                <a:ea typeface="Aptos"/>
                <a:cs typeface="Aptos"/>
              </a:defRPr>
            </a:lvl9pPr>
          </a:lstStyle>
          <a:p>
            <a:pPr algn="ctr">
              <a:defRPr sz="1650" b="1">
                <a:solidFill>
                  <a:srgbClr val="2F6F4E"/>
                </a:solidFill>
                <a:latin typeface="Aptos"/>
                <a:ea typeface="Aptos"/>
                <a:cs typeface="Aptos"/>
              </a:defRPr>
            </a:pPr>
            <a:r>
              <a:rPr sz="1650" b="1">
                <a:solidFill>
                  <a:srgbClr val="2F6F4E"/>
                </a:solidFill>
                <a:latin typeface="Aptos"/>
                <a:ea typeface="Aptos"/>
                <a:cs typeface="Aptos"/>
              </a:rPr>
              <a:t>Notebook: Slide 36 (optional)</a:t>
            </a:r>
          </a:p>
        </p:txBody>
      </p:sp>
    </p:spTree>
    <p:extLst>
      <p:ext uri="{BB962C8B-B14F-4D97-AF65-F5344CB8AC3E}">
        <p14:creationId xmlns:p14="http://schemas.microsoft.com/office/powerpoint/2010/main" val="1582822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49A5B68E-5108-4B84-948D-902AC8444331}"/>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Monte Carlo integration</a:t>
            </a:r>
          </a:p>
        </p:txBody>
      </p:sp>
      <p:sp>
        <p:nvSpPr>
          <p:cNvPr id="2" name="Straight Connector 1">
            <a:extLst>
              <a:ext uri="{FF2B5EF4-FFF2-40B4-BE49-F238E27FC236}">
                <a16:creationId xmlns:a16="http://schemas.microsoft.com/office/drawing/2014/main" id="{558ECD1B-4D11-4AEA-88FE-09546D8B953D}"/>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402BF915-16AB-45C5-9CEB-3EA4E6564C4D}"/>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A069005C-855C-4701-95C7-5A5C02C2CC34}"/>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37</a:t>
            </a:r>
          </a:p>
        </p:txBody>
      </p:sp>
      <mc:AlternateContent xmlns:mc="http://schemas.openxmlformats.org/markup-compatibility/2006">
        <mc:Choice xmlns:a14="http://schemas.microsoft.com/office/drawing/2010/main" Requires="a14">
          <p:sp>
            <p:nvSpPr>
              <p:cNvPr id="5" name="EQ_016">
                <a:extLst>
                  <a:ext uri="{FF2B5EF4-FFF2-40B4-BE49-F238E27FC236}">
                    <a16:creationId xmlns:a16="http://schemas.microsoft.com/office/drawing/2014/main" id="{EED8BC8D-3CDF-44AC-B833-399FA5870CEE}"/>
                  </a:ext>
                </a:extLst>
              </p:cNvPr>
              <p:cNvSpPr>
                <a:spLocks noGrp="1"/>
              </p:cNvSpPr>
              <p:nvPr/>
            </p:nvSpPr>
            <p:spPr>
              <a:xfrm>
                <a:off x="857250" y="1552575"/>
                <a:ext cx="10477500" cy="857250"/>
              </a:xfrm>
              <a:prstGeom prst="rect">
                <a:avLst/>
              </a:prstGeom>
              <a:noFill/>
              <a:ln w="0">
                <a:noFill/>
              </a:ln>
            </p:spPr>
            <p:txBody>
              <a:bodyPr wrap="none" lIns="0" tIns="0" rIns="0" bIns="0" anchor="ctr">
                <a:noAutofit/>
              </a:bodyPr>
              <a:lstStyle>
                <a:lvl1pPr algn="l">
                  <a:buNone/>
                  <a:defRPr sz="3100">
                    <a:solidFill>
                      <a:srgbClr val="17365D"/>
                    </a:solidFill>
                    <a:latin typeface="Cambria Math"/>
                    <a:ea typeface="Cambria Math"/>
                    <a:cs typeface="Cambria Math"/>
                  </a:defRPr>
                </a:lvl1pPr>
                <a:lvl2pPr algn="l">
                  <a:buNone/>
                  <a:defRPr sz="3100">
                    <a:solidFill>
                      <a:srgbClr val="17365D"/>
                    </a:solidFill>
                    <a:latin typeface="Cambria Math"/>
                    <a:ea typeface="Cambria Math"/>
                    <a:cs typeface="Cambria Math"/>
                  </a:defRPr>
                </a:lvl2pPr>
                <a:lvl3pPr algn="l">
                  <a:buNone/>
                  <a:defRPr sz="3100">
                    <a:solidFill>
                      <a:srgbClr val="17365D"/>
                    </a:solidFill>
                    <a:latin typeface="Cambria Math"/>
                    <a:ea typeface="Cambria Math"/>
                    <a:cs typeface="Cambria Math"/>
                  </a:defRPr>
                </a:lvl3pPr>
                <a:lvl4pPr algn="l">
                  <a:buNone/>
                  <a:defRPr sz="3100">
                    <a:solidFill>
                      <a:srgbClr val="17365D"/>
                    </a:solidFill>
                    <a:latin typeface="Cambria Math"/>
                    <a:ea typeface="Cambria Math"/>
                    <a:cs typeface="Cambria Math"/>
                  </a:defRPr>
                </a:lvl4pPr>
                <a:lvl5pPr algn="l">
                  <a:buNone/>
                  <a:defRPr sz="3100">
                    <a:solidFill>
                      <a:srgbClr val="17365D"/>
                    </a:solidFill>
                    <a:latin typeface="Cambria Math"/>
                    <a:ea typeface="Cambria Math"/>
                    <a:cs typeface="Cambria Math"/>
                  </a:defRPr>
                </a:lvl5pPr>
                <a:lvl6pPr algn="l">
                  <a:buNone/>
                  <a:defRPr sz="3100">
                    <a:solidFill>
                      <a:srgbClr val="17365D"/>
                    </a:solidFill>
                    <a:latin typeface="Cambria Math"/>
                    <a:ea typeface="Cambria Math"/>
                    <a:cs typeface="Cambria Math"/>
                  </a:defRPr>
                </a:lvl6pPr>
                <a:lvl7pPr algn="l">
                  <a:buNone/>
                  <a:defRPr sz="3100">
                    <a:solidFill>
                      <a:srgbClr val="17365D"/>
                    </a:solidFill>
                    <a:latin typeface="Cambria Math"/>
                    <a:ea typeface="Cambria Math"/>
                    <a:cs typeface="Cambria Math"/>
                  </a:defRPr>
                </a:lvl7pPr>
                <a:lvl8pPr algn="l">
                  <a:buNone/>
                  <a:defRPr sz="3100">
                    <a:solidFill>
                      <a:srgbClr val="17365D"/>
                    </a:solidFill>
                    <a:latin typeface="Cambria Math"/>
                    <a:ea typeface="Cambria Math"/>
                    <a:cs typeface="Cambria Math"/>
                  </a:defRPr>
                </a:lvl8pPr>
                <a:lvl9pPr algn="l">
                  <a:buNone/>
                  <a:defRPr sz="3100">
                    <a:solidFill>
                      <a:srgbClr val="17365D"/>
                    </a:solidFill>
                    <a:latin typeface="Cambria Math"/>
                    <a:ea typeface="Cambria Math"/>
                    <a:cs typeface="Cambria Math"/>
                  </a:defRPr>
                </a:lvl9pPr>
              </a:lstStyle>
              <a:p>
                <a:pPr>
                  <a:buNone/>
                  <a:defRPr sz="3100">
                    <a:solidFill>
                      <a:srgbClr val="17365D"/>
                    </a:solidFill>
                  </a:defRPr>
                </a:pPr>
                <a14:m>
                  <m:oMathPara xmlns:m="http://schemas.openxmlformats.org/officeDocument/2006/math">
                    <m:oMath>
                      <m:r>
                        <a:rPr>
                          <a:latin typeface="Cambria Math" panose="02040503050406030204" pitchFamily="18" charset="0"/>
                        </a:rPr>
                        <m:t>𝑈</m:t>
                      </m:r>
                      <m:r>
                        <a:rPr>
                          <a:latin typeface="Cambria Math" panose="02040503050406030204" pitchFamily="18" charset="0"/>
                        </a:rPr>
                        <m:t>∼</m:t>
                      </m:r>
                      <m:r>
                        <a:rPr>
                          <a:latin typeface="Cambria Math" panose="02040503050406030204" pitchFamily="18" charset="0"/>
                        </a:rPr>
                        <m:t>𝑈𝑛𝑖𝑓𝑜𝑟𝑚</m:t>
                      </m:r>
                      <m:d>
                        <m:dPr>
                          <m:ctrlPr>
                            <a:rPr>
                              <a:latin typeface="Cambria Math" panose="02040503050406030204" pitchFamily="18" charset="0"/>
                            </a:rPr>
                          </m:ctrlPr>
                        </m:dPr>
                        <m:e>
                          <m:r>
                            <a:rPr>
                              <a:latin typeface="Cambria Math" panose="02040503050406030204" pitchFamily="18" charset="0"/>
                            </a:rPr>
                            <m:t>𝑎</m:t>
                          </m:r>
                          <m:r>
                            <a:rPr>
                              <a:latin typeface="Cambria Math" panose="02040503050406030204" pitchFamily="18" charset="0"/>
                            </a:rPr>
                            <m:t>,</m:t>
                          </m:r>
                          <m:r>
                            <a:rPr>
                              <a:latin typeface="Cambria Math" panose="02040503050406030204" pitchFamily="18" charset="0"/>
                            </a:rPr>
                            <m:t>𝑏</m:t>
                          </m:r>
                        </m:e>
                      </m:d>
                    </m:oMath>
                  </m:oMathPara>
                </a14:m>
                <a:endParaRPr/>
              </a:p>
            </p:txBody>
          </p:sp>
        </mc:Choice>
        <mc:Fallback>
          <p:sp>
            <p:nvSpPr>
              <p:cNvPr id="5" name="EQ_016">
                <a:extLst>
                  <a:ext uri="{FF2B5EF4-FFF2-40B4-BE49-F238E27FC236}">
                    <a16:creationId xmlns:a16="http://schemas.microsoft.com/office/drawing/2014/main" id="{EED8BC8D-3CDF-44AC-B833-399FA5870CEE}"/>
                  </a:ext>
                </a:extLst>
              </p:cNvPr>
              <p:cNvSpPr>
                <a:spLocks noGrp="1" noRot="1" noChangeAspect="1" noMove="1" noResize="1" noEditPoints="1" noAdjustHandles="1" noChangeArrowheads="1" noChangeShapeType="1" noTextEdit="1"/>
              </p:cNvSpPr>
              <p:nvPr/>
            </p:nvSpPr>
            <p:spPr>
              <a:xfrm>
                <a:off x="857250" y="1552575"/>
                <a:ext cx="10477500" cy="857250"/>
              </a:xfrm>
              <a:prstGeom prst="rect">
                <a:avLst/>
              </a:prstGeom>
              <a:blipFill>
                <a:blip r:embed="rId3"/>
                <a:stretch>
                  <a:fillRect/>
                </a:stretch>
              </a:blipFill>
              <a:ln w="0">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6" name="EQ_017">
                <a:extLst>
                  <a:ext uri="{FF2B5EF4-FFF2-40B4-BE49-F238E27FC236}">
                    <a16:creationId xmlns:a16="http://schemas.microsoft.com/office/drawing/2014/main" id="{C2DBEEB2-BD57-4728-BBCF-87FF6EEEC728}"/>
                  </a:ext>
                </a:extLst>
              </p:cNvPr>
              <p:cNvSpPr>
                <a:spLocks noGrp="1"/>
              </p:cNvSpPr>
              <p:nvPr/>
            </p:nvSpPr>
            <p:spPr>
              <a:xfrm>
                <a:off x="857250" y="2638425"/>
                <a:ext cx="10477500" cy="1143000"/>
              </a:xfrm>
              <a:prstGeom prst="rect">
                <a:avLst/>
              </a:prstGeom>
              <a:noFill/>
              <a:ln w="0">
                <a:noFill/>
              </a:ln>
            </p:spPr>
            <p:txBody>
              <a:bodyPr wrap="none" lIns="0" tIns="0" rIns="0" bIns="0" anchor="ctr">
                <a:noAutofit/>
              </a:bodyPr>
              <a:lstStyle>
                <a:lvl1pPr algn="l">
                  <a:buNone/>
                  <a:defRPr sz="3200">
                    <a:solidFill>
                      <a:srgbClr val="17365D"/>
                    </a:solidFill>
                    <a:latin typeface="Cambria Math"/>
                    <a:ea typeface="Cambria Math"/>
                    <a:cs typeface="Cambria Math"/>
                  </a:defRPr>
                </a:lvl1pPr>
                <a:lvl2pPr algn="l">
                  <a:buNone/>
                  <a:defRPr sz="3200">
                    <a:solidFill>
                      <a:srgbClr val="17365D"/>
                    </a:solidFill>
                    <a:latin typeface="Cambria Math"/>
                    <a:ea typeface="Cambria Math"/>
                    <a:cs typeface="Cambria Math"/>
                  </a:defRPr>
                </a:lvl2pPr>
                <a:lvl3pPr algn="l">
                  <a:buNone/>
                  <a:defRPr sz="3200">
                    <a:solidFill>
                      <a:srgbClr val="17365D"/>
                    </a:solidFill>
                    <a:latin typeface="Cambria Math"/>
                    <a:ea typeface="Cambria Math"/>
                    <a:cs typeface="Cambria Math"/>
                  </a:defRPr>
                </a:lvl3pPr>
                <a:lvl4pPr algn="l">
                  <a:buNone/>
                  <a:defRPr sz="3200">
                    <a:solidFill>
                      <a:srgbClr val="17365D"/>
                    </a:solidFill>
                    <a:latin typeface="Cambria Math"/>
                    <a:ea typeface="Cambria Math"/>
                    <a:cs typeface="Cambria Math"/>
                  </a:defRPr>
                </a:lvl4pPr>
                <a:lvl5pPr algn="l">
                  <a:buNone/>
                  <a:defRPr sz="3200">
                    <a:solidFill>
                      <a:srgbClr val="17365D"/>
                    </a:solidFill>
                    <a:latin typeface="Cambria Math"/>
                    <a:ea typeface="Cambria Math"/>
                    <a:cs typeface="Cambria Math"/>
                  </a:defRPr>
                </a:lvl5pPr>
                <a:lvl6pPr algn="l">
                  <a:buNone/>
                  <a:defRPr sz="3200">
                    <a:solidFill>
                      <a:srgbClr val="17365D"/>
                    </a:solidFill>
                    <a:latin typeface="Cambria Math"/>
                    <a:ea typeface="Cambria Math"/>
                    <a:cs typeface="Cambria Math"/>
                  </a:defRPr>
                </a:lvl6pPr>
                <a:lvl7pPr algn="l">
                  <a:buNone/>
                  <a:defRPr sz="3200">
                    <a:solidFill>
                      <a:srgbClr val="17365D"/>
                    </a:solidFill>
                    <a:latin typeface="Cambria Math"/>
                    <a:ea typeface="Cambria Math"/>
                    <a:cs typeface="Cambria Math"/>
                  </a:defRPr>
                </a:lvl7pPr>
                <a:lvl8pPr algn="l">
                  <a:buNone/>
                  <a:defRPr sz="3200">
                    <a:solidFill>
                      <a:srgbClr val="17365D"/>
                    </a:solidFill>
                    <a:latin typeface="Cambria Math"/>
                    <a:ea typeface="Cambria Math"/>
                    <a:cs typeface="Cambria Math"/>
                  </a:defRPr>
                </a:lvl8pPr>
                <a:lvl9pPr algn="l">
                  <a:buNone/>
                  <a:defRPr sz="3200">
                    <a:solidFill>
                      <a:srgbClr val="17365D"/>
                    </a:solidFill>
                    <a:latin typeface="Cambria Math"/>
                    <a:ea typeface="Cambria Math"/>
                    <a:cs typeface="Cambria Math"/>
                  </a:defRPr>
                </a:lvl9pPr>
              </a:lstStyle>
              <a:p>
                <a:pPr>
                  <a:buNone/>
                  <a:defRPr sz="3200">
                    <a:solidFill>
                      <a:srgbClr val="17365D"/>
                    </a:solidFill>
                  </a:defRPr>
                </a:pPr>
                <a14:m>
                  <m:oMathPara xmlns:m="http://schemas.openxmlformats.org/officeDocument/2006/math">
                    <m:oMath>
                      <m:nary>
                        <m:naryPr>
                          <m:limLoc m:val="subSup"/>
                          <m:ctrlPr>
                            <a:rPr>
                              <a:latin typeface="Cambria Math" panose="02040503050406030204" pitchFamily="18" charset="0"/>
                            </a:rPr>
                          </m:ctrlPr>
                        </m:naryPr>
                        <m:sub>
                          <m:r>
                            <a:rPr>
                              <a:latin typeface="Cambria Math" panose="02040503050406030204" pitchFamily="18" charset="0"/>
                            </a:rPr>
                            <m:t>𝑎</m:t>
                          </m:r>
                        </m:sub>
                        <m:sup>
                          <m:r>
                            <a:rPr>
                              <a:latin typeface="Cambria Math" panose="02040503050406030204" pitchFamily="18" charset="0"/>
                            </a:rPr>
                            <m:t>𝑏</m:t>
                          </m:r>
                        </m:sup>
                        <m:e>
                          <m:r>
                            <a:rPr>
                              <a:latin typeface="Cambria Math" panose="02040503050406030204" pitchFamily="18" charset="0"/>
                            </a:rPr>
                            <m:t>𝑓</m:t>
                          </m:r>
                          <m:d>
                            <m:dPr>
                              <m:ctrlPr>
                                <a:rPr>
                                  <a:latin typeface="Cambria Math" panose="02040503050406030204" pitchFamily="18" charset="0"/>
                                </a:rPr>
                              </m:ctrlPr>
                            </m:dPr>
                            <m:e>
                              <m:r>
                                <a:rPr>
                                  <a:latin typeface="Cambria Math" panose="02040503050406030204" pitchFamily="18" charset="0"/>
                                </a:rPr>
                                <m:t>𝑢</m:t>
                              </m:r>
                            </m:e>
                          </m:d>
                        </m:e>
                      </m:nary>
                      <m:r>
                        <a:rPr>
                          <a:latin typeface="Cambria Math" panose="02040503050406030204" pitchFamily="18" charset="0"/>
                        </a:rPr>
                        <m:t>𝑑𝑢</m:t>
                      </m:r>
                      <m:r>
                        <a:rPr>
                          <a:latin typeface="Cambria Math" panose="02040503050406030204" pitchFamily="18" charset="0"/>
                        </a:rPr>
                        <m:t>=</m:t>
                      </m:r>
                      <m:d>
                        <m:dPr>
                          <m:ctrlPr>
                            <a:rPr>
                              <a:latin typeface="Cambria Math" panose="02040503050406030204" pitchFamily="18" charset="0"/>
                            </a:rPr>
                          </m:ctrlPr>
                        </m:dPr>
                        <m:e>
                          <m:r>
                            <a:rPr>
                              <a:latin typeface="Cambria Math" panose="02040503050406030204" pitchFamily="18" charset="0"/>
                            </a:rPr>
                            <m:t>𝑏</m:t>
                          </m:r>
                          <m:r>
                            <a:rPr>
                              <a:latin typeface="Cambria Math" panose="02040503050406030204" pitchFamily="18" charset="0"/>
                            </a:rPr>
                            <m:t>−</m:t>
                          </m:r>
                          <m:r>
                            <a:rPr>
                              <a:latin typeface="Cambria Math" panose="02040503050406030204" pitchFamily="18" charset="0"/>
                            </a:rPr>
                            <m:t>𝑎</m:t>
                          </m:r>
                        </m:e>
                      </m:d>
                      <m:r>
                        <a:rPr>
                          <a:latin typeface="Cambria Math" panose="02040503050406030204" pitchFamily="18" charset="0"/>
                        </a:rPr>
                        <m:t>𝐸</m:t>
                      </m:r>
                      <m:d>
                        <m:dPr>
                          <m:begChr m:val="["/>
                          <m:endChr m:val="]"/>
                          <m:ctrlPr>
                            <a:rPr>
                              <a:latin typeface="Cambria Math" panose="02040503050406030204" pitchFamily="18" charset="0"/>
                            </a:rPr>
                          </m:ctrlPr>
                        </m:dPr>
                        <m:e>
                          <m:r>
                            <a:rPr>
                              <a:latin typeface="Cambria Math" panose="02040503050406030204" pitchFamily="18" charset="0"/>
                            </a:rPr>
                            <m:t>𝑓</m:t>
                          </m:r>
                          <m:d>
                            <m:dPr>
                              <m:ctrlPr>
                                <a:rPr>
                                  <a:latin typeface="Cambria Math" panose="02040503050406030204" pitchFamily="18" charset="0"/>
                                </a:rPr>
                              </m:ctrlPr>
                            </m:dPr>
                            <m:e>
                              <m:r>
                                <a:rPr>
                                  <a:latin typeface="Cambria Math" panose="02040503050406030204" pitchFamily="18" charset="0"/>
                                </a:rPr>
                                <m:t>𝑈</m:t>
                              </m:r>
                            </m:e>
                          </m:d>
                        </m:e>
                      </m:d>
                    </m:oMath>
                  </m:oMathPara>
                </a14:m>
                <a:endParaRPr/>
              </a:p>
            </p:txBody>
          </p:sp>
        </mc:Choice>
        <mc:Fallback>
          <p:sp>
            <p:nvSpPr>
              <p:cNvPr id="6" name="EQ_017">
                <a:extLst>
                  <a:ext uri="{FF2B5EF4-FFF2-40B4-BE49-F238E27FC236}">
                    <a16:creationId xmlns:a16="http://schemas.microsoft.com/office/drawing/2014/main" id="{C2DBEEB2-BD57-4728-BBCF-87FF6EEEC728}"/>
                  </a:ext>
                </a:extLst>
              </p:cNvPr>
              <p:cNvSpPr>
                <a:spLocks noGrp="1" noRot="1" noChangeAspect="1" noMove="1" noResize="1" noEditPoints="1" noAdjustHandles="1" noChangeArrowheads="1" noChangeShapeType="1" noTextEdit="1"/>
              </p:cNvSpPr>
              <p:nvPr/>
            </p:nvSpPr>
            <p:spPr>
              <a:xfrm>
                <a:off x="857250" y="2638425"/>
                <a:ext cx="10477500" cy="1143000"/>
              </a:xfrm>
              <a:prstGeom prst="rect">
                <a:avLst/>
              </a:prstGeom>
              <a:blipFill>
                <a:blip r:embed="rId4"/>
                <a:stretch>
                  <a:fillRect/>
                </a:stretch>
              </a:blipFill>
              <a:ln w="0">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7" name="EQ_018">
                <a:extLst>
                  <a:ext uri="{FF2B5EF4-FFF2-40B4-BE49-F238E27FC236}">
                    <a16:creationId xmlns:a16="http://schemas.microsoft.com/office/drawing/2014/main" id="{D81100B3-D9E3-46D1-99F2-55FEB1F5814B}"/>
                  </a:ext>
                </a:extLst>
              </p:cNvPr>
              <p:cNvSpPr>
                <a:spLocks noGrp="1"/>
              </p:cNvSpPr>
              <p:nvPr/>
            </p:nvSpPr>
            <p:spPr>
              <a:xfrm>
                <a:off x="857250" y="4048125"/>
                <a:ext cx="10477500" cy="1143000"/>
              </a:xfrm>
              <a:prstGeom prst="rect">
                <a:avLst/>
              </a:prstGeom>
              <a:noFill/>
              <a:ln w="0">
                <a:noFill/>
              </a:ln>
            </p:spPr>
            <p:txBody>
              <a:bodyPr wrap="none" lIns="0" tIns="0" rIns="0" bIns="0" anchor="ctr">
                <a:noAutofit/>
              </a:bodyPr>
              <a:lstStyle>
                <a:lvl1pPr algn="l">
                  <a:buNone/>
                  <a:defRPr sz="3200">
                    <a:solidFill>
                      <a:srgbClr val="17365D"/>
                    </a:solidFill>
                    <a:latin typeface="Cambria Math"/>
                    <a:ea typeface="Cambria Math"/>
                    <a:cs typeface="Cambria Math"/>
                  </a:defRPr>
                </a:lvl1pPr>
                <a:lvl2pPr algn="l">
                  <a:buNone/>
                  <a:defRPr sz="3200">
                    <a:solidFill>
                      <a:srgbClr val="17365D"/>
                    </a:solidFill>
                    <a:latin typeface="Cambria Math"/>
                    <a:ea typeface="Cambria Math"/>
                    <a:cs typeface="Cambria Math"/>
                  </a:defRPr>
                </a:lvl2pPr>
                <a:lvl3pPr algn="l">
                  <a:buNone/>
                  <a:defRPr sz="3200">
                    <a:solidFill>
                      <a:srgbClr val="17365D"/>
                    </a:solidFill>
                    <a:latin typeface="Cambria Math"/>
                    <a:ea typeface="Cambria Math"/>
                    <a:cs typeface="Cambria Math"/>
                  </a:defRPr>
                </a:lvl3pPr>
                <a:lvl4pPr algn="l">
                  <a:buNone/>
                  <a:defRPr sz="3200">
                    <a:solidFill>
                      <a:srgbClr val="17365D"/>
                    </a:solidFill>
                    <a:latin typeface="Cambria Math"/>
                    <a:ea typeface="Cambria Math"/>
                    <a:cs typeface="Cambria Math"/>
                  </a:defRPr>
                </a:lvl4pPr>
                <a:lvl5pPr algn="l">
                  <a:buNone/>
                  <a:defRPr sz="3200">
                    <a:solidFill>
                      <a:srgbClr val="17365D"/>
                    </a:solidFill>
                    <a:latin typeface="Cambria Math"/>
                    <a:ea typeface="Cambria Math"/>
                    <a:cs typeface="Cambria Math"/>
                  </a:defRPr>
                </a:lvl5pPr>
                <a:lvl6pPr algn="l">
                  <a:buNone/>
                  <a:defRPr sz="3200">
                    <a:solidFill>
                      <a:srgbClr val="17365D"/>
                    </a:solidFill>
                    <a:latin typeface="Cambria Math"/>
                    <a:ea typeface="Cambria Math"/>
                    <a:cs typeface="Cambria Math"/>
                  </a:defRPr>
                </a:lvl6pPr>
                <a:lvl7pPr algn="l">
                  <a:buNone/>
                  <a:defRPr sz="3200">
                    <a:solidFill>
                      <a:srgbClr val="17365D"/>
                    </a:solidFill>
                    <a:latin typeface="Cambria Math"/>
                    <a:ea typeface="Cambria Math"/>
                    <a:cs typeface="Cambria Math"/>
                  </a:defRPr>
                </a:lvl7pPr>
                <a:lvl8pPr algn="l">
                  <a:buNone/>
                  <a:defRPr sz="3200">
                    <a:solidFill>
                      <a:srgbClr val="17365D"/>
                    </a:solidFill>
                    <a:latin typeface="Cambria Math"/>
                    <a:ea typeface="Cambria Math"/>
                    <a:cs typeface="Cambria Math"/>
                  </a:defRPr>
                </a:lvl8pPr>
                <a:lvl9pPr algn="l">
                  <a:buNone/>
                  <a:defRPr sz="3200">
                    <a:solidFill>
                      <a:srgbClr val="17365D"/>
                    </a:solidFill>
                    <a:latin typeface="Cambria Math"/>
                    <a:ea typeface="Cambria Math"/>
                    <a:cs typeface="Cambria Math"/>
                  </a:defRPr>
                </a:lvl9pPr>
              </a:lstStyle>
              <a:p>
                <a:pPr>
                  <a:buNone/>
                  <a:defRPr sz="3200">
                    <a:solidFill>
                      <a:srgbClr val="17365D"/>
                    </a:solidFill>
                  </a:defRPr>
                </a:pPr>
                <a14:m>
                  <m:oMathPara xmlns:m="http://schemas.openxmlformats.org/officeDocument/2006/math">
                    <m:oMath>
                      <m:acc>
                        <m:accPr>
                          <m:chr m:val="̂"/>
                          <m:ctrlPr>
                            <a:rPr>
                              <a:latin typeface="Cambria Math" panose="02040503050406030204" pitchFamily="18" charset="0"/>
                            </a:rPr>
                          </m:ctrlPr>
                        </m:accPr>
                        <m:e>
                          <m:r>
                            <a:rPr>
                              <a:latin typeface="Cambria Math" panose="02040503050406030204" pitchFamily="18" charset="0"/>
                            </a:rPr>
                            <m:t>𝐼</m:t>
                          </m:r>
                        </m:e>
                      </m:acc>
                      <m:r>
                        <a:rPr>
                          <a:latin typeface="Cambria Math" panose="02040503050406030204" pitchFamily="18" charset="0"/>
                        </a:rPr>
                        <m:t>=</m:t>
                      </m:r>
                      <m:f>
                        <m:fPr>
                          <m:ctrlPr>
                            <a:rPr i="1">
                              <a:latin typeface="Cambria Math" panose="02040503050406030204" pitchFamily="18" charset="0"/>
                            </a:rPr>
                          </m:ctrlPr>
                        </m:fPr>
                        <m:num>
                          <m:d>
                            <m:dPr>
                              <m:ctrlPr>
                                <a:rPr>
                                  <a:latin typeface="Cambria Math" panose="02040503050406030204" pitchFamily="18" charset="0"/>
                                </a:rPr>
                              </m:ctrlPr>
                            </m:dPr>
                            <m:e>
                              <m:r>
                                <a:rPr>
                                  <a:latin typeface="Cambria Math" panose="02040503050406030204" pitchFamily="18" charset="0"/>
                                </a:rPr>
                                <m:t>𝑏</m:t>
                              </m:r>
                              <m:r>
                                <a:rPr>
                                  <a:latin typeface="Cambria Math" panose="02040503050406030204" pitchFamily="18" charset="0"/>
                                </a:rPr>
                                <m:t>−</m:t>
                              </m:r>
                              <m:r>
                                <a:rPr>
                                  <a:latin typeface="Cambria Math" panose="02040503050406030204" pitchFamily="18" charset="0"/>
                                </a:rPr>
                                <m:t>𝑎</m:t>
                              </m:r>
                            </m:e>
                          </m:d>
                        </m:num>
                        <m:den>
                          <m:r>
                            <a:rPr>
                              <a:latin typeface="Cambria Math" panose="02040503050406030204" pitchFamily="18" charset="0"/>
                            </a:rPr>
                            <m:t>𝑁</m:t>
                          </m:r>
                        </m:den>
                      </m:f>
                      <m:nary>
                        <m:naryPr>
                          <m:chr m:val="∑"/>
                          <m:limLoc m:val="undOvr"/>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𝑁</m:t>
                          </m:r>
                        </m:sup>
                        <m:e>
                          <m:r>
                            <a:rPr>
                              <a:latin typeface="Cambria Math" panose="02040503050406030204" pitchFamily="18" charset="0"/>
                            </a:rPr>
                            <m:t>𝑓</m:t>
                          </m:r>
                          <m:d>
                            <m:dPr>
                              <m:ctrlPr>
                                <a:rPr i="1">
                                  <a:latin typeface="Cambria Math" panose="02040503050406030204" pitchFamily="18" charset="0"/>
                                </a:rPr>
                              </m:ctrlPr>
                            </m:dPr>
                            <m:e>
                              <m:sSub>
                                <m:sSubPr>
                                  <m:ctrlPr>
                                    <a:rPr>
                                      <a:latin typeface="Cambria Math" panose="02040503050406030204" pitchFamily="18" charset="0"/>
                                    </a:rPr>
                                  </m:ctrlPr>
                                </m:sSubPr>
                                <m:e>
                                  <m:r>
                                    <a:rPr>
                                      <a:latin typeface="Cambria Math" panose="02040503050406030204" pitchFamily="18" charset="0"/>
                                    </a:rPr>
                                    <m:t>𝑈</m:t>
                                  </m:r>
                                </m:e>
                                <m:sub>
                                  <m:r>
                                    <a:rPr>
                                      <a:latin typeface="Cambria Math" panose="02040503050406030204" pitchFamily="18" charset="0"/>
                                    </a:rPr>
                                    <m:t>𝑖</m:t>
                                  </m:r>
                                </m:sub>
                              </m:sSub>
                            </m:e>
                          </m:d>
                        </m:e>
                      </m:nary>
                    </m:oMath>
                  </m:oMathPara>
                </a14:m>
                <a:endParaRPr/>
              </a:p>
            </p:txBody>
          </p:sp>
        </mc:Choice>
        <mc:Fallback>
          <p:sp>
            <p:nvSpPr>
              <p:cNvPr id="7" name="EQ_018">
                <a:extLst>
                  <a:ext uri="{FF2B5EF4-FFF2-40B4-BE49-F238E27FC236}">
                    <a16:creationId xmlns:a16="http://schemas.microsoft.com/office/drawing/2014/main" id="{D81100B3-D9E3-46D1-99F2-55FEB1F5814B}"/>
                  </a:ext>
                </a:extLst>
              </p:cNvPr>
              <p:cNvSpPr>
                <a:spLocks noGrp="1" noRot="1" noChangeAspect="1" noMove="1" noResize="1" noEditPoints="1" noAdjustHandles="1" noChangeArrowheads="1" noChangeShapeType="1" noTextEdit="1"/>
              </p:cNvSpPr>
              <p:nvPr/>
            </p:nvSpPr>
            <p:spPr>
              <a:xfrm>
                <a:off x="857250" y="4048125"/>
                <a:ext cx="10477500" cy="1143000"/>
              </a:xfrm>
              <a:prstGeom prst="rect">
                <a:avLst/>
              </a:prstGeom>
              <a:blipFill>
                <a:blip r:embed="rId5"/>
                <a:stretch>
                  <a:fillRect t="-5319" b="-10638"/>
                </a:stretch>
              </a:blipFill>
              <a:ln w="0">
                <a:noFill/>
              </a:ln>
            </p:spPr>
            <p:txBody>
              <a:bodyPr/>
              <a:lstStyle/>
              <a:p>
                <a:r>
                  <a:rPr lang="en-GB">
                    <a:noFill/>
                  </a:rPr>
                  <a:t> </a:t>
                </a:r>
              </a:p>
            </p:txBody>
          </p:sp>
        </mc:Fallback>
      </mc:AlternateContent>
      <p:sp>
        <p:nvSpPr>
          <p:cNvPr id="8" name="text-7">
            <a:extLst>
              <a:ext uri="{FF2B5EF4-FFF2-40B4-BE49-F238E27FC236}">
                <a16:creationId xmlns:a16="http://schemas.microsoft.com/office/drawing/2014/main" id="{803274FB-D8EB-495E-A6BE-74E26C7B6C71}"/>
              </a:ext>
            </a:extLst>
          </p:cNvPr>
          <p:cNvSpPr>
            <a:spLocks noGrp="1"/>
          </p:cNvSpPr>
          <p:nvPr/>
        </p:nvSpPr>
        <p:spPr>
          <a:xfrm>
            <a:off x="857250" y="5629275"/>
            <a:ext cx="10477500" cy="647700"/>
          </a:xfrm>
          <a:prstGeom prst="rect">
            <a:avLst/>
          </a:prstGeom>
          <a:noFill/>
          <a:ln w="0">
            <a:noFill/>
          </a:ln>
        </p:spPr>
        <p:txBody>
          <a:bodyPr wrap="square" lIns="0" tIns="0" rIns="0" bIns="0" anchor="t">
            <a:noAutofit/>
          </a:bodyPr>
          <a:lstStyle>
            <a:lvl1pPr>
              <a:buNone/>
              <a:defRPr sz="2100" b="0">
                <a:solidFill>
                  <a:srgbClr val="17365D"/>
                </a:solidFill>
                <a:latin typeface="Aptos"/>
                <a:ea typeface="Aptos"/>
                <a:cs typeface="Aptos"/>
              </a:defRPr>
            </a:lvl1pPr>
            <a:lvl2pPr>
              <a:buNone/>
              <a:defRPr sz="2100" b="0">
                <a:solidFill>
                  <a:srgbClr val="17365D"/>
                </a:solidFill>
                <a:latin typeface="Aptos"/>
                <a:ea typeface="Aptos"/>
                <a:cs typeface="Aptos"/>
              </a:defRPr>
            </a:lvl2pPr>
            <a:lvl3pPr>
              <a:buNone/>
              <a:defRPr sz="2100" b="0">
                <a:solidFill>
                  <a:srgbClr val="17365D"/>
                </a:solidFill>
                <a:latin typeface="Aptos"/>
                <a:ea typeface="Aptos"/>
                <a:cs typeface="Aptos"/>
              </a:defRPr>
            </a:lvl3pPr>
            <a:lvl4pPr>
              <a:buNone/>
              <a:defRPr sz="2100" b="0">
                <a:solidFill>
                  <a:srgbClr val="17365D"/>
                </a:solidFill>
                <a:latin typeface="Aptos"/>
                <a:ea typeface="Aptos"/>
                <a:cs typeface="Aptos"/>
              </a:defRPr>
            </a:lvl4pPr>
            <a:lvl5pPr>
              <a:buNone/>
              <a:defRPr sz="2100" b="0">
                <a:solidFill>
                  <a:srgbClr val="17365D"/>
                </a:solidFill>
                <a:latin typeface="Aptos"/>
                <a:ea typeface="Aptos"/>
                <a:cs typeface="Aptos"/>
              </a:defRPr>
            </a:lvl5pPr>
            <a:lvl6pPr>
              <a:buNone/>
              <a:defRPr sz="2100" b="0">
                <a:solidFill>
                  <a:srgbClr val="17365D"/>
                </a:solidFill>
                <a:latin typeface="Aptos"/>
                <a:ea typeface="Aptos"/>
                <a:cs typeface="Aptos"/>
              </a:defRPr>
            </a:lvl6pPr>
            <a:lvl7pPr>
              <a:buNone/>
              <a:defRPr sz="2100" b="0">
                <a:solidFill>
                  <a:srgbClr val="17365D"/>
                </a:solidFill>
                <a:latin typeface="Aptos"/>
                <a:ea typeface="Aptos"/>
                <a:cs typeface="Aptos"/>
              </a:defRPr>
            </a:lvl7pPr>
            <a:lvl8pPr>
              <a:buNone/>
              <a:defRPr sz="2100" b="0">
                <a:solidFill>
                  <a:srgbClr val="17365D"/>
                </a:solidFill>
                <a:latin typeface="Aptos"/>
                <a:ea typeface="Aptos"/>
                <a:cs typeface="Aptos"/>
              </a:defRPr>
            </a:lvl8pPr>
            <a:lvl9pPr>
              <a:buNone/>
              <a:defRPr sz="2100" b="0">
                <a:solidFill>
                  <a:srgbClr val="17365D"/>
                </a:solidFill>
                <a:latin typeface="Aptos"/>
                <a:ea typeface="Aptos"/>
                <a:cs typeface="Aptos"/>
              </a:defRPr>
            </a:lvl9pPr>
          </a:lstStyle>
          <a:p>
            <a:pPr>
              <a:buNone/>
              <a:defRPr sz="2100" b="0">
                <a:solidFill>
                  <a:srgbClr val="17365D"/>
                </a:solidFill>
                <a:latin typeface="Aptos"/>
                <a:ea typeface="Aptos"/>
                <a:cs typeface="Aptos"/>
              </a:defRPr>
            </a:pPr>
            <a:r>
              <a:rPr sz="2100" b="0">
                <a:solidFill>
                  <a:srgbClr val="17365D"/>
                </a:solidFill>
                <a:latin typeface="Aptos"/>
                <a:ea typeface="Aptos"/>
                <a:cs typeface="Aptos"/>
              </a:rPr>
              <a:t>Example: draw U on (0,2). Estimate ∫₀²u²du by twice the average of U².</a:t>
            </a:r>
          </a:p>
        </p:txBody>
      </p:sp>
      <p:sp>
        <p:nvSpPr>
          <p:cNvPr id="10" name="notebook-cue-slide-37">
            <a:extLst>
              <a:ext uri="{FF2B5EF4-FFF2-40B4-BE49-F238E27FC236}">
                <a16:creationId xmlns:a16="http://schemas.microsoft.com/office/drawing/2014/main" id="{CDEE73B3-9C5E-45FF-9D58-5FF1F93AB3A9}"/>
              </a:ext>
            </a:extLst>
          </p:cNvPr>
          <p:cNvSpPr>
            <a:spLocks noGrp="1"/>
          </p:cNvSpPr>
          <p:nvPr/>
        </p:nvSpPr>
        <p:spPr>
          <a:xfrm>
            <a:off x="2952750" y="6429375"/>
            <a:ext cx="7620000" cy="295275"/>
          </a:xfrm>
          <a:prstGeom prst="rect">
            <a:avLst/>
          </a:prstGeom>
          <a:noFill/>
          <a:ln w="0">
            <a:noFill/>
          </a:ln>
        </p:spPr>
        <p:txBody>
          <a:bodyPr wrap="none" lIns="0" tIns="0" rIns="0" bIns="0" anchor="ctr">
            <a:noAutofit/>
          </a:bodyPr>
          <a:lstStyle>
            <a:defPPr algn="ctr">
              <a:defRPr sz="1650" b="1">
                <a:solidFill>
                  <a:srgbClr val="2F6F4E"/>
                </a:solidFill>
                <a:latin typeface="Aptos"/>
                <a:ea typeface="Aptos"/>
                <a:cs typeface="Aptos"/>
              </a:defRPr>
            </a:defPPr>
            <a:lvl1pPr algn="ctr">
              <a:defRPr sz="1650" b="1">
                <a:solidFill>
                  <a:srgbClr val="2F6F4E"/>
                </a:solidFill>
                <a:latin typeface="Aptos"/>
                <a:ea typeface="Aptos"/>
                <a:cs typeface="Aptos"/>
              </a:defRPr>
            </a:lvl1pPr>
            <a:lvl2pPr algn="ctr">
              <a:defRPr sz="1650" b="1">
                <a:solidFill>
                  <a:srgbClr val="2F6F4E"/>
                </a:solidFill>
                <a:latin typeface="Aptos"/>
                <a:ea typeface="Aptos"/>
                <a:cs typeface="Aptos"/>
              </a:defRPr>
            </a:lvl2pPr>
            <a:lvl3pPr algn="ctr">
              <a:defRPr sz="1650" b="1">
                <a:solidFill>
                  <a:srgbClr val="2F6F4E"/>
                </a:solidFill>
                <a:latin typeface="Aptos"/>
                <a:ea typeface="Aptos"/>
                <a:cs typeface="Aptos"/>
              </a:defRPr>
            </a:lvl3pPr>
            <a:lvl4pPr algn="ctr">
              <a:defRPr sz="1650" b="1">
                <a:solidFill>
                  <a:srgbClr val="2F6F4E"/>
                </a:solidFill>
                <a:latin typeface="Aptos"/>
                <a:ea typeface="Aptos"/>
                <a:cs typeface="Aptos"/>
              </a:defRPr>
            </a:lvl4pPr>
            <a:lvl5pPr algn="ctr">
              <a:defRPr sz="1650" b="1">
                <a:solidFill>
                  <a:srgbClr val="2F6F4E"/>
                </a:solidFill>
                <a:latin typeface="Aptos"/>
                <a:ea typeface="Aptos"/>
                <a:cs typeface="Aptos"/>
              </a:defRPr>
            </a:lvl5pPr>
            <a:lvl6pPr algn="ctr">
              <a:defRPr sz="1650" b="1">
                <a:solidFill>
                  <a:srgbClr val="2F6F4E"/>
                </a:solidFill>
                <a:latin typeface="Aptos"/>
                <a:ea typeface="Aptos"/>
                <a:cs typeface="Aptos"/>
              </a:defRPr>
            </a:lvl6pPr>
            <a:lvl7pPr algn="ctr">
              <a:defRPr sz="1650" b="1">
                <a:solidFill>
                  <a:srgbClr val="2F6F4E"/>
                </a:solidFill>
                <a:latin typeface="Aptos"/>
                <a:ea typeface="Aptos"/>
                <a:cs typeface="Aptos"/>
              </a:defRPr>
            </a:lvl7pPr>
            <a:lvl8pPr algn="ctr">
              <a:defRPr sz="1650" b="1">
                <a:solidFill>
                  <a:srgbClr val="2F6F4E"/>
                </a:solidFill>
                <a:latin typeface="Aptos"/>
                <a:ea typeface="Aptos"/>
                <a:cs typeface="Aptos"/>
              </a:defRPr>
            </a:lvl8pPr>
            <a:lvl9pPr algn="ctr">
              <a:defRPr sz="1650" b="1">
                <a:solidFill>
                  <a:srgbClr val="2F6F4E"/>
                </a:solidFill>
                <a:latin typeface="Aptos"/>
                <a:ea typeface="Aptos"/>
                <a:cs typeface="Aptos"/>
              </a:defRPr>
            </a:lvl9pPr>
          </a:lstStyle>
          <a:p>
            <a:pPr algn="ctr">
              <a:defRPr sz="1650" b="1">
                <a:solidFill>
                  <a:srgbClr val="2F6F4E"/>
                </a:solidFill>
                <a:latin typeface="Aptos"/>
                <a:ea typeface="Aptos"/>
                <a:cs typeface="Aptos"/>
              </a:defRPr>
            </a:pPr>
            <a:r>
              <a:rPr sz="1650" b="1">
                <a:solidFill>
                  <a:srgbClr val="2F6F4E"/>
                </a:solidFill>
                <a:latin typeface="Aptos"/>
                <a:ea typeface="Aptos"/>
                <a:cs typeface="Aptos"/>
              </a:rPr>
              <a:t>Notebook: Slide 37</a:t>
            </a:r>
          </a:p>
        </p:txBody>
      </p:sp>
    </p:spTree>
    <p:extLst>
      <p:ext uri="{BB962C8B-B14F-4D97-AF65-F5344CB8AC3E}">
        <p14:creationId xmlns:p14="http://schemas.microsoft.com/office/powerpoint/2010/main" val="13179009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1BDA34EF-3F7A-4049-88AA-670DF36B18B6}"/>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Rare events need many opportunities to occur</a:t>
            </a:r>
          </a:p>
        </p:txBody>
      </p:sp>
      <p:sp>
        <p:nvSpPr>
          <p:cNvPr id="2" name="Straight Connector 1">
            <a:extLst>
              <a:ext uri="{FF2B5EF4-FFF2-40B4-BE49-F238E27FC236}">
                <a16:creationId xmlns:a16="http://schemas.microsoft.com/office/drawing/2014/main" id="{3EB4C970-E34B-49F1-BEE5-0736B62B299D}"/>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9537F9F3-AF22-46FD-8049-D007EF49F331}"/>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22AF5269-F0FE-4A10-927E-21F5344DDC8B}"/>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38</a:t>
            </a:r>
          </a:p>
        </p:txBody>
      </p:sp>
      <p:sp>
        <p:nvSpPr>
          <p:cNvPr id="5" name="text-4">
            <a:extLst>
              <a:ext uri="{FF2B5EF4-FFF2-40B4-BE49-F238E27FC236}">
                <a16:creationId xmlns:a16="http://schemas.microsoft.com/office/drawing/2014/main" id="{46C8CB21-222B-4E4C-88BA-98038A6AF1A0}"/>
              </a:ext>
            </a:extLst>
          </p:cNvPr>
          <p:cNvSpPr>
            <a:spLocks noGrp="1"/>
          </p:cNvSpPr>
          <p:nvPr/>
        </p:nvSpPr>
        <p:spPr>
          <a:xfrm>
            <a:off x="857250" y="1695450"/>
            <a:ext cx="10477500" cy="552450"/>
          </a:xfrm>
          <a:prstGeom prst="rect">
            <a:avLst/>
          </a:prstGeom>
          <a:noFill/>
          <a:ln w="0">
            <a:noFill/>
          </a:ln>
        </p:spPr>
        <p:txBody>
          <a:bodyPr wrap="square" lIns="0" tIns="0" rIns="0" bIns="0" anchor="t">
            <a:noAutofit/>
          </a:bodyPr>
          <a:lstStyle>
            <a:lvl1pPr>
              <a:buNone/>
              <a:defRPr sz="2550" b="0">
                <a:solidFill>
                  <a:srgbClr val="17365D"/>
                </a:solidFill>
                <a:latin typeface="Aptos"/>
                <a:ea typeface="Aptos"/>
                <a:cs typeface="Aptos"/>
              </a:defRPr>
            </a:lvl1pPr>
            <a:lvl2pPr>
              <a:buNone/>
              <a:defRPr sz="2550" b="0">
                <a:solidFill>
                  <a:srgbClr val="17365D"/>
                </a:solidFill>
                <a:latin typeface="Aptos"/>
                <a:ea typeface="Aptos"/>
                <a:cs typeface="Aptos"/>
              </a:defRPr>
            </a:lvl2pPr>
            <a:lvl3pPr>
              <a:buNone/>
              <a:defRPr sz="2550" b="0">
                <a:solidFill>
                  <a:srgbClr val="17365D"/>
                </a:solidFill>
                <a:latin typeface="Aptos"/>
                <a:ea typeface="Aptos"/>
                <a:cs typeface="Aptos"/>
              </a:defRPr>
            </a:lvl3pPr>
            <a:lvl4pPr>
              <a:buNone/>
              <a:defRPr sz="2550" b="0">
                <a:solidFill>
                  <a:srgbClr val="17365D"/>
                </a:solidFill>
                <a:latin typeface="Aptos"/>
                <a:ea typeface="Aptos"/>
                <a:cs typeface="Aptos"/>
              </a:defRPr>
            </a:lvl4pPr>
            <a:lvl5pPr>
              <a:buNone/>
              <a:defRPr sz="2550" b="0">
                <a:solidFill>
                  <a:srgbClr val="17365D"/>
                </a:solidFill>
                <a:latin typeface="Aptos"/>
                <a:ea typeface="Aptos"/>
                <a:cs typeface="Aptos"/>
              </a:defRPr>
            </a:lvl5pPr>
            <a:lvl6pPr>
              <a:buNone/>
              <a:defRPr sz="2550" b="0">
                <a:solidFill>
                  <a:srgbClr val="17365D"/>
                </a:solidFill>
                <a:latin typeface="Aptos"/>
                <a:ea typeface="Aptos"/>
                <a:cs typeface="Aptos"/>
              </a:defRPr>
            </a:lvl6pPr>
            <a:lvl7pPr>
              <a:buNone/>
              <a:defRPr sz="2550" b="0">
                <a:solidFill>
                  <a:srgbClr val="17365D"/>
                </a:solidFill>
                <a:latin typeface="Aptos"/>
                <a:ea typeface="Aptos"/>
                <a:cs typeface="Aptos"/>
              </a:defRPr>
            </a:lvl7pPr>
            <a:lvl8pPr>
              <a:buNone/>
              <a:defRPr sz="2550" b="0">
                <a:solidFill>
                  <a:srgbClr val="17365D"/>
                </a:solidFill>
                <a:latin typeface="Aptos"/>
                <a:ea typeface="Aptos"/>
                <a:cs typeface="Aptos"/>
              </a:defRPr>
            </a:lvl8pPr>
            <a:lvl9pPr>
              <a:buNone/>
              <a:defRPr sz="2550" b="0">
                <a:solidFill>
                  <a:srgbClr val="17365D"/>
                </a:solidFill>
                <a:latin typeface="Aptos"/>
                <a:ea typeface="Aptos"/>
                <a:cs typeface="Aptos"/>
              </a:defRPr>
            </a:lvl9pPr>
          </a:lstStyle>
          <a:p>
            <a:pPr>
              <a:buNone/>
              <a:defRPr sz="2550" b="0">
                <a:solidFill>
                  <a:srgbClr val="17365D"/>
                </a:solidFill>
                <a:latin typeface="Aptos"/>
                <a:ea typeface="Aptos"/>
                <a:cs typeface="Aptos"/>
              </a:defRPr>
            </a:pPr>
            <a:r>
              <a:rPr sz="2550" b="0">
                <a:solidFill>
                  <a:srgbClr val="17365D"/>
                </a:solidFill>
                <a:latin typeface="Aptos"/>
                <a:ea typeface="Aptos"/>
                <a:cs typeface="Aptos"/>
              </a:rPr>
              <a:t>An event has probability p = 0.001.</a:t>
            </a:r>
          </a:p>
        </p:txBody>
      </p:sp>
      <p:sp>
        <p:nvSpPr>
          <p:cNvPr id="6" name="text-5">
            <a:extLst>
              <a:ext uri="{FF2B5EF4-FFF2-40B4-BE49-F238E27FC236}">
                <a16:creationId xmlns:a16="http://schemas.microsoft.com/office/drawing/2014/main" id="{19F453A0-706D-4C89-9D1E-E21770943496}"/>
              </a:ext>
            </a:extLst>
          </p:cNvPr>
          <p:cNvSpPr>
            <a:spLocks noGrp="1"/>
          </p:cNvSpPr>
          <p:nvPr/>
        </p:nvSpPr>
        <p:spPr>
          <a:xfrm>
            <a:off x="857250" y="2457450"/>
            <a:ext cx="10477500" cy="762000"/>
          </a:xfrm>
          <a:prstGeom prst="rect">
            <a:avLst/>
          </a:prstGeom>
          <a:noFill/>
          <a:ln w="0">
            <a:noFill/>
          </a:ln>
        </p:spPr>
        <p:txBody>
          <a:bodyPr wrap="square" lIns="0" tIns="0" rIns="0" bIns="0" anchor="t">
            <a:noAutofit/>
          </a:bodyPr>
          <a:lstStyle>
            <a:lvl1pPr>
              <a:buNone/>
              <a:defRPr sz="2400" b="0">
                <a:solidFill>
                  <a:srgbClr val="17365D"/>
                </a:solidFill>
                <a:latin typeface="Aptos"/>
                <a:ea typeface="Aptos"/>
                <a:cs typeface="Aptos"/>
              </a:defRPr>
            </a:lvl1pPr>
            <a:lvl2pPr>
              <a:buNone/>
              <a:defRPr sz="2400" b="0">
                <a:solidFill>
                  <a:srgbClr val="17365D"/>
                </a:solidFill>
                <a:latin typeface="Aptos"/>
                <a:ea typeface="Aptos"/>
                <a:cs typeface="Aptos"/>
              </a:defRPr>
            </a:lvl2pPr>
            <a:lvl3pPr>
              <a:buNone/>
              <a:defRPr sz="2400" b="0">
                <a:solidFill>
                  <a:srgbClr val="17365D"/>
                </a:solidFill>
                <a:latin typeface="Aptos"/>
                <a:ea typeface="Aptos"/>
                <a:cs typeface="Aptos"/>
              </a:defRPr>
            </a:lvl3pPr>
            <a:lvl4pPr>
              <a:buNone/>
              <a:defRPr sz="2400" b="0">
                <a:solidFill>
                  <a:srgbClr val="17365D"/>
                </a:solidFill>
                <a:latin typeface="Aptos"/>
                <a:ea typeface="Aptos"/>
                <a:cs typeface="Aptos"/>
              </a:defRPr>
            </a:lvl4pPr>
            <a:lvl5pPr>
              <a:buNone/>
              <a:defRPr sz="2400" b="0">
                <a:solidFill>
                  <a:srgbClr val="17365D"/>
                </a:solidFill>
                <a:latin typeface="Aptos"/>
                <a:ea typeface="Aptos"/>
                <a:cs typeface="Aptos"/>
              </a:defRPr>
            </a:lvl5pPr>
            <a:lvl6pPr>
              <a:buNone/>
              <a:defRPr sz="2400" b="0">
                <a:solidFill>
                  <a:srgbClr val="17365D"/>
                </a:solidFill>
                <a:latin typeface="Aptos"/>
                <a:ea typeface="Aptos"/>
                <a:cs typeface="Aptos"/>
              </a:defRPr>
            </a:lvl6pPr>
            <a:lvl7pPr>
              <a:buNone/>
              <a:defRPr sz="2400" b="0">
                <a:solidFill>
                  <a:srgbClr val="17365D"/>
                </a:solidFill>
                <a:latin typeface="Aptos"/>
                <a:ea typeface="Aptos"/>
                <a:cs typeface="Aptos"/>
              </a:defRPr>
            </a:lvl7pPr>
            <a:lvl8pPr>
              <a:buNone/>
              <a:defRPr sz="2400" b="0">
                <a:solidFill>
                  <a:srgbClr val="17365D"/>
                </a:solidFill>
                <a:latin typeface="Aptos"/>
                <a:ea typeface="Aptos"/>
                <a:cs typeface="Aptos"/>
              </a:defRPr>
            </a:lvl8pPr>
            <a:lvl9pPr>
              <a:buNone/>
              <a:defRPr sz="2400" b="0">
                <a:solidFill>
                  <a:srgbClr val="17365D"/>
                </a:solidFill>
                <a:latin typeface="Aptos"/>
                <a:ea typeface="Aptos"/>
                <a:cs typeface="Aptos"/>
              </a:defRPr>
            </a:lvl9pPr>
          </a:lstStyle>
          <a:p>
            <a:pPr>
              <a:buNone/>
              <a:defRPr sz="2400" b="0">
                <a:solidFill>
                  <a:srgbClr val="17365D"/>
                </a:solidFill>
                <a:latin typeface="Aptos"/>
                <a:ea typeface="Aptos"/>
                <a:cs typeface="Aptos"/>
              </a:defRPr>
            </a:pPr>
            <a:r>
              <a:rPr sz="2400" b="0">
                <a:solidFill>
                  <a:srgbClr val="17365D"/>
                </a:solidFill>
                <a:latin typeface="Aptos"/>
                <a:ea typeface="Aptos"/>
                <a:cs typeface="Aptos"/>
              </a:rPr>
              <a:t>In 1,000 trials, the expected number of hits is only one.</a:t>
            </a:r>
          </a:p>
        </p:txBody>
      </p:sp>
      <mc:AlternateContent xmlns:mc="http://schemas.openxmlformats.org/markup-compatibility/2006">
        <mc:Choice xmlns:a14="http://schemas.microsoft.com/office/drawing/2010/main" Requires="a14">
          <p:sp>
            <p:nvSpPr>
              <p:cNvPr id="7" name="EQ_037">
                <a:extLst>
                  <a:ext uri="{FF2B5EF4-FFF2-40B4-BE49-F238E27FC236}">
                    <a16:creationId xmlns:a16="http://schemas.microsoft.com/office/drawing/2014/main" id="{B06BA207-DAB1-4E7A-8765-589302BBBAF2}"/>
                  </a:ext>
                </a:extLst>
              </p:cNvPr>
              <p:cNvSpPr>
                <a:spLocks noGrp="1"/>
              </p:cNvSpPr>
              <p:nvPr/>
            </p:nvSpPr>
            <p:spPr>
              <a:xfrm>
                <a:off x="857250" y="3714750"/>
                <a:ext cx="10477500" cy="1143000"/>
              </a:xfrm>
              <a:prstGeom prst="rect">
                <a:avLst/>
              </a:prstGeom>
              <a:noFill/>
              <a:ln w="0">
                <a:noFill/>
              </a:ln>
            </p:spPr>
            <p:txBody>
              <a:bodyPr wrap="none" lIns="0" tIns="0" rIns="0" bIns="0" anchor="ctr">
                <a:noAutofit/>
              </a:bodyPr>
              <a:lstStyle>
                <a:lvl1pPr algn="l">
                  <a:buNone/>
                  <a:defRPr sz="2900">
                    <a:solidFill>
                      <a:srgbClr val="17365D"/>
                    </a:solidFill>
                    <a:latin typeface="Cambria Math"/>
                    <a:ea typeface="Cambria Math"/>
                    <a:cs typeface="Cambria Math"/>
                  </a:defRPr>
                </a:lvl1pPr>
                <a:lvl2pPr algn="l">
                  <a:buNone/>
                  <a:defRPr sz="2900">
                    <a:solidFill>
                      <a:srgbClr val="17365D"/>
                    </a:solidFill>
                    <a:latin typeface="Cambria Math"/>
                    <a:ea typeface="Cambria Math"/>
                    <a:cs typeface="Cambria Math"/>
                  </a:defRPr>
                </a:lvl2pPr>
                <a:lvl3pPr algn="l">
                  <a:buNone/>
                  <a:defRPr sz="2900">
                    <a:solidFill>
                      <a:srgbClr val="17365D"/>
                    </a:solidFill>
                    <a:latin typeface="Cambria Math"/>
                    <a:ea typeface="Cambria Math"/>
                    <a:cs typeface="Cambria Math"/>
                  </a:defRPr>
                </a:lvl3pPr>
                <a:lvl4pPr algn="l">
                  <a:buNone/>
                  <a:defRPr sz="2900">
                    <a:solidFill>
                      <a:srgbClr val="17365D"/>
                    </a:solidFill>
                    <a:latin typeface="Cambria Math"/>
                    <a:ea typeface="Cambria Math"/>
                    <a:cs typeface="Cambria Math"/>
                  </a:defRPr>
                </a:lvl4pPr>
                <a:lvl5pPr algn="l">
                  <a:buNone/>
                  <a:defRPr sz="2900">
                    <a:solidFill>
                      <a:srgbClr val="17365D"/>
                    </a:solidFill>
                    <a:latin typeface="Cambria Math"/>
                    <a:ea typeface="Cambria Math"/>
                    <a:cs typeface="Cambria Math"/>
                  </a:defRPr>
                </a:lvl5pPr>
                <a:lvl6pPr algn="l">
                  <a:buNone/>
                  <a:defRPr sz="2900">
                    <a:solidFill>
                      <a:srgbClr val="17365D"/>
                    </a:solidFill>
                    <a:latin typeface="Cambria Math"/>
                    <a:ea typeface="Cambria Math"/>
                    <a:cs typeface="Cambria Math"/>
                  </a:defRPr>
                </a:lvl6pPr>
                <a:lvl7pPr algn="l">
                  <a:buNone/>
                  <a:defRPr sz="2900">
                    <a:solidFill>
                      <a:srgbClr val="17365D"/>
                    </a:solidFill>
                    <a:latin typeface="Cambria Math"/>
                    <a:ea typeface="Cambria Math"/>
                    <a:cs typeface="Cambria Math"/>
                  </a:defRPr>
                </a:lvl7pPr>
                <a:lvl8pPr algn="l">
                  <a:buNone/>
                  <a:defRPr sz="2900">
                    <a:solidFill>
                      <a:srgbClr val="17365D"/>
                    </a:solidFill>
                    <a:latin typeface="Cambria Math"/>
                    <a:ea typeface="Cambria Math"/>
                    <a:cs typeface="Cambria Math"/>
                  </a:defRPr>
                </a:lvl8pPr>
                <a:lvl9pPr algn="l">
                  <a:buNone/>
                  <a:defRPr sz="2900">
                    <a:solidFill>
                      <a:srgbClr val="17365D"/>
                    </a:solidFill>
                    <a:latin typeface="Cambria Math"/>
                    <a:ea typeface="Cambria Math"/>
                    <a:cs typeface="Cambria Math"/>
                  </a:defRPr>
                </a:lvl9pPr>
              </a:lstStyle>
              <a:p>
                <a:pPr>
                  <a:buNone/>
                  <a:defRPr sz="2900">
                    <a:solidFill>
                      <a:srgbClr val="17365D"/>
                    </a:solidFill>
                  </a:defRPr>
                </a:pPr>
                <a14:m>
                  <m:oMathPara xmlns:m="http://schemas.openxmlformats.org/officeDocument/2006/math">
                    <m:oMath>
                      <m:r>
                        <a:rPr>
                          <a:latin typeface="Cambria Math" panose="02040503050406030204" pitchFamily="18" charset="0"/>
                        </a:rPr>
                        <m:t>𝑃</m:t>
                      </m:r>
                      <m:d>
                        <m:dPr>
                          <m:ctrlPr>
                            <a:rPr>
                              <a:latin typeface="Cambria Math" panose="02040503050406030204" pitchFamily="18" charset="0"/>
                            </a:rPr>
                          </m:ctrlPr>
                        </m:dPr>
                        <m:e>
                          <m:r>
                            <a:rPr>
                              <a:latin typeface="Cambria Math" panose="02040503050406030204" pitchFamily="18" charset="0"/>
                            </a:rPr>
                            <m:t>𝐾</m:t>
                          </m:r>
                          <m:r>
                            <a:rPr>
                              <a:latin typeface="Cambria Math" panose="02040503050406030204" pitchFamily="18" charset="0"/>
                            </a:rPr>
                            <m:t>=0</m:t>
                          </m:r>
                        </m:e>
                      </m:d>
                      <m:r>
                        <a:rPr>
                          <a:latin typeface="Cambria Math" panose="02040503050406030204" pitchFamily="18" charset="0"/>
                        </a:rPr>
                        <m:t>=</m:t>
                      </m:r>
                      <m:sSup>
                        <m:sSupPr>
                          <m:ctrlPr>
                            <a:rPr i="1">
                              <a:latin typeface="Cambria Math" panose="02040503050406030204" pitchFamily="18" charset="0"/>
                            </a:rPr>
                          </m:ctrlPr>
                        </m:sSupPr>
                        <m:e>
                          <m:d>
                            <m:dPr>
                              <m:ctrlPr>
                                <a:rPr>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𝑝</m:t>
                              </m:r>
                            </m:e>
                          </m:d>
                        </m:e>
                        <m:sup>
                          <m:r>
                            <a:rPr>
                              <a:latin typeface="Cambria Math" panose="02040503050406030204" pitchFamily="18" charset="0"/>
                            </a:rPr>
                            <m:t>𝑁</m:t>
                          </m:r>
                        </m:sup>
                      </m:s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0.999</m:t>
                          </m:r>
                        </m:e>
                        <m:sup>
                          <m:r>
                            <a:rPr>
                              <a:latin typeface="Cambria Math" panose="02040503050406030204" pitchFamily="18" charset="0"/>
                            </a:rPr>
                            <m:t>1000</m:t>
                          </m:r>
                        </m:sup>
                      </m:sSup>
                      <m:r>
                        <a:rPr>
                          <a:latin typeface="Cambria Math" panose="02040503050406030204" pitchFamily="18" charset="0"/>
                        </a:rPr>
                        <m:t>≈0.368</m:t>
                      </m:r>
                    </m:oMath>
                  </m:oMathPara>
                </a14:m>
                <a:endParaRPr/>
              </a:p>
            </p:txBody>
          </p:sp>
        </mc:Choice>
        <mc:Fallback>
          <p:sp>
            <p:nvSpPr>
              <p:cNvPr id="7" name="EQ_037">
                <a:extLst>
                  <a:ext uri="{FF2B5EF4-FFF2-40B4-BE49-F238E27FC236}">
                    <a16:creationId xmlns:a16="http://schemas.microsoft.com/office/drawing/2014/main" id="{B06BA207-DAB1-4E7A-8765-589302BBBAF2}"/>
                  </a:ext>
                </a:extLst>
              </p:cNvPr>
              <p:cNvSpPr>
                <a:spLocks noGrp="1" noRot="1" noChangeAspect="1" noMove="1" noResize="1" noEditPoints="1" noAdjustHandles="1" noChangeArrowheads="1" noChangeShapeType="1" noTextEdit="1"/>
              </p:cNvSpPr>
              <p:nvPr/>
            </p:nvSpPr>
            <p:spPr>
              <a:xfrm>
                <a:off x="857250" y="3714750"/>
                <a:ext cx="10477500" cy="1143000"/>
              </a:xfrm>
              <a:prstGeom prst="rect">
                <a:avLst/>
              </a:prstGeom>
              <a:blipFill>
                <a:blip r:embed="rId3"/>
                <a:stretch>
                  <a:fillRect/>
                </a:stretch>
              </a:blipFill>
              <a:ln w="0">
                <a:noFill/>
              </a:ln>
            </p:spPr>
            <p:txBody>
              <a:bodyPr/>
              <a:lstStyle/>
              <a:p>
                <a:r>
                  <a:rPr lang="en-GB">
                    <a:noFill/>
                  </a:rPr>
                  <a:t> </a:t>
                </a:r>
              </a:p>
            </p:txBody>
          </p:sp>
        </mc:Fallback>
      </mc:AlternateContent>
      <p:sp>
        <p:nvSpPr>
          <p:cNvPr id="8" name="text-7">
            <a:extLst>
              <a:ext uri="{FF2B5EF4-FFF2-40B4-BE49-F238E27FC236}">
                <a16:creationId xmlns:a16="http://schemas.microsoft.com/office/drawing/2014/main" id="{8F802D3A-3EBC-4A30-AB84-16E6CC924A9E}"/>
              </a:ext>
            </a:extLst>
          </p:cNvPr>
          <p:cNvSpPr>
            <a:spLocks noGrp="1"/>
          </p:cNvSpPr>
          <p:nvPr/>
        </p:nvSpPr>
        <p:spPr>
          <a:xfrm>
            <a:off x="857250" y="5295900"/>
            <a:ext cx="10477500" cy="857250"/>
          </a:xfrm>
          <a:prstGeom prst="rect">
            <a:avLst/>
          </a:prstGeom>
          <a:noFill/>
          <a:ln w="0">
            <a:noFill/>
          </a:ln>
        </p:spPr>
        <p:txBody>
          <a:bodyPr wrap="square" lIns="0" tIns="0" rIns="0" bIns="0" anchor="t">
            <a:noAutofit/>
          </a:bodyPr>
          <a:lstStyle>
            <a:lvl1pPr>
              <a:buNone/>
              <a:defRPr sz="2325" b="1">
                <a:solidFill>
                  <a:srgbClr val="C96B16"/>
                </a:solidFill>
                <a:latin typeface="Aptos"/>
                <a:ea typeface="Aptos"/>
                <a:cs typeface="Aptos"/>
              </a:defRPr>
            </a:lvl1pPr>
            <a:lvl2pPr>
              <a:buNone/>
              <a:defRPr sz="2325" b="1">
                <a:solidFill>
                  <a:srgbClr val="C96B16"/>
                </a:solidFill>
                <a:latin typeface="Aptos"/>
                <a:ea typeface="Aptos"/>
                <a:cs typeface="Aptos"/>
              </a:defRPr>
            </a:lvl2pPr>
            <a:lvl3pPr>
              <a:buNone/>
              <a:defRPr sz="2325" b="1">
                <a:solidFill>
                  <a:srgbClr val="C96B16"/>
                </a:solidFill>
                <a:latin typeface="Aptos"/>
                <a:ea typeface="Aptos"/>
                <a:cs typeface="Aptos"/>
              </a:defRPr>
            </a:lvl3pPr>
            <a:lvl4pPr>
              <a:buNone/>
              <a:defRPr sz="2325" b="1">
                <a:solidFill>
                  <a:srgbClr val="C96B16"/>
                </a:solidFill>
                <a:latin typeface="Aptos"/>
                <a:ea typeface="Aptos"/>
                <a:cs typeface="Aptos"/>
              </a:defRPr>
            </a:lvl4pPr>
            <a:lvl5pPr>
              <a:buNone/>
              <a:defRPr sz="2325" b="1">
                <a:solidFill>
                  <a:srgbClr val="C96B16"/>
                </a:solidFill>
                <a:latin typeface="Aptos"/>
                <a:ea typeface="Aptos"/>
                <a:cs typeface="Aptos"/>
              </a:defRPr>
            </a:lvl5pPr>
            <a:lvl6pPr>
              <a:buNone/>
              <a:defRPr sz="2325" b="1">
                <a:solidFill>
                  <a:srgbClr val="C96B16"/>
                </a:solidFill>
                <a:latin typeface="Aptos"/>
                <a:ea typeface="Aptos"/>
                <a:cs typeface="Aptos"/>
              </a:defRPr>
            </a:lvl6pPr>
            <a:lvl7pPr>
              <a:buNone/>
              <a:defRPr sz="2325" b="1">
                <a:solidFill>
                  <a:srgbClr val="C96B16"/>
                </a:solidFill>
                <a:latin typeface="Aptos"/>
                <a:ea typeface="Aptos"/>
                <a:cs typeface="Aptos"/>
              </a:defRPr>
            </a:lvl7pPr>
            <a:lvl8pPr>
              <a:buNone/>
              <a:defRPr sz="2325" b="1">
                <a:solidFill>
                  <a:srgbClr val="C96B16"/>
                </a:solidFill>
                <a:latin typeface="Aptos"/>
                <a:ea typeface="Aptos"/>
                <a:cs typeface="Aptos"/>
              </a:defRPr>
            </a:lvl8pPr>
            <a:lvl9pPr>
              <a:buNone/>
              <a:defRPr sz="2325" b="1">
                <a:solidFill>
                  <a:srgbClr val="C96B16"/>
                </a:solidFill>
                <a:latin typeface="Aptos"/>
                <a:ea typeface="Aptos"/>
                <a:cs typeface="Aptos"/>
              </a:defRPr>
            </a:lvl9pPr>
          </a:lstStyle>
          <a:p>
            <a:pPr>
              <a:buNone/>
              <a:defRPr sz="2325" b="1">
                <a:solidFill>
                  <a:srgbClr val="C96B16"/>
                </a:solidFill>
                <a:latin typeface="Aptos"/>
                <a:ea typeface="Aptos"/>
                <a:cs typeface="Aptos"/>
              </a:defRPr>
            </a:pPr>
            <a:r>
              <a:rPr sz="2325" b="1">
                <a:solidFill>
                  <a:srgbClr val="C96B16"/>
                </a:solidFill>
                <a:latin typeface="Aptos"/>
                <a:ea typeface="Aptos"/>
                <a:cs typeface="Aptos"/>
              </a:rPr>
              <a:t>Zero observed events can occur even when the event has a positive probability.</a:t>
            </a:r>
          </a:p>
        </p:txBody>
      </p:sp>
      <p:sp>
        <p:nvSpPr>
          <p:cNvPr id="10" name="notebook-cue-slide-38">
            <a:extLst>
              <a:ext uri="{FF2B5EF4-FFF2-40B4-BE49-F238E27FC236}">
                <a16:creationId xmlns:a16="http://schemas.microsoft.com/office/drawing/2014/main" id="{74944E73-AF14-465C-9200-77D2175D9B40}"/>
              </a:ext>
            </a:extLst>
          </p:cNvPr>
          <p:cNvSpPr>
            <a:spLocks noGrp="1"/>
          </p:cNvSpPr>
          <p:nvPr/>
        </p:nvSpPr>
        <p:spPr>
          <a:xfrm>
            <a:off x="2952750" y="6429375"/>
            <a:ext cx="7620000" cy="295275"/>
          </a:xfrm>
          <a:prstGeom prst="rect">
            <a:avLst/>
          </a:prstGeom>
          <a:noFill/>
          <a:ln w="0">
            <a:noFill/>
          </a:ln>
        </p:spPr>
        <p:txBody>
          <a:bodyPr wrap="none" lIns="0" tIns="0" rIns="0" bIns="0" anchor="ctr">
            <a:noAutofit/>
          </a:bodyPr>
          <a:lstStyle>
            <a:defPPr algn="ctr">
              <a:defRPr sz="1650" b="1">
                <a:solidFill>
                  <a:srgbClr val="2F6F4E"/>
                </a:solidFill>
                <a:latin typeface="Aptos"/>
                <a:ea typeface="Aptos"/>
                <a:cs typeface="Aptos"/>
              </a:defRPr>
            </a:defPPr>
            <a:lvl1pPr algn="ctr">
              <a:defRPr sz="1650" b="1">
                <a:solidFill>
                  <a:srgbClr val="2F6F4E"/>
                </a:solidFill>
                <a:latin typeface="Aptos"/>
                <a:ea typeface="Aptos"/>
                <a:cs typeface="Aptos"/>
              </a:defRPr>
            </a:lvl1pPr>
            <a:lvl2pPr algn="ctr">
              <a:defRPr sz="1650" b="1">
                <a:solidFill>
                  <a:srgbClr val="2F6F4E"/>
                </a:solidFill>
                <a:latin typeface="Aptos"/>
                <a:ea typeface="Aptos"/>
                <a:cs typeface="Aptos"/>
              </a:defRPr>
            </a:lvl2pPr>
            <a:lvl3pPr algn="ctr">
              <a:defRPr sz="1650" b="1">
                <a:solidFill>
                  <a:srgbClr val="2F6F4E"/>
                </a:solidFill>
                <a:latin typeface="Aptos"/>
                <a:ea typeface="Aptos"/>
                <a:cs typeface="Aptos"/>
              </a:defRPr>
            </a:lvl3pPr>
            <a:lvl4pPr algn="ctr">
              <a:defRPr sz="1650" b="1">
                <a:solidFill>
                  <a:srgbClr val="2F6F4E"/>
                </a:solidFill>
                <a:latin typeface="Aptos"/>
                <a:ea typeface="Aptos"/>
                <a:cs typeface="Aptos"/>
              </a:defRPr>
            </a:lvl4pPr>
            <a:lvl5pPr algn="ctr">
              <a:defRPr sz="1650" b="1">
                <a:solidFill>
                  <a:srgbClr val="2F6F4E"/>
                </a:solidFill>
                <a:latin typeface="Aptos"/>
                <a:ea typeface="Aptos"/>
                <a:cs typeface="Aptos"/>
              </a:defRPr>
            </a:lvl5pPr>
            <a:lvl6pPr algn="ctr">
              <a:defRPr sz="1650" b="1">
                <a:solidFill>
                  <a:srgbClr val="2F6F4E"/>
                </a:solidFill>
                <a:latin typeface="Aptos"/>
                <a:ea typeface="Aptos"/>
                <a:cs typeface="Aptos"/>
              </a:defRPr>
            </a:lvl6pPr>
            <a:lvl7pPr algn="ctr">
              <a:defRPr sz="1650" b="1">
                <a:solidFill>
                  <a:srgbClr val="2F6F4E"/>
                </a:solidFill>
                <a:latin typeface="Aptos"/>
                <a:ea typeface="Aptos"/>
                <a:cs typeface="Aptos"/>
              </a:defRPr>
            </a:lvl7pPr>
            <a:lvl8pPr algn="ctr">
              <a:defRPr sz="1650" b="1">
                <a:solidFill>
                  <a:srgbClr val="2F6F4E"/>
                </a:solidFill>
                <a:latin typeface="Aptos"/>
                <a:ea typeface="Aptos"/>
                <a:cs typeface="Aptos"/>
              </a:defRPr>
            </a:lvl8pPr>
            <a:lvl9pPr algn="ctr">
              <a:defRPr sz="1650" b="1">
                <a:solidFill>
                  <a:srgbClr val="2F6F4E"/>
                </a:solidFill>
                <a:latin typeface="Aptos"/>
                <a:ea typeface="Aptos"/>
                <a:cs typeface="Aptos"/>
              </a:defRPr>
            </a:lvl9pPr>
          </a:lstStyle>
          <a:p>
            <a:pPr algn="ctr">
              <a:defRPr sz="1650" b="1">
                <a:solidFill>
                  <a:srgbClr val="2F6F4E"/>
                </a:solidFill>
                <a:latin typeface="Aptos"/>
                <a:ea typeface="Aptos"/>
                <a:cs typeface="Aptos"/>
              </a:defRPr>
            </a:pPr>
            <a:r>
              <a:rPr sz="1650" b="1">
                <a:solidFill>
                  <a:srgbClr val="2F6F4E"/>
                </a:solidFill>
                <a:latin typeface="Aptos"/>
                <a:ea typeface="Aptos"/>
                <a:cs typeface="Aptos"/>
              </a:rPr>
              <a:t>Notebook: Slide 38 (optional)</a:t>
            </a:r>
          </a:p>
        </p:txBody>
      </p:sp>
    </p:spTree>
    <p:extLst>
      <p:ext uri="{BB962C8B-B14F-4D97-AF65-F5344CB8AC3E}">
        <p14:creationId xmlns:p14="http://schemas.microsoft.com/office/powerpoint/2010/main" val="4919487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7D3FE5CA-228E-41E2-AFC4-8251C964EC9E}"/>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The formulas in one place</a:t>
            </a:r>
          </a:p>
        </p:txBody>
      </p:sp>
      <p:sp>
        <p:nvSpPr>
          <p:cNvPr id="2" name="Straight Connector 1">
            <a:extLst>
              <a:ext uri="{FF2B5EF4-FFF2-40B4-BE49-F238E27FC236}">
                <a16:creationId xmlns:a16="http://schemas.microsoft.com/office/drawing/2014/main" id="{55D0F25B-34F1-4180-9822-9A745E9EFF53}"/>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72E20CCD-2926-450F-A15C-B3AFBE8C4409}"/>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1E95299D-FCEE-4487-AFAF-7CF5B26717CE}"/>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40</a:t>
            </a:r>
          </a:p>
        </p:txBody>
      </p:sp>
      <mc:AlternateContent xmlns:mc="http://schemas.openxmlformats.org/markup-compatibility/2006">
        <mc:Choice xmlns:a14="http://schemas.microsoft.com/office/drawing/2010/main" Requires="a14">
          <p:sp>
            <p:nvSpPr>
              <p:cNvPr id="5" name="EQ_038">
                <a:extLst>
                  <a:ext uri="{FF2B5EF4-FFF2-40B4-BE49-F238E27FC236}">
                    <a16:creationId xmlns:a16="http://schemas.microsoft.com/office/drawing/2014/main" id="{F64331DB-23FE-4671-86A2-C504F9EF669D}"/>
                  </a:ext>
                </a:extLst>
              </p:cNvPr>
              <p:cNvSpPr>
                <a:spLocks noGrp="1"/>
              </p:cNvSpPr>
              <p:nvPr/>
            </p:nvSpPr>
            <p:spPr>
              <a:xfrm>
                <a:off x="857250" y="1638300"/>
                <a:ext cx="10477500" cy="1143000"/>
              </a:xfrm>
              <a:prstGeom prst="rect">
                <a:avLst/>
              </a:prstGeom>
              <a:noFill/>
              <a:ln w="0">
                <a:noFill/>
              </a:ln>
            </p:spPr>
            <p:txBody>
              <a:bodyPr wrap="none" lIns="0" tIns="0" rIns="0" bIns="0" anchor="ctr">
                <a:noAutofit/>
              </a:bodyPr>
              <a:lstStyle>
                <a:lvl1pPr algn="l">
                  <a:buNone/>
                  <a:defRPr sz="3100">
                    <a:solidFill>
                      <a:srgbClr val="17365D"/>
                    </a:solidFill>
                    <a:latin typeface="Cambria Math"/>
                    <a:ea typeface="Cambria Math"/>
                    <a:cs typeface="Cambria Math"/>
                  </a:defRPr>
                </a:lvl1pPr>
                <a:lvl2pPr algn="l">
                  <a:buNone/>
                  <a:defRPr sz="3100">
                    <a:solidFill>
                      <a:srgbClr val="17365D"/>
                    </a:solidFill>
                    <a:latin typeface="Cambria Math"/>
                    <a:ea typeface="Cambria Math"/>
                    <a:cs typeface="Cambria Math"/>
                  </a:defRPr>
                </a:lvl2pPr>
                <a:lvl3pPr algn="l">
                  <a:buNone/>
                  <a:defRPr sz="3100">
                    <a:solidFill>
                      <a:srgbClr val="17365D"/>
                    </a:solidFill>
                    <a:latin typeface="Cambria Math"/>
                    <a:ea typeface="Cambria Math"/>
                    <a:cs typeface="Cambria Math"/>
                  </a:defRPr>
                </a:lvl3pPr>
                <a:lvl4pPr algn="l">
                  <a:buNone/>
                  <a:defRPr sz="3100">
                    <a:solidFill>
                      <a:srgbClr val="17365D"/>
                    </a:solidFill>
                    <a:latin typeface="Cambria Math"/>
                    <a:ea typeface="Cambria Math"/>
                    <a:cs typeface="Cambria Math"/>
                  </a:defRPr>
                </a:lvl4pPr>
                <a:lvl5pPr algn="l">
                  <a:buNone/>
                  <a:defRPr sz="3100">
                    <a:solidFill>
                      <a:srgbClr val="17365D"/>
                    </a:solidFill>
                    <a:latin typeface="Cambria Math"/>
                    <a:ea typeface="Cambria Math"/>
                    <a:cs typeface="Cambria Math"/>
                  </a:defRPr>
                </a:lvl5pPr>
                <a:lvl6pPr algn="l">
                  <a:buNone/>
                  <a:defRPr sz="3100">
                    <a:solidFill>
                      <a:srgbClr val="17365D"/>
                    </a:solidFill>
                    <a:latin typeface="Cambria Math"/>
                    <a:ea typeface="Cambria Math"/>
                    <a:cs typeface="Cambria Math"/>
                  </a:defRPr>
                </a:lvl6pPr>
                <a:lvl7pPr algn="l">
                  <a:buNone/>
                  <a:defRPr sz="3100">
                    <a:solidFill>
                      <a:srgbClr val="17365D"/>
                    </a:solidFill>
                    <a:latin typeface="Cambria Math"/>
                    <a:ea typeface="Cambria Math"/>
                    <a:cs typeface="Cambria Math"/>
                  </a:defRPr>
                </a:lvl7pPr>
                <a:lvl8pPr algn="l">
                  <a:buNone/>
                  <a:defRPr sz="3100">
                    <a:solidFill>
                      <a:srgbClr val="17365D"/>
                    </a:solidFill>
                    <a:latin typeface="Cambria Math"/>
                    <a:ea typeface="Cambria Math"/>
                    <a:cs typeface="Cambria Math"/>
                  </a:defRPr>
                </a:lvl8pPr>
                <a:lvl9pPr algn="l">
                  <a:buNone/>
                  <a:defRPr sz="3100">
                    <a:solidFill>
                      <a:srgbClr val="17365D"/>
                    </a:solidFill>
                    <a:latin typeface="Cambria Math"/>
                    <a:ea typeface="Cambria Math"/>
                    <a:cs typeface="Cambria Math"/>
                  </a:defRPr>
                </a:lvl9pPr>
              </a:lstStyle>
              <a:p>
                <a:pPr>
                  <a:buNone/>
                  <a:defRPr sz="3100">
                    <a:solidFill>
                      <a:srgbClr val="17365D"/>
                    </a:solidFill>
                  </a:defRPr>
                </a:pPr>
                <a14:m>
                  <m:oMathPara xmlns:m="http://schemas.openxmlformats.org/officeDocument/2006/math">
                    <m:oMath>
                      <m:r>
                        <a:rPr>
                          <a:latin typeface="Cambria Math" panose="02040503050406030204" pitchFamily="18" charset="0"/>
                        </a:rPr>
                        <m:t>𝜃</m:t>
                      </m:r>
                      <m:r>
                        <a:rPr>
                          <a:latin typeface="Cambria Math" panose="02040503050406030204" pitchFamily="18" charset="0"/>
                        </a:rPr>
                        <m:t>=</m:t>
                      </m:r>
                      <m:r>
                        <a:rPr>
                          <a:latin typeface="Cambria Math" panose="02040503050406030204" pitchFamily="18" charset="0"/>
                        </a:rPr>
                        <m:t>𝐸</m:t>
                      </m:r>
                      <m:d>
                        <m:dPr>
                          <m:begChr m:val="["/>
                          <m:endChr m:val="]"/>
                          <m:ctrlPr>
                            <a:rPr>
                              <a:latin typeface="Cambria Math" panose="02040503050406030204" pitchFamily="18" charset="0"/>
                            </a:rPr>
                          </m:ctrlPr>
                        </m:dPr>
                        <m:e>
                          <m:r>
                            <a:rPr>
                              <a:latin typeface="Cambria Math" panose="02040503050406030204" pitchFamily="18" charset="0"/>
                            </a:rPr>
                            <m:t>𝑌</m:t>
                          </m:r>
                        </m:e>
                      </m:d>
                      <m:r>
                        <a:rPr>
                          <a:latin typeface="Cambria Math" panose="02040503050406030204" pitchFamily="18" charset="0"/>
                        </a:rPr>
                        <m:t>,     </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𝜃</m:t>
                              </m:r>
                            </m:e>
                          </m:acc>
                        </m:e>
                        <m:sub>
                          <m:r>
                            <a:rPr>
                              <a:latin typeface="Cambria Math" panose="02040503050406030204" pitchFamily="18" charset="0"/>
                            </a:rPr>
                            <m:t>𝑁</m:t>
                          </m:r>
                        </m:sub>
                      </m:sSub>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𝑁</m:t>
                          </m:r>
                        </m:den>
                      </m:f>
                      <m:nary>
                        <m:naryPr>
                          <m:chr m:val="∑"/>
                          <m:limLoc m:val="undOvr"/>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𝑁</m:t>
                          </m:r>
                        </m:sup>
                        <m:e>
                          <m:sSub>
                            <m:sSubPr>
                              <m:ctrlPr>
                                <a:rPr>
                                  <a:latin typeface="Cambria Math" panose="02040503050406030204" pitchFamily="18" charset="0"/>
                                </a:rPr>
                              </m:ctrlPr>
                            </m:sSubPr>
                            <m:e>
                              <m:r>
                                <a:rPr>
                                  <a:latin typeface="Cambria Math" panose="02040503050406030204" pitchFamily="18" charset="0"/>
                                </a:rPr>
                                <m:t>𝑌</m:t>
                              </m:r>
                            </m:e>
                            <m:sub>
                              <m:r>
                                <a:rPr>
                                  <a:latin typeface="Cambria Math" panose="02040503050406030204" pitchFamily="18" charset="0"/>
                                </a:rPr>
                                <m:t>𝑖</m:t>
                              </m:r>
                            </m:sub>
                          </m:sSub>
                        </m:e>
                      </m:nary>
                    </m:oMath>
                  </m:oMathPara>
                </a14:m>
                <a:endParaRPr/>
              </a:p>
            </p:txBody>
          </p:sp>
        </mc:Choice>
        <mc:Fallback>
          <p:sp>
            <p:nvSpPr>
              <p:cNvPr id="5" name="EQ_038">
                <a:extLst>
                  <a:ext uri="{FF2B5EF4-FFF2-40B4-BE49-F238E27FC236}">
                    <a16:creationId xmlns:a16="http://schemas.microsoft.com/office/drawing/2014/main" id="{F64331DB-23FE-4671-86A2-C504F9EF669D}"/>
                  </a:ext>
                </a:extLst>
              </p:cNvPr>
              <p:cNvSpPr>
                <a:spLocks noGrp="1" noRot="1" noChangeAspect="1" noMove="1" noResize="1" noEditPoints="1" noAdjustHandles="1" noChangeArrowheads="1" noChangeShapeType="1" noTextEdit="1"/>
              </p:cNvSpPr>
              <p:nvPr/>
            </p:nvSpPr>
            <p:spPr>
              <a:xfrm>
                <a:off x="857250" y="1638300"/>
                <a:ext cx="10477500" cy="1143000"/>
              </a:xfrm>
              <a:prstGeom prst="rect">
                <a:avLst/>
              </a:prstGeom>
              <a:blipFill>
                <a:blip r:embed="rId3"/>
                <a:stretch>
                  <a:fillRect t="-4278" b="-8021"/>
                </a:stretch>
              </a:blipFill>
              <a:ln w="0">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6" name="EQ_039">
                <a:extLst>
                  <a:ext uri="{FF2B5EF4-FFF2-40B4-BE49-F238E27FC236}">
                    <a16:creationId xmlns:a16="http://schemas.microsoft.com/office/drawing/2014/main" id="{41CF8B18-0AEA-4B1D-B78B-22381E3649FE}"/>
                  </a:ext>
                </a:extLst>
              </p:cNvPr>
              <p:cNvSpPr>
                <a:spLocks noGrp="1"/>
              </p:cNvSpPr>
              <p:nvPr/>
            </p:nvSpPr>
            <p:spPr>
              <a:xfrm>
                <a:off x="857250" y="3095625"/>
                <a:ext cx="10477500" cy="1143000"/>
              </a:xfrm>
              <a:prstGeom prst="rect">
                <a:avLst/>
              </a:prstGeom>
              <a:noFill/>
              <a:ln w="0">
                <a:noFill/>
              </a:ln>
            </p:spPr>
            <p:txBody>
              <a:bodyPr wrap="none" lIns="0" tIns="0" rIns="0" bIns="0" anchor="ctr">
                <a:noAutofit/>
              </a:bodyPr>
              <a:lstStyle>
                <a:lvl1pPr algn="l">
                  <a:buNone/>
                  <a:defRPr sz="2900">
                    <a:solidFill>
                      <a:srgbClr val="17365D"/>
                    </a:solidFill>
                    <a:latin typeface="Cambria Math"/>
                    <a:ea typeface="Cambria Math"/>
                    <a:cs typeface="Cambria Math"/>
                  </a:defRPr>
                </a:lvl1pPr>
                <a:lvl2pPr algn="l">
                  <a:buNone/>
                  <a:defRPr sz="2900">
                    <a:solidFill>
                      <a:srgbClr val="17365D"/>
                    </a:solidFill>
                    <a:latin typeface="Cambria Math"/>
                    <a:ea typeface="Cambria Math"/>
                    <a:cs typeface="Cambria Math"/>
                  </a:defRPr>
                </a:lvl2pPr>
                <a:lvl3pPr algn="l">
                  <a:buNone/>
                  <a:defRPr sz="2900">
                    <a:solidFill>
                      <a:srgbClr val="17365D"/>
                    </a:solidFill>
                    <a:latin typeface="Cambria Math"/>
                    <a:ea typeface="Cambria Math"/>
                    <a:cs typeface="Cambria Math"/>
                  </a:defRPr>
                </a:lvl3pPr>
                <a:lvl4pPr algn="l">
                  <a:buNone/>
                  <a:defRPr sz="2900">
                    <a:solidFill>
                      <a:srgbClr val="17365D"/>
                    </a:solidFill>
                    <a:latin typeface="Cambria Math"/>
                    <a:ea typeface="Cambria Math"/>
                    <a:cs typeface="Cambria Math"/>
                  </a:defRPr>
                </a:lvl4pPr>
                <a:lvl5pPr algn="l">
                  <a:buNone/>
                  <a:defRPr sz="2900">
                    <a:solidFill>
                      <a:srgbClr val="17365D"/>
                    </a:solidFill>
                    <a:latin typeface="Cambria Math"/>
                    <a:ea typeface="Cambria Math"/>
                    <a:cs typeface="Cambria Math"/>
                  </a:defRPr>
                </a:lvl5pPr>
                <a:lvl6pPr algn="l">
                  <a:buNone/>
                  <a:defRPr sz="2900">
                    <a:solidFill>
                      <a:srgbClr val="17365D"/>
                    </a:solidFill>
                    <a:latin typeface="Cambria Math"/>
                    <a:ea typeface="Cambria Math"/>
                    <a:cs typeface="Cambria Math"/>
                  </a:defRPr>
                </a:lvl6pPr>
                <a:lvl7pPr algn="l">
                  <a:buNone/>
                  <a:defRPr sz="2900">
                    <a:solidFill>
                      <a:srgbClr val="17365D"/>
                    </a:solidFill>
                    <a:latin typeface="Cambria Math"/>
                    <a:ea typeface="Cambria Math"/>
                    <a:cs typeface="Cambria Math"/>
                  </a:defRPr>
                </a:lvl7pPr>
                <a:lvl8pPr algn="l">
                  <a:buNone/>
                  <a:defRPr sz="2900">
                    <a:solidFill>
                      <a:srgbClr val="17365D"/>
                    </a:solidFill>
                    <a:latin typeface="Cambria Math"/>
                    <a:ea typeface="Cambria Math"/>
                    <a:cs typeface="Cambria Math"/>
                  </a:defRPr>
                </a:lvl8pPr>
                <a:lvl9pPr algn="l">
                  <a:buNone/>
                  <a:defRPr sz="2900">
                    <a:solidFill>
                      <a:srgbClr val="17365D"/>
                    </a:solidFill>
                    <a:latin typeface="Cambria Math"/>
                    <a:ea typeface="Cambria Math"/>
                    <a:cs typeface="Cambria Math"/>
                  </a:defRPr>
                </a:lvl9pPr>
              </a:lstStyle>
              <a:p>
                <a:pPr>
                  <a:buNone/>
                  <a:defRPr sz="2900">
                    <a:solidFill>
                      <a:srgbClr val="17365D"/>
                    </a:solidFill>
                  </a:defRPr>
                </a:pPr>
                <a14:m>
                  <m:oMathPara xmlns:m="http://schemas.openxmlformats.org/officeDocument/2006/math">
                    <m:oMath>
                      <m:r>
                        <a:rPr>
                          <a:latin typeface="Cambria Math" panose="02040503050406030204" pitchFamily="18" charset="0"/>
                        </a:rPr>
                        <m:t>𝐸</m:t>
                      </m:r>
                      <m:d>
                        <m:dPr>
                          <m:begChr m:val="["/>
                          <m:endChr m:val="]"/>
                          <m:ctrlPr>
                            <a:rPr i="1">
                              <a:latin typeface="Cambria Math" panose="02040503050406030204" pitchFamily="18" charset="0"/>
                            </a:rPr>
                          </m:ctrlPr>
                        </m:dPr>
                        <m:e>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𝜃</m:t>
                                  </m:r>
                                </m:e>
                              </m:acc>
                            </m:e>
                            <m:sub>
                              <m:r>
                                <a:rPr>
                                  <a:latin typeface="Cambria Math" panose="02040503050406030204" pitchFamily="18" charset="0"/>
                                </a:rPr>
                                <m:t>𝑁</m:t>
                              </m:r>
                            </m:sub>
                          </m:sSub>
                        </m:e>
                      </m:d>
                      <m:r>
                        <a:rPr>
                          <a:latin typeface="Cambria Math" panose="02040503050406030204" pitchFamily="18" charset="0"/>
                        </a:rPr>
                        <m:t>=</m:t>
                      </m:r>
                      <m:r>
                        <a:rPr>
                          <a:latin typeface="Cambria Math" panose="02040503050406030204" pitchFamily="18" charset="0"/>
                        </a:rPr>
                        <m:t>𝜃</m:t>
                      </m:r>
                      <m:r>
                        <a:rPr>
                          <a:latin typeface="Cambria Math" panose="02040503050406030204" pitchFamily="18" charset="0"/>
                        </a:rPr>
                        <m:t>,     </m:t>
                      </m:r>
                      <m:r>
                        <a:rPr>
                          <a:latin typeface="Cambria Math" panose="02040503050406030204" pitchFamily="18" charset="0"/>
                        </a:rPr>
                        <m:t>𝑉𝑎𝑟</m:t>
                      </m:r>
                      <m:d>
                        <m:dPr>
                          <m:ctrlPr>
                            <a:rPr i="1">
                              <a:latin typeface="Cambria Math" panose="02040503050406030204" pitchFamily="18" charset="0"/>
                            </a:rPr>
                          </m:ctrlPr>
                        </m:dPr>
                        <m:e>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𝜃</m:t>
                                  </m:r>
                                </m:e>
                              </m:acc>
                            </m:e>
                            <m:sub>
                              <m:r>
                                <a:rPr>
                                  <a:latin typeface="Cambria Math" panose="02040503050406030204" pitchFamily="18" charset="0"/>
                                </a:rPr>
                                <m:t>𝑁</m:t>
                              </m:r>
                            </m:sub>
                          </m:sSub>
                        </m:e>
                      </m:d>
                      <m:r>
                        <a:rPr>
                          <a:latin typeface="Cambria Math" panose="02040503050406030204" pitchFamily="18" charset="0"/>
                        </a:rPr>
                        <m:t>=</m:t>
                      </m:r>
                      <m:f>
                        <m:fPr>
                          <m:ctrlPr>
                            <a:rPr i="1">
                              <a:latin typeface="Cambria Math" panose="02040503050406030204" pitchFamily="18" charset="0"/>
                            </a:rPr>
                          </m:ctrlPr>
                        </m:fPr>
                        <m:num>
                          <m:sSup>
                            <m:sSupPr>
                              <m:ctrlPr>
                                <a:rPr i="1">
                                  <a:latin typeface="Cambria Math" panose="02040503050406030204" pitchFamily="18" charset="0"/>
                                </a:rPr>
                              </m:ctrlPr>
                            </m:sSupPr>
                            <m:e>
                              <m:sSub>
                                <m:sSubPr>
                                  <m:ctrlPr>
                                    <a:rPr>
                                      <a:latin typeface="Cambria Math" panose="02040503050406030204" pitchFamily="18" charset="0"/>
                                    </a:rPr>
                                  </m:ctrlPr>
                                </m:sSubPr>
                                <m:e>
                                  <m:r>
                                    <a:rPr>
                                      <a:latin typeface="Cambria Math" panose="02040503050406030204" pitchFamily="18" charset="0"/>
                                    </a:rPr>
                                    <m:t>𝜎</m:t>
                                  </m:r>
                                </m:e>
                                <m:sub>
                                  <m:r>
                                    <a:rPr>
                                      <a:latin typeface="Cambria Math" panose="02040503050406030204" pitchFamily="18" charset="0"/>
                                    </a:rPr>
                                    <m:t>𝑌</m:t>
                                  </m:r>
                                </m:sub>
                              </m:sSub>
                            </m:e>
                            <m:sup>
                              <m:r>
                                <a:rPr>
                                  <a:latin typeface="Cambria Math" panose="02040503050406030204" pitchFamily="18" charset="0"/>
                                </a:rPr>
                                <m:t>2</m:t>
                              </m:r>
                            </m:sup>
                          </m:sSup>
                        </m:num>
                        <m:den>
                          <m:r>
                            <a:rPr>
                              <a:latin typeface="Cambria Math" panose="02040503050406030204" pitchFamily="18" charset="0"/>
                            </a:rPr>
                            <m:t>𝑁</m:t>
                          </m:r>
                        </m:den>
                      </m:f>
                    </m:oMath>
                  </m:oMathPara>
                </a14:m>
                <a:endParaRPr/>
              </a:p>
            </p:txBody>
          </p:sp>
        </mc:Choice>
        <mc:Fallback>
          <p:sp>
            <p:nvSpPr>
              <p:cNvPr id="6" name="EQ_039">
                <a:extLst>
                  <a:ext uri="{FF2B5EF4-FFF2-40B4-BE49-F238E27FC236}">
                    <a16:creationId xmlns:a16="http://schemas.microsoft.com/office/drawing/2014/main" id="{41CF8B18-0AEA-4B1D-B78B-22381E3649FE}"/>
                  </a:ext>
                </a:extLst>
              </p:cNvPr>
              <p:cNvSpPr>
                <a:spLocks noGrp="1" noRot="1" noChangeAspect="1" noMove="1" noResize="1" noEditPoints="1" noAdjustHandles="1" noChangeArrowheads="1" noChangeShapeType="1" noTextEdit="1"/>
              </p:cNvSpPr>
              <p:nvPr/>
            </p:nvSpPr>
            <p:spPr>
              <a:xfrm>
                <a:off x="857250" y="3095625"/>
                <a:ext cx="10477500" cy="1143000"/>
              </a:xfrm>
              <a:prstGeom prst="rect">
                <a:avLst/>
              </a:prstGeom>
              <a:blipFill>
                <a:blip r:embed="rId4"/>
                <a:stretch>
                  <a:fillRect/>
                </a:stretch>
              </a:blipFill>
              <a:ln w="0">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7" name="EQ_040">
                <a:extLst>
                  <a:ext uri="{FF2B5EF4-FFF2-40B4-BE49-F238E27FC236}">
                    <a16:creationId xmlns:a16="http://schemas.microsoft.com/office/drawing/2014/main" id="{3993A319-2655-44C7-8999-389C7990804C}"/>
                  </a:ext>
                </a:extLst>
              </p:cNvPr>
              <p:cNvSpPr>
                <a:spLocks noGrp="1"/>
              </p:cNvSpPr>
              <p:nvPr/>
            </p:nvSpPr>
            <p:spPr>
              <a:xfrm>
                <a:off x="857250" y="4676775"/>
                <a:ext cx="10477500" cy="1143000"/>
              </a:xfrm>
              <a:prstGeom prst="rect">
                <a:avLst/>
              </a:prstGeom>
              <a:noFill/>
              <a:ln w="0">
                <a:noFill/>
              </a:ln>
            </p:spPr>
            <p:txBody>
              <a:bodyPr wrap="none" lIns="0" tIns="0" rIns="0" bIns="0" anchor="ctr">
                <a:noAutofit/>
              </a:bodyPr>
              <a:lstStyle>
                <a:lvl1pPr algn="l">
                  <a:buNone/>
                  <a:defRPr sz="2800">
                    <a:solidFill>
                      <a:srgbClr val="17365D"/>
                    </a:solidFill>
                    <a:latin typeface="Cambria Math"/>
                    <a:ea typeface="Cambria Math"/>
                    <a:cs typeface="Cambria Math"/>
                  </a:defRPr>
                </a:lvl1pPr>
                <a:lvl2pPr algn="l">
                  <a:buNone/>
                  <a:defRPr sz="2800">
                    <a:solidFill>
                      <a:srgbClr val="17365D"/>
                    </a:solidFill>
                    <a:latin typeface="Cambria Math"/>
                    <a:ea typeface="Cambria Math"/>
                    <a:cs typeface="Cambria Math"/>
                  </a:defRPr>
                </a:lvl2pPr>
                <a:lvl3pPr algn="l">
                  <a:buNone/>
                  <a:defRPr sz="2800">
                    <a:solidFill>
                      <a:srgbClr val="17365D"/>
                    </a:solidFill>
                    <a:latin typeface="Cambria Math"/>
                    <a:ea typeface="Cambria Math"/>
                    <a:cs typeface="Cambria Math"/>
                  </a:defRPr>
                </a:lvl3pPr>
                <a:lvl4pPr algn="l">
                  <a:buNone/>
                  <a:defRPr sz="2800">
                    <a:solidFill>
                      <a:srgbClr val="17365D"/>
                    </a:solidFill>
                    <a:latin typeface="Cambria Math"/>
                    <a:ea typeface="Cambria Math"/>
                    <a:cs typeface="Cambria Math"/>
                  </a:defRPr>
                </a:lvl4pPr>
                <a:lvl5pPr algn="l">
                  <a:buNone/>
                  <a:defRPr sz="2800">
                    <a:solidFill>
                      <a:srgbClr val="17365D"/>
                    </a:solidFill>
                    <a:latin typeface="Cambria Math"/>
                    <a:ea typeface="Cambria Math"/>
                    <a:cs typeface="Cambria Math"/>
                  </a:defRPr>
                </a:lvl5pPr>
                <a:lvl6pPr algn="l">
                  <a:buNone/>
                  <a:defRPr sz="2800">
                    <a:solidFill>
                      <a:srgbClr val="17365D"/>
                    </a:solidFill>
                    <a:latin typeface="Cambria Math"/>
                    <a:ea typeface="Cambria Math"/>
                    <a:cs typeface="Cambria Math"/>
                  </a:defRPr>
                </a:lvl6pPr>
                <a:lvl7pPr algn="l">
                  <a:buNone/>
                  <a:defRPr sz="2800">
                    <a:solidFill>
                      <a:srgbClr val="17365D"/>
                    </a:solidFill>
                    <a:latin typeface="Cambria Math"/>
                    <a:ea typeface="Cambria Math"/>
                    <a:cs typeface="Cambria Math"/>
                  </a:defRPr>
                </a:lvl7pPr>
                <a:lvl8pPr algn="l">
                  <a:buNone/>
                  <a:defRPr sz="2800">
                    <a:solidFill>
                      <a:srgbClr val="17365D"/>
                    </a:solidFill>
                    <a:latin typeface="Cambria Math"/>
                    <a:ea typeface="Cambria Math"/>
                    <a:cs typeface="Cambria Math"/>
                  </a:defRPr>
                </a:lvl8pPr>
                <a:lvl9pPr algn="l">
                  <a:buNone/>
                  <a:defRPr sz="2800">
                    <a:solidFill>
                      <a:srgbClr val="17365D"/>
                    </a:solidFill>
                    <a:latin typeface="Cambria Math"/>
                    <a:ea typeface="Cambria Math"/>
                    <a:cs typeface="Cambria Math"/>
                  </a:defRPr>
                </a:lvl9pPr>
              </a:lstStyle>
              <a:p>
                <a:pPr>
                  <a:buNone/>
                  <a:defRPr sz="2800">
                    <a:solidFill>
                      <a:srgbClr val="17365D"/>
                    </a:solidFill>
                  </a:defRPr>
                </a:pPr>
                <a14:m>
                  <m:oMathPara xmlns:m="http://schemas.openxmlformats.org/officeDocument/2006/math">
                    <m:oMath>
                      <m:acc>
                        <m:accPr>
                          <m:chr m:val="̂"/>
                          <m:ctrlPr>
                            <a:rPr>
                              <a:latin typeface="Cambria Math" panose="02040503050406030204" pitchFamily="18" charset="0"/>
                            </a:rPr>
                          </m:ctrlPr>
                        </m:accPr>
                        <m:e>
                          <m:r>
                            <a:rPr>
                              <a:latin typeface="Cambria Math" panose="02040503050406030204" pitchFamily="18" charset="0"/>
                            </a:rPr>
                            <m:t>𝑆𝐸</m:t>
                          </m:r>
                        </m:e>
                      </m:acc>
                      <m:r>
                        <a:rPr>
                          <a:latin typeface="Cambria Math" panose="02040503050406030204" pitchFamily="18" charset="0"/>
                        </a:rPr>
                        <m:t>=</m:t>
                      </m:r>
                      <m:f>
                        <m:fPr>
                          <m:ctrlPr>
                            <a:rPr i="1">
                              <a:latin typeface="Cambria Math" panose="02040503050406030204" pitchFamily="18" charset="0"/>
                            </a:rPr>
                          </m:ctrlPr>
                        </m:fPr>
                        <m:num>
                          <m:sSub>
                            <m:sSubPr>
                              <m:ctrlPr>
                                <a:rPr>
                                  <a:latin typeface="Cambria Math" panose="02040503050406030204" pitchFamily="18" charset="0"/>
                                </a:rPr>
                              </m:ctrlPr>
                            </m:sSubPr>
                            <m:e>
                              <m:r>
                                <a:rPr>
                                  <a:latin typeface="Cambria Math" panose="02040503050406030204" pitchFamily="18" charset="0"/>
                                </a:rPr>
                                <m:t>𝑠</m:t>
                              </m:r>
                            </m:e>
                            <m:sub>
                              <m:r>
                                <a:rPr>
                                  <a:latin typeface="Cambria Math" panose="02040503050406030204" pitchFamily="18" charset="0"/>
                                </a:rPr>
                                <m:t>𝑌</m:t>
                              </m:r>
                            </m:sub>
                          </m:sSub>
                        </m:num>
                        <m:den>
                          <m:rad>
                            <m:radPr>
                              <m:ctrlPr>
                                <a:rPr>
                                  <a:latin typeface="Cambria Math" panose="02040503050406030204" pitchFamily="18" charset="0"/>
                                </a:rPr>
                              </m:ctrlPr>
                            </m:radPr>
                            <m:e>
                              <m:r>
                                <a:rPr>
                                  <a:latin typeface="Cambria Math" panose="02040503050406030204" pitchFamily="18" charset="0"/>
                                </a:rPr>
                                <m:t>𝑁</m:t>
                              </m:r>
                            </m:e>
                          </m:rad>
                        </m:den>
                      </m:f>
                      <m:r>
                        <a:rPr>
                          <a:latin typeface="Cambria Math" panose="02040503050406030204" pitchFamily="18" charset="0"/>
                        </a:rPr>
                        <m:t>,     95% </m:t>
                      </m:r>
                      <m:r>
                        <a:rPr>
                          <a:latin typeface="Cambria Math" panose="02040503050406030204" pitchFamily="18" charset="0"/>
                        </a:rPr>
                        <m:t>𝑖𝑛𝑡𝑒𝑟𝑣𝑎𝑙</m:t>
                      </m:r>
                      <m:r>
                        <a:rPr>
                          <a:latin typeface="Cambria Math" panose="02040503050406030204" pitchFamily="18" charset="0"/>
                        </a:rPr>
                        <m:t>: </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𝜃</m:t>
                              </m:r>
                            </m:e>
                          </m:acc>
                        </m:e>
                        <m:sub>
                          <m:r>
                            <a:rPr>
                              <a:latin typeface="Cambria Math" panose="02040503050406030204" pitchFamily="18" charset="0"/>
                            </a:rPr>
                            <m:t>𝑁</m:t>
                          </m:r>
                        </m:sub>
                      </m:sSub>
                      <m:r>
                        <a:rPr>
                          <a:latin typeface="Cambria Math" panose="02040503050406030204" pitchFamily="18" charset="0"/>
                        </a:rPr>
                        <m:t>±1.96</m:t>
                      </m:r>
                      <m:acc>
                        <m:accPr>
                          <m:chr m:val="̂"/>
                          <m:ctrlPr>
                            <a:rPr>
                              <a:latin typeface="Cambria Math" panose="02040503050406030204" pitchFamily="18" charset="0"/>
                            </a:rPr>
                          </m:ctrlPr>
                        </m:accPr>
                        <m:e>
                          <m:r>
                            <a:rPr>
                              <a:latin typeface="Cambria Math" panose="02040503050406030204" pitchFamily="18" charset="0"/>
                            </a:rPr>
                            <m:t>𝑆𝐸</m:t>
                          </m:r>
                        </m:e>
                      </m:acc>
                    </m:oMath>
                  </m:oMathPara>
                </a14:m>
                <a:endParaRPr/>
              </a:p>
            </p:txBody>
          </p:sp>
        </mc:Choice>
        <mc:Fallback>
          <p:sp>
            <p:nvSpPr>
              <p:cNvPr id="7" name="EQ_040">
                <a:extLst>
                  <a:ext uri="{FF2B5EF4-FFF2-40B4-BE49-F238E27FC236}">
                    <a16:creationId xmlns:a16="http://schemas.microsoft.com/office/drawing/2014/main" id="{3993A319-2655-44C7-8999-389C7990804C}"/>
                  </a:ext>
                </a:extLst>
              </p:cNvPr>
              <p:cNvSpPr>
                <a:spLocks noGrp="1" noRot="1" noChangeAspect="1" noMove="1" noResize="1" noEditPoints="1" noAdjustHandles="1" noChangeArrowheads="1" noChangeShapeType="1" noTextEdit="1"/>
              </p:cNvSpPr>
              <p:nvPr/>
            </p:nvSpPr>
            <p:spPr>
              <a:xfrm>
                <a:off x="857250" y="4676775"/>
                <a:ext cx="10477500" cy="1143000"/>
              </a:xfrm>
              <a:prstGeom prst="rect">
                <a:avLst/>
              </a:prstGeom>
              <a:blipFill>
                <a:blip r:embed="rId5"/>
                <a:stretch>
                  <a:fillRect/>
                </a:stretch>
              </a:blipFill>
              <a:ln w="0">
                <a:noFill/>
              </a:ln>
            </p:spPr>
            <p:txBody>
              <a:bodyPr/>
              <a:lstStyle/>
              <a:p>
                <a:r>
                  <a:rPr lang="en-GB">
                    <a:noFill/>
                  </a:rPr>
                  <a:t> </a:t>
                </a:r>
              </a:p>
            </p:txBody>
          </p:sp>
        </mc:Fallback>
      </mc:AlternateContent>
    </p:spTree>
    <p:extLst>
      <p:ext uri="{BB962C8B-B14F-4D97-AF65-F5344CB8AC3E}">
        <p14:creationId xmlns:p14="http://schemas.microsoft.com/office/powerpoint/2010/main" val="11442025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6E03DF20-266C-4927-A735-8538E05E35AE}"/>
              </a:ext>
            </a:extLst>
          </p:cNvPr>
          <p:cNvSpPr>
            <a:spLocks noGrp="1"/>
          </p:cNvSpPr>
          <p:nvPr/>
        </p:nvSpPr>
        <p:spPr>
          <a:xfrm>
            <a:off x="742950" y="400050"/>
            <a:ext cx="10706100" cy="857250"/>
          </a:xfrm>
          <a:prstGeom prst="rect">
            <a:avLst/>
          </a:prstGeom>
          <a:noFill/>
          <a:ln w="0">
            <a:noFill/>
          </a:ln>
        </p:spPr>
        <p:txBody>
          <a:bodyPr wrap="square" lIns="0" tIns="0" rIns="0" bIns="0" anchor="t">
            <a:noAutofit/>
          </a:bodyPr>
          <a:lstStyle>
            <a:lvl1pPr>
              <a:buNone/>
              <a:defRPr sz="3225" b="1">
                <a:solidFill>
                  <a:srgbClr val="17365D"/>
                </a:solidFill>
                <a:latin typeface="Aptos"/>
                <a:ea typeface="Aptos"/>
                <a:cs typeface="Aptos"/>
              </a:defRPr>
            </a:lvl1pPr>
            <a:lvl2pPr>
              <a:buNone/>
              <a:defRPr sz="3225" b="1">
                <a:solidFill>
                  <a:srgbClr val="17365D"/>
                </a:solidFill>
                <a:latin typeface="Aptos"/>
                <a:ea typeface="Aptos"/>
                <a:cs typeface="Aptos"/>
              </a:defRPr>
            </a:lvl2pPr>
            <a:lvl3pPr>
              <a:buNone/>
              <a:defRPr sz="3225" b="1">
                <a:solidFill>
                  <a:srgbClr val="17365D"/>
                </a:solidFill>
                <a:latin typeface="Aptos"/>
                <a:ea typeface="Aptos"/>
                <a:cs typeface="Aptos"/>
              </a:defRPr>
            </a:lvl3pPr>
            <a:lvl4pPr>
              <a:buNone/>
              <a:defRPr sz="3225" b="1">
                <a:solidFill>
                  <a:srgbClr val="17365D"/>
                </a:solidFill>
                <a:latin typeface="Aptos"/>
                <a:ea typeface="Aptos"/>
                <a:cs typeface="Aptos"/>
              </a:defRPr>
            </a:lvl4pPr>
            <a:lvl5pPr>
              <a:buNone/>
              <a:defRPr sz="3225" b="1">
                <a:solidFill>
                  <a:srgbClr val="17365D"/>
                </a:solidFill>
                <a:latin typeface="Aptos"/>
                <a:ea typeface="Aptos"/>
                <a:cs typeface="Aptos"/>
              </a:defRPr>
            </a:lvl5pPr>
            <a:lvl6pPr>
              <a:buNone/>
              <a:defRPr sz="3225" b="1">
                <a:solidFill>
                  <a:srgbClr val="17365D"/>
                </a:solidFill>
                <a:latin typeface="Aptos"/>
                <a:ea typeface="Aptos"/>
                <a:cs typeface="Aptos"/>
              </a:defRPr>
            </a:lvl6pPr>
            <a:lvl7pPr>
              <a:buNone/>
              <a:defRPr sz="3225" b="1">
                <a:solidFill>
                  <a:srgbClr val="17365D"/>
                </a:solidFill>
                <a:latin typeface="Aptos"/>
                <a:ea typeface="Aptos"/>
                <a:cs typeface="Aptos"/>
              </a:defRPr>
            </a:lvl7pPr>
            <a:lvl8pPr>
              <a:buNone/>
              <a:defRPr sz="3225" b="1">
                <a:solidFill>
                  <a:srgbClr val="17365D"/>
                </a:solidFill>
                <a:latin typeface="Aptos"/>
                <a:ea typeface="Aptos"/>
                <a:cs typeface="Aptos"/>
              </a:defRPr>
            </a:lvl8pPr>
            <a:lvl9pPr>
              <a:buNone/>
              <a:defRPr sz="3225" b="1">
                <a:solidFill>
                  <a:srgbClr val="17365D"/>
                </a:solidFill>
                <a:latin typeface="Aptos"/>
                <a:ea typeface="Aptos"/>
                <a:cs typeface="Aptos"/>
              </a:defRPr>
            </a:lvl9pPr>
          </a:lstStyle>
          <a:p>
            <a:pPr>
              <a:buNone/>
              <a:defRPr sz="3225" b="1">
                <a:solidFill>
                  <a:srgbClr val="17365D"/>
                </a:solidFill>
                <a:latin typeface="Aptos"/>
                <a:ea typeface="Aptos"/>
                <a:cs typeface="Aptos"/>
              </a:defRPr>
            </a:pPr>
            <a:r>
              <a:rPr sz="3225" b="1">
                <a:solidFill>
                  <a:srgbClr val="17365D"/>
                </a:solidFill>
                <a:latin typeface="Aptos"/>
                <a:ea typeface="Aptos"/>
                <a:cs typeface="Aptos"/>
              </a:rPr>
              <a:t>Exercises for consolidation</a:t>
            </a:r>
          </a:p>
        </p:txBody>
      </p:sp>
      <p:sp>
        <p:nvSpPr>
          <p:cNvPr id="2" name="Straight Connector 1">
            <a:extLst>
              <a:ext uri="{FF2B5EF4-FFF2-40B4-BE49-F238E27FC236}">
                <a16:creationId xmlns:a16="http://schemas.microsoft.com/office/drawing/2014/main" id="{E3F5AF53-A887-4CEE-8C63-0279A3F3A2D6}"/>
              </a:ext>
            </a:extLst>
          </p:cNvPr>
          <p:cNvSpPr>
            <a:spLocks noGrp="1"/>
          </p:cNvSpPr>
          <p:nvPr/>
        </p:nvSpPr>
        <p:spPr>
          <a:xfrm>
            <a:off x="742950" y="1304925"/>
            <a:ext cx="10706100" cy="0"/>
          </a:xfrm>
          <a:prstGeom prst="line">
            <a:avLst/>
          </a:prstGeom>
          <a:ln w="17145">
            <a:solidFill>
              <a:srgbClr val="2D75A3"/>
            </a:solidFill>
          </a:ln>
        </p:spPr>
        <p:txBody>
          <a:bodyPr/>
          <a:lstStyle/>
          <a:p>
            <a:endParaRPr lang="en-GB"/>
          </a:p>
        </p:txBody>
      </p:sp>
      <p:sp>
        <p:nvSpPr>
          <p:cNvPr id="3" name="text-2">
            <a:extLst>
              <a:ext uri="{FF2B5EF4-FFF2-40B4-BE49-F238E27FC236}">
                <a16:creationId xmlns:a16="http://schemas.microsoft.com/office/drawing/2014/main" id="{AC78B3E0-1DB3-4433-891B-91EF6C55C10D}"/>
              </a:ext>
            </a:extLst>
          </p:cNvPr>
          <p:cNvSpPr>
            <a:spLocks noGrp="1"/>
          </p:cNvSpPr>
          <p:nvPr/>
        </p:nvSpPr>
        <p:spPr>
          <a:xfrm>
            <a:off x="742950" y="6477000"/>
            <a:ext cx="476250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SMP1 · Session 6</a:t>
            </a:r>
          </a:p>
        </p:txBody>
      </p:sp>
      <p:sp>
        <p:nvSpPr>
          <p:cNvPr id="4" name="text-3">
            <a:extLst>
              <a:ext uri="{FF2B5EF4-FFF2-40B4-BE49-F238E27FC236}">
                <a16:creationId xmlns:a16="http://schemas.microsoft.com/office/drawing/2014/main" id="{2D26EF3F-9B9B-45BC-8B0F-07616361EF75}"/>
              </a:ext>
            </a:extLst>
          </p:cNvPr>
          <p:cNvSpPr>
            <a:spLocks noGrp="1"/>
          </p:cNvSpPr>
          <p:nvPr/>
        </p:nvSpPr>
        <p:spPr>
          <a:xfrm>
            <a:off x="10858500" y="6477000"/>
            <a:ext cx="590550" cy="209550"/>
          </a:xfrm>
          <a:prstGeom prst="rect">
            <a:avLst/>
          </a:prstGeom>
          <a:noFill/>
          <a:ln w="0">
            <a:noFill/>
          </a:ln>
        </p:spPr>
        <p:txBody>
          <a:bodyPr wrap="square" lIns="0" tIns="0" rIns="0" bIns="0" anchor="t">
            <a:noAutofit/>
          </a:bodyPr>
          <a:lstStyle>
            <a:lvl1pPr>
              <a:buNone/>
              <a:defRPr sz="1275" b="0">
                <a:solidFill>
                  <a:srgbClr val="526171"/>
                </a:solidFill>
                <a:latin typeface="Aptos"/>
                <a:ea typeface="Aptos"/>
                <a:cs typeface="Aptos"/>
              </a:defRPr>
            </a:lvl1pPr>
            <a:lvl2pPr>
              <a:buNone/>
              <a:defRPr sz="1275" b="0">
                <a:solidFill>
                  <a:srgbClr val="526171"/>
                </a:solidFill>
                <a:latin typeface="Aptos"/>
                <a:ea typeface="Aptos"/>
                <a:cs typeface="Aptos"/>
              </a:defRPr>
            </a:lvl2pPr>
            <a:lvl3pPr>
              <a:buNone/>
              <a:defRPr sz="1275" b="0">
                <a:solidFill>
                  <a:srgbClr val="526171"/>
                </a:solidFill>
                <a:latin typeface="Aptos"/>
                <a:ea typeface="Aptos"/>
                <a:cs typeface="Aptos"/>
              </a:defRPr>
            </a:lvl3pPr>
            <a:lvl4pPr>
              <a:buNone/>
              <a:defRPr sz="1275" b="0">
                <a:solidFill>
                  <a:srgbClr val="526171"/>
                </a:solidFill>
                <a:latin typeface="Aptos"/>
                <a:ea typeface="Aptos"/>
                <a:cs typeface="Aptos"/>
              </a:defRPr>
            </a:lvl4pPr>
            <a:lvl5pPr>
              <a:buNone/>
              <a:defRPr sz="1275" b="0">
                <a:solidFill>
                  <a:srgbClr val="526171"/>
                </a:solidFill>
                <a:latin typeface="Aptos"/>
                <a:ea typeface="Aptos"/>
                <a:cs typeface="Aptos"/>
              </a:defRPr>
            </a:lvl5pPr>
            <a:lvl6pPr>
              <a:buNone/>
              <a:defRPr sz="1275" b="0">
                <a:solidFill>
                  <a:srgbClr val="526171"/>
                </a:solidFill>
                <a:latin typeface="Aptos"/>
                <a:ea typeface="Aptos"/>
                <a:cs typeface="Aptos"/>
              </a:defRPr>
            </a:lvl6pPr>
            <a:lvl7pPr>
              <a:buNone/>
              <a:defRPr sz="1275" b="0">
                <a:solidFill>
                  <a:srgbClr val="526171"/>
                </a:solidFill>
                <a:latin typeface="Aptos"/>
                <a:ea typeface="Aptos"/>
                <a:cs typeface="Aptos"/>
              </a:defRPr>
            </a:lvl7pPr>
            <a:lvl8pPr>
              <a:buNone/>
              <a:defRPr sz="1275" b="0">
                <a:solidFill>
                  <a:srgbClr val="526171"/>
                </a:solidFill>
                <a:latin typeface="Aptos"/>
                <a:ea typeface="Aptos"/>
                <a:cs typeface="Aptos"/>
              </a:defRPr>
            </a:lvl8pPr>
            <a:lvl9pPr>
              <a:buNone/>
              <a:defRPr sz="1275" b="0">
                <a:solidFill>
                  <a:srgbClr val="526171"/>
                </a:solidFill>
                <a:latin typeface="Aptos"/>
                <a:ea typeface="Aptos"/>
                <a:cs typeface="Aptos"/>
              </a:defRPr>
            </a:lvl9pPr>
          </a:lstStyle>
          <a:p>
            <a:pPr>
              <a:buNone/>
              <a:defRPr sz="1275" b="0">
                <a:solidFill>
                  <a:srgbClr val="526171"/>
                </a:solidFill>
                <a:latin typeface="Aptos"/>
                <a:ea typeface="Aptos"/>
                <a:cs typeface="Aptos"/>
              </a:defRPr>
            </a:pPr>
            <a:r>
              <a:rPr sz="1275" b="0">
                <a:solidFill>
                  <a:srgbClr val="526171"/>
                </a:solidFill>
                <a:latin typeface="Aptos"/>
                <a:ea typeface="Aptos"/>
                <a:cs typeface="Aptos"/>
              </a:rPr>
              <a:t>41</a:t>
            </a:r>
          </a:p>
        </p:txBody>
      </p:sp>
      <p:graphicFrame>
        <p:nvGraphicFramePr>
          <p:cNvPr id="13" name="Table 12"/>
          <p:cNvGraphicFramePr/>
          <p:nvPr/>
        </p:nvGraphicFramePr>
        <p:xfrm>
          <a:off x="857250" y="1752600"/>
          <a:ext cx="10477500" cy="3476628"/>
        </p:xfrm>
        <a:graphic>
          <a:graphicData uri="http://schemas.openxmlformats.org/drawingml/2006/table">
            <a:tbl>
              <a:tblPr firstRow="1"/>
              <a:tblGrid>
                <a:gridCol w="2714625">
                  <a:extLst>
                    <a:ext uri="{9D8B030D-6E8A-4147-A177-3AD203B41FA5}">
                      <a16:colId xmlns:a16="http://schemas.microsoft.com/office/drawing/2014/main" val="20000"/>
                    </a:ext>
                  </a:extLst>
                </a:gridCol>
                <a:gridCol w="7762875">
                  <a:extLst>
                    <a:ext uri="{9D8B030D-6E8A-4147-A177-3AD203B41FA5}">
                      <a16:colId xmlns:a16="http://schemas.microsoft.com/office/drawing/2014/main" val="20001"/>
                    </a:ext>
                  </a:extLst>
                </a:gridCol>
              </a:tblGrid>
              <a:tr h="579438">
                <a:tc>
                  <a:txBody>
                    <a:bodyPr/>
                    <a:lstStyle/>
                    <a:p>
                      <a:r>
                        <a:rPr sz="2100" b="1">
                          <a:solidFill>
                            <a:srgbClr val="FFFFFF"/>
                          </a:solidFill>
                          <a:latin typeface="Aptos"/>
                          <a:ea typeface="Aptos"/>
                          <a:cs typeface="Aptos"/>
                        </a:rPr>
                        <a:t>Exercises</a:t>
                      </a:r>
                    </a:p>
                  </a:txBody>
                  <a:tcPr anchor="ctr">
                    <a:lnL w="6191">
                      <a:solidFill>
                        <a:srgbClr val="DDE5EC"/>
                      </a:solidFill>
                      <a:prstDash val="soli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tc>
                  <a:txBody>
                    <a:bodyPr/>
                    <a:lstStyle/>
                    <a:p>
                      <a:r>
                        <a:rPr sz="2100" b="1">
                          <a:solidFill>
                            <a:srgbClr val="FFFFFF"/>
                          </a:solidFill>
                          <a:latin typeface="Aptos"/>
                          <a:ea typeface="Aptos"/>
                          <a:cs typeface="Aptos"/>
                        </a:rPr>
                        <a:t>Focus</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a:solidFill>
                        <a:srgbClr val="DDE5EC"/>
                      </a:solidFill>
                      <a:prstDash val="solid"/>
                    </a:lnT>
                    <a:lnB w="6191">
                      <a:solidFill>
                        <a:srgbClr val="DDE5EC"/>
                      </a:solidFill>
                      <a:prstDash val="solid"/>
                    </a:lnB>
                    <a:solidFill>
                      <a:srgbClr val="17365D"/>
                    </a:solidFill>
                  </a:tcPr>
                </a:tc>
                <a:extLst>
                  <a:ext uri="{0D108BD9-81ED-4DB2-BD59-A6C34878D82A}">
                    <a16:rowId xmlns:a16="http://schemas.microsoft.com/office/drawing/2014/main" val="10000"/>
                  </a:ext>
                </a:extLst>
              </a:tr>
              <a:tr h="579438">
                <a:tc>
                  <a:txBody>
                    <a:bodyPr/>
                    <a:lstStyle/>
                    <a:p>
                      <a:r>
                        <a:rPr sz="2100" b="0">
                          <a:solidFill>
                            <a:srgbClr val="17365D"/>
                          </a:solidFill>
                          <a:latin typeface="Aptos"/>
                          <a:ea typeface="Aptos"/>
                          <a:cs typeface="Aptos"/>
                        </a:rPr>
                        <a:t>1 and 7</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00" b="0">
                          <a:solidFill>
                            <a:srgbClr val="17365D"/>
                          </a:solidFill>
                          <a:latin typeface="Aptos"/>
                          <a:ea typeface="Aptos"/>
                          <a:cs typeface="Aptos"/>
                        </a:rPr>
                        <a:t>Sampling distributions and normal calculations</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1"/>
                  </a:ext>
                </a:extLst>
              </a:tr>
              <a:tr h="579438">
                <a:tc>
                  <a:txBody>
                    <a:bodyPr/>
                    <a:lstStyle/>
                    <a:p>
                      <a:r>
                        <a:rPr sz="2100" b="0">
                          <a:solidFill>
                            <a:srgbClr val="17365D"/>
                          </a:solidFill>
                          <a:latin typeface="Aptos"/>
                          <a:ea typeface="Aptos"/>
                          <a:cs typeface="Aptos"/>
                        </a:rPr>
                        <a:t>2 and 3</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00" b="0">
                          <a:solidFill>
                            <a:srgbClr val="17365D"/>
                          </a:solidFill>
                          <a:latin typeface="Aptos"/>
                          <a:ea typeface="Aptos"/>
                          <a:cs typeface="Aptos"/>
                        </a:rPr>
                        <a:t>CLT approximations and their limitations</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2"/>
                  </a:ext>
                </a:extLst>
              </a:tr>
              <a:tr h="579438">
                <a:tc>
                  <a:txBody>
                    <a:bodyPr/>
                    <a:lstStyle/>
                    <a:p>
                      <a:r>
                        <a:rPr sz="2100" b="0">
                          <a:solidFill>
                            <a:srgbClr val="17365D"/>
                          </a:solidFill>
                          <a:latin typeface="Aptos"/>
                          <a:ea typeface="Aptos"/>
                          <a:cs typeface="Aptos"/>
                        </a:rPr>
                        <a:t>4 and 5</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00" b="0">
                          <a:solidFill>
                            <a:srgbClr val="17365D"/>
                          </a:solidFill>
                          <a:latin typeface="Aptos"/>
                          <a:ea typeface="Aptos"/>
                          <a:cs typeface="Aptos"/>
                        </a:rPr>
                        <a:t>Monte Carlo probabilities and expectations</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3"/>
                  </a:ext>
                </a:extLst>
              </a:tr>
              <a:tr h="579438">
                <a:tc>
                  <a:txBody>
                    <a:bodyPr/>
                    <a:lstStyle/>
                    <a:p>
                      <a:r>
                        <a:rPr sz="2100" b="0">
                          <a:solidFill>
                            <a:srgbClr val="17365D"/>
                          </a:solidFill>
                          <a:latin typeface="Aptos"/>
                          <a:ea typeface="Aptos"/>
                          <a:cs typeface="Aptos"/>
                        </a:rPr>
                        <a:t>6</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00" b="0">
                          <a:solidFill>
                            <a:srgbClr val="17365D"/>
                          </a:solidFill>
                          <a:latin typeface="Aptos"/>
                          <a:ea typeface="Aptos"/>
                          <a:cs typeface="Aptos"/>
                        </a:rPr>
                        <a:t>LLN across growing and repeated samples</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4"/>
                  </a:ext>
                </a:extLst>
              </a:tr>
              <a:tr h="579438">
                <a:tc>
                  <a:txBody>
                    <a:bodyPr/>
                    <a:lstStyle/>
                    <a:p>
                      <a:r>
                        <a:rPr sz="2100" b="0">
                          <a:solidFill>
                            <a:srgbClr val="17365D"/>
                          </a:solidFill>
                          <a:latin typeface="Aptos"/>
                          <a:ea typeface="Aptos"/>
                          <a:cs typeface="Aptos"/>
                        </a:rPr>
                        <a:t>8</a:t>
                      </a:r>
                    </a:p>
                  </a:txBody>
                  <a:tcPr anchor="ctr">
                    <a:lnL w="6191">
                      <a:solidFill>
                        <a:srgbClr val="DDE5EC"/>
                      </a:solidFill>
                      <a:prstDash val="soli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tc>
                  <a:txBody>
                    <a:bodyPr/>
                    <a:lstStyle/>
                    <a:p>
                      <a:r>
                        <a:rPr sz="2100" b="0">
                          <a:solidFill>
                            <a:srgbClr val="17365D"/>
                          </a:solidFill>
                          <a:latin typeface="Aptos"/>
                          <a:ea typeface="Aptos"/>
                          <a:cs typeface="Aptos"/>
                        </a:rPr>
                        <a:t>Accuracy of a rare-event estimate</a:t>
                      </a:r>
                    </a:p>
                  </a:txBody>
                  <a:tcPr anchor="ctr">
                    <a:lnL w="6191" cap="flat" cmpd="sng" algn="ctr">
                      <a:solidFill>
                        <a:srgbClr val="DDE5EC"/>
                      </a:solidFill>
                      <a:prstDash val="solid"/>
                      <a:round/>
                      <a:headEnd type="none" w="med" len="med"/>
                      <a:tailEnd type="none" w="med" len="med"/>
                    </a:lnL>
                    <a:lnR w="6191">
                      <a:solidFill>
                        <a:srgbClr val="DDE5EC"/>
                      </a:solidFill>
                      <a:prstDash val="solid"/>
                    </a:lnR>
                    <a:lnT w="6191" cap="flat" cmpd="sng" algn="ctr">
                      <a:solidFill>
                        <a:srgbClr val="DDE5EC"/>
                      </a:solidFill>
                      <a:prstDash val="solid"/>
                      <a:round/>
                      <a:headEnd type="none" w="med" len="med"/>
                      <a:tailEnd type="none" w="med" len="med"/>
                    </a:lnT>
                    <a:lnB w="6191">
                      <a:solidFill>
                        <a:srgbClr val="DDE5EC"/>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6" name="text-4">
            <a:extLst>
              <a:ext uri="{FF2B5EF4-FFF2-40B4-BE49-F238E27FC236}">
                <a16:creationId xmlns:a16="http://schemas.microsoft.com/office/drawing/2014/main" id="{647E3C91-0741-4120-A19B-3BFA8EB48DA7}"/>
              </a:ext>
            </a:extLst>
          </p:cNvPr>
          <p:cNvSpPr>
            <a:spLocks noGrp="1"/>
          </p:cNvSpPr>
          <p:nvPr/>
        </p:nvSpPr>
        <p:spPr>
          <a:xfrm>
            <a:off x="857250" y="5619750"/>
            <a:ext cx="10477500" cy="628650"/>
          </a:xfrm>
          <a:prstGeom prst="rect">
            <a:avLst/>
          </a:prstGeom>
          <a:noFill/>
          <a:ln w="0">
            <a:noFill/>
          </a:ln>
        </p:spPr>
        <p:txBody>
          <a:bodyPr wrap="square" lIns="0" tIns="0" rIns="0" bIns="0" anchor="t">
            <a:noAutofit/>
          </a:bodyPr>
          <a:lstStyle>
            <a:lvl1pPr>
              <a:buNone/>
              <a:defRPr sz="2250" b="0">
                <a:solidFill>
                  <a:srgbClr val="2D75A3"/>
                </a:solidFill>
                <a:latin typeface="Aptos"/>
                <a:ea typeface="Aptos"/>
                <a:cs typeface="Aptos"/>
              </a:defRPr>
            </a:lvl1pPr>
            <a:lvl2pPr>
              <a:buNone/>
              <a:defRPr sz="2250" b="0">
                <a:solidFill>
                  <a:srgbClr val="2D75A3"/>
                </a:solidFill>
                <a:latin typeface="Aptos"/>
                <a:ea typeface="Aptos"/>
                <a:cs typeface="Aptos"/>
              </a:defRPr>
            </a:lvl2pPr>
            <a:lvl3pPr>
              <a:buNone/>
              <a:defRPr sz="2250" b="0">
                <a:solidFill>
                  <a:srgbClr val="2D75A3"/>
                </a:solidFill>
                <a:latin typeface="Aptos"/>
                <a:ea typeface="Aptos"/>
                <a:cs typeface="Aptos"/>
              </a:defRPr>
            </a:lvl3pPr>
            <a:lvl4pPr>
              <a:buNone/>
              <a:defRPr sz="2250" b="0">
                <a:solidFill>
                  <a:srgbClr val="2D75A3"/>
                </a:solidFill>
                <a:latin typeface="Aptos"/>
                <a:ea typeface="Aptos"/>
                <a:cs typeface="Aptos"/>
              </a:defRPr>
            </a:lvl4pPr>
            <a:lvl5pPr>
              <a:buNone/>
              <a:defRPr sz="2250" b="0">
                <a:solidFill>
                  <a:srgbClr val="2D75A3"/>
                </a:solidFill>
                <a:latin typeface="Aptos"/>
                <a:ea typeface="Aptos"/>
                <a:cs typeface="Aptos"/>
              </a:defRPr>
            </a:lvl5pPr>
            <a:lvl6pPr>
              <a:buNone/>
              <a:defRPr sz="2250" b="0">
                <a:solidFill>
                  <a:srgbClr val="2D75A3"/>
                </a:solidFill>
                <a:latin typeface="Aptos"/>
                <a:ea typeface="Aptos"/>
                <a:cs typeface="Aptos"/>
              </a:defRPr>
            </a:lvl6pPr>
            <a:lvl7pPr>
              <a:buNone/>
              <a:defRPr sz="2250" b="0">
                <a:solidFill>
                  <a:srgbClr val="2D75A3"/>
                </a:solidFill>
                <a:latin typeface="Aptos"/>
                <a:ea typeface="Aptos"/>
                <a:cs typeface="Aptos"/>
              </a:defRPr>
            </a:lvl7pPr>
            <a:lvl8pPr>
              <a:buNone/>
              <a:defRPr sz="2250" b="0">
                <a:solidFill>
                  <a:srgbClr val="2D75A3"/>
                </a:solidFill>
                <a:latin typeface="Aptos"/>
                <a:ea typeface="Aptos"/>
                <a:cs typeface="Aptos"/>
              </a:defRPr>
            </a:lvl8pPr>
            <a:lvl9pPr>
              <a:buNone/>
              <a:defRPr sz="2250" b="0">
                <a:solidFill>
                  <a:srgbClr val="2D75A3"/>
                </a:solidFill>
                <a:latin typeface="Aptos"/>
                <a:ea typeface="Aptos"/>
                <a:cs typeface="Aptos"/>
              </a:defRPr>
            </a:lvl9pPr>
          </a:lstStyle>
          <a:p>
            <a:pPr>
              <a:buNone/>
              <a:defRPr sz="2250" b="0">
                <a:solidFill>
                  <a:srgbClr val="2D75A3"/>
                </a:solidFill>
                <a:latin typeface="Aptos"/>
                <a:ea typeface="Aptos"/>
                <a:cs typeface="Aptos"/>
              </a:defRPr>
            </a:pPr>
            <a:r>
              <a:rPr sz="2250" b="0">
                <a:solidFill>
                  <a:srgbClr val="2D75A3"/>
                </a:solidFill>
                <a:latin typeface="Aptos"/>
                <a:ea typeface="Aptos"/>
                <a:cs typeface="Aptos"/>
              </a:rPr>
              <a:t>For every simulation: define one trial, its recorded output and the target.</a:t>
            </a:r>
          </a:p>
        </p:txBody>
      </p:sp>
      <p:sp>
        <p:nvSpPr>
          <p:cNvPr id="14" name="notebook-cue-slide-41">
            <a:extLst>
              <a:ext uri="{FF2B5EF4-FFF2-40B4-BE49-F238E27FC236}">
                <a16:creationId xmlns:a16="http://schemas.microsoft.com/office/drawing/2014/main" id="{4927C4F2-8C7C-448C-8C2E-2F377F31A6CD}"/>
              </a:ext>
            </a:extLst>
          </p:cNvPr>
          <p:cNvSpPr>
            <a:spLocks noGrp="1"/>
          </p:cNvSpPr>
          <p:nvPr/>
        </p:nvSpPr>
        <p:spPr>
          <a:xfrm>
            <a:off x="2952750" y="6429375"/>
            <a:ext cx="7620000" cy="295275"/>
          </a:xfrm>
          <a:prstGeom prst="rect">
            <a:avLst/>
          </a:prstGeom>
          <a:noFill/>
          <a:ln w="0">
            <a:noFill/>
          </a:ln>
        </p:spPr>
        <p:txBody>
          <a:bodyPr wrap="none" lIns="0" tIns="0" rIns="0" bIns="0" anchor="ctr">
            <a:noAutofit/>
          </a:bodyPr>
          <a:lstStyle>
            <a:defPPr algn="ctr">
              <a:defRPr sz="1650" b="1">
                <a:solidFill>
                  <a:srgbClr val="2F6F4E"/>
                </a:solidFill>
                <a:latin typeface="Aptos"/>
                <a:ea typeface="Aptos"/>
                <a:cs typeface="Aptos"/>
              </a:defRPr>
            </a:defPPr>
            <a:lvl1pPr algn="ctr">
              <a:defRPr sz="1650" b="1">
                <a:solidFill>
                  <a:srgbClr val="2F6F4E"/>
                </a:solidFill>
                <a:latin typeface="Aptos"/>
                <a:ea typeface="Aptos"/>
                <a:cs typeface="Aptos"/>
              </a:defRPr>
            </a:lvl1pPr>
            <a:lvl2pPr algn="ctr">
              <a:defRPr sz="1650" b="1">
                <a:solidFill>
                  <a:srgbClr val="2F6F4E"/>
                </a:solidFill>
                <a:latin typeface="Aptos"/>
                <a:ea typeface="Aptos"/>
                <a:cs typeface="Aptos"/>
              </a:defRPr>
            </a:lvl2pPr>
            <a:lvl3pPr algn="ctr">
              <a:defRPr sz="1650" b="1">
                <a:solidFill>
                  <a:srgbClr val="2F6F4E"/>
                </a:solidFill>
                <a:latin typeface="Aptos"/>
                <a:ea typeface="Aptos"/>
                <a:cs typeface="Aptos"/>
              </a:defRPr>
            </a:lvl3pPr>
            <a:lvl4pPr algn="ctr">
              <a:defRPr sz="1650" b="1">
                <a:solidFill>
                  <a:srgbClr val="2F6F4E"/>
                </a:solidFill>
                <a:latin typeface="Aptos"/>
                <a:ea typeface="Aptos"/>
                <a:cs typeface="Aptos"/>
              </a:defRPr>
            </a:lvl4pPr>
            <a:lvl5pPr algn="ctr">
              <a:defRPr sz="1650" b="1">
                <a:solidFill>
                  <a:srgbClr val="2F6F4E"/>
                </a:solidFill>
                <a:latin typeface="Aptos"/>
                <a:ea typeface="Aptos"/>
                <a:cs typeface="Aptos"/>
              </a:defRPr>
            </a:lvl5pPr>
            <a:lvl6pPr algn="ctr">
              <a:defRPr sz="1650" b="1">
                <a:solidFill>
                  <a:srgbClr val="2F6F4E"/>
                </a:solidFill>
                <a:latin typeface="Aptos"/>
                <a:ea typeface="Aptos"/>
                <a:cs typeface="Aptos"/>
              </a:defRPr>
            </a:lvl6pPr>
            <a:lvl7pPr algn="ctr">
              <a:defRPr sz="1650" b="1">
                <a:solidFill>
                  <a:srgbClr val="2F6F4E"/>
                </a:solidFill>
                <a:latin typeface="Aptos"/>
                <a:ea typeface="Aptos"/>
                <a:cs typeface="Aptos"/>
              </a:defRPr>
            </a:lvl7pPr>
            <a:lvl8pPr algn="ctr">
              <a:defRPr sz="1650" b="1">
                <a:solidFill>
                  <a:srgbClr val="2F6F4E"/>
                </a:solidFill>
                <a:latin typeface="Aptos"/>
                <a:ea typeface="Aptos"/>
                <a:cs typeface="Aptos"/>
              </a:defRPr>
            </a:lvl8pPr>
            <a:lvl9pPr algn="ctr">
              <a:defRPr sz="1650" b="1">
                <a:solidFill>
                  <a:srgbClr val="2F6F4E"/>
                </a:solidFill>
                <a:latin typeface="Aptos"/>
                <a:ea typeface="Aptos"/>
                <a:cs typeface="Aptos"/>
              </a:defRPr>
            </a:lvl9pPr>
          </a:lstStyle>
          <a:p>
            <a:pPr algn="ctr">
              <a:defRPr sz="1650" b="1">
                <a:solidFill>
                  <a:srgbClr val="2F6F4E"/>
                </a:solidFill>
                <a:latin typeface="Aptos"/>
                <a:ea typeface="Aptos"/>
                <a:cs typeface="Aptos"/>
              </a:defRPr>
            </a:pPr>
            <a:r>
              <a:rPr sz="1650" b="1">
                <a:solidFill>
                  <a:srgbClr val="2F6F4E"/>
                </a:solidFill>
                <a:latin typeface="Aptos"/>
                <a:ea typeface="Aptos"/>
                <a:cs typeface="Aptos"/>
              </a:rPr>
              <a:t>Notebook: Slide 41A/B (optional)</a:t>
            </a:r>
          </a:p>
        </p:txBody>
      </p:sp>
    </p:spTree>
    <p:extLst>
      <p:ext uri="{BB962C8B-B14F-4D97-AF65-F5344CB8AC3E}">
        <p14:creationId xmlns:p14="http://schemas.microsoft.com/office/powerpoint/2010/main" val="82060559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6784</Words>
  <Application>Microsoft Office PowerPoint</Application>
  <DocSecurity>0</DocSecurity>
  <PresentationFormat>Widescreen</PresentationFormat>
  <Paragraphs>466</Paragraphs>
  <Slides>40</Slides>
  <Notes>40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Aptos</vt:lpstr>
      <vt:lpstr>Cambria Math</vt:lpstr>
      <vt:lpstr>Consolas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Brooks (RIB) | VIA</cp:lastModifiedBy>
  <cp:revision>1</cp:revision>
  <dcterms:created xsi:type="dcterms:W3CDTF">2026-10-22T17:25:57Z</dcterms:created>
  <dcterms:modified xsi:type="dcterms:W3CDTF">2026-10-22T22:19:17Z</dcterms:modified>
</cp:coreProperties>
</file>